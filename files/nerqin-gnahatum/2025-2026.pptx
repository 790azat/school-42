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6858000" cx="12192000"/>
  <p:notesSz cx="6858000" cy="9144000"/>
  <p:embeddedFontLst>
    <p:embeddedFont>
      <p:font typeface="Constantia"/>
      <p:regular r:id="rId78"/>
      <p:bold r:id="rId79"/>
      <p:italic r:id="rId80"/>
      <p:boldItalic r:id="rId81"/>
    </p:embeddedFont>
    <p:embeddedFont>
      <p:font typeface="Noto Sans Symbols"/>
      <p:regular r:id="rId82"/>
      <p:bold r:id="rId83"/>
    </p:embeddedFont>
    <p:embeddedFont>
      <p:font typeface="Merriweather"/>
      <p:regular r:id="rId84"/>
      <p:bold r:id="rId85"/>
      <p:italic r:id="rId86"/>
      <p:boldItalic r:id="rId87"/>
    </p:embeddedFont>
    <p:embeddedFont>
      <p:font typeface="Century Gothic"/>
      <p:regular r:id="rId88"/>
      <p:bold r:id="rId89"/>
      <p:italic r:id="rId90"/>
      <p:boldItalic r:id="rId9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B977D2-3903-41EF-8714-5AC59086702B}">
  <a:tblStyle styleId="{40B977D2-3903-41EF-8714-5AC59086702B}" styleName="Table_0">
    <a:wholeTbl>
      <a:tcTxStyle b="off" i="off">
        <a:font>
          <a:latin typeface="Century Gothic"/>
          <a:ea typeface="Century Gothic"/>
          <a:cs typeface="Century Gothic"/>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A89F46A-32DD-4337-B89F-85312093933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Merriweather-regular.fntdata"/><Relationship Id="rId83" Type="http://schemas.openxmlformats.org/officeDocument/2006/relationships/font" Target="fonts/NotoSansSymbols-bold.fntdata"/><Relationship Id="rId42" Type="http://schemas.openxmlformats.org/officeDocument/2006/relationships/slide" Target="slides/slide36.xml"/><Relationship Id="rId86" Type="http://schemas.openxmlformats.org/officeDocument/2006/relationships/font" Target="fonts/Merriweather-italic.fntdata"/><Relationship Id="rId41" Type="http://schemas.openxmlformats.org/officeDocument/2006/relationships/slide" Target="slides/slide35.xml"/><Relationship Id="rId85" Type="http://schemas.openxmlformats.org/officeDocument/2006/relationships/font" Target="fonts/Merriweather-bold.fntdata"/><Relationship Id="rId44" Type="http://schemas.openxmlformats.org/officeDocument/2006/relationships/slide" Target="slides/slide38.xml"/><Relationship Id="rId88" Type="http://schemas.openxmlformats.org/officeDocument/2006/relationships/font" Target="fonts/CenturyGothic-regular.fntdata"/><Relationship Id="rId43" Type="http://schemas.openxmlformats.org/officeDocument/2006/relationships/slide" Target="slides/slide37.xml"/><Relationship Id="rId87" Type="http://schemas.openxmlformats.org/officeDocument/2006/relationships/font" Target="fonts/Merriweather-boldItalic.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CenturyGothic-bold.fntdata"/><Relationship Id="rId80" Type="http://schemas.openxmlformats.org/officeDocument/2006/relationships/font" Target="fonts/Constantia-italic.fntdata"/><Relationship Id="rId82" Type="http://schemas.openxmlformats.org/officeDocument/2006/relationships/font" Target="fonts/NotoSansSymbols-regular.fntdata"/><Relationship Id="rId81" Type="http://schemas.openxmlformats.org/officeDocument/2006/relationships/font" Target="fonts/Constantia-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Constantia-bold.fntdata"/><Relationship Id="rId34" Type="http://schemas.openxmlformats.org/officeDocument/2006/relationships/slide" Target="slides/slide28.xml"/><Relationship Id="rId78" Type="http://schemas.openxmlformats.org/officeDocument/2006/relationships/font" Target="fonts/Constantia-regular.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CenturyGothic-boldItalic.fntdata"/><Relationship Id="rId90" Type="http://schemas.openxmlformats.org/officeDocument/2006/relationships/font" Target="fonts/CenturyGothic-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400">
                <a:solidFill>
                  <a:srgbClr val="0BD0D9"/>
                </a:solidFill>
                <a:latin typeface="Merriweather"/>
                <a:ea typeface="Merriweather"/>
                <a:cs typeface="Merriweather"/>
                <a:sym typeface="Merriweather"/>
              </a:rPr>
              <a:t>    </a:t>
            </a:r>
            <a:r>
              <a:rPr lang="en-US" sz="1400">
                <a:latin typeface="Merriweather"/>
                <a:ea typeface="Merriweather"/>
                <a:cs typeface="Merriweather"/>
                <a:sym typeface="Merriweather"/>
              </a:rPr>
              <a:t>Դասարաններում աշակերտական նստարանները դասավորված են ավանդական  շարքով: Խմբային աշխատանքի կազմակերպման ժամանակ աշակերտական սեղանները վերադասավորվում են չորս կամ վեց աշակերտի աշխատանքին հարմար ձևով: Վերադասավորությունը մեծ ժամանակ չի խլում դասից: Վերադասավորումները ուսուցիչը հիմնականում կազմակերպում է դասամիջոցին՝ դասից առաջ: Դաերը կազմակերպվում են նաև էլեկտրոնային միջոցների կիրառմամբ, երբ դասի ընթացքում աշակերտները ինքնուրույն աշխատանքի ժամանակ օգտագործում են համակարգիչներ: Այս դեպքում դասասենյակում նստարանները վերադասավորվում են կազմակերպվող աշխատանքի համապատասխան ձևով:</a:t>
            </a:r>
            <a:endParaRPr/>
          </a:p>
          <a:p>
            <a:pPr indent="0" lvl="0" marL="0" rtl="0" algn="l">
              <a:spcBef>
                <a:spcPts val="0"/>
              </a:spcBef>
              <a:spcAft>
                <a:spcPts val="0"/>
              </a:spcAft>
              <a:buNone/>
            </a:pPr>
            <a:br>
              <a:rPr lang="en-US">
                <a:latin typeface="Calibri"/>
                <a:ea typeface="Calibri"/>
                <a:cs typeface="Calibri"/>
                <a:sym typeface="Calibri"/>
              </a:rPr>
            </a:br>
            <a:endParaRPr>
              <a:latin typeface="Calibri"/>
              <a:ea typeface="Calibri"/>
              <a:cs typeface="Calibri"/>
              <a:sym typeface="Calibri"/>
            </a:endParaRPr>
          </a:p>
        </p:txBody>
      </p:sp>
      <p:sp>
        <p:nvSpPr>
          <p:cNvPr id="269" name="Google Shape;2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Ընդհանուր առմամբ ուսումնական հաստատությունում պահպանված են սովորողների և աշխատակազմի համար ուսումնական գործընթացի և աշխատանքի կազմակերպման համար անվտանգության և սանիտարահիգենիկ նորմերը, կազմակերպված են և իրականցվում են համապատասխան ծառայություններ:</a:t>
            </a:r>
            <a:endParaRPr/>
          </a:p>
        </p:txBody>
      </p:sp>
      <p:sp>
        <p:nvSpPr>
          <p:cNvPr id="349" name="Google Shape;34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r>
              <a:t/>
            </a:r>
            <a:endParaRPr b="1" i="1" u="sng">
              <a:latin typeface="Merriweather"/>
              <a:ea typeface="Merriweather"/>
              <a:cs typeface="Merriweather"/>
              <a:sym typeface="Merriweather"/>
            </a:endParaRPr>
          </a:p>
        </p:txBody>
      </p:sp>
      <p:sp>
        <p:nvSpPr>
          <p:cNvPr id="408" name="Google Shape;40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Տարեցտարի աճում է միջազգային և հանրապետական հատկապես ստեղծագործական / շարադրություններ, նկարներ և այլն/ մրցույթների մասնակիցների թիվը:</a:t>
            </a:r>
            <a:endParaRPr/>
          </a:p>
          <a:p>
            <a:pPr indent="0" lvl="0" marL="0" rtl="0" algn="l">
              <a:spcBef>
                <a:spcPts val="0"/>
              </a:spcBef>
              <a:spcAft>
                <a:spcPts val="0"/>
              </a:spcAft>
              <a:buNone/>
            </a:pPr>
            <a:r>
              <a:rPr lang="en-US">
                <a:latin typeface="Calibri"/>
                <a:ea typeface="Calibri"/>
                <a:cs typeface="Calibri"/>
                <a:sym typeface="Calibri"/>
              </a:rPr>
              <a:t>Առարկայական օլիմպիադաների ցուցանիշները մնում են դպրոցի թույլ և խոցելի տեղը: Այդ իսկ պատճառով դպրոցում շեշտադրվել է ներդպրոցական վերահսկողությունը հոսքային բաղադրիչների արդյունավետ կիրառման ուղղությամբ. հոսքային դասարաններում պարբերաբար տնօրինության կողմից անցկացվում են գրավոր աշխատանքներ, կազմակերպվում են մրցույթներ և միջոցառումներ`խթանելու սովորողների մասնագիտական գիտելիքների յուրացումն ու համապատասխան կարողությունների ու հմտությունների զարգացումը;</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439" name="Google Shape;43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Ուսումնական հաստատությունում ստեղծված է որակյալ կրթական միջավայր, տարեց տարի աճում է վերապատրաստված և ատեստավորված ուսուցիչների, տարակարգ ունեցող ուսուցիչների, նորագույն մեթոդներով դասավանդող և ՏՀՏ-ներ կիրառող ուսուցիչների  թիվը:</a:t>
            </a:r>
            <a:endParaRPr/>
          </a:p>
          <a:p>
            <a:pPr indent="0" lvl="0" marL="0" rtl="0" algn="l">
              <a:spcBef>
                <a:spcPts val="0"/>
              </a:spcBef>
              <a:spcAft>
                <a:spcPts val="0"/>
              </a:spcAft>
              <a:buNone/>
            </a:pPr>
            <a:br>
              <a:rPr lang="en-US">
                <a:latin typeface="Calibri"/>
                <a:ea typeface="Calibri"/>
                <a:cs typeface="Calibri"/>
                <a:sym typeface="Calibri"/>
              </a:rPr>
            </a:br>
            <a:endParaRPr>
              <a:latin typeface="Calibri"/>
              <a:ea typeface="Calibri"/>
              <a:cs typeface="Calibri"/>
              <a:sym typeface="Calibri"/>
            </a:endParaRPr>
          </a:p>
          <a:p>
            <a:pPr indent="0" lvl="0" marL="0" rtl="0" algn="l">
              <a:spcBef>
                <a:spcPts val="0"/>
              </a:spcBef>
              <a:spcAft>
                <a:spcPts val="0"/>
              </a:spcAft>
              <a:buNone/>
            </a:pPr>
            <a:br>
              <a:rPr lang="en-US">
                <a:latin typeface="Calibri"/>
                <a:ea typeface="Calibri"/>
                <a:cs typeface="Calibri"/>
                <a:sym typeface="Calibri"/>
              </a:rPr>
            </a:br>
            <a:endParaRPr>
              <a:latin typeface="Calibri"/>
              <a:ea typeface="Calibri"/>
              <a:cs typeface="Calibri"/>
              <a:sym typeface="Calibri"/>
            </a:endParaRPr>
          </a:p>
          <a:p>
            <a:pPr indent="0" lvl="0" marL="0" rtl="0" algn="l">
              <a:spcBef>
                <a:spcPts val="0"/>
              </a:spcBef>
              <a:spcAft>
                <a:spcPts val="0"/>
              </a:spcAft>
              <a:buNone/>
            </a:pPr>
            <a:br>
              <a:rPr lang="en-US">
                <a:latin typeface="Calibri"/>
                <a:ea typeface="Calibri"/>
                <a:cs typeface="Calibri"/>
                <a:sym typeface="Calibri"/>
              </a:rPr>
            </a:br>
            <a:endParaRPr>
              <a:latin typeface="Calibri"/>
              <a:ea typeface="Calibri"/>
              <a:cs typeface="Calibri"/>
              <a:sym typeface="Calibri"/>
            </a:endParaRPr>
          </a:p>
        </p:txBody>
      </p:sp>
      <p:sp>
        <p:nvSpPr>
          <p:cNvPr id="446" name="Google Shape;44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Ուսումնական հաստատությունն ունի գործող գրադարան, որը հագեցած է ուսումնաօժանդակ գրականությամբ: Գրադարանից կանոնավոր կերպով օգտվում են  սովորողները, ուսուցիչները, վարչական կազմը, ինչպես նաև համայնքի բնակիչները:</a:t>
            </a:r>
            <a:endParaRPr/>
          </a:p>
        </p:txBody>
      </p:sp>
      <p:sp>
        <p:nvSpPr>
          <p:cNvPr id="463" name="Google Shape;46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br>
              <a:rPr i="1" lang="en-US" u="sng">
                <a:latin typeface="Merriweather"/>
                <a:ea typeface="Merriweather"/>
                <a:cs typeface="Merriweather"/>
                <a:sym typeface="Merriweather"/>
              </a:rPr>
            </a:br>
            <a:endParaRPr i="1" u="sng">
              <a:latin typeface="Merriweather"/>
              <a:ea typeface="Merriweather"/>
              <a:cs typeface="Merriweather"/>
              <a:sym typeface="Merriweather"/>
            </a:endParaRPr>
          </a:p>
        </p:txBody>
      </p:sp>
      <p:sp>
        <p:nvSpPr>
          <p:cNvPr id="470" name="Google Shape;470;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br>
              <a:rPr i="1" lang="en-US" u="sng">
                <a:latin typeface="Merriweather"/>
                <a:ea typeface="Merriweather"/>
                <a:cs typeface="Merriweather"/>
                <a:sym typeface="Merriweather"/>
              </a:rPr>
            </a:br>
            <a:endParaRPr i="1" u="sng">
              <a:latin typeface="Merriweather"/>
              <a:ea typeface="Merriweather"/>
              <a:cs typeface="Merriweather"/>
              <a:sym typeface="Merriweather"/>
            </a:endParaRPr>
          </a:p>
        </p:txBody>
      </p:sp>
      <p:sp>
        <p:nvSpPr>
          <p:cNvPr id="477" name="Google Shape;477;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br>
              <a:rPr i="1" lang="en-US" u="sng">
                <a:latin typeface="Merriweather"/>
                <a:ea typeface="Merriweather"/>
                <a:cs typeface="Merriweather"/>
                <a:sym typeface="Merriweather"/>
              </a:rPr>
            </a:br>
            <a:endParaRPr i="1" u="sng">
              <a:latin typeface="Merriweather"/>
              <a:ea typeface="Merriweather"/>
              <a:cs typeface="Merriweather"/>
              <a:sym typeface="Merriweather"/>
            </a:endParaRPr>
          </a:p>
        </p:txBody>
      </p:sp>
      <p:sp>
        <p:nvSpPr>
          <p:cNvPr id="484" name="Google Shape;484;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i="1" lang="en-US" u="sng">
                <a:latin typeface="Merriweather"/>
                <a:ea typeface="Merriweather"/>
                <a:cs typeface="Merriweather"/>
                <a:sym typeface="Merriweather"/>
              </a:rPr>
            </a:br>
            <a:endParaRPr i="1" u="sng">
              <a:latin typeface="Merriweather"/>
              <a:ea typeface="Merriweather"/>
              <a:cs typeface="Merriweather"/>
              <a:sym typeface="Merriweather"/>
            </a:endParaRPr>
          </a:p>
        </p:txBody>
      </p:sp>
      <p:sp>
        <p:nvSpPr>
          <p:cNvPr id="491" name="Google Shape;491;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Աշակերտ թվի նվազման հետևանքով բյուջեն նվազել է, հնարավոր չեն տնտեսումներ, բայց բյուջեն կառավարվում է հմտորեն և չկան գոյացած պարտքեր:</a:t>
            </a:r>
            <a:endParaRPr/>
          </a:p>
        </p:txBody>
      </p:sp>
      <p:sp>
        <p:nvSpPr>
          <p:cNvPr id="512" name="Google Shape;512;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Calibri"/>
                <a:ea typeface="Calibri"/>
                <a:cs typeface="Calibri"/>
                <a:sym typeface="Calibri"/>
              </a:rPr>
              <a:t>Ոսումնական հաստատությունն ու hամայնքը  համագործակցում են, իրազեկ են մեկը մյուսի խնդիրներին և հնարավորության սահմաններում աջակցում են միմյանց: Գնալով մեծանում են համագործակցության ոլորտը և  ավանդույթ դարձած համատեղ անցկացվող ամենամյա միջոցառումների ցանկը:</a:t>
            </a:r>
            <a:endParaRPr/>
          </a:p>
        </p:txBody>
      </p:sp>
      <p:sp>
        <p:nvSpPr>
          <p:cNvPr id="648" name="Google Shape;648;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6" name="Google Shape;666;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 name="Shape 42"/>
        <p:cNvGrpSpPr/>
        <p:nvPr/>
      </p:nvGrpSpPr>
      <p:grpSpPr>
        <a:xfrm>
          <a:off x="0" y="0"/>
          <a:ext cx="0" cy="0"/>
          <a:chOff x="0" y="0"/>
          <a:chExt cx="0" cy="0"/>
        </a:xfrm>
      </p:grpSpPr>
      <p:sp>
        <p:nvSpPr>
          <p:cNvPr id="43" name="Google Shape;43;p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подпись">
  <p:cSld name="Заголовок и подпись">
    <p:spTree>
      <p:nvGrpSpPr>
        <p:cNvPr id="47" name="Shape 47"/>
        <p:cNvGrpSpPr/>
        <p:nvPr/>
      </p:nvGrpSpPr>
      <p:grpSpPr>
        <a:xfrm>
          <a:off x="0" y="0"/>
          <a:ext cx="0" cy="0"/>
          <a:chOff x="0" y="0"/>
          <a:chExt cx="0" cy="0"/>
        </a:xfrm>
      </p:grpSpPr>
      <p:sp>
        <p:nvSpPr>
          <p:cNvPr id="48" name="Google Shape;48;p3"/>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400"/>
              <a:buFont typeface="Century Gothic"/>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3F3F3F"/>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0" name="Google Shape;50;p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4"/>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56" name="Google Shape;56;p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p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3" name="Google Shape;63;p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 name="Shape 67"/>
        <p:cNvGrpSpPr/>
        <p:nvPr/>
      </p:nvGrpSpPr>
      <p:grpSpPr>
        <a:xfrm>
          <a:off x="0" y="0"/>
          <a:ext cx="0" cy="0"/>
          <a:chOff x="0" y="0"/>
          <a:chExt cx="0" cy="0"/>
        </a:xfrm>
      </p:grpSpPr>
      <p:sp>
        <p:nvSpPr>
          <p:cNvPr id="68" name="Google Shape;68;p6"/>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70" name="Google Shape;70;p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7"/>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7" name="Google Shape;77;p7"/>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8" name="Google Shape;78;p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2" name="Shape 82"/>
        <p:cNvGrpSpPr/>
        <p:nvPr/>
      </p:nvGrpSpPr>
      <p:grpSpPr>
        <a:xfrm>
          <a:off x="0" y="0"/>
          <a:ext cx="0" cy="0"/>
          <a:chOff x="0" y="0"/>
          <a:chExt cx="0" cy="0"/>
        </a:xfrm>
      </p:grpSpPr>
      <p:sp>
        <p:nvSpPr>
          <p:cNvPr id="83" name="Google Shape;83;p8"/>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8"/>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85" name="Google Shape;85;p8"/>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86" name="Google Shape;86;p8"/>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87" name="Google Shape;87;p8"/>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88" name="Google Shape;88;p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9"/>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9"/>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8" name="Shape 98"/>
        <p:cNvGrpSpPr/>
        <p:nvPr/>
      </p:nvGrpSpPr>
      <p:grpSpPr>
        <a:xfrm>
          <a:off x="0" y="0"/>
          <a:ext cx="0" cy="0"/>
          <a:chOff x="0" y="0"/>
          <a:chExt cx="0" cy="0"/>
        </a:xfrm>
      </p:grpSpPr>
      <p:sp>
        <p:nvSpPr>
          <p:cNvPr id="99" name="Google Shape;99;p10"/>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0"/>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01" name="Google Shape;101;p10"/>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2" name="Google Shape;102;p1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0"/>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11"/>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1"/>
          <p:cNvSpPr/>
          <p:nvPr>
            <p:ph idx="2" type="pic"/>
          </p:nvPr>
        </p:nvSpPr>
        <p:spPr>
          <a:xfrm>
            <a:off x="2589212" y="634965"/>
            <a:ext cx="8915400" cy="3854970"/>
          </a:xfrm>
          <a:prstGeom prst="rect">
            <a:avLst/>
          </a:prstGeom>
          <a:noFill/>
          <a:ln>
            <a:noFill/>
          </a:ln>
        </p:spPr>
      </p:sp>
      <p:sp>
        <p:nvSpPr>
          <p:cNvPr id="109" name="Google Shape;109;p11"/>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10" name="Google Shape;110;p1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1"/>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14" name="Shape 114"/>
        <p:cNvGrpSpPr/>
        <p:nvPr/>
      </p:nvGrpSpPr>
      <p:grpSpPr>
        <a:xfrm>
          <a:off x="0" y="0"/>
          <a:ext cx="0" cy="0"/>
          <a:chOff x="0" y="0"/>
          <a:chExt cx="0" cy="0"/>
        </a:xfrm>
      </p:grpSpPr>
      <p:sp>
        <p:nvSpPr>
          <p:cNvPr id="115" name="Google Shape;115;p12"/>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2"/>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7" name="Google Shape;117;p1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2"/>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2"/>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21" name="Shape 121"/>
        <p:cNvGrpSpPr/>
        <p:nvPr/>
      </p:nvGrpSpPr>
      <p:grpSpPr>
        <a:xfrm>
          <a:off x="0" y="0"/>
          <a:ext cx="0" cy="0"/>
          <a:chOff x="0" y="0"/>
          <a:chExt cx="0" cy="0"/>
        </a:xfrm>
      </p:grpSpPr>
      <p:sp>
        <p:nvSpPr>
          <p:cNvPr id="122" name="Google Shape;122;p13"/>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3"/>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13"/>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25" name="Google Shape;125;p1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3"/>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9" name="Google Shape;129;p13"/>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30" name="Google Shape;130;p13"/>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31" name="Shape 131"/>
        <p:cNvGrpSpPr/>
        <p:nvPr/>
      </p:nvGrpSpPr>
      <p:grpSpPr>
        <a:xfrm>
          <a:off x="0" y="0"/>
          <a:ext cx="0" cy="0"/>
          <a:chOff x="0" y="0"/>
          <a:chExt cx="0" cy="0"/>
        </a:xfrm>
      </p:grpSpPr>
      <p:sp>
        <p:nvSpPr>
          <p:cNvPr id="132" name="Google Shape;132;p14"/>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4"/>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4" name="Google Shape;134;p1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4"/>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38" name="Shape 138"/>
        <p:cNvGrpSpPr/>
        <p:nvPr/>
      </p:nvGrpSpPr>
      <p:grpSpPr>
        <a:xfrm>
          <a:off x="0" y="0"/>
          <a:ext cx="0" cy="0"/>
          <a:chOff x="0" y="0"/>
          <a:chExt cx="0" cy="0"/>
        </a:xfrm>
      </p:grpSpPr>
      <p:sp>
        <p:nvSpPr>
          <p:cNvPr id="139" name="Google Shape;139;p15"/>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5"/>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15"/>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1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5"/>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6" name="Google Shape;146;p15"/>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47" name="Google Shape;147;p15"/>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48" name="Shape 148"/>
        <p:cNvGrpSpPr/>
        <p:nvPr/>
      </p:nvGrpSpPr>
      <p:grpSpPr>
        <a:xfrm>
          <a:off x="0" y="0"/>
          <a:ext cx="0" cy="0"/>
          <a:chOff x="0" y="0"/>
          <a:chExt cx="0" cy="0"/>
        </a:xfrm>
      </p:grpSpPr>
      <p:sp>
        <p:nvSpPr>
          <p:cNvPr id="149" name="Google Shape;149;p16"/>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6"/>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1" name="Google Shape;151;p16"/>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2" name="Google Shape;152;p1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16"/>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6" name="Shape 156"/>
        <p:cNvGrpSpPr/>
        <p:nvPr/>
      </p:nvGrpSpPr>
      <p:grpSpPr>
        <a:xfrm>
          <a:off x="0" y="0"/>
          <a:ext cx="0" cy="0"/>
          <a:chOff x="0" y="0"/>
          <a:chExt cx="0" cy="0"/>
        </a:xfrm>
      </p:grpSpPr>
      <p:sp>
        <p:nvSpPr>
          <p:cNvPr id="157" name="Google Shape;157;p17"/>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7"/>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9" name="Google Shape;159;p1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1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1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3" name="Shape 163"/>
        <p:cNvGrpSpPr/>
        <p:nvPr/>
      </p:nvGrpSpPr>
      <p:grpSpPr>
        <a:xfrm>
          <a:off x="0" y="0"/>
          <a:ext cx="0" cy="0"/>
          <a:chOff x="0" y="0"/>
          <a:chExt cx="0" cy="0"/>
        </a:xfrm>
      </p:grpSpPr>
      <p:sp>
        <p:nvSpPr>
          <p:cNvPr id="164" name="Google Shape;164;p18"/>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8"/>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66" name="Google Shape;166;p1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1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1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l="0%" r="100%" t="0%"/>
          </a:path>
          <a:tileRect b="0%" l="-100%" r="0%" t="-100%"/>
        </a:gradFill>
      </p:bgPr>
    </p:bg>
    <p:spTree>
      <p:nvGrpSpPr>
        <p:cNvPr id="9" name="Shape 9"/>
        <p:cNvGrpSpPr/>
        <p:nvPr/>
      </p:nvGrpSpPr>
      <p:grpSpPr>
        <a:xfrm>
          <a:off x="0" y="0"/>
          <a:ext cx="0" cy="0"/>
          <a:chOff x="0" y="0"/>
          <a:chExt cx="0" cy="0"/>
        </a:xfrm>
      </p:grpSpPr>
      <p:grpSp>
        <p:nvGrpSpPr>
          <p:cNvPr id="10" name="Google Shape;10;p1"/>
          <p:cNvGrpSpPr/>
          <p:nvPr/>
        </p:nvGrpSpPr>
        <p:grpSpPr>
          <a:xfrm>
            <a:off x="1" y="228600"/>
            <a:ext cx="2851516" cy="6638628"/>
            <a:chOff x="2487613" y="285750"/>
            <a:chExt cx="2428875" cy="5654676"/>
          </a:xfrm>
        </p:grpSpPr>
        <p:sp>
          <p:nvSpPr>
            <p:cNvPr id="11" name="Google Shape;11;p1"/>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1"/>
          <p:cNvGrpSpPr/>
          <p:nvPr/>
        </p:nvGrpSpPr>
        <p:grpSpPr>
          <a:xfrm>
            <a:off x="27221" y="-786"/>
            <a:ext cx="2356674" cy="6854039"/>
            <a:chOff x="6627813" y="194833"/>
            <a:chExt cx="1952625" cy="5678918"/>
          </a:xfrm>
        </p:grpSpPr>
        <p:sp>
          <p:nvSpPr>
            <p:cNvPr id="24" name="Google Shape;24;p1"/>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1"/>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8" name="Google Shape;38;p1"/>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9" name="Google Shape;39;p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0" name="Google Shape;40;p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1" name="Google Shape;41;p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mailto:42school@rambler.ru" TargetMode="External"/><Relationship Id="rId5" Type="http://schemas.openxmlformats.org/officeDocument/2006/relationships/hyperlink" Target="mailto:school42@schools.am" TargetMode="External"/><Relationship Id="rId6" Type="http://schemas.openxmlformats.org/officeDocument/2006/relationships/hyperlink" Target="http://school-42.am" TargetMode="External"/><Relationship Id="rId7" Type="http://schemas.openxmlformats.org/officeDocument/2006/relationships/hyperlink" Target="http://school-42.a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2.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5.png"/><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hyperlink" Target="https://e-diary.emis.am/" TargetMode="External"/><Relationship Id="rId4" Type="http://schemas.openxmlformats.org/officeDocument/2006/relationships/hyperlink" Target="http://ktak.am/" TargetMode="External"/><Relationship Id="rId5" Type="http://schemas.openxmlformats.org/officeDocument/2006/relationships/hyperlink" Target="http://www.armedu.am/" TargetMode="External"/><Relationship Id="rId6" Type="http://schemas.openxmlformats.org/officeDocument/2006/relationships/hyperlink" Target="http://forum.armedu.am/" TargetMode="External"/><Relationship Id="rId7" Type="http://schemas.openxmlformats.org/officeDocument/2006/relationships/hyperlink" Target="http://lib.armedu.am/"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hyperlink" Target="http://www.aniedu.am/attachments/school/normativ/minister_orders/Pokhadrman_ev_avartman_karg_2012-2014.rar" TargetMode="External"/><Relationship Id="rId4" Type="http://schemas.openxmlformats.org/officeDocument/2006/relationships/hyperlink" Target="http://www.aniedu.am/attachments/school/normativ/minister_orders/Pokhadrman_ev_avartman_karg_2012-2014.rar" TargetMode="External"/><Relationship Id="rId5" Type="http://schemas.openxmlformats.org/officeDocument/2006/relationships/hyperlink" Target="http://www.aniedu.am/attachments/school/normativ/minister_orders/Pokhadrman_ev_avartman_karg_2012-2014.rar"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1" Type="http://schemas.openxmlformats.org/officeDocument/2006/relationships/hyperlink" Target="http://www.armedu.am/" TargetMode="External"/><Relationship Id="rId10" Type="http://schemas.openxmlformats.org/officeDocument/2006/relationships/hyperlink" Target="https://e-school.am/lessons" TargetMode="External"/><Relationship Id="rId13" Type="http://schemas.openxmlformats.org/officeDocument/2006/relationships/hyperlink" Target="http://www.armedu.am/" TargetMode="External"/><Relationship Id="rId12" Type="http://schemas.openxmlformats.org/officeDocument/2006/relationships/hyperlink" Target="http://www.armedu.am/" TargetMode="External"/><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hyperlink" Target="https://e-diary.emis.am/" TargetMode="External"/><Relationship Id="rId4" Type="http://schemas.openxmlformats.org/officeDocument/2006/relationships/hyperlink" Target="https://e-school.am/lessons" TargetMode="External"/><Relationship Id="rId9" Type="http://schemas.openxmlformats.org/officeDocument/2006/relationships/hyperlink" Target="https://e-diary.emis.am/" TargetMode="External"/><Relationship Id="rId15" Type="http://schemas.openxmlformats.org/officeDocument/2006/relationships/hyperlink" Target="http://school-42.am/" TargetMode="External"/><Relationship Id="rId14" Type="http://schemas.openxmlformats.org/officeDocument/2006/relationships/hyperlink" Target="http://www.atc.am/" TargetMode="External"/><Relationship Id="rId16" Type="http://schemas.openxmlformats.org/officeDocument/2006/relationships/hyperlink" Target="https://www.facebook.com/pages/Yerevan-High-School-N42-after-Taras-Shevchenko/238683539584695?pnref=lhc" TargetMode="External"/><Relationship Id="rId5" Type="http://schemas.openxmlformats.org/officeDocument/2006/relationships/hyperlink" Target="http://ktak.am/" TargetMode="External"/><Relationship Id="rId6" Type="http://schemas.openxmlformats.org/officeDocument/2006/relationships/hyperlink" Target="http://www.armedu.am/" TargetMode="External"/><Relationship Id="rId7" Type="http://schemas.openxmlformats.org/officeDocument/2006/relationships/hyperlink" Target="http://forum.armedu.am/" TargetMode="External"/><Relationship Id="rId8" Type="http://schemas.openxmlformats.org/officeDocument/2006/relationships/hyperlink" Target="http://lib.armedu.am/"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3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19"/>
          <p:cNvSpPr txBox="1"/>
          <p:nvPr/>
        </p:nvSpPr>
        <p:spPr>
          <a:xfrm>
            <a:off x="2636749" y="1604363"/>
            <a:ext cx="8159471" cy="230832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chemeClr val="accent1"/>
                </a:solidFill>
                <a:latin typeface="Merriweather"/>
                <a:ea typeface="Merriweather"/>
                <a:cs typeface="Merriweather"/>
                <a:sym typeface="Merriweather"/>
              </a:rPr>
              <a:t>Երևանի Տ. Շևչենկոյի անվան թիվ 42 ավագ դպրոցի </a:t>
            </a:r>
            <a:endParaRPr b="1" i="0" sz="3600" u="none" cap="none" strike="noStrike">
              <a:solidFill>
                <a:schemeClr val="accent1"/>
              </a:solidFill>
              <a:latin typeface="Merriweather"/>
              <a:ea typeface="Merriweather"/>
              <a:cs typeface="Merriweather"/>
              <a:sym typeface="Merriweather"/>
            </a:endParaRPr>
          </a:p>
          <a:p>
            <a:pPr indent="0" lvl="0" marL="0" marR="0" rtl="0" algn="ctr">
              <a:spcBef>
                <a:spcPts val="0"/>
              </a:spcBef>
              <a:spcAft>
                <a:spcPts val="0"/>
              </a:spcAft>
              <a:buNone/>
            </a:pPr>
            <a:r>
              <a:rPr b="1" i="0" lang="en-US" sz="3600" u="none" cap="none" strike="noStrike">
                <a:solidFill>
                  <a:schemeClr val="accent1"/>
                </a:solidFill>
                <a:latin typeface="Merriweather"/>
                <a:ea typeface="Merriweather"/>
                <a:cs typeface="Merriweather"/>
                <a:sym typeface="Merriweather"/>
              </a:rPr>
              <a:t>2025-2026 ուստարվա ներքին գնահատման հաշվետվություն</a:t>
            </a:r>
            <a:endParaRPr b="1" i="0" sz="3600" u="none" cap="none" strike="noStrike">
              <a:solidFill>
                <a:schemeClr val="accent1"/>
              </a:solidFill>
              <a:latin typeface="Merriweather"/>
              <a:ea typeface="Merriweather"/>
              <a:cs typeface="Merriweather"/>
              <a:sym typeface="Merriweather"/>
            </a:endParaRPr>
          </a:p>
        </p:txBody>
      </p:sp>
      <p:sp>
        <p:nvSpPr>
          <p:cNvPr id="176" name="Google Shape;176;p19"/>
          <p:cNvSpPr txBox="1"/>
          <p:nvPr/>
        </p:nvSpPr>
        <p:spPr>
          <a:xfrm>
            <a:off x="4083485" y="5198301"/>
            <a:ext cx="69692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1"/>
                </a:solidFill>
                <a:latin typeface="Merriweather"/>
                <a:ea typeface="Merriweather"/>
                <a:cs typeface="Merriweather"/>
                <a:sym typeface="Merriweather"/>
              </a:rPr>
              <a:t>Դպրոցի տնօրեն՝  Մարիաննա Նավասարդյան</a:t>
            </a:r>
            <a:endParaRPr b="1" sz="2400">
              <a:solidFill>
                <a:schemeClr val="accent1"/>
              </a:solidFill>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0"/>
          <p:cNvPicPr preferRelativeResize="0"/>
          <p:nvPr/>
        </p:nvPicPr>
        <p:blipFill rotWithShape="1">
          <a:blip r:embed="rId3">
            <a:alphaModFix/>
          </a:blip>
          <a:srcRect b="-820" l="33866" r="36422" t="54918"/>
          <a:stretch/>
        </p:blipFill>
        <p:spPr>
          <a:xfrm>
            <a:off x="5195888" y="939706"/>
            <a:ext cx="2084289" cy="626464"/>
          </a:xfrm>
          <a:prstGeom prst="rect">
            <a:avLst/>
          </a:prstGeom>
          <a:noFill/>
          <a:ln>
            <a:noFill/>
          </a:ln>
        </p:spPr>
      </p:pic>
      <p:pic>
        <p:nvPicPr>
          <p:cNvPr id="183" name="Google Shape;183;p20"/>
          <p:cNvPicPr preferRelativeResize="0"/>
          <p:nvPr/>
        </p:nvPicPr>
        <p:blipFill rotWithShape="1">
          <a:blip r:embed="rId4">
            <a:alphaModFix/>
          </a:blip>
          <a:srcRect b="43363" l="0" r="0" t="7080"/>
          <a:stretch/>
        </p:blipFill>
        <p:spPr>
          <a:xfrm>
            <a:off x="1143934" y="2431584"/>
            <a:ext cx="10801672" cy="12048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1"/>
          <p:cNvPicPr preferRelativeResize="0"/>
          <p:nvPr/>
        </p:nvPicPr>
        <p:blipFill rotWithShape="1">
          <a:blip r:embed="rId3">
            <a:alphaModFix/>
          </a:blip>
          <a:srcRect b="-943" l="1930" r="28185" t="12264"/>
          <a:stretch/>
        </p:blipFill>
        <p:spPr>
          <a:xfrm>
            <a:off x="1901849" y="615050"/>
            <a:ext cx="8713686" cy="1508467"/>
          </a:xfrm>
          <a:prstGeom prst="rect">
            <a:avLst/>
          </a:prstGeom>
          <a:noFill/>
          <a:ln>
            <a:noFill/>
          </a:ln>
        </p:spPr>
      </p:pic>
      <p:sp>
        <p:nvSpPr>
          <p:cNvPr id="190" name="Google Shape;190;p21"/>
          <p:cNvSpPr txBox="1"/>
          <p:nvPr/>
        </p:nvSpPr>
        <p:spPr>
          <a:xfrm>
            <a:off x="670200" y="2770367"/>
            <a:ext cx="11174125"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Հաստատության անվանումը, համարը ՝  </a:t>
            </a:r>
            <a:r>
              <a:rPr b="1" lang="en-US" sz="1800">
                <a:solidFill>
                  <a:schemeClr val="dk1"/>
                </a:solidFill>
                <a:latin typeface="Century Gothic"/>
                <a:ea typeface="Century Gothic"/>
                <a:cs typeface="Century Gothic"/>
                <a:sym typeface="Century Gothic"/>
              </a:rPr>
              <a:t>    Երևանի Տ. Շևչենկոյի անվան թիվ 42 ավագ դպրոց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Հաստատության հասցեն՝                             </a:t>
            </a:r>
            <a:r>
              <a:rPr b="1" lang="en-US" sz="1800">
                <a:solidFill>
                  <a:schemeClr val="dk1"/>
                </a:solidFill>
                <a:latin typeface="Century Gothic"/>
                <a:ea typeface="Century Gothic"/>
                <a:cs typeface="Century Gothic"/>
                <a:sym typeface="Century Gothic"/>
              </a:rPr>
              <a:t>Երևան, 0015, Մաշտոցի 5/2</a:t>
            </a:r>
            <a:r>
              <a:rPr lang="en-US" sz="1800">
                <a:solidFill>
                  <a:schemeClr val="dk1"/>
                </a:solidFill>
                <a:latin typeface="Century Gothic"/>
                <a:ea typeface="Century Gothic"/>
                <a:cs typeface="Century Gothic"/>
                <a:sym typeface="Century Gothic"/>
              </a:rPr>
              <a:t>                     </a:t>
            </a:r>
            <a:endParaRPr b="1"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Հաստատության հեռախոսահամարը՝         </a:t>
            </a:r>
            <a:r>
              <a:rPr b="1" lang="en-US" sz="1800">
                <a:solidFill>
                  <a:schemeClr val="dk1"/>
                </a:solidFill>
                <a:latin typeface="Century Gothic"/>
                <a:ea typeface="Century Gothic"/>
                <a:cs typeface="Century Gothic"/>
                <a:sym typeface="Century Gothic"/>
              </a:rPr>
              <a:t>010535641</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Էլեկտրոնային փոստի  հասցե՝                    </a:t>
            </a:r>
            <a:r>
              <a:rPr lang="en-US" sz="1800" u="sng">
                <a:solidFill>
                  <a:schemeClr val="dk1"/>
                </a:solidFill>
                <a:latin typeface="Century Gothic"/>
                <a:ea typeface="Century Gothic"/>
                <a:cs typeface="Century Gothic"/>
                <a:sym typeface="Century Gothic"/>
                <a:hlinkClick r:id="rId4">
                  <a:extLst>
                    <a:ext uri="{A12FA001-AC4F-418D-AE19-62706E023703}">
                      <ahyp:hlinkClr val="tx"/>
                    </a:ext>
                  </a:extLst>
                </a:hlinkClick>
              </a:rPr>
              <a:t>42school@rambler.ru</a:t>
            </a:r>
            <a:r>
              <a:rPr lang="en-US" sz="1800">
                <a:solidFill>
                  <a:schemeClr val="dk1"/>
                </a:solidFill>
                <a:latin typeface="Century Gothic"/>
                <a:ea typeface="Century Gothic"/>
                <a:cs typeface="Century Gothic"/>
                <a:sym typeface="Century Gothic"/>
              </a:rPr>
              <a:t>, </a:t>
            </a:r>
            <a:r>
              <a:rPr lang="en-US" sz="1800" u="sng">
                <a:solidFill>
                  <a:schemeClr val="dk1"/>
                </a:solidFill>
                <a:latin typeface="Century Gothic"/>
                <a:ea typeface="Century Gothic"/>
                <a:cs typeface="Century Gothic"/>
                <a:sym typeface="Century Gothic"/>
                <a:hlinkClick r:id="rId5">
                  <a:extLst>
                    <a:ext uri="{A12FA001-AC4F-418D-AE19-62706E023703}">
                      <ahyp:hlinkClr val="tx"/>
                    </a:ext>
                  </a:extLst>
                </a:hlinkClick>
              </a:rPr>
              <a:t>school42@schools.am</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Ինտերնետային կայքի հասցեն՝                   </a:t>
            </a:r>
            <a:r>
              <a:rPr lang="en-US" sz="1800" u="sng">
                <a:solidFill>
                  <a:schemeClr val="dk1"/>
                </a:solidFill>
                <a:latin typeface="Century Gothic"/>
                <a:ea typeface="Century Gothic"/>
                <a:cs typeface="Century Gothic"/>
                <a:sym typeface="Century Gothic"/>
                <a:hlinkClick r:id="rId6">
                  <a:extLst>
                    <a:ext uri="{A12FA001-AC4F-418D-AE19-62706E023703}">
                      <ahyp:hlinkClr val="tx"/>
                    </a:ext>
                  </a:extLst>
                </a:hlinkClick>
              </a:rPr>
              <a:t>http://school-42.am</a:t>
            </a:r>
            <a:endParaRPr sz="1800" u="sng">
              <a:solidFill>
                <a:schemeClr val="dk1"/>
              </a:solidFill>
              <a:latin typeface="Century Gothic"/>
              <a:ea typeface="Century Gothic"/>
              <a:cs typeface="Century Gothic"/>
              <a:sym typeface="Century Gothic"/>
              <a:hlinkClick r:id="rId7">
                <a:extLst>
                  <a:ext uri="{A12FA001-AC4F-418D-AE19-62706E023703}">
                    <ahyp:hlinkClr val="tx"/>
                  </a:ext>
                </a:extLst>
              </a:hlinkClick>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txBox="1"/>
          <p:nvPr/>
        </p:nvSpPr>
        <p:spPr>
          <a:xfrm>
            <a:off x="263047" y="325677"/>
            <a:ext cx="92442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erriweather"/>
                <a:ea typeface="Merriweather"/>
                <a:cs typeface="Merriweather"/>
                <a:sym typeface="Merriweather"/>
              </a:rPr>
              <a:t>Աղյուսակ 1՝ Դասարանների թիվը՝ ընթացիկ և նախորդ ուստարիների համար</a:t>
            </a:r>
            <a:endParaRPr b="1" sz="1800">
              <a:solidFill>
                <a:schemeClr val="dk1"/>
              </a:solidFill>
              <a:latin typeface="Merriweather"/>
              <a:ea typeface="Merriweather"/>
              <a:cs typeface="Merriweather"/>
              <a:sym typeface="Merriweather"/>
            </a:endParaRPr>
          </a:p>
        </p:txBody>
      </p:sp>
      <p:graphicFrame>
        <p:nvGraphicFramePr>
          <p:cNvPr id="197" name="Google Shape;197;p22"/>
          <p:cNvGraphicFramePr/>
          <p:nvPr/>
        </p:nvGraphicFramePr>
        <p:xfrm>
          <a:off x="1513500" y="1519548"/>
          <a:ext cx="3000000" cy="3000000"/>
        </p:xfrm>
        <a:graphic>
          <a:graphicData uri="http://schemas.openxmlformats.org/drawingml/2006/table">
            <a:tbl>
              <a:tblPr bandRow="1" firstRow="1">
                <a:noFill/>
                <a:tableStyleId>{40B977D2-3903-41EF-8714-5AC59086702B}</a:tableStyleId>
              </a:tblPr>
              <a:tblGrid>
                <a:gridCol w="2246250"/>
                <a:gridCol w="1619075"/>
                <a:gridCol w="1657350"/>
                <a:gridCol w="1607350"/>
                <a:gridCol w="2869400"/>
              </a:tblGrid>
              <a:tr h="1494125">
                <a:tc>
                  <a:txBody>
                    <a:bodyPr/>
                    <a:lstStyle/>
                    <a:p>
                      <a:pPr indent="0" lvl="0" marL="0" marR="0" rtl="0" algn="l">
                        <a:spcBef>
                          <a:spcPts val="0"/>
                        </a:spcBef>
                        <a:spcAft>
                          <a:spcPts val="0"/>
                        </a:spcAft>
                        <a:buNone/>
                      </a:pPr>
                      <a:r>
                        <a:rPr b="1" lang="en-US" sz="1600" u="none" cap="none" strike="noStrike">
                          <a:latin typeface="Merriweather"/>
                          <a:ea typeface="Merriweather"/>
                          <a:cs typeface="Merriweather"/>
                          <a:sym typeface="Merriweather"/>
                        </a:rPr>
                        <a:t>Դասարանների թիվը</a:t>
                      </a:r>
                      <a:endParaRPr b="1" sz="1600">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Merriweather"/>
                        <a:buNone/>
                      </a:pPr>
                      <a:r>
                        <a:rPr b="1" lang="en-US" sz="1600">
                          <a:latin typeface="Merriweather"/>
                          <a:ea typeface="Merriweather"/>
                          <a:cs typeface="Merriweather"/>
                          <a:sym typeface="Merriweather"/>
                        </a:rPr>
                        <a:t>2023-2024</a:t>
                      </a:r>
                      <a:r>
                        <a:rPr b="1" lang="en-US" sz="1600">
                          <a:latin typeface="Merriweather"/>
                          <a:ea typeface="Merriweather"/>
                          <a:cs typeface="Merriweather"/>
                          <a:sym typeface="Merriweather"/>
                        </a:rPr>
                        <a:t> </a:t>
                      </a:r>
                      <a:r>
                        <a:rPr b="1" lang="en-US" sz="1600">
                          <a:latin typeface="Merriweather"/>
                          <a:ea typeface="Merriweather"/>
                          <a:cs typeface="Merriweather"/>
                          <a:sym typeface="Merriweather"/>
                        </a:rPr>
                        <a:t>ուստարի</a:t>
                      </a:r>
                      <a:endParaRPr b="1" sz="1600">
                        <a:latin typeface="Merriweather"/>
                        <a:ea typeface="Merriweather"/>
                        <a:cs typeface="Merriweather"/>
                        <a:sym typeface="Merriweather"/>
                      </a:endParaRPr>
                    </a:p>
                    <a:p>
                      <a:pPr indent="0" lvl="0" marL="0" marR="0" rtl="0" algn="l">
                        <a:spcBef>
                          <a:spcPts val="0"/>
                        </a:spcBef>
                        <a:spcAft>
                          <a:spcPts val="0"/>
                        </a:spcAft>
                        <a:buNone/>
                      </a:pPr>
                      <a:r>
                        <a:t/>
                      </a:r>
                      <a:endParaRPr b="1" sz="1600">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Merriweather"/>
                        <a:buNone/>
                      </a:pPr>
                      <a:r>
                        <a:rPr b="1" lang="en-US" sz="1600">
                          <a:latin typeface="Merriweather"/>
                          <a:ea typeface="Merriweather"/>
                          <a:cs typeface="Merriweather"/>
                          <a:sym typeface="Merriweather"/>
                        </a:rPr>
                        <a:t>2024-2025</a:t>
                      </a:r>
                      <a:r>
                        <a:rPr b="1" lang="en-US" sz="1600">
                          <a:latin typeface="Merriweather"/>
                          <a:ea typeface="Merriweather"/>
                          <a:cs typeface="Merriweather"/>
                          <a:sym typeface="Merriweather"/>
                        </a:rPr>
                        <a:t> </a:t>
                      </a:r>
                      <a:r>
                        <a:rPr b="1" lang="en-US" sz="1600">
                          <a:latin typeface="Merriweather"/>
                          <a:ea typeface="Merriweather"/>
                          <a:cs typeface="Merriweather"/>
                          <a:sym typeface="Merriweather"/>
                        </a:rPr>
                        <a:t>ուստարի</a:t>
                      </a:r>
                      <a:endParaRPr b="1" sz="1600">
                        <a:latin typeface="Merriweather"/>
                        <a:ea typeface="Merriweather"/>
                        <a:cs typeface="Merriweather"/>
                        <a:sym typeface="Merriweather"/>
                      </a:endParaRPr>
                    </a:p>
                    <a:p>
                      <a:pPr indent="0" lvl="0" marL="0" marR="0" rtl="0" algn="l">
                        <a:spcBef>
                          <a:spcPts val="0"/>
                        </a:spcBef>
                        <a:spcAft>
                          <a:spcPts val="0"/>
                        </a:spcAft>
                        <a:buNone/>
                      </a:pPr>
                      <a:r>
                        <a:t/>
                      </a:r>
                      <a:endParaRPr b="1" sz="1600">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Merriweather"/>
                        <a:buNone/>
                      </a:pPr>
                      <a:r>
                        <a:rPr b="1" lang="en-US" sz="1800">
                          <a:latin typeface="Merriweather"/>
                          <a:ea typeface="Merriweather"/>
                          <a:cs typeface="Merriweather"/>
                          <a:sym typeface="Merriweather"/>
                        </a:rPr>
                        <a:t>2025-2026</a:t>
                      </a:r>
                      <a:r>
                        <a:rPr b="1" lang="en-US" sz="1800">
                          <a:latin typeface="Merriweather"/>
                          <a:ea typeface="Merriweather"/>
                          <a:cs typeface="Merriweather"/>
                          <a:sym typeface="Merriweather"/>
                        </a:rPr>
                        <a:t> </a:t>
                      </a:r>
                      <a:r>
                        <a:rPr b="1" lang="en-US" sz="1800">
                          <a:latin typeface="Merriweather"/>
                          <a:ea typeface="Merriweather"/>
                          <a:cs typeface="Merriweather"/>
                          <a:sym typeface="Merriweather"/>
                        </a:rPr>
                        <a:t>ուստարի</a:t>
                      </a:r>
                      <a:endParaRPr b="1" sz="1800">
                        <a:latin typeface="Merriweather"/>
                        <a:ea typeface="Merriweather"/>
                        <a:cs typeface="Merriweather"/>
                        <a:sym typeface="Merriweather"/>
                      </a:endParaRPr>
                    </a:p>
                    <a:p>
                      <a:pPr indent="0" lvl="0" marL="0" marR="0" rtl="0" algn="l">
                        <a:spcBef>
                          <a:spcPts val="0"/>
                        </a:spcBef>
                        <a:spcAft>
                          <a:spcPts val="0"/>
                        </a:spcAft>
                        <a:buNone/>
                      </a:pPr>
                      <a:r>
                        <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en-US" sz="1600">
                          <a:latin typeface="Merriweather"/>
                          <a:ea typeface="Merriweather"/>
                          <a:cs typeface="Merriweather"/>
                          <a:sym typeface="Merriweather"/>
                        </a:rPr>
                        <a:t>Փո</a:t>
                      </a:r>
                      <a:r>
                        <a:rPr b="1" i="0" lang="en-US" sz="1400" u="none" strike="noStrike"/>
                        <a:t>փ</a:t>
                      </a:r>
                      <a:r>
                        <a:rPr b="1" lang="en-US" sz="1600">
                          <a:latin typeface="Merriweather"/>
                          <a:ea typeface="Merriweather"/>
                          <a:cs typeface="Merriweather"/>
                          <a:sym typeface="Merriweather"/>
                        </a:rPr>
                        <a:t>ոխությունների դինամիկան (աճ  կամ նվազում)</a:t>
                      </a: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54950">
                <a:tc>
                  <a:txBody>
                    <a:bodyPr/>
                    <a:lstStyle/>
                    <a:p>
                      <a:pPr indent="0" lvl="0" marL="0" marR="0" rtl="0" algn="l">
                        <a:spcBef>
                          <a:spcPts val="0"/>
                        </a:spcBef>
                        <a:spcAft>
                          <a:spcPts val="0"/>
                        </a:spcAft>
                        <a:buNone/>
                      </a:pPr>
                      <a:r>
                        <a:rPr b="1" lang="en-US" sz="1600">
                          <a:latin typeface="Merriweather"/>
                          <a:ea typeface="Merriweather"/>
                          <a:cs typeface="Merriweather"/>
                          <a:sym typeface="Merriweather"/>
                        </a:rPr>
                        <a:t>10-րդ դասարան</a:t>
                      </a:r>
                      <a:endParaRPr b="1" sz="1600">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4</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6</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7</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600" u="none" cap="none" strike="noStrike">
                          <a:latin typeface="Merriweather"/>
                          <a:ea typeface="Merriweather"/>
                          <a:cs typeface="Merriweather"/>
                          <a:sym typeface="Merriweather"/>
                        </a:rPr>
                        <a:t>աճ</a:t>
                      </a:r>
                      <a:endParaRPr b="1" i="0" sz="1600" u="none" cap="none" strike="noStrike">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54950">
                <a:tc>
                  <a:txBody>
                    <a:bodyPr/>
                    <a:lstStyle/>
                    <a:p>
                      <a:pPr indent="0" lvl="0" marL="0" marR="0" rtl="0" algn="l">
                        <a:spcBef>
                          <a:spcPts val="0"/>
                        </a:spcBef>
                        <a:spcAft>
                          <a:spcPts val="0"/>
                        </a:spcAft>
                        <a:buNone/>
                      </a:pPr>
                      <a:r>
                        <a:rPr b="1" lang="en-US" sz="1600">
                          <a:latin typeface="Merriweather"/>
                          <a:ea typeface="Merriweather"/>
                          <a:cs typeface="Merriweather"/>
                          <a:sym typeface="Merriweather"/>
                        </a:rPr>
                        <a:t>11-րդ դասարան</a:t>
                      </a:r>
                      <a:endParaRPr b="1" sz="1600">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8</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4</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6</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600" u="none" cap="none" strike="noStrike">
                          <a:latin typeface="Merriweather"/>
                          <a:ea typeface="Merriweather"/>
                          <a:cs typeface="Merriweather"/>
                          <a:sym typeface="Merriweather"/>
                        </a:rPr>
                        <a:t>աճ</a:t>
                      </a:r>
                      <a:endParaRPr b="1" i="0" sz="1600" u="none" cap="none" strike="noStrike">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54950">
                <a:tc>
                  <a:txBody>
                    <a:bodyPr/>
                    <a:lstStyle/>
                    <a:p>
                      <a:pPr indent="0" lvl="0" marL="0" marR="0" rtl="0" algn="l">
                        <a:spcBef>
                          <a:spcPts val="0"/>
                        </a:spcBef>
                        <a:spcAft>
                          <a:spcPts val="0"/>
                        </a:spcAft>
                        <a:buNone/>
                      </a:pPr>
                      <a:r>
                        <a:rPr b="1" lang="en-US" sz="1600">
                          <a:latin typeface="Merriweather"/>
                          <a:ea typeface="Merriweather"/>
                          <a:cs typeface="Merriweather"/>
                          <a:sym typeface="Merriweather"/>
                        </a:rPr>
                        <a:t>12-րդ դասարան</a:t>
                      </a:r>
                      <a:endParaRPr b="1" sz="1600">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6</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8</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5</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600" u="none" cap="none" strike="noStrike">
                          <a:latin typeface="Merriweather"/>
                          <a:ea typeface="Merriweather"/>
                          <a:cs typeface="Merriweather"/>
                          <a:sym typeface="Merriweather"/>
                        </a:rPr>
                        <a:t>նվազում</a:t>
                      </a:r>
                      <a:endParaRPr b="1" i="0" sz="1600" u="none" cap="none" strike="noStrike">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54950">
                <a:tc>
                  <a:txBody>
                    <a:bodyPr/>
                    <a:lstStyle/>
                    <a:p>
                      <a:pPr indent="0" lvl="0" marL="0" marR="0" rtl="0" algn="l">
                        <a:spcBef>
                          <a:spcPts val="0"/>
                        </a:spcBef>
                        <a:spcAft>
                          <a:spcPts val="0"/>
                        </a:spcAft>
                        <a:buNone/>
                      </a:pPr>
                      <a:r>
                        <a:rPr b="1" lang="en-US" sz="1600">
                          <a:latin typeface="Merriweather"/>
                          <a:ea typeface="Merriweather"/>
                          <a:cs typeface="Merriweather"/>
                          <a:sym typeface="Merriweather"/>
                        </a:rPr>
                        <a:t>Ընդամենը</a:t>
                      </a:r>
                      <a:endParaRPr b="1" sz="1600">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18</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18</a:t>
                      </a: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18</a:t>
                      </a:r>
                      <a:endParaRPr sz="1800"/>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600" u="none" cap="none" strike="noStrike">
                          <a:latin typeface="Merriweather"/>
                          <a:ea typeface="Merriweather"/>
                          <a:cs typeface="Merriweather"/>
                          <a:sym typeface="Merriweather"/>
                        </a:rPr>
                        <a:t>անփոփոխ</a:t>
                      </a:r>
                      <a:endParaRPr b="1" i="0" sz="1600" u="none" cap="none" strike="noStrike">
                        <a:latin typeface="Merriweather"/>
                        <a:ea typeface="Merriweather"/>
                        <a:cs typeface="Merriweather"/>
                        <a:sym typeface="Merriweather"/>
                      </a:endParaRPr>
                    </a:p>
                  </a:txBody>
                  <a:tcPr marT="45725" marB="45725" marR="91450" marL="9145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type="title"/>
          </p:nvPr>
        </p:nvSpPr>
        <p:spPr>
          <a:xfrm>
            <a:off x="625819" y="231820"/>
            <a:ext cx="10450488" cy="15860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A65E11"/>
              </a:buClr>
              <a:buSzPts val="3600"/>
              <a:buFont typeface="Century Gothic"/>
              <a:buNone/>
            </a:pPr>
            <a:r>
              <a:rPr lang="en-US" sz="3600">
                <a:solidFill>
                  <a:srgbClr val="A65E11"/>
                </a:solidFill>
              </a:rPr>
              <a:t>Դասարանների թվաքանակի փոփոխության պատճառները</a:t>
            </a:r>
            <a:endParaRPr sz="3600">
              <a:solidFill>
                <a:srgbClr val="A65E11"/>
              </a:solidFill>
            </a:endParaRPr>
          </a:p>
        </p:txBody>
      </p:sp>
      <p:sp>
        <p:nvSpPr>
          <p:cNvPr id="203" name="Google Shape;203;p23"/>
          <p:cNvSpPr txBox="1"/>
          <p:nvPr>
            <p:ph idx="1" type="body"/>
          </p:nvPr>
        </p:nvSpPr>
        <p:spPr>
          <a:xfrm>
            <a:off x="734095" y="1712890"/>
            <a:ext cx="10452743" cy="3876013"/>
          </a:xfrm>
          <a:prstGeom prst="rect">
            <a:avLst/>
          </a:prstGeom>
          <a:noFill/>
          <a:ln>
            <a:noFill/>
          </a:ln>
        </p:spPr>
        <p:txBody>
          <a:bodyPr anchorCtr="0" anchor="ctr" bIns="45700" lIns="91425" spcFirstLastPara="1" rIns="91425" wrap="square" tIns="45700">
            <a:normAutofit/>
          </a:bodyPr>
          <a:lstStyle/>
          <a:p>
            <a:pPr indent="-342900" lvl="0" marL="342900" rtl="0" algn="just">
              <a:lnSpc>
                <a:spcPct val="150000"/>
              </a:lnSpc>
              <a:spcBef>
                <a:spcPts val="0"/>
              </a:spcBef>
              <a:spcAft>
                <a:spcPts val="0"/>
              </a:spcAft>
              <a:buSzPts val="1900"/>
              <a:buFont typeface="Noto Sans Symbols"/>
              <a:buChar char="❖"/>
            </a:pPr>
            <a:r>
              <a:rPr i="1" lang="en-US" sz="1900"/>
              <a:t>Դասարանների թվի աճը պայմանավորված է  դպրոցի շենքի հիմնանորոգմամբ և ուսումնադաստիարակչական աշխատանքների արդյունավետությամբ:</a:t>
            </a:r>
            <a:endParaRPr i="1" sz="1900"/>
          </a:p>
          <a:p>
            <a:pPr indent="-342900" lvl="0" marL="342900" rtl="0" algn="just">
              <a:lnSpc>
                <a:spcPct val="150000"/>
              </a:lnSpc>
              <a:spcBef>
                <a:spcPts val="0"/>
              </a:spcBef>
              <a:spcAft>
                <a:spcPts val="0"/>
              </a:spcAft>
              <a:buSzPts val="1900"/>
              <a:buFont typeface="Noto Sans Symbols"/>
              <a:buChar char="❖"/>
            </a:pPr>
            <a:r>
              <a:rPr i="1" lang="en-US" sz="1900"/>
              <a:t>11-րդ դասարանների նվազման պատճառը 2-րդ մասնաշենքի վերանորոգման բացակայությունն է  և, դրանով պայմանավորված,  դասասենյակների պակասությունը</a:t>
            </a:r>
            <a:endParaRPr/>
          </a:p>
          <a:p>
            <a:pPr indent="-222250" lvl="0" marL="342900" rtl="0" algn="just">
              <a:lnSpc>
                <a:spcPct val="150000"/>
              </a:lnSpc>
              <a:spcBef>
                <a:spcPts val="0"/>
              </a:spcBef>
              <a:spcAft>
                <a:spcPts val="0"/>
              </a:spcAft>
              <a:buSzPts val="1900"/>
              <a:buFont typeface="Noto Sans Symbols"/>
              <a:buNone/>
            </a:pPr>
            <a:r>
              <a:t/>
            </a:r>
            <a:endParaRPr i="1"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24"/>
          <p:cNvPicPr preferRelativeResize="0"/>
          <p:nvPr/>
        </p:nvPicPr>
        <p:blipFill rotWithShape="1">
          <a:blip r:embed="rId3">
            <a:alphaModFix/>
          </a:blip>
          <a:srcRect b="0" l="0" r="0" t="0"/>
          <a:stretch/>
        </p:blipFill>
        <p:spPr>
          <a:xfrm>
            <a:off x="1669529" y="567662"/>
            <a:ext cx="9230206" cy="765789"/>
          </a:xfrm>
          <a:prstGeom prst="rect">
            <a:avLst/>
          </a:prstGeom>
          <a:noFill/>
          <a:ln>
            <a:noFill/>
          </a:ln>
        </p:spPr>
      </p:pic>
      <p:graphicFrame>
        <p:nvGraphicFramePr>
          <p:cNvPr id="210" name="Google Shape;210;p24"/>
          <p:cNvGraphicFramePr/>
          <p:nvPr/>
        </p:nvGraphicFramePr>
        <p:xfrm>
          <a:off x="1167236" y="1596578"/>
          <a:ext cx="3000000" cy="3000000"/>
        </p:xfrm>
        <a:graphic>
          <a:graphicData uri="http://schemas.openxmlformats.org/drawingml/2006/table">
            <a:tbl>
              <a:tblPr>
                <a:noFill/>
                <a:tableStyleId>{40B977D2-3903-41EF-8714-5AC59086702B}</a:tableStyleId>
              </a:tblPr>
              <a:tblGrid>
                <a:gridCol w="2307675"/>
                <a:gridCol w="1554150"/>
                <a:gridCol w="1538450"/>
                <a:gridCol w="1636550"/>
                <a:gridCol w="2951300"/>
              </a:tblGrid>
              <a:tr h="1928550">
                <a:tc>
                  <a:txBody>
                    <a:bodyPr/>
                    <a:lstStyle/>
                    <a:p>
                      <a:pPr indent="0" lvl="0" marL="0" marR="0" rtl="0" algn="ctr">
                        <a:lnSpc>
                          <a:spcPct val="150000"/>
                        </a:lnSpc>
                        <a:spcBef>
                          <a:spcPts val="0"/>
                        </a:spcBef>
                        <a:spcAft>
                          <a:spcPts val="0"/>
                        </a:spcAft>
                        <a:buNone/>
                      </a:pPr>
                      <a:r>
                        <a:rPr lang="en-US" sz="1600"/>
                        <a:t>Սովորողների թիվը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lang="en-US" sz="1800"/>
                        <a:t>2023-2024 ուստարի</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lang="en-US" sz="1600"/>
                        <a:t> </a:t>
                      </a:r>
                      <a:r>
                        <a:rPr lang="en-US" sz="1800"/>
                        <a:t>2024-2025 ուստարի</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entury Gothic"/>
                        <a:buNone/>
                      </a:pPr>
                      <a:r>
                        <a:rPr lang="en-US" sz="1800"/>
                        <a:t>2025-2026 ուստարի</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lang="en-US" sz="1600"/>
                        <a:t>Փոփոխությունների դինամիկան (աճ կամ նվազում)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40275">
                <a:tc>
                  <a:txBody>
                    <a:bodyPr/>
                    <a:lstStyle/>
                    <a:p>
                      <a:pPr indent="0" lvl="0" marL="0" marR="0" rtl="0" algn="ctr">
                        <a:spcBef>
                          <a:spcPts val="0"/>
                        </a:spcBef>
                        <a:spcAft>
                          <a:spcPts val="0"/>
                        </a:spcAft>
                        <a:buNone/>
                      </a:pPr>
                      <a:r>
                        <a:rPr lang="en-US" sz="1600"/>
                        <a:t>10-րդ դասարան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Merriweather"/>
                        <a:buNone/>
                      </a:pPr>
                      <a:r>
                        <a:rPr lang="en-US" sz="1600">
                          <a:latin typeface="Merriweather"/>
                          <a:ea typeface="Merriweather"/>
                          <a:cs typeface="Merriweather"/>
                          <a:sym typeface="Merriweather"/>
                        </a:rPr>
                        <a:t>101</a:t>
                      </a:r>
                      <a:endParaRPr sz="16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a:latin typeface="Merriweather"/>
                          <a:ea typeface="Merriweather"/>
                          <a:cs typeface="Merriweather"/>
                          <a:sym typeface="Merriweather"/>
                        </a:rPr>
                        <a:t>134</a:t>
                      </a:r>
                      <a:endParaRPr sz="16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latin typeface="Merriweather"/>
                          <a:ea typeface="Merriweather"/>
                          <a:cs typeface="Merriweather"/>
                          <a:sym typeface="Merriweather"/>
                        </a:rPr>
                        <a:t>164 </a:t>
                      </a:r>
                      <a:endParaRPr sz="18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600"/>
                        <a:buFont typeface="Century Gothic"/>
                        <a:buNone/>
                      </a:pPr>
                      <a:r>
                        <a:rPr lang="en-US" sz="1600"/>
                        <a:t>աճ</a:t>
                      </a:r>
                      <a:endParaRPr sz="16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720300">
                <a:tc>
                  <a:txBody>
                    <a:bodyPr/>
                    <a:lstStyle/>
                    <a:p>
                      <a:pPr indent="0" lvl="0" marL="0" marR="0" rtl="0" algn="ctr">
                        <a:spcBef>
                          <a:spcPts val="0"/>
                        </a:spcBef>
                        <a:spcAft>
                          <a:spcPts val="0"/>
                        </a:spcAft>
                        <a:buNone/>
                      </a:pPr>
                      <a:r>
                        <a:rPr lang="en-US" sz="1600"/>
                        <a:t>11-րդ դասարան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Merriweather"/>
                        <a:buNone/>
                      </a:pPr>
                      <a:r>
                        <a:rPr lang="en-US" sz="1600">
                          <a:latin typeface="Merriweather"/>
                          <a:ea typeface="Merriweather"/>
                          <a:cs typeface="Merriweather"/>
                          <a:sym typeface="Merriweather"/>
                        </a:rPr>
                        <a:t>188</a:t>
                      </a:r>
                      <a:endParaRPr sz="16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Merriweather"/>
                        <a:buNone/>
                      </a:pPr>
                      <a:r>
                        <a:rPr lang="en-US" sz="1600">
                          <a:latin typeface="Merriweather"/>
                          <a:ea typeface="Merriweather"/>
                          <a:cs typeface="Merriweather"/>
                          <a:sym typeface="Merriweather"/>
                        </a:rPr>
                        <a:t>103</a:t>
                      </a:r>
                      <a:endParaRPr sz="16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latin typeface="Merriweather"/>
                          <a:ea typeface="Merriweather"/>
                          <a:cs typeface="Merriweather"/>
                          <a:sym typeface="Merriweather"/>
                        </a:rPr>
                        <a:t>135</a:t>
                      </a:r>
                      <a:endParaRPr sz="18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600"/>
                        <a:buFont typeface="Century Gothic"/>
                        <a:buNone/>
                      </a:pPr>
                      <a:r>
                        <a:rPr lang="en-US" sz="1600"/>
                        <a:t>աճ</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40275">
                <a:tc>
                  <a:txBody>
                    <a:bodyPr/>
                    <a:lstStyle/>
                    <a:p>
                      <a:pPr indent="0" lvl="0" marL="0" marR="0" rtl="0" algn="ctr">
                        <a:spcBef>
                          <a:spcPts val="0"/>
                        </a:spcBef>
                        <a:spcAft>
                          <a:spcPts val="0"/>
                        </a:spcAft>
                        <a:buNone/>
                      </a:pPr>
                      <a:r>
                        <a:rPr lang="en-US" sz="1600"/>
                        <a:t>12-րդ դասարան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a:latin typeface="Merriweather"/>
                          <a:ea typeface="Merriweather"/>
                          <a:cs typeface="Merriweather"/>
                          <a:sym typeface="Merriweather"/>
                        </a:rPr>
                        <a:t>135</a:t>
                      </a:r>
                      <a:endParaRPr sz="16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latin typeface="Merriweather"/>
                          <a:ea typeface="Merriweather"/>
                          <a:cs typeface="Merriweather"/>
                          <a:sym typeface="Merriweather"/>
                        </a:rPr>
                        <a:t>190</a:t>
                      </a:r>
                      <a:endParaRPr sz="18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          105</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lang="en-US" sz="1600"/>
                        <a:t>նվազում</a:t>
                      </a:r>
                      <a:endParaRPr sz="16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40275">
                <a:tc>
                  <a:txBody>
                    <a:bodyPr/>
                    <a:lstStyle/>
                    <a:p>
                      <a:pPr indent="0" lvl="0" marL="0" marR="0" rtl="0" algn="ctr">
                        <a:lnSpc>
                          <a:spcPct val="150000"/>
                        </a:lnSpc>
                        <a:spcBef>
                          <a:spcPts val="0"/>
                        </a:spcBef>
                        <a:spcAft>
                          <a:spcPts val="0"/>
                        </a:spcAft>
                        <a:buNone/>
                      </a:pPr>
                      <a:r>
                        <a:rPr lang="en-US" sz="1600"/>
                        <a:t>Ընդամենը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a:latin typeface="Merriweather"/>
                          <a:ea typeface="Merriweather"/>
                          <a:cs typeface="Merriweather"/>
                          <a:sym typeface="Merriweather"/>
                        </a:rPr>
                        <a:t>424</a:t>
                      </a:r>
                      <a:endParaRPr sz="16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latin typeface="Merriweather"/>
                          <a:ea typeface="Merriweather"/>
                          <a:cs typeface="Merriweather"/>
                          <a:sym typeface="Merriweather"/>
                        </a:rPr>
                        <a:t>427</a:t>
                      </a:r>
                      <a:endParaRPr sz="18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           404</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600"/>
                        <a:buFont typeface="Century Gothic"/>
                        <a:buNone/>
                      </a:pPr>
                      <a:r>
                        <a:rPr lang="en-US" sz="1600"/>
                        <a:t>նվազում</a:t>
                      </a:r>
                      <a:endParaRPr sz="16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25"/>
          <p:cNvPicPr preferRelativeResize="0"/>
          <p:nvPr/>
        </p:nvPicPr>
        <p:blipFill rotWithShape="1">
          <a:blip r:embed="rId3">
            <a:alphaModFix/>
          </a:blip>
          <a:srcRect b="0" l="0" r="0" t="0"/>
          <a:stretch/>
        </p:blipFill>
        <p:spPr>
          <a:xfrm>
            <a:off x="1659554" y="316955"/>
            <a:ext cx="8572575" cy="1178662"/>
          </a:xfrm>
          <a:prstGeom prst="rect">
            <a:avLst/>
          </a:prstGeom>
          <a:noFill/>
          <a:ln>
            <a:noFill/>
          </a:ln>
        </p:spPr>
      </p:pic>
      <p:sp>
        <p:nvSpPr>
          <p:cNvPr id="217" name="Google Shape;217;p25"/>
          <p:cNvSpPr txBox="1"/>
          <p:nvPr/>
        </p:nvSpPr>
        <p:spPr>
          <a:xfrm>
            <a:off x="720267" y="1726268"/>
            <a:ext cx="9511862" cy="3016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000000"/>
                </a:solidFill>
                <a:latin typeface="Merriweather"/>
                <a:ea typeface="Merriweather"/>
                <a:cs typeface="Merriweather"/>
                <a:sym typeface="Merriweather"/>
              </a:rPr>
              <a:t>Ըստ դասար</a:t>
            </a:r>
            <a:r>
              <a:rPr i="1" lang="en-US" sz="2000">
                <a:solidFill>
                  <a:schemeClr val="dk1"/>
                </a:solidFill>
                <a:latin typeface="Century Gothic"/>
                <a:ea typeface="Century Gothic"/>
                <a:cs typeface="Century Gothic"/>
                <a:sym typeface="Century Gothic"/>
              </a:rPr>
              <a:t>ա</a:t>
            </a:r>
            <a:r>
              <a:rPr i="1" lang="en-US" sz="2400">
                <a:solidFill>
                  <a:srgbClr val="000000"/>
                </a:solidFill>
                <a:latin typeface="Merriweather"/>
                <a:ea typeface="Merriweather"/>
                <a:cs typeface="Merriweather"/>
                <a:sym typeface="Merriweather"/>
              </a:rPr>
              <a:t>նների՝ սովորողների թվի փոփոխության պատճառները պայմանավորված  են. </a:t>
            </a:r>
            <a:endParaRPr i="1" sz="2400">
              <a:solidFill>
                <a:srgbClr val="000000"/>
              </a:solidFill>
              <a:latin typeface="Merriweather"/>
              <a:ea typeface="Merriweather"/>
              <a:cs typeface="Merriweather"/>
              <a:sym typeface="Merriweather"/>
            </a:endParaRPr>
          </a:p>
          <a:p>
            <a:pPr indent="0" lvl="0" marL="0" marR="0" rtl="0" algn="l">
              <a:spcBef>
                <a:spcPts val="0"/>
              </a:spcBef>
              <a:spcAft>
                <a:spcPts val="0"/>
              </a:spcAft>
              <a:buNone/>
            </a:pPr>
            <a:r>
              <a:t/>
            </a:r>
            <a:endParaRPr i="1" sz="1900">
              <a:solidFill>
                <a:srgbClr val="000000"/>
              </a:solidFill>
              <a:latin typeface="Merriweather"/>
              <a:ea typeface="Merriweather"/>
              <a:cs typeface="Merriweather"/>
              <a:sym typeface="Merriweather"/>
            </a:endParaRPr>
          </a:p>
          <a:p>
            <a:pPr indent="0" lvl="0" marL="0" marR="0" rtl="0" algn="l">
              <a:spcBef>
                <a:spcPts val="0"/>
              </a:spcBef>
              <a:spcAft>
                <a:spcPts val="0"/>
              </a:spcAft>
              <a:buNone/>
            </a:pPr>
            <a:r>
              <a:rPr lang="en-US" sz="1900">
                <a:solidFill>
                  <a:srgbClr val="000000"/>
                </a:solidFill>
                <a:latin typeface="Merriweather"/>
                <a:ea typeface="Merriweather"/>
                <a:cs typeface="Merriweather"/>
                <a:sym typeface="Merriweather"/>
              </a:rPr>
              <a:t>Դպրոցի միայն մեկ մասնաշենքի հիմնանորոգմամբ:</a:t>
            </a:r>
            <a:endParaRPr/>
          </a:p>
          <a:p>
            <a:pPr indent="0" lvl="0" marL="0" marR="0" rtl="0" algn="l">
              <a:spcBef>
                <a:spcPts val="0"/>
              </a:spcBef>
              <a:spcAft>
                <a:spcPts val="0"/>
              </a:spcAft>
              <a:buNone/>
            </a:pPr>
            <a:r>
              <a:rPr lang="en-US" sz="1900">
                <a:solidFill>
                  <a:srgbClr val="000000"/>
                </a:solidFill>
                <a:latin typeface="Merriweather"/>
                <a:ea typeface="Merriweather"/>
                <a:cs typeface="Merriweather"/>
                <a:sym typeface="Merriweather"/>
              </a:rPr>
              <a:t>Ըստ նոր ՀՊՉ-ի ուսումնական խմբերում սովորողների առավելագույն թիվի սահմանմամբ /25 սովորող/։ </a:t>
            </a:r>
            <a:endParaRPr sz="1900">
              <a:solidFill>
                <a:srgbClr val="000000"/>
              </a:solidFill>
              <a:latin typeface="Merriweather"/>
              <a:ea typeface="Merriweather"/>
              <a:cs typeface="Merriweather"/>
              <a:sym typeface="Merriweather"/>
            </a:endParaRPr>
          </a:p>
          <a:p>
            <a:pPr indent="-121920" lvl="0" marL="274320" marR="0" rtl="0" algn="l">
              <a:spcBef>
                <a:spcPts val="0"/>
              </a:spcBef>
              <a:spcAft>
                <a:spcPts val="0"/>
              </a:spcAft>
              <a:buClr>
                <a:schemeClr val="accent3"/>
              </a:buClr>
              <a:buSzPts val="2400"/>
              <a:buFont typeface="Noto Sans Symbols"/>
              <a:buNone/>
            </a:pPr>
            <a:r>
              <a:t/>
            </a:r>
            <a:endParaRPr i="1" sz="2400">
              <a:solidFill>
                <a:srgbClr val="000000"/>
              </a:solidFill>
              <a:latin typeface="Merriweather"/>
              <a:ea typeface="Merriweather"/>
              <a:cs typeface="Merriweather"/>
              <a:sym typeface="Merriweather"/>
            </a:endParaRPr>
          </a:p>
          <a:p>
            <a:pPr indent="-121920" lvl="0" marL="274320" marR="0" rtl="0" algn="l">
              <a:spcBef>
                <a:spcPts val="0"/>
              </a:spcBef>
              <a:spcAft>
                <a:spcPts val="0"/>
              </a:spcAft>
              <a:buClr>
                <a:schemeClr val="accent3"/>
              </a:buClr>
              <a:buSzPts val="2400"/>
              <a:buFont typeface="Noto Sans Symbols"/>
              <a:buNone/>
            </a:pPr>
            <a:r>
              <a:t/>
            </a:r>
            <a:endParaRPr i="1" sz="2400">
              <a:solidFill>
                <a:srgbClr val="000000"/>
              </a:solidFill>
              <a:latin typeface="Merriweather"/>
              <a:ea typeface="Merriweather"/>
              <a:cs typeface="Merriweather"/>
              <a:sym typeface="Merriweathe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8" name="Google Shape;218;p25"/>
          <p:cNvSpPr txBox="1"/>
          <p:nvPr/>
        </p:nvSpPr>
        <p:spPr>
          <a:xfrm>
            <a:off x="593970" y="3088180"/>
            <a:ext cx="9053848" cy="2863805"/>
          </a:xfrm>
          <a:prstGeom prst="rect">
            <a:avLst/>
          </a:prstGeom>
          <a:noFill/>
          <a:ln>
            <a:noFill/>
          </a:ln>
        </p:spPr>
        <p:txBody>
          <a:bodyPr anchorCtr="0" anchor="t" bIns="45700" lIns="91425" spcFirstLastPara="1" rIns="91425" wrap="square" tIns="45700">
            <a:normAutofit/>
          </a:bodyPr>
          <a:lstStyle/>
          <a:p>
            <a:pPr indent="-246380" lvl="0" marL="342900" marR="0" rtl="0" algn="just">
              <a:lnSpc>
                <a:spcPct val="150000"/>
              </a:lnSpc>
              <a:spcBef>
                <a:spcPts val="0"/>
              </a:spcBef>
              <a:spcAft>
                <a:spcPts val="0"/>
              </a:spcAft>
              <a:buClr>
                <a:schemeClr val="accent1"/>
              </a:buClr>
              <a:buSzPts val="1520"/>
              <a:buFont typeface="Noto Sans Symbols"/>
              <a:buNone/>
            </a:pPr>
            <a:r>
              <a:t/>
            </a:r>
            <a:endParaRPr i="1" sz="1900">
              <a:solidFill>
                <a:srgbClr val="3F3F3F"/>
              </a:solidFill>
              <a:latin typeface="Merriweather"/>
              <a:ea typeface="Merriweather"/>
              <a:cs typeface="Merriweather"/>
              <a:sym typeface="Merriweath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26"/>
          <p:cNvPicPr preferRelativeResize="0"/>
          <p:nvPr/>
        </p:nvPicPr>
        <p:blipFill rotWithShape="1">
          <a:blip r:embed="rId3">
            <a:alphaModFix/>
          </a:blip>
          <a:srcRect b="0" l="0" r="0" t="0"/>
          <a:stretch/>
        </p:blipFill>
        <p:spPr>
          <a:xfrm>
            <a:off x="1756865" y="537500"/>
            <a:ext cx="9448800" cy="693566"/>
          </a:xfrm>
          <a:prstGeom prst="rect">
            <a:avLst/>
          </a:prstGeom>
          <a:noFill/>
          <a:ln>
            <a:noFill/>
          </a:ln>
        </p:spPr>
      </p:pic>
      <p:graphicFrame>
        <p:nvGraphicFramePr>
          <p:cNvPr id="225" name="Google Shape;225;p26"/>
          <p:cNvGraphicFramePr/>
          <p:nvPr/>
        </p:nvGraphicFramePr>
        <p:xfrm>
          <a:off x="1070637" y="1536730"/>
          <a:ext cx="3000000" cy="3000000"/>
        </p:xfrm>
        <a:graphic>
          <a:graphicData uri="http://schemas.openxmlformats.org/drawingml/2006/table">
            <a:tbl>
              <a:tblPr>
                <a:noFill/>
                <a:tableStyleId>{40B977D2-3903-41EF-8714-5AC59086702B}</a:tableStyleId>
              </a:tblPr>
              <a:tblGrid>
                <a:gridCol w="3401300"/>
                <a:gridCol w="1275475"/>
                <a:gridCol w="1275475"/>
                <a:gridCol w="1275475"/>
              </a:tblGrid>
              <a:tr h="1262000">
                <a:tc>
                  <a:txBody>
                    <a:bodyPr/>
                    <a:lstStyle/>
                    <a:p>
                      <a:pPr indent="0" lvl="0" marL="0" marR="0" rtl="0" algn="ctr">
                        <a:lnSpc>
                          <a:spcPct val="150000"/>
                        </a:lnSpc>
                        <a:spcBef>
                          <a:spcPts val="0"/>
                        </a:spcBef>
                        <a:spcAft>
                          <a:spcPts val="0"/>
                        </a:spcAft>
                        <a:buNone/>
                      </a:pPr>
                      <a:r>
                        <a:rPr lang="en-US" sz="1400"/>
                        <a:t>Ցուցանիշը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2023-2024</a:t>
                      </a:r>
                      <a:endParaRPr sz="1800"/>
                    </a:p>
                    <a:p>
                      <a:pPr indent="0" lvl="0" marL="0" marR="0" rtl="0" algn="ctr">
                        <a:lnSpc>
                          <a:spcPct val="150000"/>
                        </a:lnSpc>
                        <a:spcBef>
                          <a:spcPts val="0"/>
                        </a:spcBef>
                        <a:spcAft>
                          <a:spcPts val="0"/>
                        </a:spcAft>
                        <a:buNone/>
                      </a:pPr>
                      <a:r>
                        <a:rPr lang="en-US" sz="1400"/>
                        <a:t>ուստարի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2024-2025</a:t>
                      </a:r>
                      <a:endParaRPr sz="1800"/>
                    </a:p>
                    <a:p>
                      <a:pPr indent="0" lvl="0" marL="0" marR="0" rtl="0" algn="ctr">
                        <a:lnSpc>
                          <a:spcPct val="150000"/>
                        </a:lnSpc>
                        <a:spcBef>
                          <a:spcPts val="0"/>
                        </a:spcBef>
                        <a:spcAft>
                          <a:spcPts val="0"/>
                        </a:spcAft>
                        <a:buNone/>
                      </a:pPr>
                      <a:r>
                        <a:rPr lang="en-US" sz="1400"/>
                        <a:t>ուստարի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solidFill>
                            <a:schemeClr val="dk1"/>
                          </a:solidFill>
                          <a:latin typeface="Century Gothic"/>
                          <a:ea typeface="Century Gothic"/>
                          <a:cs typeface="Century Gothic"/>
                          <a:sym typeface="Century Gothic"/>
                        </a:rPr>
                        <a:t>2025-2026</a:t>
                      </a:r>
                      <a:endParaRPr/>
                    </a:p>
                    <a:p>
                      <a:pPr indent="0" lvl="0" marL="0" marR="0" rtl="0" algn="ctr">
                        <a:lnSpc>
                          <a:spcPct val="150000"/>
                        </a:lnSpc>
                        <a:spcBef>
                          <a:spcPts val="0"/>
                        </a:spcBef>
                        <a:spcAft>
                          <a:spcPts val="0"/>
                        </a:spcAft>
                        <a:buNone/>
                      </a:pPr>
                      <a:r>
                        <a:rPr lang="en-US" sz="1400">
                          <a:solidFill>
                            <a:schemeClr val="dk1"/>
                          </a:solidFill>
                          <a:latin typeface="Century Gothic"/>
                          <a:ea typeface="Century Gothic"/>
                          <a:cs typeface="Century Gothic"/>
                          <a:sym typeface="Century Gothic"/>
                        </a:rPr>
                        <a:t>ուստարի</a:t>
                      </a:r>
                      <a:r>
                        <a:rPr lang="en-US" sz="1800"/>
                        <a:t> </a:t>
                      </a:r>
                      <a:endParaRPr sz="1800"/>
                    </a:p>
                  </a:txBody>
                  <a:tcPr marT="0" marB="0" marR="0" marL="0" anchor="ctr"/>
                </a:tc>
              </a:tr>
              <a:tr h="1062225">
                <a:tc>
                  <a:txBody>
                    <a:bodyPr/>
                    <a:lstStyle/>
                    <a:p>
                      <a:pPr indent="0" lvl="0" marL="0" marR="0" rtl="0" algn="ctr">
                        <a:lnSpc>
                          <a:spcPct val="150000"/>
                        </a:lnSpc>
                        <a:spcBef>
                          <a:spcPts val="0"/>
                        </a:spcBef>
                        <a:spcAft>
                          <a:spcPts val="0"/>
                        </a:spcAft>
                        <a:buNone/>
                      </a:pPr>
                      <a:r>
                        <a:rPr lang="en-US" sz="1400"/>
                        <a:t>Սովորողների ընդհանուր թիվը ուսումնական տարվա սկզբին` տվյալ ուստարվա սեպտեմբերի 1-ի դրությամբ </a:t>
                      </a:r>
                      <a:endParaRPr sz="1800"/>
                    </a:p>
                  </a:txBody>
                  <a:tcPr marT="0" marB="0" marR="0" marL="0" anchor="ctr"/>
                </a:tc>
                <a:tc>
                  <a:txBody>
                    <a:bodyPr/>
                    <a:lstStyle/>
                    <a:p>
                      <a:pPr indent="0" lvl="0" marL="0" marR="0" rtl="0" algn="ctr">
                        <a:spcBef>
                          <a:spcPts val="0"/>
                        </a:spcBef>
                        <a:spcAft>
                          <a:spcPts val="0"/>
                        </a:spcAft>
                        <a:buNone/>
                      </a:pPr>
                      <a:r>
                        <a:rPr lang="en-US" sz="1200">
                          <a:latin typeface="Merriweather"/>
                          <a:ea typeface="Merriweather"/>
                          <a:cs typeface="Merriweather"/>
                          <a:sym typeface="Merriweather"/>
                        </a:rPr>
                        <a:t>416</a:t>
                      </a:r>
                      <a:endParaRPr sz="12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200">
                          <a:latin typeface="Merriweather"/>
                          <a:ea typeface="Merriweather"/>
                          <a:cs typeface="Merriweather"/>
                          <a:sym typeface="Merriweather"/>
                        </a:rPr>
                        <a:t>427</a:t>
                      </a:r>
                      <a:endParaRPr sz="1200">
                        <a:latin typeface="Merriweather"/>
                        <a:ea typeface="Merriweather"/>
                        <a:cs typeface="Merriweather"/>
                        <a:sym typeface="Merriweather"/>
                      </a:endParaRPr>
                    </a:p>
                  </a:txBody>
                  <a:tcPr marT="0" marB="0" marR="0" marL="0" anchor="ctr"/>
                </a:tc>
                <a:tc>
                  <a:txBody>
                    <a:bodyPr/>
                    <a:lstStyle/>
                    <a:p>
                      <a:pPr indent="0" lvl="0" marL="0" marR="0" rtl="0" algn="l">
                        <a:spcBef>
                          <a:spcPts val="0"/>
                        </a:spcBef>
                        <a:spcAft>
                          <a:spcPts val="0"/>
                        </a:spcAft>
                        <a:buNone/>
                      </a:pPr>
                      <a:r>
                        <a:rPr lang="en-US" sz="1200"/>
                        <a:t>          400</a:t>
                      </a:r>
                      <a:endParaRPr sz="1200"/>
                    </a:p>
                  </a:txBody>
                  <a:tcPr marT="0" marB="0" marR="0" marL="0" anchor="ctr"/>
                </a:tc>
              </a:tr>
              <a:tr h="1062225">
                <a:tc>
                  <a:txBody>
                    <a:bodyPr/>
                    <a:lstStyle/>
                    <a:p>
                      <a:pPr indent="0" lvl="0" marL="0" marR="0" rtl="0" algn="ctr">
                        <a:lnSpc>
                          <a:spcPct val="150000"/>
                        </a:lnSpc>
                        <a:spcBef>
                          <a:spcPts val="0"/>
                        </a:spcBef>
                        <a:spcAft>
                          <a:spcPts val="0"/>
                        </a:spcAft>
                        <a:buNone/>
                      </a:pPr>
                      <a:r>
                        <a:rPr lang="en-US" sz="1400"/>
                        <a:t>Սովորողների ընդհանուր թիվը ուսումնական տարվա վերջին` տվյալ ուստարվա հունիսի 3-ի դրությամբ </a:t>
                      </a:r>
                      <a:endParaRPr sz="1800"/>
                    </a:p>
                  </a:txBody>
                  <a:tcPr marT="0" marB="0" marR="0" marL="0" anchor="ctr"/>
                </a:tc>
                <a:tc>
                  <a:txBody>
                    <a:bodyPr/>
                    <a:lstStyle/>
                    <a:p>
                      <a:pPr indent="0" lvl="0" marL="0" marR="0" rtl="0" algn="ctr">
                        <a:spcBef>
                          <a:spcPts val="0"/>
                        </a:spcBef>
                        <a:spcAft>
                          <a:spcPts val="0"/>
                        </a:spcAft>
                        <a:buNone/>
                      </a:pPr>
                      <a:r>
                        <a:rPr lang="en-US" sz="1200">
                          <a:latin typeface="Merriweather"/>
                          <a:ea typeface="Merriweather"/>
                          <a:cs typeface="Merriweather"/>
                          <a:sym typeface="Merriweather"/>
                        </a:rPr>
                        <a:t>424</a:t>
                      </a:r>
                      <a:endParaRPr sz="12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200">
                          <a:latin typeface="Merriweather"/>
                          <a:ea typeface="Merriweather"/>
                          <a:cs typeface="Merriweather"/>
                          <a:sym typeface="Merriweather"/>
                        </a:rPr>
                        <a:t>434</a:t>
                      </a:r>
                      <a:endParaRPr sz="1200">
                        <a:latin typeface="Merriweather"/>
                        <a:ea typeface="Merriweather"/>
                        <a:cs typeface="Merriweather"/>
                        <a:sym typeface="Merriweather"/>
                      </a:endParaRPr>
                    </a:p>
                  </a:txBody>
                  <a:tcPr marT="0" marB="0" marR="0" marL="0" anchor="ctr"/>
                </a:tc>
                <a:tc>
                  <a:txBody>
                    <a:bodyPr/>
                    <a:lstStyle/>
                    <a:p>
                      <a:pPr indent="0" lvl="0" marL="0" marR="0" rtl="0" algn="l">
                        <a:spcBef>
                          <a:spcPts val="0"/>
                        </a:spcBef>
                        <a:spcAft>
                          <a:spcPts val="0"/>
                        </a:spcAft>
                        <a:buNone/>
                      </a:pPr>
                      <a:r>
                        <a:rPr lang="en-US" sz="1200"/>
                        <a:t>          404</a:t>
                      </a:r>
                      <a:endParaRPr sz="1200"/>
                    </a:p>
                  </a:txBody>
                  <a:tcPr marT="0" marB="0" marR="0" marL="0" anchor="ctr"/>
                </a:tc>
              </a:tr>
              <a:tr h="796675">
                <a:tc>
                  <a:txBody>
                    <a:bodyPr/>
                    <a:lstStyle/>
                    <a:p>
                      <a:pPr indent="0" lvl="0" marL="0" marR="0" rtl="0" algn="ctr">
                        <a:lnSpc>
                          <a:spcPct val="150000"/>
                        </a:lnSpc>
                        <a:spcBef>
                          <a:spcPts val="0"/>
                        </a:spcBef>
                        <a:spcAft>
                          <a:spcPts val="0"/>
                        </a:spcAft>
                        <a:buNone/>
                      </a:pPr>
                      <a:r>
                        <a:rPr lang="en-US" sz="1400"/>
                        <a:t>Ուսումնական տարվա ընթացքում ընդունված սովորողների թիվը </a:t>
                      </a:r>
                      <a:endParaRPr sz="1800"/>
                    </a:p>
                  </a:txBody>
                  <a:tcPr marT="0" marB="0" marR="0" marL="0" anchor="ctr"/>
                </a:tc>
                <a:tc>
                  <a:txBody>
                    <a:bodyPr/>
                    <a:lstStyle/>
                    <a:p>
                      <a:pPr indent="0" lvl="0" marL="0" marR="0" rtl="0" algn="ctr">
                        <a:spcBef>
                          <a:spcPts val="0"/>
                        </a:spcBef>
                        <a:spcAft>
                          <a:spcPts val="0"/>
                        </a:spcAft>
                        <a:buNone/>
                      </a:pPr>
                      <a:r>
                        <a:rPr lang="en-US" sz="1200">
                          <a:solidFill>
                            <a:schemeClr val="dk1"/>
                          </a:solidFill>
                          <a:latin typeface="Merriweather"/>
                          <a:ea typeface="Merriweather"/>
                          <a:cs typeface="Merriweather"/>
                          <a:sym typeface="Merriweather"/>
                        </a:rPr>
                        <a:t>32</a:t>
                      </a:r>
                      <a:endParaRPr sz="1200">
                        <a:solidFill>
                          <a:schemeClr val="dk1"/>
                        </a:solidFill>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200">
                          <a:latin typeface="Merriweather"/>
                          <a:ea typeface="Merriweather"/>
                          <a:cs typeface="Merriweather"/>
                          <a:sym typeface="Merriweather"/>
                        </a:rPr>
                        <a:t>15</a:t>
                      </a:r>
                      <a:endParaRPr sz="12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200"/>
                        <a:t>14</a:t>
                      </a:r>
                      <a:endParaRPr sz="1200"/>
                    </a:p>
                  </a:txBody>
                  <a:tcPr marT="0" marB="0" marR="0" marL="0" anchor="ctr"/>
                </a:tc>
              </a:tr>
              <a:tr h="796675">
                <a:tc>
                  <a:txBody>
                    <a:bodyPr/>
                    <a:lstStyle/>
                    <a:p>
                      <a:pPr indent="0" lvl="0" marL="0" marR="0" rtl="0" algn="ctr">
                        <a:lnSpc>
                          <a:spcPct val="150000"/>
                        </a:lnSpc>
                        <a:spcBef>
                          <a:spcPts val="0"/>
                        </a:spcBef>
                        <a:spcAft>
                          <a:spcPts val="0"/>
                        </a:spcAft>
                        <a:buNone/>
                      </a:pPr>
                      <a:r>
                        <a:rPr lang="en-US" sz="1400"/>
                        <a:t>Ուսումնական տարվա ընթացքում հեռացած սովորողների թիվը </a:t>
                      </a:r>
                      <a:endParaRPr sz="1800"/>
                    </a:p>
                  </a:txBody>
                  <a:tcPr marT="0" marB="0" marR="0" marL="0" anchor="ctr"/>
                </a:tc>
                <a:tc>
                  <a:txBody>
                    <a:bodyPr/>
                    <a:lstStyle/>
                    <a:p>
                      <a:pPr indent="0" lvl="0" marL="0" marR="0" rtl="0" algn="ctr">
                        <a:spcBef>
                          <a:spcPts val="0"/>
                        </a:spcBef>
                        <a:spcAft>
                          <a:spcPts val="0"/>
                        </a:spcAft>
                        <a:buNone/>
                      </a:pPr>
                      <a:r>
                        <a:rPr lang="en-US" sz="1200">
                          <a:solidFill>
                            <a:schemeClr val="dk1"/>
                          </a:solidFill>
                          <a:latin typeface="Merriweather"/>
                          <a:ea typeface="Merriweather"/>
                          <a:cs typeface="Merriweather"/>
                          <a:sym typeface="Merriweather"/>
                        </a:rPr>
                        <a:t>24</a:t>
                      </a:r>
                      <a:endParaRPr sz="1200">
                        <a:solidFill>
                          <a:schemeClr val="dk1"/>
                        </a:solidFill>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b="0" i="0" lang="en-US" sz="1200" u="none" cap="none" strike="noStrike"/>
                        <a:t>19</a:t>
                      </a:r>
                      <a:endParaRPr b="0" i="0" sz="1200" u="none" cap="none" strike="noStrike"/>
                    </a:p>
                  </a:txBody>
                  <a:tcPr marT="0" marB="0" marR="0" marL="0" anchor="ctr"/>
                </a:tc>
                <a:tc>
                  <a:txBody>
                    <a:bodyPr/>
                    <a:lstStyle/>
                    <a:p>
                      <a:pPr indent="0" lvl="0" marL="0" marR="0" rtl="0" algn="l">
                        <a:spcBef>
                          <a:spcPts val="0"/>
                        </a:spcBef>
                        <a:spcAft>
                          <a:spcPts val="0"/>
                        </a:spcAft>
                        <a:buNone/>
                      </a:pPr>
                      <a:r>
                        <a:rPr lang="en-US" sz="1200"/>
                        <a:t>              16</a:t>
                      </a:r>
                      <a:endParaRPr sz="1200"/>
                    </a:p>
                  </a:txBody>
                  <a:tcPr marT="0" marB="0" marR="0" marL="0" anchor="ctr"/>
                </a:tc>
              </a:tr>
            </a:tbl>
          </a:graphicData>
        </a:graphic>
      </p:graphicFrame>
      <p:graphicFrame>
        <p:nvGraphicFramePr>
          <p:cNvPr id="226" name="Google Shape;226;p26"/>
          <p:cNvGraphicFramePr/>
          <p:nvPr/>
        </p:nvGraphicFramePr>
        <p:xfrm>
          <a:off x="8298382" y="1536730"/>
          <a:ext cx="3000000" cy="3000000"/>
        </p:xfrm>
        <a:graphic>
          <a:graphicData uri="http://schemas.openxmlformats.org/drawingml/2006/table">
            <a:tbl>
              <a:tblPr>
                <a:noFill/>
                <a:tableStyleId>{40B977D2-3903-41EF-8714-5AC59086702B}</a:tableStyleId>
              </a:tblPr>
              <a:tblGrid>
                <a:gridCol w="2095125"/>
              </a:tblGrid>
              <a:tr h="1262000">
                <a:tc>
                  <a:txBody>
                    <a:bodyPr/>
                    <a:lstStyle/>
                    <a:p>
                      <a:pPr indent="0" lvl="0" marL="0" marR="0" rtl="0" algn="ctr">
                        <a:lnSpc>
                          <a:spcPct val="150000"/>
                        </a:lnSpc>
                        <a:spcBef>
                          <a:spcPts val="0"/>
                        </a:spcBef>
                        <a:spcAft>
                          <a:spcPts val="0"/>
                        </a:spcAft>
                        <a:buNone/>
                      </a:pPr>
                      <a:r>
                        <a:rPr lang="en-US" sz="1400"/>
                        <a:t>Փոփոխությունների դինամիկան (աճ կամ նվազում) </a:t>
                      </a:r>
                      <a:endParaRPr sz="1800"/>
                    </a:p>
                  </a:txBody>
                  <a:tcPr marT="0" marB="0" marR="0" marL="0" anchor="ctr"/>
                </a:tc>
              </a:tr>
              <a:tr h="1062225">
                <a:tc>
                  <a:txBody>
                    <a:bodyPr/>
                    <a:lstStyle/>
                    <a:p>
                      <a:pPr indent="0" lvl="0" marL="0" marR="0" rtl="0" algn="ctr">
                        <a:lnSpc>
                          <a:spcPct val="150000"/>
                        </a:lnSpc>
                        <a:spcBef>
                          <a:spcPts val="0"/>
                        </a:spcBef>
                        <a:spcAft>
                          <a:spcPts val="0"/>
                        </a:spcAft>
                        <a:buNone/>
                      </a:pPr>
                      <a:r>
                        <a:rPr lang="en-US" sz="1400"/>
                        <a:t>աճ</a:t>
                      </a:r>
                      <a:endParaRPr/>
                    </a:p>
                  </a:txBody>
                  <a:tcPr marT="0" marB="0" marR="0" marL="0" anchor="ctr"/>
                </a:tc>
              </a:tr>
              <a:tr h="1062225">
                <a:tc>
                  <a:txBody>
                    <a:bodyPr/>
                    <a:lstStyle/>
                    <a:p>
                      <a:pPr indent="0" lvl="0" marL="0" marR="0" rtl="0" algn="ctr">
                        <a:lnSpc>
                          <a:spcPct val="150000"/>
                        </a:lnSpc>
                        <a:spcBef>
                          <a:spcPts val="0"/>
                        </a:spcBef>
                        <a:spcAft>
                          <a:spcPts val="0"/>
                        </a:spcAft>
                        <a:buNone/>
                      </a:pPr>
                      <a:r>
                        <a:rPr lang="en-US" sz="1400"/>
                        <a:t>աճ</a:t>
                      </a:r>
                      <a:endParaRPr/>
                    </a:p>
                  </a:txBody>
                  <a:tcPr marT="0" marB="0" marR="0" marL="0" anchor="ctr"/>
                </a:tc>
              </a:tr>
              <a:tr h="796675">
                <a:tc>
                  <a:txBody>
                    <a:bodyPr/>
                    <a:lstStyle/>
                    <a:p>
                      <a:pPr indent="0" lvl="0" marL="0" marR="0" rtl="0" algn="ctr">
                        <a:lnSpc>
                          <a:spcPct val="150000"/>
                        </a:lnSpc>
                        <a:spcBef>
                          <a:spcPts val="0"/>
                        </a:spcBef>
                        <a:spcAft>
                          <a:spcPts val="0"/>
                        </a:spcAft>
                        <a:buNone/>
                      </a:pPr>
                      <a:r>
                        <a:rPr b="0" i="0" lang="en-US" sz="1400" u="none" cap="none" strike="noStrike"/>
                        <a:t>նվազում</a:t>
                      </a:r>
                      <a:endParaRPr sz="1800"/>
                    </a:p>
                  </a:txBody>
                  <a:tcPr marT="0" marB="0" marR="0" marL="0" anchor="ctr"/>
                </a:tc>
              </a:tr>
              <a:tr h="796675">
                <a:tc>
                  <a:txBody>
                    <a:bodyPr/>
                    <a:lstStyle/>
                    <a:p>
                      <a:pPr indent="0" lvl="0" marL="0" marR="0" rtl="0" algn="ctr">
                        <a:lnSpc>
                          <a:spcPct val="150000"/>
                        </a:lnSpc>
                        <a:spcBef>
                          <a:spcPts val="0"/>
                        </a:spcBef>
                        <a:spcAft>
                          <a:spcPts val="0"/>
                        </a:spcAft>
                        <a:buClr>
                          <a:schemeClr val="dk1"/>
                        </a:buClr>
                        <a:buSzPts val="1400"/>
                        <a:buFont typeface="Century Gothic"/>
                        <a:buNone/>
                      </a:pPr>
                      <a:r>
                        <a:rPr b="0" i="0" lang="en-US" sz="1400" u="none" cap="none" strike="noStrike"/>
                        <a:t>նվազում</a:t>
                      </a:r>
                      <a:endParaRPr sz="1400"/>
                    </a:p>
                    <a:p>
                      <a:pPr indent="0" lvl="0" marL="0" marR="0" rtl="0" algn="ctr">
                        <a:lnSpc>
                          <a:spcPct val="150000"/>
                        </a:lnSpc>
                        <a:spcBef>
                          <a:spcPts val="0"/>
                        </a:spcBef>
                        <a:spcAft>
                          <a:spcPts val="0"/>
                        </a:spcAft>
                        <a:buNone/>
                      </a:pPr>
                      <a:r>
                        <a:t/>
                      </a:r>
                      <a:endParaRPr sz="1400"/>
                    </a:p>
                  </a:txBody>
                  <a:tcPr marT="0" marB="0" marR="0" marL="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7"/>
          <p:cNvSpPr txBox="1"/>
          <p:nvPr/>
        </p:nvSpPr>
        <p:spPr>
          <a:xfrm>
            <a:off x="1554202" y="504974"/>
            <a:ext cx="9751239" cy="9540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2"/>
                </a:solidFill>
                <a:latin typeface="Merriweather"/>
                <a:ea typeface="Merriweather"/>
                <a:cs typeface="Merriweather"/>
                <a:sym typeface="Merriweather"/>
              </a:rPr>
              <a:t>Սովորողների թվաքանակի փոփոխության պատճառները </a:t>
            </a:r>
            <a:br>
              <a:rPr b="1" lang="en-US" sz="2800">
                <a:solidFill>
                  <a:schemeClr val="dk2"/>
                </a:solidFill>
                <a:latin typeface="Merriweather"/>
                <a:ea typeface="Merriweather"/>
                <a:cs typeface="Merriweather"/>
                <a:sym typeface="Merriweather"/>
              </a:rPr>
            </a:br>
            <a:r>
              <a:rPr b="1" lang="en-US" sz="2800">
                <a:solidFill>
                  <a:schemeClr val="dk2"/>
                </a:solidFill>
                <a:latin typeface="Merriweather"/>
                <a:ea typeface="Merriweather"/>
                <a:cs typeface="Merriweather"/>
                <a:sym typeface="Merriweather"/>
              </a:rPr>
              <a:t>ուսումնական տարվա ընթացքում</a:t>
            </a:r>
            <a:endParaRPr sz="1800">
              <a:solidFill>
                <a:schemeClr val="dk1"/>
              </a:solidFill>
              <a:latin typeface="Century Gothic"/>
              <a:ea typeface="Century Gothic"/>
              <a:cs typeface="Century Gothic"/>
              <a:sym typeface="Century Gothic"/>
            </a:endParaRPr>
          </a:p>
        </p:txBody>
      </p:sp>
      <p:pic>
        <p:nvPicPr>
          <p:cNvPr id="233" name="Google Shape;233;p27"/>
          <p:cNvPicPr preferRelativeResize="0"/>
          <p:nvPr/>
        </p:nvPicPr>
        <p:blipFill rotWithShape="1">
          <a:blip r:embed="rId3">
            <a:alphaModFix/>
          </a:blip>
          <a:srcRect b="39592" l="0" r="155" t="0"/>
          <a:stretch/>
        </p:blipFill>
        <p:spPr>
          <a:xfrm>
            <a:off x="1286388" y="1710064"/>
            <a:ext cx="9225895" cy="23855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28"/>
          <p:cNvPicPr preferRelativeResize="0"/>
          <p:nvPr/>
        </p:nvPicPr>
        <p:blipFill rotWithShape="1">
          <a:blip r:embed="rId3">
            <a:alphaModFix/>
          </a:blip>
          <a:srcRect b="0" l="0" r="0" t="0"/>
          <a:stretch/>
        </p:blipFill>
        <p:spPr>
          <a:xfrm>
            <a:off x="1772408" y="467413"/>
            <a:ext cx="9236075" cy="920298"/>
          </a:xfrm>
          <a:prstGeom prst="rect">
            <a:avLst/>
          </a:prstGeom>
          <a:noFill/>
          <a:ln>
            <a:noFill/>
          </a:ln>
        </p:spPr>
      </p:pic>
      <p:graphicFrame>
        <p:nvGraphicFramePr>
          <p:cNvPr id="240" name="Google Shape;240;p28"/>
          <p:cNvGraphicFramePr/>
          <p:nvPr/>
        </p:nvGraphicFramePr>
        <p:xfrm>
          <a:off x="1871610" y="1684156"/>
          <a:ext cx="3000000" cy="3000000"/>
        </p:xfrm>
        <a:graphic>
          <a:graphicData uri="http://schemas.openxmlformats.org/drawingml/2006/table">
            <a:tbl>
              <a:tblPr>
                <a:noFill/>
                <a:tableStyleId>{40B977D2-3903-41EF-8714-5AC59086702B}</a:tableStyleId>
              </a:tblPr>
              <a:tblGrid>
                <a:gridCol w="3515450"/>
                <a:gridCol w="1266025"/>
                <a:gridCol w="1266025"/>
                <a:gridCol w="1266025"/>
              </a:tblGrid>
              <a:tr h="1338525">
                <a:tc>
                  <a:txBody>
                    <a:bodyPr/>
                    <a:lstStyle/>
                    <a:p>
                      <a:pPr indent="0" lvl="0" marL="0" marR="0" rtl="0" algn="ctr">
                        <a:lnSpc>
                          <a:spcPct val="150000"/>
                        </a:lnSpc>
                        <a:spcBef>
                          <a:spcPts val="0"/>
                        </a:spcBef>
                        <a:spcAft>
                          <a:spcPts val="0"/>
                        </a:spcAft>
                        <a:buNone/>
                      </a:pPr>
                      <a:r>
                        <a:rPr lang="en-US" sz="1600"/>
                        <a:t>              Ցուցանիշը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600"/>
                        <a:t>2023-2024</a:t>
                      </a:r>
                      <a:endParaRPr sz="1800"/>
                    </a:p>
                    <a:p>
                      <a:pPr indent="0" lvl="0" marL="0" marR="0" rtl="0" algn="ctr">
                        <a:lnSpc>
                          <a:spcPct val="150000"/>
                        </a:lnSpc>
                        <a:spcBef>
                          <a:spcPts val="0"/>
                        </a:spcBef>
                        <a:spcAft>
                          <a:spcPts val="0"/>
                        </a:spcAft>
                        <a:buNone/>
                      </a:pPr>
                      <a:r>
                        <a:rPr lang="en-US" sz="1600"/>
                        <a:t>ուստարի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600"/>
                        <a:t>2024-2025</a:t>
                      </a:r>
                      <a:endParaRPr sz="1800"/>
                    </a:p>
                    <a:p>
                      <a:pPr indent="0" lvl="0" marL="0" marR="0" rtl="0" algn="ctr">
                        <a:lnSpc>
                          <a:spcPct val="150000"/>
                        </a:lnSpc>
                        <a:spcBef>
                          <a:spcPts val="0"/>
                        </a:spcBef>
                        <a:spcAft>
                          <a:spcPts val="0"/>
                        </a:spcAft>
                        <a:buNone/>
                      </a:pPr>
                      <a:r>
                        <a:rPr lang="en-US" sz="1600"/>
                        <a:t>ուստարի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600"/>
                        <a:t>2025-2026</a:t>
                      </a:r>
                      <a:endParaRPr sz="1800"/>
                    </a:p>
                    <a:p>
                      <a:pPr indent="0" lvl="0" marL="0" marR="0" rtl="0" algn="ctr">
                        <a:lnSpc>
                          <a:spcPct val="150000"/>
                        </a:lnSpc>
                        <a:spcBef>
                          <a:spcPts val="0"/>
                        </a:spcBef>
                        <a:spcAft>
                          <a:spcPts val="0"/>
                        </a:spcAft>
                        <a:buNone/>
                      </a:pPr>
                      <a:r>
                        <a:rPr lang="en-US" sz="1600"/>
                        <a:t>ուստարի </a:t>
                      </a:r>
                      <a:endParaRPr sz="1800"/>
                    </a:p>
                  </a:txBody>
                  <a:tcPr marT="0" marB="0" marR="0" marL="0" anchor="ctr"/>
                </a:tc>
              </a:tr>
              <a:tr h="545975">
                <a:tc>
                  <a:txBody>
                    <a:bodyPr/>
                    <a:lstStyle/>
                    <a:p>
                      <a:pPr indent="0" lvl="0" marL="0" marR="0" rtl="0" algn="ctr">
                        <a:spcBef>
                          <a:spcPts val="0"/>
                        </a:spcBef>
                        <a:spcAft>
                          <a:spcPts val="0"/>
                        </a:spcAft>
                        <a:buNone/>
                      </a:pPr>
                      <a:r>
                        <a:rPr lang="en-US" sz="1600"/>
                        <a:t>  Ուսուցիչների ընդհանուր թիվը </a:t>
                      </a:r>
                      <a:endParaRPr sz="1800"/>
                    </a:p>
                  </a:txBody>
                  <a:tcPr marT="0" marB="0" marR="0" marL="0" anchor="ctr"/>
                </a:tc>
                <a:tc>
                  <a:txBody>
                    <a:bodyPr/>
                    <a:lstStyle/>
                    <a:p>
                      <a:pPr indent="0" lvl="0" marL="0" marR="0" rtl="0" algn="ctr">
                        <a:spcBef>
                          <a:spcPts val="0"/>
                        </a:spcBef>
                        <a:spcAft>
                          <a:spcPts val="0"/>
                        </a:spcAft>
                        <a:buNone/>
                      </a:pPr>
                      <a:r>
                        <a:rPr lang="en-US" sz="1400"/>
                        <a:t>31</a:t>
                      </a:r>
                      <a:endParaRPr/>
                    </a:p>
                  </a:txBody>
                  <a:tcPr marT="0" marB="0" marR="0" marL="0" anchor="ctr"/>
                </a:tc>
                <a:tc>
                  <a:txBody>
                    <a:bodyPr/>
                    <a:lstStyle/>
                    <a:p>
                      <a:pPr indent="0" lvl="0" marL="0" marR="0" rtl="0" algn="ctr">
                        <a:spcBef>
                          <a:spcPts val="0"/>
                        </a:spcBef>
                        <a:spcAft>
                          <a:spcPts val="0"/>
                        </a:spcAft>
                        <a:buNone/>
                      </a:pPr>
                      <a:r>
                        <a:rPr lang="en-US" sz="1400"/>
                        <a:t>27</a:t>
                      </a:r>
                      <a:endParaRPr sz="1400"/>
                    </a:p>
                  </a:txBody>
                  <a:tcPr marT="0" marB="0" marR="0" marL="0" anchor="ctr"/>
                </a:tc>
                <a:tc>
                  <a:txBody>
                    <a:bodyPr/>
                    <a:lstStyle/>
                    <a:p>
                      <a:pPr indent="0" lvl="0" marL="0" marR="0" rtl="0" algn="ctr">
                        <a:spcBef>
                          <a:spcPts val="0"/>
                        </a:spcBef>
                        <a:spcAft>
                          <a:spcPts val="0"/>
                        </a:spcAft>
                        <a:buNone/>
                      </a:pPr>
                      <a:r>
                        <a:rPr lang="en-US" sz="1400"/>
                        <a:t>30</a:t>
                      </a:r>
                      <a:endParaRPr/>
                    </a:p>
                  </a:txBody>
                  <a:tcPr marT="0" marB="0" marR="0" marL="0" anchor="ctr"/>
                </a:tc>
              </a:tr>
              <a:tr h="1074325">
                <a:tc>
                  <a:txBody>
                    <a:bodyPr/>
                    <a:lstStyle/>
                    <a:p>
                      <a:pPr indent="0" lvl="0" marL="0" marR="0" rtl="0" algn="ctr">
                        <a:spcBef>
                          <a:spcPts val="0"/>
                        </a:spcBef>
                        <a:spcAft>
                          <a:spcPts val="0"/>
                        </a:spcAft>
                        <a:buNone/>
                      </a:pPr>
                      <a:r>
                        <a:rPr lang="en-US" sz="1600"/>
                        <a:t>Ուսուցիչների միջին շաբաթական ծանրաբեռնվածությունը կամ դրույքաչափը </a:t>
                      </a:r>
                      <a:endParaRPr sz="1800"/>
                    </a:p>
                  </a:txBody>
                  <a:tcPr marT="0" marB="0" marR="0" marL="0" anchor="ctr"/>
                </a:tc>
                <a:tc>
                  <a:txBody>
                    <a:bodyPr/>
                    <a:lstStyle/>
                    <a:p>
                      <a:pPr indent="0" lvl="0" marL="0" marR="0" rtl="0" algn="ctr">
                        <a:spcBef>
                          <a:spcPts val="0"/>
                        </a:spcBef>
                        <a:spcAft>
                          <a:spcPts val="0"/>
                        </a:spcAft>
                        <a:buNone/>
                      </a:pPr>
                      <a:r>
                        <a:rPr lang="en-US" sz="1400">
                          <a:solidFill>
                            <a:schemeClr val="dk1"/>
                          </a:solidFill>
                        </a:rPr>
                        <a:t>19․2</a:t>
                      </a:r>
                      <a:endParaRPr sz="1400">
                        <a:solidFill>
                          <a:schemeClr val="dk1"/>
                        </a:solidFill>
                      </a:endParaRPr>
                    </a:p>
                  </a:txBody>
                  <a:tcPr marT="0" marB="0" marR="0" marL="0" anchor="ctr"/>
                </a:tc>
                <a:tc>
                  <a:txBody>
                    <a:bodyPr/>
                    <a:lstStyle/>
                    <a:p>
                      <a:pPr indent="0" lvl="0" marL="0" marR="0" rtl="0" algn="ctr">
                        <a:spcBef>
                          <a:spcPts val="0"/>
                        </a:spcBef>
                        <a:spcAft>
                          <a:spcPts val="0"/>
                        </a:spcAft>
                        <a:buNone/>
                      </a:pPr>
                      <a:r>
                        <a:rPr lang="en-US" sz="1400">
                          <a:solidFill>
                            <a:schemeClr val="dk1"/>
                          </a:solidFill>
                        </a:rPr>
                        <a:t>20</a:t>
                      </a:r>
                      <a:endParaRPr sz="1400">
                        <a:solidFill>
                          <a:schemeClr val="dk1"/>
                        </a:solidFill>
                      </a:endParaRPr>
                    </a:p>
                  </a:txBody>
                  <a:tcPr marT="0" marB="0" marR="0" marL="0" anchor="ctr"/>
                </a:tc>
                <a:tc>
                  <a:txBody>
                    <a:bodyPr/>
                    <a:lstStyle/>
                    <a:p>
                      <a:pPr indent="0" lvl="0" marL="0" marR="0" rtl="0" algn="ctr">
                        <a:spcBef>
                          <a:spcPts val="0"/>
                        </a:spcBef>
                        <a:spcAft>
                          <a:spcPts val="0"/>
                        </a:spcAft>
                        <a:buNone/>
                      </a:pPr>
                      <a:r>
                        <a:rPr lang="en-US" sz="1400">
                          <a:solidFill>
                            <a:schemeClr val="dk1"/>
                          </a:solidFill>
                        </a:rPr>
                        <a:t>20,7</a:t>
                      </a:r>
                      <a:endParaRPr sz="1400">
                        <a:solidFill>
                          <a:schemeClr val="dk1"/>
                        </a:solidFill>
                      </a:endParaRPr>
                    </a:p>
                  </a:txBody>
                  <a:tcPr marT="0" marB="0" marR="0" marL="0" anchor="ctr"/>
                </a:tc>
              </a:tr>
            </a:tbl>
          </a:graphicData>
        </a:graphic>
      </p:graphicFrame>
      <p:sp>
        <p:nvSpPr>
          <p:cNvPr id="241" name="Google Shape;241;p28"/>
          <p:cNvSpPr txBox="1"/>
          <p:nvPr/>
        </p:nvSpPr>
        <p:spPr>
          <a:xfrm>
            <a:off x="794354" y="4842456"/>
            <a:ext cx="868449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Ուսուցիչների միջին շաբաթական ծանրաբեռնվածությունը կամ դրույքաչափը աճել է, պայմանավորված դասարանների թվի աճմամբ: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242" name="Google Shape;242;p28"/>
          <p:cNvGraphicFramePr/>
          <p:nvPr/>
        </p:nvGraphicFramePr>
        <p:xfrm>
          <a:off x="9185101" y="1684156"/>
          <a:ext cx="3000000" cy="3000000"/>
        </p:xfrm>
        <a:graphic>
          <a:graphicData uri="http://schemas.openxmlformats.org/drawingml/2006/table">
            <a:tbl>
              <a:tblPr>
                <a:noFill/>
                <a:tableStyleId>{40B977D2-3903-41EF-8714-5AC59086702B}</a:tableStyleId>
              </a:tblPr>
              <a:tblGrid>
                <a:gridCol w="1642375"/>
              </a:tblGrid>
              <a:tr h="1334250">
                <a:tc>
                  <a:txBody>
                    <a:bodyPr/>
                    <a:lstStyle/>
                    <a:p>
                      <a:pPr indent="0" lvl="0" marL="0" marR="0" rtl="0" algn="ctr">
                        <a:spcBef>
                          <a:spcPts val="0"/>
                        </a:spcBef>
                        <a:spcAft>
                          <a:spcPts val="0"/>
                        </a:spcAft>
                        <a:buNone/>
                      </a:pPr>
                      <a:r>
                        <a:rPr lang="en-US" sz="1600"/>
                        <a:t>Փոփոխություն ների դինամիկան (աճ կամ նվազում) </a:t>
                      </a:r>
                      <a:endParaRPr sz="1800"/>
                    </a:p>
                  </a:txBody>
                  <a:tcPr marT="0" marB="0" marR="0" marL="0" anchor="ctr"/>
                </a:tc>
              </a:tr>
              <a:tr h="548750">
                <a:tc>
                  <a:txBody>
                    <a:bodyPr/>
                    <a:lstStyle/>
                    <a:p>
                      <a:pPr indent="0" lvl="0" marL="0" marR="0" rtl="0" algn="ctr">
                        <a:lnSpc>
                          <a:spcPct val="150000"/>
                        </a:lnSpc>
                        <a:spcBef>
                          <a:spcPts val="0"/>
                        </a:spcBef>
                        <a:spcAft>
                          <a:spcPts val="0"/>
                        </a:spcAft>
                        <a:buNone/>
                      </a:pPr>
                      <a:r>
                        <a:rPr lang="en-US" sz="1600"/>
                        <a:t>աճ</a:t>
                      </a:r>
                      <a:endParaRPr/>
                    </a:p>
                  </a:txBody>
                  <a:tcPr marT="0" marB="0" marR="0" marL="0" anchor="ctr"/>
                </a:tc>
              </a:tr>
              <a:tr h="1079775">
                <a:tc>
                  <a:txBody>
                    <a:bodyPr/>
                    <a:lstStyle/>
                    <a:p>
                      <a:pPr indent="0" lvl="0" marL="0" marR="0" rtl="0" algn="ctr">
                        <a:lnSpc>
                          <a:spcPct val="150000"/>
                        </a:lnSpc>
                        <a:spcBef>
                          <a:spcPts val="0"/>
                        </a:spcBef>
                        <a:spcAft>
                          <a:spcPts val="0"/>
                        </a:spcAft>
                        <a:buClr>
                          <a:schemeClr val="dk1"/>
                        </a:buClr>
                        <a:buSzPts val="1600"/>
                        <a:buFont typeface="Trebuchet MS"/>
                        <a:buNone/>
                      </a:pPr>
                      <a:r>
                        <a:rPr b="0" i="0" lang="en-US" sz="1600" u="none" strike="noStrike">
                          <a:latin typeface="Trebuchet MS"/>
                          <a:ea typeface="Trebuchet MS"/>
                          <a:cs typeface="Trebuchet MS"/>
                          <a:sym typeface="Trebuchet MS"/>
                        </a:rPr>
                        <a:t>աճ</a:t>
                      </a:r>
                      <a:endParaRPr/>
                    </a:p>
                  </a:txBody>
                  <a:tcPr marT="0" marB="0" marR="0" marL="0"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29"/>
          <p:cNvPicPr preferRelativeResize="0"/>
          <p:nvPr/>
        </p:nvPicPr>
        <p:blipFill rotWithShape="1">
          <a:blip r:embed="rId3">
            <a:alphaModFix/>
          </a:blip>
          <a:srcRect b="0" l="0" r="0" t="0"/>
          <a:stretch/>
        </p:blipFill>
        <p:spPr>
          <a:xfrm>
            <a:off x="1843585" y="432179"/>
            <a:ext cx="8610600" cy="908960"/>
          </a:xfrm>
          <a:prstGeom prst="rect">
            <a:avLst/>
          </a:prstGeom>
          <a:noFill/>
          <a:ln>
            <a:noFill/>
          </a:ln>
        </p:spPr>
      </p:pic>
      <p:graphicFrame>
        <p:nvGraphicFramePr>
          <p:cNvPr id="249" name="Google Shape;249;p29"/>
          <p:cNvGraphicFramePr/>
          <p:nvPr/>
        </p:nvGraphicFramePr>
        <p:xfrm>
          <a:off x="1497356" y="1822392"/>
          <a:ext cx="3000000" cy="3000000"/>
        </p:xfrm>
        <a:graphic>
          <a:graphicData uri="http://schemas.openxmlformats.org/drawingml/2006/table">
            <a:tbl>
              <a:tblPr>
                <a:noFill/>
                <a:tableStyleId>{40B977D2-3903-41EF-8714-5AC59086702B}</a:tableStyleId>
              </a:tblPr>
              <a:tblGrid>
                <a:gridCol w="2560625"/>
                <a:gridCol w="1296025"/>
                <a:gridCol w="1417925"/>
                <a:gridCol w="1349400"/>
              </a:tblGrid>
              <a:tr h="1258150">
                <a:tc>
                  <a:txBody>
                    <a:bodyPr/>
                    <a:lstStyle/>
                    <a:p>
                      <a:pPr indent="0" lvl="0" marL="0" marR="0" rtl="0" algn="ctr">
                        <a:lnSpc>
                          <a:spcPct val="150000"/>
                        </a:lnSpc>
                        <a:spcBef>
                          <a:spcPts val="0"/>
                        </a:spcBef>
                        <a:spcAft>
                          <a:spcPts val="0"/>
                        </a:spcAft>
                        <a:buNone/>
                      </a:pPr>
                      <a:r>
                        <a:rPr lang="en-US" sz="1400"/>
                        <a:t>Ուսուցիչն</a:t>
                      </a:r>
                      <a:r>
                        <a:rPr lang="en-US" sz="1800"/>
                        <a:t>երի թիվը </a:t>
                      </a:r>
                      <a:endParaRPr/>
                    </a:p>
                  </a:txBody>
                  <a:tcPr marT="0" marB="0" marR="0" marL="0" anchor="ctr"/>
                </a:tc>
                <a:tc>
                  <a:txBody>
                    <a:bodyPr/>
                    <a:lstStyle/>
                    <a:p>
                      <a:pPr indent="0" lvl="0" marL="0" marR="0" rtl="0" algn="ctr">
                        <a:lnSpc>
                          <a:spcPct val="150000"/>
                        </a:lnSpc>
                        <a:spcBef>
                          <a:spcPts val="0"/>
                        </a:spcBef>
                        <a:spcAft>
                          <a:spcPts val="0"/>
                        </a:spcAft>
                        <a:buNone/>
                      </a:pPr>
                      <a:r>
                        <a:rPr lang="en-US" sz="1800"/>
                        <a:t>2023-2024 </a:t>
                      </a:r>
                      <a:endParaRPr/>
                    </a:p>
                    <a:p>
                      <a:pPr indent="0" lvl="0" marL="0" marR="0" rtl="0" algn="ctr">
                        <a:lnSpc>
                          <a:spcPct val="150000"/>
                        </a:lnSpc>
                        <a:spcBef>
                          <a:spcPts val="0"/>
                        </a:spcBef>
                        <a:spcAft>
                          <a:spcPts val="0"/>
                        </a:spcAft>
                        <a:buNone/>
                      </a:pPr>
                      <a:r>
                        <a:rPr lang="en-US" sz="1800"/>
                        <a:t>ուստարի </a:t>
                      </a:r>
                      <a:endParaRPr/>
                    </a:p>
                  </a:txBody>
                  <a:tcPr marT="0" marB="0" marR="0" marL="0" anchor="ctr"/>
                </a:tc>
                <a:tc>
                  <a:txBody>
                    <a:bodyPr/>
                    <a:lstStyle/>
                    <a:p>
                      <a:pPr indent="0" lvl="0" marL="0" marR="0" rtl="0" algn="ctr">
                        <a:lnSpc>
                          <a:spcPct val="150000"/>
                        </a:lnSpc>
                        <a:spcBef>
                          <a:spcPts val="0"/>
                        </a:spcBef>
                        <a:spcAft>
                          <a:spcPts val="0"/>
                        </a:spcAft>
                        <a:buNone/>
                      </a:pPr>
                      <a:r>
                        <a:rPr lang="en-US" sz="1800"/>
                        <a:t>2024-2025 </a:t>
                      </a:r>
                      <a:endParaRPr/>
                    </a:p>
                    <a:p>
                      <a:pPr indent="0" lvl="0" marL="0" marR="0" rtl="0" algn="ctr">
                        <a:lnSpc>
                          <a:spcPct val="150000"/>
                        </a:lnSpc>
                        <a:spcBef>
                          <a:spcPts val="0"/>
                        </a:spcBef>
                        <a:spcAft>
                          <a:spcPts val="0"/>
                        </a:spcAft>
                        <a:buNone/>
                      </a:pPr>
                      <a:r>
                        <a:rPr lang="en-US" sz="1800"/>
                        <a:t>ուստարի </a:t>
                      </a:r>
                      <a:endParaRPr/>
                    </a:p>
                  </a:txBody>
                  <a:tcPr marT="0" marB="0" marR="0" marL="0" anchor="ctr"/>
                </a:tc>
                <a:tc>
                  <a:txBody>
                    <a:bodyPr/>
                    <a:lstStyle/>
                    <a:p>
                      <a:pPr indent="0" lvl="0" marL="0" marR="0" rtl="0" algn="ctr">
                        <a:lnSpc>
                          <a:spcPct val="150000"/>
                        </a:lnSpc>
                        <a:spcBef>
                          <a:spcPts val="0"/>
                        </a:spcBef>
                        <a:spcAft>
                          <a:spcPts val="0"/>
                        </a:spcAft>
                        <a:buNone/>
                      </a:pPr>
                      <a:r>
                        <a:rPr lang="en-US" sz="1800"/>
                        <a:t>2025-2026 </a:t>
                      </a:r>
                      <a:endParaRPr/>
                    </a:p>
                    <a:p>
                      <a:pPr indent="0" lvl="0" marL="0" marR="0" rtl="0" algn="ctr">
                        <a:lnSpc>
                          <a:spcPct val="150000"/>
                        </a:lnSpc>
                        <a:spcBef>
                          <a:spcPts val="0"/>
                        </a:spcBef>
                        <a:spcAft>
                          <a:spcPts val="0"/>
                        </a:spcAft>
                        <a:buNone/>
                      </a:pPr>
                      <a:r>
                        <a:rPr lang="en-US" sz="1800"/>
                        <a:t>ուստարի </a:t>
                      </a:r>
                      <a:endParaRPr/>
                    </a:p>
                  </a:txBody>
                  <a:tcPr marT="0" marB="0" marR="0" marL="0" anchor="ctr"/>
                </a:tc>
              </a:tr>
              <a:tr h="435250">
                <a:tc>
                  <a:txBody>
                    <a:bodyPr/>
                    <a:lstStyle/>
                    <a:p>
                      <a:pPr indent="0" lvl="0" marL="0" marR="0" rtl="0" algn="ctr">
                        <a:lnSpc>
                          <a:spcPct val="150000"/>
                        </a:lnSpc>
                        <a:spcBef>
                          <a:spcPts val="0"/>
                        </a:spcBef>
                        <a:spcAft>
                          <a:spcPts val="0"/>
                        </a:spcAft>
                        <a:buNone/>
                      </a:pPr>
                      <a:r>
                        <a:rPr lang="en-US" sz="1800"/>
                        <a:t>Մինչև 30 տարեկան </a:t>
                      </a: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2</a:t>
                      </a: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2</a:t>
                      </a: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2</a:t>
                      </a:r>
                      <a:endParaRPr/>
                    </a:p>
                  </a:txBody>
                  <a:tcPr marT="0" marB="0" marR="0" marL="0" anchor="ctr"/>
                </a:tc>
              </a:tr>
              <a:tr h="435250">
                <a:tc>
                  <a:txBody>
                    <a:bodyPr/>
                    <a:lstStyle/>
                    <a:p>
                      <a:pPr indent="0" lvl="0" marL="0" marR="0" rtl="0" algn="ctr">
                        <a:lnSpc>
                          <a:spcPct val="150000"/>
                        </a:lnSpc>
                        <a:spcBef>
                          <a:spcPts val="0"/>
                        </a:spcBef>
                        <a:spcAft>
                          <a:spcPts val="0"/>
                        </a:spcAft>
                        <a:buNone/>
                      </a:pPr>
                      <a:r>
                        <a:rPr lang="en-US" sz="1800"/>
                        <a:t>31-ից 40 տարեկան </a:t>
                      </a: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4</a:t>
                      </a:r>
                      <a:endParaRPr sz="1600">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2</a:t>
                      </a:r>
                      <a:endParaRPr sz="1600">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2</a:t>
                      </a:r>
                      <a:endParaRPr sz="1600">
                        <a:latin typeface="Merriweather"/>
                        <a:ea typeface="Merriweather"/>
                        <a:cs typeface="Merriweather"/>
                        <a:sym typeface="Merriweather"/>
                      </a:endParaRPr>
                    </a:p>
                  </a:txBody>
                  <a:tcPr marT="0" marB="0" marR="0" marL="0" anchor="ctr"/>
                </a:tc>
              </a:tr>
              <a:tr h="435250">
                <a:tc>
                  <a:txBody>
                    <a:bodyPr/>
                    <a:lstStyle/>
                    <a:p>
                      <a:pPr indent="0" lvl="0" marL="0" marR="0" rtl="0" algn="ctr">
                        <a:lnSpc>
                          <a:spcPct val="150000"/>
                        </a:lnSpc>
                        <a:spcBef>
                          <a:spcPts val="0"/>
                        </a:spcBef>
                        <a:spcAft>
                          <a:spcPts val="0"/>
                        </a:spcAft>
                        <a:buNone/>
                      </a:pPr>
                      <a:r>
                        <a:rPr lang="en-US" sz="1800"/>
                        <a:t>41ից -50 տարեկան </a:t>
                      </a: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8</a:t>
                      </a:r>
                      <a:endParaRPr sz="1600">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9</a:t>
                      </a:r>
                      <a:endParaRPr sz="1600">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7</a:t>
                      </a:r>
                      <a:endParaRPr sz="1600">
                        <a:latin typeface="Merriweather"/>
                        <a:ea typeface="Merriweather"/>
                        <a:cs typeface="Merriweather"/>
                        <a:sym typeface="Merriweather"/>
                      </a:endParaRPr>
                    </a:p>
                  </a:txBody>
                  <a:tcPr marT="0" marB="0" marR="0" marL="0" anchor="ctr"/>
                </a:tc>
              </a:tr>
              <a:tr h="435250">
                <a:tc>
                  <a:txBody>
                    <a:bodyPr/>
                    <a:lstStyle/>
                    <a:p>
                      <a:pPr indent="0" lvl="0" marL="0" marR="0" rtl="0" algn="ctr">
                        <a:lnSpc>
                          <a:spcPct val="150000"/>
                        </a:lnSpc>
                        <a:spcBef>
                          <a:spcPts val="0"/>
                        </a:spcBef>
                        <a:spcAft>
                          <a:spcPts val="0"/>
                        </a:spcAft>
                        <a:buNone/>
                      </a:pPr>
                      <a:r>
                        <a:rPr lang="en-US" sz="1800"/>
                        <a:t>51-ից -55 տարեկան </a:t>
                      </a: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1</a:t>
                      </a:r>
                      <a:endParaRPr sz="1600">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2</a:t>
                      </a:r>
                      <a:endParaRPr sz="1600">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2</a:t>
                      </a:r>
                      <a:endParaRPr sz="1600">
                        <a:latin typeface="Merriweather"/>
                        <a:ea typeface="Merriweather"/>
                        <a:cs typeface="Merriweather"/>
                        <a:sym typeface="Merriweather"/>
                      </a:endParaRPr>
                    </a:p>
                  </a:txBody>
                  <a:tcPr marT="0" marB="0" marR="0" marL="0" anchor="ctr"/>
                </a:tc>
              </a:tr>
              <a:tr h="435250">
                <a:tc>
                  <a:txBody>
                    <a:bodyPr/>
                    <a:lstStyle/>
                    <a:p>
                      <a:pPr indent="0" lvl="0" marL="0" marR="0" rtl="0" algn="ctr">
                        <a:lnSpc>
                          <a:spcPct val="150000"/>
                        </a:lnSpc>
                        <a:spcBef>
                          <a:spcPts val="0"/>
                        </a:spcBef>
                        <a:spcAft>
                          <a:spcPts val="0"/>
                        </a:spcAft>
                        <a:buNone/>
                      </a:pPr>
                      <a:r>
                        <a:rPr lang="en-US" sz="1800"/>
                        <a:t>56 տարեկան և ավելի </a:t>
                      </a: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16</a:t>
                      </a:r>
                      <a:endParaRPr sz="1600">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16</a:t>
                      </a:r>
                      <a:endParaRPr sz="1600">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600">
                          <a:latin typeface="Merriweather"/>
                          <a:ea typeface="Merriweather"/>
                          <a:cs typeface="Merriweather"/>
                          <a:sym typeface="Merriweather"/>
                        </a:rPr>
                        <a:t>17</a:t>
                      </a:r>
                      <a:endParaRPr sz="1600">
                        <a:latin typeface="Merriweather"/>
                        <a:ea typeface="Merriweather"/>
                        <a:cs typeface="Merriweather"/>
                        <a:sym typeface="Merriweather"/>
                      </a:endParaRPr>
                    </a:p>
                  </a:txBody>
                  <a:tcPr marT="0" marB="0" marR="0" marL="0" anchor="ctr"/>
                </a:tc>
              </a:tr>
            </a:tbl>
          </a:graphicData>
        </a:graphic>
      </p:graphicFrame>
      <p:sp>
        <p:nvSpPr>
          <p:cNvPr id="250" name="Google Shape;250;p29"/>
          <p:cNvSpPr txBox="1"/>
          <p:nvPr/>
        </p:nvSpPr>
        <p:spPr>
          <a:xfrm>
            <a:off x="1738935" y="5598112"/>
            <a:ext cx="895081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Ուսուցչական կազմը հիմնականում 56 տարեկան և ավելի տարիքային խումբն է,  նոր կադրեր ընդունվել են են, սակայն քիչ են երիտասարդները:</a:t>
            </a:r>
            <a:endParaRPr/>
          </a:p>
        </p:txBody>
      </p:sp>
      <p:graphicFrame>
        <p:nvGraphicFramePr>
          <p:cNvPr id="251" name="Google Shape;251;p29"/>
          <p:cNvGraphicFramePr/>
          <p:nvPr/>
        </p:nvGraphicFramePr>
        <p:xfrm>
          <a:off x="8121324" y="1827030"/>
          <a:ext cx="3000000" cy="3000000"/>
        </p:xfrm>
        <a:graphic>
          <a:graphicData uri="http://schemas.openxmlformats.org/drawingml/2006/table">
            <a:tbl>
              <a:tblPr>
                <a:noFill/>
                <a:tableStyleId>{40B977D2-3903-41EF-8714-5AC59086702B}</a:tableStyleId>
              </a:tblPr>
              <a:tblGrid>
                <a:gridCol w="2388100"/>
              </a:tblGrid>
              <a:tr h="1253525">
                <a:tc>
                  <a:txBody>
                    <a:bodyPr/>
                    <a:lstStyle/>
                    <a:p>
                      <a:pPr indent="0" lvl="0" marL="0" marR="0" rtl="0" algn="ctr">
                        <a:lnSpc>
                          <a:spcPct val="150000"/>
                        </a:lnSpc>
                        <a:spcBef>
                          <a:spcPts val="0"/>
                        </a:spcBef>
                        <a:spcAft>
                          <a:spcPts val="0"/>
                        </a:spcAft>
                        <a:buNone/>
                      </a:pPr>
                      <a:r>
                        <a:rPr lang="en-US" sz="1800"/>
                        <a:t>Փոփոխությունների դինամիկան (աճ կամ նվազում) </a:t>
                      </a:r>
                      <a:endParaRPr/>
                    </a:p>
                  </a:txBody>
                  <a:tcPr marT="0" marB="0" marR="0" marL="0" anchor="ctr"/>
                </a:tc>
              </a:tr>
              <a:tr h="435250">
                <a:tc>
                  <a:txBody>
                    <a:bodyPr/>
                    <a:lstStyle/>
                    <a:p>
                      <a:pPr indent="0" lvl="0" marL="0" marR="0" rtl="0" algn="ctr">
                        <a:lnSpc>
                          <a:spcPct val="150000"/>
                        </a:lnSpc>
                        <a:spcBef>
                          <a:spcPts val="0"/>
                        </a:spcBef>
                        <a:spcAft>
                          <a:spcPts val="0"/>
                        </a:spcAft>
                        <a:buClr>
                          <a:schemeClr val="dk1"/>
                        </a:buClr>
                        <a:buSzPts val="1800"/>
                        <a:buFont typeface="Century Gothic"/>
                        <a:buNone/>
                      </a:pPr>
                      <a:r>
                        <a:rPr b="0" i="0" lang="en-US" sz="1800" u="none" strike="noStrike"/>
                        <a:t>անփոփոխ</a:t>
                      </a:r>
                      <a:endParaRPr b="0" i="0" sz="1800" u="none" strike="noStrike"/>
                    </a:p>
                  </a:txBody>
                  <a:tcPr marT="0" marB="0" marR="0" marL="0" anchor="ctr"/>
                </a:tc>
              </a:tr>
              <a:tr h="435250">
                <a:tc>
                  <a:txBody>
                    <a:bodyPr/>
                    <a:lstStyle/>
                    <a:p>
                      <a:pPr indent="0" lvl="0" marL="0" marR="0" rtl="0" algn="ctr">
                        <a:lnSpc>
                          <a:spcPct val="150000"/>
                        </a:lnSpc>
                        <a:spcBef>
                          <a:spcPts val="0"/>
                        </a:spcBef>
                        <a:spcAft>
                          <a:spcPts val="0"/>
                        </a:spcAft>
                        <a:buClr>
                          <a:schemeClr val="dk1"/>
                        </a:buClr>
                        <a:buSzPts val="1800"/>
                        <a:buFont typeface="Century Gothic"/>
                        <a:buNone/>
                      </a:pPr>
                      <a:r>
                        <a:rPr b="0" i="0" lang="en-US" sz="1800" u="none" strike="noStrike">
                          <a:latin typeface="Century Gothic"/>
                          <a:ea typeface="Century Gothic"/>
                          <a:cs typeface="Century Gothic"/>
                          <a:sym typeface="Century Gothic"/>
                        </a:rPr>
                        <a:t>նվազում</a:t>
                      </a:r>
                      <a:endParaRPr b="0" i="0" sz="1800" u="none" strike="noStrike">
                        <a:latin typeface="Century Gothic"/>
                        <a:ea typeface="Century Gothic"/>
                        <a:cs typeface="Century Gothic"/>
                        <a:sym typeface="Century Gothic"/>
                      </a:endParaRPr>
                    </a:p>
                  </a:txBody>
                  <a:tcPr marT="0" marB="0" marR="0" marL="0" anchor="ctr"/>
                </a:tc>
              </a:tr>
              <a:tr h="435250">
                <a:tc>
                  <a:txBody>
                    <a:bodyPr/>
                    <a:lstStyle/>
                    <a:p>
                      <a:pPr indent="0" lvl="0" marL="0" marR="0" rtl="0" algn="ctr">
                        <a:lnSpc>
                          <a:spcPct val="150000"/>
                        </a:lnSpc>
                        <a:spcBef>
                          <a:spcPts val="0"/>
                        </a:spcBef>
                        <a:spcAft>
                          <a:spcPts val="0"/>
                        </a:spcAft>
                        <a:buNone/>
                      </a:pPr>
                      <a:r>
                        <a:rPr lang="en-US" sz="1800"/>
                        <a:t>նվազում</a:t>
                      </a:r>
                      <a:endParaRPr sz="1800"/>
                    </a:p>
                  </a:txBody>
                  <a:tcPr marT="0" marB="0" marR="0" marL="0" anchor="ctr"/>
                </a:tc>
              </a:tr>
              <a:tr h="435250">
                <a:tc>
                  <a:txBody>
                    <a:bodyPr/>
                    <a:lstStyle/>
                    <a:p>
                      <a:pPr indent="0" lvl="0" marL="0" marR="0" rtl="0" algn="ctr">
                        <a:lnSpc>
                          <a:spcPct val="150000"/>
                        </a:lnSpc>
                        <a:spcBef>
                          <a:spcPts val="0"/>
                        </a:spcBef>
                        <a:spcAft>
                          <a:spcPts val="0"/>
                        </a:spcAft>
                        <a:buNone/>
                      </a:pPr>
                      <a:r>
                        <a:rPr lang="en-US" sz="1800"/>
                        <a:t>աճ</a:t>
                      </a:r>
                      <a:endParaRPr sz="1800"/>
                    </a:p>
                  </a:txBody>
                  <a:tcPr marT="0" marB="0" marR="0" marL="0" anchor="ctr"/>
                </a:tc>
              </a:tr>
              <a:tr h="435250">
                <a:tc>
                  <a:txBody>
                    <a:bodyPr/>
                    <a:lstStyle/>
                    <a:p>
                      <a:pPr indent="0" lvl="0" marL="0" marR="0" rtl="0" algn="ctr">
                        <a:lnSpc>
                          <a:spcPct val="150000"/>
                        </a:lnSpc>
                        <a:spcBef>
                          <a:spcPts val="0"/>
                        </a:spcBef>
                        <a:spcAft>
                          <a:spcPts val="0"/>
                        </a:spcAft>
                        <a:buClr>
                          <a:schemeClr val="dk1"/>
                        </a:buClr>
                        <a:buSzPts val="1800"/>
                        <a:buFont typeface="Century Gothic"/>
                        <a:buNone/>
                      </a:pPr>
                      <a:r>
                        <a:rPr b="0" i="0" lang="en-US" sz="1800" u="none" strike="noStrike"/>
                        <a:t>աճ</a:t>
                      </a:r>
                      <a:endParaRPr b="0" i="0" sz="1800" u="none" strike="noStrike"/>
                    </a:p>
                  </a:txBody>
                  <a:tcPr marT="0" marB="0" marR="0" marL="0"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30"/>
          <p:cNvPicPr preferRelativeResize="0"/>
          <p:nvPr/>
        </p:nvPicPr>
        <p:blipFill rotWithShape="1">
          <a:blip r:embed="rId3">
            <a:alphaModFix/>
          </a:blip>
          <a:srcRect b="0" l="0" r="0" t="0"/>
          <a:stretch/>
        </p:blipFill>
        <p:spPr>
          <a:xfrm>
            <a:off x="1771813" y="163872"/>
            <a:ext cx="9043988" cy="841092"/>
          </a:xfrm>
          <a:prstGeom prst="rect">
            <a:avLst/>
          </a:prstGeom>
          <a:noFill/>
          <a:ln>
            <a:noFill/>
          </a:ln>
        </p:spPr>
      </p:pic>
      <p:graphicFrame>
        <p:nvGraphicFramePr>
          <p:cNvPr id="258" name="Google Shape;258;p30"/>
          <p:cNvGraphicFramePr/>
          <p:nvPr/>
        </p:nvGraphicFramePr>
        <p:xfrm>
          <a:off x="899600" y="1093741"/>
          <a:ext cx="3000000" cy="3000000"/>
        </p:xfrm>
        <a:graphic>
          <a:graphicData uri="http://schemas.openxmlformats.org/drawingml/2006/table">
            <a:tbl>
              <a:tblPr>
                <a:noFill/>
                <a:tableStyleId>{40B977D2-3903-41EF-8714-5AC59086702B}</a:tableStyleId>
              </a:tblPr>
              <a:tblGrid>
                <a:gridCol w="2476875"/>
                <a:gridCol w="2808275"/>
                <a:gridCol w="1636475"/>
                <a:gridCol w="1926450"/>
                <a:gridCol w="1940325"/>
              </a:tblGrid>
              <a:tr h="924900">
                <a:tc>
                  <a:txBody>
                    <a:bodyPr/>
                    <a:lstStyle/>
                    <a:p>
                      <a:pPr indent="0" lvl="0" marL="0" marR="0" rtl="0" algn="ctr">
                        <a:lnSpc>
                          <a:spcPct val="115000"/>
                        </a:lnSpc>
                        <a:spcBef>
                          <a:spcPts val="0"/>
                        </a:spcBef>
                        <a:spcAft>
                          <a:spcPts val="0"/>
                        </a:spcAft>
                        <a:buNone/>
                      </a:pPr>
                      <a:r>
                        <a:rPr b="1" lang="en-US" sz="1400"/>
                        <a:t>Պաշտոնը </a:t>
                      </a:r>
                      <a:endParaRPr b="1" sz="1800"/>
                    </a:p>
                  </a:txBody>
                  <a:tcPr marT="0" marB="0" marR="0" marL="0" anchor="ctr"/>
                </a:tc>
                <a:tc>
                  <a:txBody>
                    <a:bodyPr/>
                    <a:lstStyle/>
                    <a:p>
                      <a:pPr indent="0" lvl="0" marL="0" marR="0" rtl="0" algn="ctr">
                        <a:lnSpc>
                          <a:spcPct val="115000"/>
                        </a:lnSpc>
                        <a:spcBef>
                          <a:spcPts val="0"/>
                        </a:spcBef>
                        <a:spcAft>
                          <a:spcPts val="0"/>
                        </a:spcAft>
                        <a:buNone/>
                      </a:pPr>
                      <a:r>
                        <a:rPr lang="en-US" sz="1400"/>
                        <a:t>Անունը, ազգանունը, հայրանունը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400"/>
                        <a:t>Տվյալ պաշտոնում աշխատելու ժամանակահատվածը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400"/>
                        <a:t>Տվյալ հաստատությու-նում աշխատելու ժամանակահատվածը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400"/>
                        <a:t>Պետական պարգևները, կոչումները և այլն</a:t>
                      </a:r>
                      <a:endParaRPr sz="1800"/>
                    </a:p>
                  </a:txBody>
                  <a:tcPr marT="0" marB="0" marR="0" marL="0" anchor="ctr"/>
                </a:tc>
              </a:tr>
              <a:tr h="969850">
                <a:tc>
                  <a:txBody>
                    <a:bodyPr/>
                    <a:lstStyle/>
                    <a:p>
                      <a:pPr indent="0" lvl="0" marL="0" marR="0" rtl="0" algn="ctr">
                        <a:lnSpc>
                          <a:spcPct val="115000"/>
                        </a:lnSpc>
                        <a:spcBef>
                          <a:spcPts val="0"/>
                        </a:spcBef>
                        <a:spcAft>
                          <a:spcPts val="0"/>
                        </a:spcAft>
                        <a:buNone/>
                      </a:pPr>
                      <a:r>
                        <a:rPr b="1" lang="en-US" sz="1400"/>
                        <a:t>Տնօրեն </a:t>
                      </a:r>
                      <a:endParaRPr b="1" sz="1800"/>
                    </a:p>
                  </a:txBody>
                  <a:tcPr marT="0" marB="0" marR="0" marL="0" anchor="ctr"/>
                </a:tc>
                <a:tc>
                  <a:txBody>
                    <a:bodyPr/>
                    <a:lstStyle/>
                    <a:p>
                      <a:pPr indent="0" lvl="0" marL="0" marR="0" rtl="0" algn="ctr">
                        <a:lnSpc>
                          <a:spcPct val="115000"/>
                        </a:lnSpc>
                        <a:spcBef>
                          <a:spcPts val="0"/>
                        </a:spcBef>
                        <a:spcAft>
                          <a:spcPts val="0"/>
                        </a:spcAft>
                        <a:buNone/>
                      </a:pPr>
                      <a:r>
                        <a:rPr lang="en-US" sz="1400"/>
                        <a:t>Մարիաննա Սպարտակի Նավասարդյան</a:t>
                      </a:r>
                      <a:endParaRPr/>
                    </a:p>
                    <a:p>
                      <a:pPr indent="0" lvl="0" marL="0" marR="0" rtl="0" algn="ctr">
                        <a:lnSpc>
                          <a:spcPct val="115000"/>
                        </a:lnSpc>
                        <a:spcBef>
                          <a:spcPts val="0"/>
                        </a:spcBef>
                        <a:spcAft>
                          <a:spcPts val="0"/>
                        </a:spcAft>
                        <a:buNone/>
                      </a:pPr>
                      <a:r>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400"/>
                        <a:t>2023 թվականի նոյեմբերի 3-ից  մինչ օրս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400"/>
                        <a:t>2012</a:t>
                      </a:r>
                      <a:r>
                        <a:rPr lang="en-US" sz="1400"/>
                        <a:t> </a:t>
                      </a:r>
                      <a:r>
                        <a:rPr lang="en-US" sz="1400"/>
                        <a:t>թվականից մինչ օրս </a:t>
                      </a:r>
                      <a:endParaRPr sz="1800"/>
                    </a:p>
                  </a:txBody>
                  <a:tcPr marT="0" marB="0" marR="0" marL="0" anchor="ctr"/>
                </a:tc>
                <a:tc>
                  <a:txBody>
                    <a:bodyPr/>
                    <a:lstStyle/>
                    <a:p>
                      <a:pPr indent="0" lvl="0" marL="0" marR="0" rtl="0" algn="ctr">
                        <a:lnSpc>
                          <a:spcPct val="115000"/>
                        </a:lnSpc>
                        <a:spcBef>
                          <a:spcPts val="0"/>
                        </a:spcBef>
                        <a:spcAft>
                          <a:spcPts val="0"/>
                        </a:spcAft>
                        <a:buClr>
                          <a:schemeClr val="dk1"/>
                        </a:buClr>
                        <a:buSzPts val="1400"/>
                        <a:buFont typeface="Century Gothic"/>
                        <a:buNone/>
                      </a:pPr>
                      <a:r>
                        <a:rPr lang="en-US" sz="1400"/>
                        <a:t>I աստիճանի տարակարգ </a:t>
                      </a:r>
                      <a:endParaRPr/>
                    </a:p>
                  </a:txBody>
                  <a:tcPr marT="0" marB="0" marR="0" marL="0" anchor="ctr"/>
                </a:tc>
              </a:tr>
              <a:tr h="969850">
                <a:tc>
                  <a:txBody>
                    <a:bodyPr/>
                    <a:lstStyle/>
                    <a:p>
                      <a:pPr indent="0" lvl="0" marL="0" marR="0" rtl="0" algn="ctr">
                        <a:lnSpc>
                          <a:spcPct val="115000"/>
                        </a:lnSpc>
                        <a:spcBef>
                          <a:spcPts val="0"/>
                        </a:spcBef>
                        <a:spcAft>
                          <a:spcPts val="0"/>
                        </a:spcAft>
                        <a:buNone/>
                      </a:pPr>
                      <a:r>
                        <a:rPr b="1" lang="en-US" sz="1400"/>
                        <a:t>Վարչատնտեսական</a:t>
                      </a:r>
                      <a:r>
                        <a:rPr b="1" lang="en-US" sz="1400"/>
                        <a:t> համակարգող</a:t>
                      </a:r>
                      <a:endParaRPr b="1" sz="1400"/>
                    </a:p>
                  </a:txBody>
                  <a:tcPr marT="0" marB="0" marR="0" marL="0" anchor="ctr"/>
                </a:tc>
                <a:tc>
                  <a:txBody>
                    <a:bodyPr/>
                    <a:lstStyle/>
                    <a:p>
                      <a:pPr indent="0" lvl="0" marL="0" marR="0" rtl="0" algn="ctr">
                        <a:lnSpc>
                          <a:spcPct val="115000"/>
                        </a:lnSpc>
                        <a:spcBef>
                          <a:spcPts val="0"/>
                        </a:spcBef>
                        <a:spcAft>
                          <a:spcPts val="0"/>
                        </a:spcAft>
                        <a:buNone/>
                      </a:pPr>
                      <a:r>
                        <a:rPr lang="en-US" sz="1400"/>
                        <a:t>Կարինե</a:t>
                      </a:r>
                      <a:r>
                        <a:rPr lang="en-US" sz="1400"/>
                        <a:t> Ժորիկի Ստեփանյան</a:t>
                      </a:r>
                      <a:endParaRPr sz="1400"/>
                    </a:p>
                  </a:txBody>
                  <a:tcPr marT="0" marB="0" marR="0" marL="0" anchor="ctr"/>
                </a:tc>
                <a:tc>
                  <a:txBody>
                    <a:bodyPr/>
                    <a:lstStyle/>
                    <a:p>
                      <a:pPr indent="0" lvl="0" marL="0" marR="0" rtl="0" algn="ctr">
                        <a:lnSpc>
                          <a:spcPct val="115000"/>
                        </a:lnSpc>
                        <a:spcBef>
                          <a:spcPts val="0"/>
                        </a:spcBef>
                        <a:spcAft>
                          <a:spcPts val="0"/>
                        </a:spcAft>
                        <a:buNone/>
                      </a:pPr>
                      <a:r>
                        <a:rPr lang="en-US" sz="1400"/>
                        <a:t>2023 թվականի մայիսի 24-ից</a:t>
                      </a:r>
                      <a:endParaRPr sz="1400"/>
                    </a:p>
                  </a:txBody>
                  <a:tcPr marT="0" marB="0" marR="0" marL="0" anchor="ctr"/>
                </a:tc>
                <a:tc>
                  <a:txBody>
                    <a:bodyPr/>
                    <a:lstStyle/>
                    <a:p>
                      <a:pPr indent="0" lvl="0" marL="0" marR="0" rtl="0" algn="ctr">
                        <a:lnSpc>
                          <a:spcPct val="115000"/>
                        </a:lnSpc>
                        <a:spcBef>
                          <a:spcPts val="0"/>
                        </a:spcBef>
                        <a:spcAft>
                          <a:spcPts val="0"/>
                        </a:spcAft>
                        <a:buNone/>
                      </a:pPr>
                      <a:r>
                        <a:rPr lang="en-US" sz="1400"/>
                        <a:t>Մինչև 2026 թվականի ապրիլի</a:t>
                      </a:r>
                      <a:r>
                        <a:rPr lang="en-US" sz="1400"/>
                        <a:t> 30-ը</a:t>
                      </a:r>
                      <a:endParaRPr sz="1400"/>
                    </a:p>
                  </a:txBody>
                  <a:tcPr marT="0" marB="0" marR="0" marL="0" anchor="ctr"/>
                </a:tc>
                <a:tc>
                  <a:txBody>
                    <a:bodyPr/>
                    <a:lstStyle/>
                    <a:p>
                      <a:pPr indent="0" lvl="0" marL="0" marR="0" rtl="0" algn="ctr">
                        <a:lnSpc>
                          <a:spcPct val="115000"/>
                        </a:lnSpc>
                        <a:spcBef>
                          <a:spcPts val="0"/>
                        </a:spcBef>
                        <a:spcAft>
                          <a:spcPts val="0"/>
                        </a:spcAft>
                        <a:buClr>
                          <a:schemeClr val="dk1"/>
                        </a:buClr>
                        <a:buSzPts val="1400"/>
                        <a:buFont typeface="Century Gothic"/>
                        <a:buNone/>
                      </a:pPr>
                      <a:r>
                        <a:t/>
                      </a:r>
                      <a:endParaRPr sz="1400"/>
                    </a:p>
                  </a:txBody>
                  <a:tcPr marT="0" marB="0" marR="0" marL="0" anchor="ctr"/>
                </a:tc>
              </a:tr>
              <a:tr h="1038675">
                <a:tc>
                  <a:txBody>
                    <a:bodyPr/>
                    <a:lstStyle/>
                    <a:p>
                      <a:pPr indent="0" lvl="0" marL="0" marR="0" rtl="0" algn="ctr">
                        <a:spcBef>
                          <a:spcPts val="0"/>
                        </a:spcBef>
                        <a:spcAft>
                          <a:spcPts val="0"/>
                        </a:spcAft>
                        <a:buNone/>
                      </a:pPr>
                      <a:r>
                        <a:rPr b="1" lang="en-US" sz="1400"/>
                        <a:t>Տնօրենի տեղակալ         </a:t>
                      </a:r>
                      <a:endParaRPr b="1" sz="1800"/>
                    </a:p>
                  </a:txBody>
                  <a:tcPr marT="0" marB="0" marR="0" marL="0" anchor="ctr"/>
                </a:tc>
                <a:tc>
                  <a:txBody>
                    <a:bodyPr/>
                    <a:lstStyle/>
                    <a:p>
                      <a:pPr indent="0" lvl="0" marL="0" marR="0" rtl="0" algn="ctr">
                        <a:lnSpc>
                          <a:spcPct val="114999"/>
                        </a:lnSpc>
                        <a:spcBef>
                          <a:spcPts val="0"/>
                        </a:spcBef>
                        <a:spcAft>
                          <a:spcPts val="0"/>
                        </a:spcAft>
                        <a:buClr>
                          <a:schemeClr val="dk1"/>
                        </a:buClr>
                        <a:buSzPts val="1400"/>
                        <a:buFont typeface="Century Gothic"/>
                        <a:buNone/>
                      </a:pPr>
                      <a:r>
                        <a:rPr lang="en-US" sz="1400"/>
                        <a:t>Աննա Սամվելի Մանուկյան</a:t>
                      </a:r>
                      <a:endParaRPr sz="1800"/>
                    </a:p>
                  </a:txBody>
                  <a:tcPr marT="0" marB="0" marR="0" marL="0" anchor="ctr"/>
                </a:tc>
                <a:tc>
                  <a:txBody>
                    <a:bodyPr/>
                    <a:lstStyle/>
                    <a:p>
                      <a:pPr indent="0" lvl="0" marL="0" marR="0" rtl="0" algn="ctr">
                        <a:spcBef>
                          <a:spcPts val="0"/>
                        </a:spcBef>
                        <a:spcAft>
                          <a:spcPts val="0"/>
                        </a:spcAft>
                        <a:buClr>
                          <a:schemeClr val="dk1"/>
                        </a:buClr>
                        <a:buSzPts val="1400"/>
                        <a:buFont typeface="Century Gothic"/>
                        <a:buNone/>
                      </a:pPr>
                      <a:r>
                        <a:rPr lang="en-US" sz="1400"/>
                        <a:t>2025 թվականի սեպտեմբերի 1-ից մինչ օրս</a:t>
                      </a:r>
                      <a:endParaRPr sz="1400"/>
                    </a:p>
                  </a:txBody>
                  <a:tcPr marT="0" marB="0" marR="0" marL="0" anchor="ctr"/>
                </a:tc>
                <a:tc>
                  <a:txBody>
                    <a:bodyPr/>
                    <a:lstStyle/>
                    <a:p>
                      <a:pPr indent="0" lvl="0" marL="0" marR="0" rtl="0" algn="ctr">
                        <a:lnSpc>
                          <a:spcPct val="100000"/>
                        </a:lnSpc>
                        <a:spcBef>
                          <a:spcPts val="0"/>
                        </a:spcBef>
                        <a:spcAft>
                          <a:spcPts val="0"/>
                        </a:spcAft>
                        <a:buClr>
                          <a:schemeClr val="dk1"/>
                        </a:buClr>
                        <a:buSzPts val="1400"/>
                        <a:buFont typeface="Century Gothic"/>
                        <a:buNone/>
                      </a:pPr>
                      <a:r>
                        <a:rPr lang="en-US" sz="1400"/>
                        <a:t>2004 թվականից մինչ օրս</a:t>
                      </a:r>
                      <a:endParaRPr sz="1400"/>
                    </a:p>
                  </a:txBody>
                  <a:tcPr marT="0" marB="0" marR="0" marL="0" anchor="ctr"/>
                </a:tc>
                <a:tc>
                  <a:txBody>
                    <a:bodyPr/>
                    <a:lstStyle/>
                    <a:p>
                      <a:pPr indent="0" lvl="0" marL="0" marR="0" rtl="0" algn="ctr">
                        <a:lnSpc>
                          <a:spcPct val="114999"/>
                        </a:lnSpc>
                        <a:spcBef>
                          <a:spcPts val="0"/>
                        </a:spcBef>
                        <a:spcAft>
                          <a:spcPts val="0"/>
                        </a:spcAft>
                        <a:buClr>
                          <a:schemeClr val="dk1"/>
                        </a:buClr>
                        <a:buSzPts val="1400"/>
                        <a:buFont typeface="Trebuchet MS"/>
                        <a:buNone/>
                      </a:pPr>
                      <a:r>
                        <a:rPr b="0" i="0" lang="en-US" sz="1400" u="none" strike="noStrike">
                          <a:latin typeface="Trebuchet MS"/>
                          <a:ea typeface="Trebuchet MS"/>
                          <a:cs typeface="Trebuchet MS"/>
                          <a:sym typeface="Trebuchet MS"/>
                        </a:rPr>
                        <a:t>չունի </a:t>
                      </a:r>
                      <a:endParaRPr sz="1800"/>
                    </a:p>
                  </a:txBody>
                  <a:tcPr marT="0" marB="0" marR="0" marL="0" anchor="ctr"/>
                </a:tc>
              </a:tr>
              <a:tr h="909850">
                <a:tc>
                  <a:txBody>
                    <a:bodyPr/>
                    <a:lstStyle/>
                    <a:p>
                      <a:pPr indent="0" lvl="0" marL="0" marR="0" rtl="0" algn="ctr">
                        <a:spcBef>
                          <a:spcPts val="0"/>
                        </a:spcBef>
                        <a:spcAft>
                          <a:spcPts val="0"/>
                        </a:spcAft>
                        <a:buNone/>
                      </a:pPr>
                      <a:r>
                        <a:rPr b="1" lang="en-US" sz="1400"/>
                        <a:t>Կրթական աջակցությունների և դաստեարակչական գծով համակարգող</a:t>
                      </a:r>
                      <a:endParaRPr b="1" sz="1800"/>
                    </a:p>
                  </a:txBody>
                  <a:tcPr marT="0" marB="0" marR="0" marL="0" anchor="ctr"/>
                </a:tc>
                <a:tc>
                  <a:txBody>
                    <a:bodyPr/>
                    <a:lstStyle/>
                    <a:p>
                      <a:pPr indent="0" lvl="0" marL="0" marR="0" rtl="0" algn="ctr">
                        <a:lnSpc>
                          <a:spcPct val="114999"/>
                        </a:lnSpc>
                        <a:spcBef>
                          <a:spcPts val="0"/>
                        </a:spcBef>
                        <a:spcAft>
                          <a:spcPts val="0"/>
                        </a:spcAft>
                        <a:buClr>
                          <a:schemeClr val="dk1"/>
                        </a:buClr>
                        <a:buSzPts val="1400"/>
                        <a:buFont typeface="Century Gothic"/>
                        <a:buNone/>
                      </a:pPr>
                      <a:r>
                        <a:rPr lang="en-US" sz="1400"/>
                        <a:t>Սյուզաննա Գագիկի Պապիկյան</a:t>
                      </a:r>
                      <a:endParaRPr sz="1400"/>
                    </a:p>
                  </a:txBody>
                  <a:tcPr marT="0" marB="0" marR="0" marL="0" anchor="ctr"/>
                </a:tc>
                <a:tc>
                  <a:txBody>
                    <a:bodyPr/>
                    <a:lstStyle/>
                    <a:p>
                      <a:pPr indent="0" lvl="0" marL="0" marR="0" rtl="0" algn="ctr">
                        <a:spcBef>
                          <a:spcPts val="0"/>
                        </a:spcBef>
                        <a:spcAft>
                          <a:spcPts val="0"/>
                        </a:spcAft>
                        <a:buClr>
                          <a:schemeClr val="dk1"/>
                        </a:buClr>
                        <a:buSzPts val="1400"/>
                        <a:buFont typeface="Century Gothic"/>
                        <a:buNone/>
                      </a:pPr>
                      <a:r>
                        <a:rPr lang="en-US" sz="1400"/>
                        <a:t>2025 թվականի հոկտեմբերի 25-ից</a:t>
                      </a:r>
                      <a:endParaRPr sz="1400"/>
                    </a:p>
                  </a:txBody>
                  <a:tcPr marT="0" marB="0" marR="0" marL="0" anchor="ctr"/>
                </a:tc>
                <a:tc>
                  <a:txBody>
                    <a:bodyPr/>
                    <a:lstStyle/>
                    <a:p>
                      <a:pPr indent="0" lvl="0" marL="0" marR="0" rtl="0" algn="ctr">
                        <a:spcBef>
                          <a:spcPts val="0"/>
                        </a:spcBef>
                        <a:spcAft>
                          <a:spcPts val="0"/>
                        </a:spcAft>
                        <a:buClr>
                          <a:schemeClr val="dk1"/>
                        </a:buClr>
                        <a:buSzPts val="1400"/>
                        <a:buFont typeface="Century Gothic"/>
                        <a:buNone/>
                      </a:pPr>
                      <a:r>
                        <a:rPr lang="en-US" sz="1400"/>
                        <a:t>2023 թվականի սեպտեմբերի 1-ից </a:t>
                      </a:r>
                      <a:endParaRPr sz="1400"/>
                    </a:p>
                  </a:txBody>
                  <a:tcPr marT="0" marB="0" marR="0" marL="0" anchor="ctr"/>
                </a:tc>
                <a:tc>
                  <a:txBody>
                    <a:bodyPr/>
                    <a:lstStyle/>
                    <a:p>
                      <a:pPr indent="0" lvl="0" marL="0" marR="0" rtl="0" algn="ctr">
                        <a:lnSpc>
                          <a:spcPct val="114999"/>
                        </a:lnSpc>
                        <a:spcBef>
                          <a:spcPts val="0"/>
                        </a:spcBef>
                        <a:spcAft>
                          <a:spcPts val="0"/>
                        </a:spcAft>
                        <a:buClr>
                          <a:schemeClr val="dk1"/>
                        </a:buClr>
                        <a:buSzPts val="1800"/>
                        <a:buFont typeface="Century Gothic"/>
                        <a:buNone/>
                      </a:pPr>
                      <a:r>
                        <a:t/>
                      </a:r>
                      <a:endParaRPr sz="1800"/>
                    </a:p>
                  </a:txBody>
                  <a:tcPr marT="0" marB="0" marR="0" marL="0" anchor="ctr"/>
                </a:tc>
              </a:tr>
              <a:tr h="758050">
                <a:tc>
                  <a:txBody>
                    <a:bodyPr/>
                    <a:lstStyle/>
                    <a:p>
                      <a:pPr indent="0" lvl="0" marL="0" marR="0" rtl="0" algn="ctr">
                        <a:lnSpc>
                          <a:spcPct val="115000"/>
                        </a:lnSpc>
                        <a:spcBef>
                          <a:spcPts val="0"/>
                        </a:spcBef>
                        <a:spcAft>
                          <a:spcPts val="0"/>
                        </a:spcAft>
                        <a:buNone/>
                      </a:pPr>
                      <a:r>
                        <a:rPr b="1" lang="en-US" sz="1400"/>
                        <a:t>Հաշվապահ </a:t>
                      </a:r>
                      <a:endParaRPr b="1" sz="1800"/>
                    </a:p>
                  </a:txBody>
                  <a:tcPr marT="0" marB="0" marR="0" marL="0" anchor="ctr"/>
                </a:tc>
                <a:tc>
                  <a:txBody>
                    <a:bodyPr/>
                    <a:lstStyle/>
                    <a:p>
                      <a:pPr indent="0" lvl="0" marL="0" marR="0" rtl="0" algn="ctr">
                        <a:lnSpc>
                          <a:spcPct val="115000"/>
                        </a:lnSpc>
                        <a:spcBef>
                          <a:spcPts val="0"/>
                        </a:spcBef>
                        <a:spcAft>
                          <a:spcPts val="0"/>
                        </a:spcAft>
                        <a:buNone/>
                      </a:pPr>
                      <a:r>
                        <a:rPr lang="en-US" sz="1400"/>
                        <a:t>Ռուզաննա Միհրանի Ամիրյան </a:t>
                      </a:r>
                      <a:endParaRPr sz="1800"/>
                    </a:p>
                  </a:txBody>
                  <a:tcPr marT="0" marB="0" marR="0" marL="0" anchor="ctr"/>
                </a:tc>
                <a:tc>
                  <a:txBody>
                    <a:bodyPr/>
                    <a:lstStyle/>
                    <a:p>
                      <a:pPr indent="0" lvl="0" marL="0" marR="0" rtl="0" algn="ctr">
                        <a:spcBef>
                          <a:spcPts val="0"/>
                        </a:spcBef>
                        <a:spcAft>
                          <a:spcPts val="0"/>
                        </a:spcAft>
                        <a:buNone/>
                      </a:pPr>
                      <a:r>
                        <a:rPr lang="en-US" sz="1400"/>
                        <a:t>1999 թվականից մինչ օրս </a:t>
                      </a:r>
                      <a:endParaRPr sz="1800"/>
                    </a:p>
                  </a:txBody>
                  <a:tcPr marT="0" marB="0" marR="0" marL="0" anchor="ctr"/>
                </a:tc>
                <a:tc>
                  <a:txBody>
                    <a:bodyPr/>
                    <a:lstStyle/>
                    <a:p>
                      <a:pPr indent="0" lvl="0" marL="0" marR="0" rtl="0" algn="ctr">
                        <a:spcBef>
                          <a:spcPts val="0"/>
                        </a:spcBef>
                        <a:spcAft>
                          <a:spcPts val="0"/>
                        </a:spcAft>
                        <a:buNone/>
                      </a:pPr>
                      <a:r>
                        <a:rPr lang="en-US" sz="1400"/>
                        <a:t>1999 թվականից մինչ օրս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400"/>
                        <a:t>չունի </a:t>
                      </a:r>
                      <a:endParaRPr sz="1800"/>
                    </a:p>
                  </a:txBody>
                  <a:tcPr marT="0" marB="0" marR="0" marL="0"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31"/>
          <p:cNvPicPr preferRelativeResize="0"/>
          <p:nvPr/>
        </p:nvPicPr>
        <p:blipFill rotWithShape="1">
          <a:blip r:embed="rId3">
            <a:alphaModFix/>
          </a:blip>
          <a:srcRect b="0" l="0" r="0" t="0"/>
          <a:stretch/>
        </p:blipFill>
        <p:spPr>
          <a:xfrm>
            <a:off x="2445224" y="34119"/>
            <a:ext cx="7942566" cy="710148"/>
          </a:xfrm>
          <a:prstGeom prst="rect">
            <a:avLst/>
          </a:prstGeom>
          <a:noFill/>
          <a:ln>
            <a:noFill/>
          </a:ln>
        </p:spPr>
      </p:pic>
      <p:graphicFrame>
        <p:nvGraphicFramePr>
          <p:cNvPr id="265" name="Google Shape;265;p31"/>
          <p:cNvGraphicFramePr/>
          <p:nvPr/>
        </p:nvGraphicFramePr>
        <p:xfrm>
          <a:off x="1035169" y="744267"/>
          <a:ext cx="3000000" cy="3000000"/>
        </p:xfrm>
        <a:graphic>
          <a:graphicData uri="http://schemas.openxmlformats.org/drawingml/2006/table">
            <a:tbl>
              <a:tblPr>
                <a:noFill/>
                <a:tableStyleId>{40B977D2-3903-41EF-8714-5AC59086702B}</a:tableStyleId>
              </a:tblPr>
              <a:tblGrid>
                <a:gridCol w="2427725"/>
                <a:gridCol w="3259475"/>
                <a:gridCol w="1044175"/>
                <a:gridCol w="1718225"/>
                <a:gridCol w="1419375"/>
              </a:tblGrid>
              <a:tr h="826675">
                <a:tc>
                  <a:txBody>
                    <a:bodyPr/>
                    <a:lstStyle/>
                    <a:p>
                      <a:pPr indent="0" lvl="0" marL="0" marR="0" rtl="0" algn="ctr">
                        <a:lnSpc>
                          <a:spcPct val="115000"/>
                        </a:lnSpc>
                        <a:spcBef>
                          <a:spcPts val="0"/>
                        </a:spcBef>
                        <a:spcAft>
                          <a:spcPts val="0"/>
                        </a:spcAft>
                        <a:buNone/>
                      </a:pPr>
                      <a:r>
                        <a:rPr lang="en-US" sz="1000">
                          <a:latin typeface="Merriweather"/>
                          <a:ea typeface="Merriweather"/>
                          <a:cs typeface="Merriweather"/>
                          <a:sym typeface="Merriweather"/>
                        </a:rPr>
                        <a:t>Անուն, ազգանուն, հայրանուն </a:t>
                      </a:r>
                      <a:endParaRPr/>
                    </a:p>
                  </a:txBody>
                  <a:tcPr marT="0" marB="0" marR="0" marL="0" anchor="ctr"/>
                </a:tc>
                <a:tc>
                  <a:txBody>
                    <a:bodyPr/>
                    <a:lstStyle/>
                    <a:p>
                      <a:pPr indent="0" lvl="0" marL="0" marR="0" rtl="0" algn="ctr">
                        <a:lnSpc>
                          <a:spcPct val="115000"/>
                        </a:lnSpc>
                        <a:spcBef>
                          <a:spcPts val="0"/>
                        </a:spcBef>
                        <a:spcAft>
                          <a:spcPts val="0"/>
                        </a:spcAft>
                        <a:buNone/>
                      </a:pPr>
                      <a:r>
                        <a:rPr lang="en-US" sz="1000">
                          <a:latin typeface="Merriweather"/>
                          <a:ea typeface="Merriweather"/>
                          <a:cs typeface="Merriweather"/>
                          <a:sym typeface="Merriweather"/>
                        </a:rPr>
                        <a:t>Աշխատանքի վայրը, զբաղեցրած պաշտոնը </a:t>
                      </a:r>
                      <a:endParaRPr/>
                    </a:p>
                  </a:txBody>
                  <a:tcPr marT="0" marB="0" marR="0" marL="0" anchor="ctr"/>
                </a:tc>
                <a:tc>
                  <a:txBody>
                    <a:bodyPr/>
                    <a:lstStyle/>
                    <a:p>
                      <a:pPr indent="0" lvl="0" marL="0" marR="0" rtl="0" algn="ctr">
                        <a:lnSpc>
                          <a:spcPct val="115000"/>
                        </a:lnSpc>
                        <a:spcBef>
                          <a:spcPts val="0"/>
                        </a:spcBef>
                        <a:spcAft>
                          <a:spcPts val="0"/>
                        </a:spcAft>
                        <a:buNone/>
                      </a:pPr>
                      <a:r>
                        <a:rPr lang="en-US" sz="1000">
                          <a:latin typeface="Merriweather"/>
                          <a:ea typeface="Merriweather"/>
                          <a:cs typeface="Merriweather"/>
                          <a:sym typeface="Merriweather"/>
                        </a:rPr>
                        <a:t>Կրթությունը </a:t>
                      </a:r>
                      <a:endParaRPr/>
                    </a:p>
                  </a:txBody>
                  <a:tcPr marT="0" marB="0" marR="0" marL="0" anchor="ctr"/>
                </a:tc>
                <a:tc>
                  <a:txBody>
                    <a:bodyPr/>
                    <a:lstStyle/>
                    <a:p>
                      <a:pPr indent="0" lvl="0" marL="0" marR="0" rtl="0" algn="ctr">
                        <a:lnSpc>
                          <a:spcPct val="115000"/>
                        </a:lnSpc>
                        <a:spcBef>
                          <a:spcPts val="0"/>
                        </a:spcBef>
                        <a:spcAft>
                          <a:spcPts val="0"/>
                        </a:spcAft>
                        <a:buNone/>
                      </a:pPr>
                      <a:r>
                        <a:rPr lang="en-US" sz="1000">
                          <a:latin typeface="Merriweather"/>
                          <a:ea typeface="Merriweather"/>
                          <a:cs typeface="Merriweather"/>
                          <a:sym typeface="Merriweather"/>
                        </a:rPr>
                        <a:t>Հաստատության </a:t>
                      </a:r>
                      <a:endParaRPr/>
                    </a:p>
                    <a:p>
                      <a:pPr indent="0" lvl="0" marL="0" marR="0" rtl="0" algn="ctr">
                        <a:lnSpc>
                          <a:spcPct val="115000"/>
                        </a:lnSpc>
                        <a:spcBef>
                          <a:spcPts val="0"/>
                        </a:spcBef>
                        <a:spcAft>
                          <a:spcPts val="0"/>
                        </a:spcAft>
                        <a:buNone/>
                      </a:pPr>
                      <a:r>
                        <a:rPr lang="en-US" sz="1000">
                          <a:latin typeface="Merriweather"/>
                          <a:ea typeface="Merriweather"/>
                          <a:cs typeface="Merriweather"/>
                          <a:sym typeface="Merriweather"/>
                        </a:rPr>
                        <a:t>խորհրդի կազմում ընդգրկված լինելու ժամանակահատվածը </a:t>
                      </a:r>
                      <a:endParaRPr/>
                    </a:p>
                  </a:txBody>
                  <a:tcPr marT="0" marB="0" marR="0" marL="0" anchor="ct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Պետական պարգևները, կոչումները և այլն </a:t>
                      </a:r>
                      <a:endParaRPr sz="1800">
                        <a:latin typeface="Merriweather"/>
                        <a:ea typeface="Merriweather"/>
                        <a:cs typeface="Merriweather"/>
                        <a:sym typeface="Merriweather"/>
                      </a:endParaRPr>
                    </a:p>
                  </a:txBody>
                  <a:tcPr marT="0" marB="0" marR="0" marL="0" anchor="ctr"/>
                </a:tc>
              </a:tr>
              <a:tr h="414100">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Թեհմինե</a:t>
                      </a:r>
                      <a:r>
                        <a:rPr lang="en-US" sz="1000">
                          <a:latin typeface="Merriweather"/>
                          <a:ea typeface="Merriweather"/>
                          <a:cs typeface="Merriweather"/>
                          <a:sym typeface="Merriweather"/>
                        </a:rPr>
                        <a:t> Կարախանյան</a:t>
                      </a:r>
                      <a:endParaRPr sz="10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b="0" i="0" lang="en-US" sz="1000">
                          <a:solidFill>
                            <a:schemeClr val="dk1"/>
                          </a:solidFill>
                          <a:latin typeface="Merriweather"/>
                          <a:ea typeface="Merriweather"/>
                          <a:cs typeface="Merriweather"/>
                          <a:sym typeface="Merriweather"/>
                        </a:rPr>
                        <a:t>ԿԳՄՍ նախարարության հանրակրթության վարչության գլխավոր մասնագետ</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բարձրագույն</a:t>
                      </a: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2024թ.</a:t>
                      </a:r>
                      <a:r>
                        <a:rPr lang="en-US" sz="1000">
                          <a:latin typeface="Merriweather"/>
                          <a:ea typeface="Merriweather"/>
                          <a:cs typeface="Merriweather"/>
                          <a:sym typeface="Merriweather"/>
                        </a:rPr>
                        <a:t> առ</a:t>
                      </a:r>
                      <a:r>
                        <a:rPr lang="en-US" sz="1000">
                          <a:latin typeface="Merriweather"/>
                          <a:ea typeface="Merriweather"/>
                          <a:cs typeface="Merriweather"/>
                          <a:sym typeface="Merriweather"/>
                        </a:rPr>
                        <a:t> այսօր</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200"/>
                        <a:buFont typeface="Century Gothic"/>
                        <a:buNone/>
                      </a:pPr>
                      <a:r>
                        <a:t/>
                      </a:r>
                      <a:endParaRPr sz="1200">
                        <a:latin typeface="Merriweather"/>
                        <a:ea typeface="Merriweather"/>
                        <a:cs typeface="Merriweather"/>
                        <a:sym typeface="Merriweather"/>
                      </a:endParaRPr>
                    </a:p>
                  </a:txBody>
                  <a:tcPr marT="0" marB="0" marR="0" marL="0" anchor="ctr"/>
                </a:tc>
              </a:tr>
              <a:tr h="438550">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Աննա Խուդոյան</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Century Gothic"/>
                        <a:buNone/>
                      </a:pPr>
                      <a:r>
                        <a:t/>
                      </a:r>
                      <a:endParaRPr b="0" i="0" sz="1000" u="none" strike="noStrike">
                        <a:latin typeface="Merriweather"/>
                        <a:ea typeface="Merriweather"/>
                        <a:cs typeface="Merriweather"/>
                        <a:sym typeface="Merriweather"/>
                      </a:endParaRPr>
                    </a:p>
                    <a:p>
                      <a:pPr indent="0" lvl="0" marL="0" marR="0" rtl="0" algn="ctr">
                        <a:lnSpc>
                          <a:spcPct val="114999"/>
                        </a:lnSpc>
                        <a:spcBef>
                          <a:spcPts val="0"/>
                        </a:spcBef>
                        <a:spcAft>
                          <a:spcPts val="0"/>
                        </a:spcAft>
                        <a:buClr>
                          <a:schemeClr val="dk1"/>
                        </a:buClr>
                        <a:buSzPts val="1000"/>
                        <a:buFont typeface="Merriweather"/>
                        <a:buNone/>
                      </a:pPr>
                      <a:r>
                        <a:rPr b="0" i="0" lang="en-US" sz="1000" u="none" strike="noStrike">
                          <a:latin typeface="Merriweather"/>
                          <a:ea typeface="Merriweather"/>
                          <a:cs typeface="Merriweather"/>
                          <a:sym typeface="Merriweather"/>
                        </a:rPr>
                        <a:t>ՀՀ ԿԳՄՍ</a:t>
                      </a:r>
                      <a:r>
                        <a:rPr b="0" i="0" lang="en-US" sz="1000" u="none" strike="noStrike">
                          <a:latin typeface="Merriweather"/>
                          <a:ea typeface="Merriweather"/>
                          <a:cs typeface="Merriweather"/>
                          <a:sym typeface="Merriweather"/>
                        </a:rPr>
                        <a:t> նախարարության առաջատար մասնագետ</a:t>
                      </a:r>
                      <a:endParaRPr sz="1000">
                        <a:latin typeface="Merriweather"/>
                        <a:ea typeface="Merriweather"/>
                        <a:cs typeface="Merriweather"/>
                        <a:sym typeface="Merriweather"/>
                      </a:endParaRPr>
                    </a:p>
                    <a:p>
                      <a:pPr indent="0" lvl="0" marL="0" marR="0" rtl="0" algn="ctr">
                        <a:lnSpc>
                          <a:spcPct val="114999"/>
                        </a:lnSpc>
                        <a:spcBef>
                          <a:spcPts val="0"/>
                        </a:spcBef>
                        <a:spcAft>
                          <a:spcPts val="0"/>
                        </a:spcAft>
                        <a:buClr>
                          <a:schemeClr val="dk1"/>
                        </a:buClr>
                        <a:buSzPts val="1000"/>
                        <a:buFont typeface="Century Gothic"/>
                        <a:buNone/>
                      </a:pPr>
                      <a:r>
                        <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Century Gothic"/>
                        <a:buNone/>
                      </a:pPr>
                      <a:r>
                        <a:t/>
                      </a:r>
                      <a:endParaRPr sz="1000">
                        <a:latin typeface="Merriweather"/>
                        <a:ea typeface="Merriweather"/>
                        <a:cs typeface="Merriweather"/>
                        <a:sym typeface="Merriweather"/>
                      </a:endParaRPr>
                    </a:p>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բարձրագույն</a:t>
                      </a:r>
                      <a:endParaRPr/>
                    </a:p>
                    <a:p>
                      <a:pPr indent="0" lvl="0" marL="0" marR="0" rtl="0" algn="ctr">
                        <a:lnSpc>
                          <a:spcPct val="114999"/>
                        </a:lnSpc>
                        <a:spcBef>
                          <a:spcPts val="0"/>
                        </a:spcBef>
                        <a:spcAft>
                          <a:spcPts val="0"/>
                        </a:spcAft>
                        <a:buClr>
                          <a:schemeClr val="dk1"/>
                        </a:buClr>
                        <a:buSzPts val="1000"/>
                        <a:buFont typeface="Century Gothic"/>
                        <a:buNone/>
                      </a:pPr>
                      <a:r>
                        <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2024թ.</a:t>
                      </a:r>
                      <a:r>
                        <a:rPr lang="en-US" sz="1000">
                          <a:latin typeface="Merriweather"/>
                          <a:ea typeface="Merriweather"/>
                          <a:cs typeface="Merriweather"/>
                          <a:sym typeface="Merriweather"/>
                        </a:rPr>
                        <a:t> առ</a:t>
                      </a:r>
                      <a:r>
                        <a:rPr lang="en-US" sz="1000">
                          <a:latin typeface="Merriweather"/>
                          <a:ea typeface="Merriweather"/>
                          <a:cs typeface="Merriweather"/>
                          <a:sym typeface="Merriweather"/>
                        </a:rPr>
                        <a:t> այսօր</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200"/>
                        <a:buFont typeface="Century Gothic"/>
                        <a:buNone/>
                      </a:pPr>
                      <a:r>
                        <a:t/>
                      </a:r>
                      <a:endParaRPr sz="1200">
                        <a:latin typeface="Merriweather"/>
                        <a:ea typeface="Merriweather"/>
                        <a:cs typeface="Merriweather"/>
                        <a:sym typeface="Merriweather"/>
                      </a:endParaRPr>
                    </a:p>
                  </a:txBody>
                  <a:tcPr marT="0" marB="0" marR="0" marL="0" anchor="ctr"/>
                </a:tc>
              </a:tr>
              <a:tr h="382350">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Վահան Արսենյան</a:t>
                      </a:r>
                      <a:endParaRPr sz="10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Երևանի</a:t>
                      </a:r>
                      <a:r>
                        <a:rPr lang="en-US" sz="1000">
                          <a:latin typeface="Merriweather"/>
                          <a:ea typeface="Merriweather"/>
                          <a:cs typeface="Merriweather"/>
                          <a:sym typeface="Merriweather"/>
                        </a:rPr>
                        <a:t> քաղաքապետարանի հանրակրթության վարչության պետի տեղակալ</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բարձրագույն</a:t>
                      </a:r>
                      <a:endParaRPr/>
                    </a:p>
                    <a:p>
                      <a:pPr indent="0" lvl="0" marL="0" marR="0" rtl="0" algn="l">
                        <a:spcBef>
                          <a:spcPts val="0"/>
                        </a:spcBef>
                        <a:spcAft>
                          <a:spcPts val="0"/>
                        </a:spcAft>
                        <a:buNone/>
                      </a:pPr>
                      <a:r>
                        <a:t/>
                      </a:r>
                      <a:endParaRPr sz="10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2024թ.</a:t>
                      </a:r>
                      <a:r>
                        <a:rPr lang="en-US" sz="1000">
                          <a:latin typeface="Merriweather"/>
                          <a:ea typeface="Merriweather"/>
                          <a:cs typeface="Merriweather"/>
                          <a:sym typeface="Merriweather"/>
                        </a:rPr>
                        <a:t> առ</a:t>
                      </a:r>
                      <a:r>
                        <a:rPr lang="en-US" sz="1000">
                          <a:latin typeface="Merriweather"/>
                          <a:ea typeface="Merriweather"/>
                          <a:cs typeface="Merriweather"/>
                          <a:sym typeface="Merriweather"/>
                        </a:rPr>
                        <a:t> այսօր</a:t>
                      </a:r>
                      <a:endParaRPr sz="1000">
                        <a:latin typeface="Merriweather"/>
                        <a:ea typeface="Merriweather"/>
                        <a:cs typeface="Merriweather"/>
                        <a:sym typeface="Merriweather"/>
                      </a:endParaRPr>
                    </a:p>
                  </a:txBody>
                  <a:tcPr marT="0" marB="0" marR="0" marL="0" anchor="ctr"/>
                </a:tc>
                <a:tc>
                  <a:txBody>
                    <a:bodyPr/>
                    <a:lstStyle/>
                    <a:p>
                      <a:pPr indent="0" lvl="0" marL="0" marR="0" rtl="0" algn="l">
                        <a:spcBef>
                          <a:spcPts val="0"/>
                        </a:spcBef>
                        <a:spcAft>
                          <a:spcPts val="0"/>
                        </a:spcAft>
                        <a:buNone/>
                      </a:pPr>
                      <a:r>
                        <a:t/>
                      </a:r>
                      <a:endParaRPr sz="1800"/>
                    </a:p>
                  </a:txBody>
                  <a:tcPr marT="0" marB="0" marR="0" marL="0" anchor="ctr"/>
                </a:tc>
              </a:tr>
              <a:tr h="461650">
                <a:tc>
                  <a:txBody>
                    <a:bodyPr/>
                    <a:lstStyle/>
                    <a:p>
                      <a:pPr indent="0" lvl="0" marL="0" marR="0" rtl="0" algn="ctr">
                        <a:lnSpc>
                          <a:spcPct val="114999"/>
                        </a:lnSpc>
                        <a:spcBef>
                          <a:spcPts val="0"/>
                        </a:spcBef>
                        <a:spcAft>
                          <a:spcPts val="0"/>
                        </a:spcAft>
                        <a:buClr>
                          <a:schemeClr val="dk1"/>
                        </a:buClr>
                        <a:buSzPts val="1000"/>
                        <a:buFont typeface="Merriweather"/>
                        <a:buNone/>
                      </a:pPr>
                      <a:r>
                        <a:rPr b="0" i="0" lang="en-US" sz="1000" u="none" strike="noStrike">
                          <a:latin typeface="Merriweather"/>
                          <a:ea typeface="Merriweather"/>
                          <a:cs typeface="Merriweather"/>
                          <a:sym typeface="Merriweather"/>
                        </a:rPr>
                        <a:t>Մկրտչյան Անահիտ Արտուշի</a:t>
                      </a:r>
                      <a:endParaRPr b="0" i="0" sz="1000" u="none" strike="noStrike">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Երևանի Տ. Շևչենկոյի անվան թիվ 42 ա/դ </a:t>
                      </a:r>
                      <a:r>
                        <a:rPr b="0" i="0" lang="en-US" sz="1000" u="none" strike="noStrike">
                          <a:latin typeface="Merriweather"/>
                          <a:ea typeface="Merriweather"/>
                          <a:cs typeface="Merriweather"/>
                          <a:sym typeface="Merriweather"/>
                        </a:rPr>
                        <a:t>, </a:t>
                      </a:r>
                      <a:r>
                        <a:rPr lang="en-US" sz="1000">
                          <a:latin typeface="Merriweather"/>
                          <a:ea typeface="Merriweather"/>
                          <a:cs typeface="Merriweather"/>
                          <a:sym typeface="Merriweather"/>
                        </a:rPr>
                        <a:t>ուսուցիչ</a:t>
                      </a: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բարձրագույն </a:t>
                      </a:r>
                      <a:endParaRPr/>
                    </a:p>
                  </a:txBody>
                  <a:tcPr marT="0" marB="0" marR="0" marL="0" anchor="ctr"/>
                </a:tc>
                <a:tc>
                  <a:txBody>
                    <a:bodyPr/>
                    <a:lstStyle/>
                    <a:p>
                      <a:pPr indent="0" lvl="0" marL="0" marR="0" rtl="0" algn="ctr">
                        <a:lnSpc>
                          <a:spcPct val="100000"/>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2024թ.</a:t>
                      </a:r>
                      <a:r>
                        <a:rPr lang="en-US" sz="1000">
                          <a:latin typeface="Merriweather"/>
                          <a:ea typeface="Merriweather"/>
                          <a:cs typeface="Merriweather"/>
                          <a:sym typeface="Merriweather"/>
                        </a:rPr>
                        <a:t> առ</a:t>
                      </a:r>
                      <a:r>
                        <a:rPr lang="en-US" sz="1000">
                          <a:latin typeface="Merriweather"/>
                          <a:ea typeface="Merriweather"/>
                          <a:cs typeface="Merriweather"/>
                          <a:sym typeface="Merriweather"/>
                        </a:rPr>
                        <a:t> այսօր</a:t>
                      </a:r>
                      <a:endParaRPr sz="1000">
                        <a:latin typeface="Merriweather"/>
                        <a:ea typeface="Merriweather"/>
                        <a:cs typeface="Merriweather"/>
                        <a:sym typeface="Merriweather"/>
                      </a:endParaRPr>
                    </a:p>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 </a:t>
                      </a: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200"/>
                        <a:buFont typeface="Century Gothic"/>
                        <a:buNone/>
                      </a:pPr>
                      <a:r>
                        <a:t/>
                      </a:r>
                      <a:endParaRPr sz="1200">
                        <a:latin typeface="Merriweather"/>
                        <a:ea typeface="Merriweather"/>
                        <a:cs typeface="Merriweather"/>
                        <a:sym typeface="Merriweather"/>
                      </a:endParaRPr>
                    </a:p>
                  </a:txBody>
                  <a:tcPr marT="0" marB="0" marR="0" marL="0" anchor="ctr"/>
                </a:tc>
              </a:tr>
              <a:tr h="355100">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Շուշան Գալստյան</a:t>
                      </a:r>
                      <a:endParaRPr sz="10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Երևանի թիվ 2 ավագ դպրոց, Հայոց</a:t>
                      </a:r>
                      <a:r>
                        <a:rPr lang="en-US" sz="1000">
                          <a:latin typeface="Merriweather"/>
                          <a:ea typeface="Merriweather"/>
                          <a:cs typeface="Merriweather"/>
                          <a:sym typeface="Merriweather"/>
                        </a:rPr>
                        <a:t> լեզու և գրականություն առարկայի ուսուցիչ</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Clr>
                          <a:schemeClr val="dk1"/>
                        </a:buClr>
                        <a:buSzPts val="1000"/>
                        <a:buFont typeface="Century Gothic"/>
                        <a:buNone/>
                      </a:pPr>
                      <a:r>
                        <a:t/>
                      </a:r>
                      <a:endParaRPr sz="1000">
                        <a:latin typeface="Merriweather"/>
                        <a:ea typeface="Merriweather"/>
                        <a:cs typeface="Merriweather"/>
                        <a:sym typeface="Merriweather"/>
                      </a:endParaRPr>
                    </a:p>
                    <a:p>
                      <a:pPr indent="0" lvl="0" marL="0" marR="0" rtl="0" algn="ctr">
                        <a:lnSpc>
                          <a:spcPct val="100000"/>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բարձրագույն </a:t>
                      </a:r>
                      <a:endParaRPr/>
                    </a:p>
                    <a:p>
                      <a:pPr indent="0" lvl="0" marL="0" marR="0" rtl="0" algn="l">
                        <a:spcBef>
                          <a:spcPts val="0"/>
                        </a:spcBef>
                        <a:spcAft>
                          <a:spcPts val="0"/>
                        </a:spcAft>
                        <a:buNone/>
                      </a:pPr>
                      <a:r>
                        <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2024թ.</a:t>
                      </a:r>
                      <a:r>
                        <a:rPr lang="en-US" sz="1000">
                          <a:latin typeface="Merriweather"/>
                          <a:ea typeface="Merriweather"/>
                          <a:cs typeface="Merriweather"/>
                          <a:sym typeface="Merriweather"/>
                        </a:rPr>
                        <a:t> առ</a:t>
                      </a:r>
                      <a:r>
                        <a:rPr lang="en-US" sz="1000">
                          <a:latin typeface="Merriweather"/>
                          <a:ea typeface="Merriweather"/>
                          <a:cs typeface="Merriweather"/>
                          <a:sym typeface="Merriweather"/>
                        </a:rPr>
                        <a:t> այսօր</a:t>
                      </a:r>
                      <a:endParaRPr sz="1000">
                        <a:latin typeface="Merriweather"/>
                        <a:ea typeface="Merriweather"/>
                        <a:cs typeface="Merriweather"/>
                        <a:sym typeface="Merriweather"/>
                      </a:endParaRPr>
                    </a:p>
                    <a:p>
                      <a:pPr indent="0" lvl="0" marL="0" marR="0" rtl="0" algn="l">
                        <a:spcBef>
                          <a:spcPts val="0"/>
                        </a:spcBef>
                        <a:spcAft>
                          <a:spcPts val="0"/>
                        </a:spcAft>
                        <a:buNone/>
                      </a:pPr>
                      <a:r>
                        <a:t/>
                      </a:r>
                      <a:endParaRPr sz="1000">
                        <a:latin typeface="Merriweather"/>
                        <a:ea typeface="Merriweather"/>
                        <a:cs typeface="Merriweather"/>
                        <a:sym typeface="Merriweather"/>
                      </a:endParaRPr>
                    </a:p>
                  </a:txBody>
                  <a:tcPr marT="0" marB="0" marR="0" marL="0" anchor="ctr"/>
                </a:tc>
                <a:tc>
                  <a:txBody>
                    <a:bodyPr/>
                    <a:lstStyle/>
                    <a:p>
                      <a:pPr indent="0" lvl="0" marL="0" marR="0" rtl="0" algn="l">
                        <a:spcBef>
                          <a:spcPts val="0"/>
                        </a:spcBef>
                        <a:spcAft>
                          <a:spcPts val="0"/>
                        </a:spcAft>
                        <a:buNone/>
                      </a:pPr>
                      <a:r>
                        <a:t/>
                      </a:r>
                      <a:endParaRPr sz="1800"/>
                    </a:p>
                  </a:txBody>
                  <a:tcPr marT="0" marB="0" marR="0" marL="0" anchor="ctr"/>
                </a:tc>
              </a:tr>
              <a:tr h="369675">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Նելլի Այվազյան</a:t>
                      </a:r>
                      <a:endParaRPr sz="10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Երևանի Ա. Մարգարյանի անվան թիվ 29</a:t>
                      </a:r>
                      <a:r>
                        <a:rPr lang="en-US" sz="1000">
                          <a:latin typeface="Merriweather"/>
                          <a:ea typeface="Merriweather"/>
                          <a:cs typeface="Merriweather"/>
                          <a:sym typeface="Merriweather"/>
                        </a:rPr>
                        <a:t> ավագ դպրոց, ուսուցիչ, ԴԱԿ</a:t>
                      </a:r>
                      <a:endParaRPr sz="10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բարձրագույն</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2024թ.</a:t>
                      </a:r>
                      <a:r>
                        <a:rPr lang="en-US" sz="1000">
                          <a:latin typeface="Merriweather"/>
                          <a:ea typeface="Merriweather"/>
                          <a:cs typeface="Merriweather"/>
                          <a:sym typeface="Merriweather"/>
                        </a:rPr>
                        <a:t> առ</a:t>
                      </a:r>
                      <a:r>
                        <a:rPr lang="en-US" sz="1000">
                          <a:latin typeface="Merriweather"/>
                          <a:ea typeface="Merriweather"/>
                          <a:cs typeface="Merriweather"/>
                          <a:sym typeface="Merriweather"/>
                        </a:rPr>
                        <a:t> այսօր</a:t>
                      </a:r>
                      <a:endParaRPr sz="1000">
                        <a:latin typeface="Merriweather"/>
                        <a:ea typeface="Merriweather"/>
                        <a:cs typeface="Merriweather"/>
                        <a:sym typeface="Merriweather"/>
                      </a:endParaRPr>
                    </a:p>
                    <a:p>
                      <a:pPr indent="0" lvl="0" marL="0" marR="0" rtl="0" algn="ctr">
                        <a:spcBef>
                          <a:spcPts val="0"/>
                        </a:spcBef>
                        <a:spcAft>
                          <a:spcPts val="0"/>
                        </a:spcAft>
                        <a:buNone/>
                      </a:pPr>
                      <a:r>
                        <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200"/>
                        <a:buFont typeface="Century Gothic"/>
                        <a:buNone/>
                      </a:pPr>
                      <a:r>
                        <a:t/>
                      </a:r>
                      <a:endParaRPr sz="1200">
                        <a:latin typeface="Merriweather"/>
                        <a:ea typeface="Merriweather"/>
                        <a:cs typeface="Merriweather"/>
                        <a:sym typeface="Merriweather"/>
                      </a:endParaRPr>
                    </a:p>
                  </a:txBody>
                  <a:tcPr marT="0" marB="0" marR="0" marL="0" anchor="ctr"/>
                </a:tc>
              </a:tr>
              <a:tr h="414300">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Նարինե Մալախյան</a:t>
                      </a:r>
                      <a:endParaRPr sz="10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Երևանի Խ. Դաշտենցի</a:t>
                      </a:r>
                      <a:r>
                        <a:rPr lang="en-US" sz="1000">
                          <a:latin typeface="Merriweather"/>
                          <a:ea typeface="Merriweather"/>
                          <a:cs typeface="Merriweather"/>
                          <a:sym typeface="Merriweather"/>
                        </a:rPr>
                        <a:t> անվան թիվ 114 ավագ դպրոց, հայոց լեզու և գրականություն առարկայի ուսուցիչ</a:t>
                      </a:r>
                      <a:endParaRPr sz="10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000">
                          <a:latin typeface="Merriweather"/>
                          <a:ea typeface="Merriweather"/>
                          <a:cs typeface="Merriweather"/>
                          <a:sym typeface="Merriweather"/>
                        </a:rPr>
                        <a:t>բարձրագույն</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2024թ.</a:t>
                      </a:r>
                      <a:r>
                        <a:rPr lang="en-US" sz="1000">
                          <a:latin typeface="Merriweather"/>
                          <a:ea typeface="Merriweather"/>
                          <a:cs typeface="Merriweather"/>
                          <a:sym typeface="Merriweather"/>
                        </a:rPr>
                        <a:t> առ</a:t>
                      </a:r>
                      <a:r>
                        <a:rPr lang="en-US" sz="1000">
                          <a:latin typeface="Merriweather"/>
                          <a:ea typeface="Merriweather"/>
                          <a:cs typeface="Merriweather"/>
                          <a:sym typeface="Merriweather"/>
                        </a:rPr>
                        <a:t> այսօր</a:t>
                      </a:r>
                      <a:endParaRPr sz="1000">
                        <a:latin typeface="Merriweather"/>
                        <a:ea typeface="Merriweather"/>
                        <a:cs typeface="Merriweather"/>
                        <a:sym typeface="Merriweather"/>
                      </a:endParaRPr>
                    </a:p>
                  </a:txBody>
                  <a:tcPr marT="0" marB="0" marR="0" marL="0" anchor="ctr"/>
                </a:tc>
                <a:tc>
                  <a:txBody>
                    <a:bodyPr/>
                    <a:lstStyle/>
                    <a:p>
                      <a:pPr indent="0" lvl="0" marL="0" marR="0" rtl="0" algn="l">
                        <a:spcBef>
                          <a:spcPts val="0"/>
                        </a:spcBef>
                        <a:spcAft>
                          <a:spcPts val="0"/>
                        </a:spcAft>
                        <a:buNone/>
                      </a:pPr>
                      <a:r>
                        <a:t/>
                      </a:r>
                      <a:endParaRPr sz="1800"/>
                    </a:p>
                  </a:txBody>
                  <a:tcPr marT="0" marB="0" marR="0" marL="0" anchor="ctr"/>
                </a:tc>
              </a:tr>
              <a:tr h="399500">
                <a:tc>
                  <a:txBody>
                    <a:bodyPr/>
                    <a:lstStyle/>
                    <a:p>
                      <a:pPr indent="0" lvl="0" marL="0" marR="0" rtl="0" algn="ctr">
                        <a:lnSpc>
                          <a:spcPct val="114999"/>
                        </a:lnSpc>
                        <a:spcBef>
                          <a:spcPts val="0"/>
                        </a:spcBef>
                        <a:spcAft>
                          <a:spcPts val="0"/>
                        </a:spcAft>
                        <a:buClr>
                          <a:schemeClr val="dk1"/>
                        </a:buClr>
                        <a:buSzPts val="1000"/>
                        <a:buFont typeface="Merriweather"/>
                        <a:buNone/>
                      </a:pPr>
                      <a:r>
                        <a:rPr b="0" i="0" lang="en-US" sz="1000" u="none" strike="noStrike">
                          <a:latin typeface="Merriweather"/>
                          <a:ea typeface="Merriweather"/>
                          <a:cs typeface="Merriweather"/>
                          <a:sym typeface="Merriweather"/>
                        </a:rPr>
                        <a:t>Վարդանյան</a:t>
                      </a:r>
                      <a:r>
                        <a:rPr b="0" i="0" lang="en-US" sz="1000" u="none" strike="noStrike">
                          <a:latin typeface="Merriweather"/>
                          <a:ea typeface="Merriweather"/>
                          <a:cs typeface="Merriweather"/>
                          <a:sym typeface="Merriweather"/>
                        </a:rPr>
                        <a:t> Սուսաննա</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b="0" i="0" lang="en-US" sz="1000" u="none" strike="noStrike">
                          <a:latin typeface="Merriweather"/>
                          <a:ea typeface="Merriweather"/>
                          <a:cs typeface="Merriweather"/>
                          <a:sym typeface="Merriweather"/>
                        </a:rPr>
                        <a:t>չի աշխատում </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b="0" i="0" lang="en-US" sz="1000" u="none" strike="noStrike">
                          <a:latin typeface="Merriweather"/>
                          <a:ea typeface="Merriweather"/>
                          <a:cs typeface="Merriweather"/>
                          <a:sym typeface="Merriweather"/>
                        </a:rPr>
                        <a:t>մ/մ </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000"/>
                        <a:buFont typeface="Merriweather"/>
                        <a:buNone/>
                      </a:pPr>
                      <a:r>
                        <a:rPr b="0" i="0" lang="en-US" sz="1000" u="none" cap="none" strike="noStrike">
                          <a:solidFill>
                            <a:srgbClr val="000000"/>
                          </a:solidFill>
                          <a:latin typeface="Merriweather"/>
                          <a:ea typeface="Merriweather"/>
                          <a:cs typeface="Merriweather"/>
                          <a:sym typeface="Merriweather"/>
                        </a:rPr>
                        <a:t>2024թ. առ այսօր</a:t>
                      </a:r>
                      <a:endParaRPr b="0" i="0" sz="1000" u="none" cap="none" strike="noStrike">
                        <a:solidFill>
                          <a:srgbClr val="000000"/>
                        </a:solidFill>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800"/>
                        <a:buFont typeface="Century Gothic"/>
                        <a:buNone/>
                      </a:pPr>
                      <a:r>
                        <a:t/>
                      </a:r>
                      <a:endParaRPr sz="1800"/>
                    </a:p>
                  </a:txBody>
                  <a:tcPr marT="0" marB="0" marR="0" marL="0" anchor="ctr"/>
                </a:tc>
              </a:tr>
              <a:tr h="399500">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Լուսինե Պողոսյան</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Երևանի կոնյակի գործարան</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բարձրագույն</a:t>
                      </a:r>
                      <a:endParaRPr sz="1000">
                        <a:latin typeface="Merriweather"/>
                        <a:ea typeface="Merriweather"/>
                        <a:cs typeface="Merriweather"/>
                        <a:sym typeface="Merriweather"/>
                      </a:endParaRPr>
                    </a:p>
                    <a:p>
                      <a:pPr indent="0" lvl="0" marL="0" marR="0" rtl="0" algn="ctr">
                        <a:lnSpc>
                          <a:spcPct val="114999"/>
                        </a:lnSpc>
                        <a:spcBef>
                          <a:spcPts val="0"/>
                        </a:spcBef>
                        <a:spcAft>
                          <a:spcPts val="0"/>
                        </a:spcAft>
                        <a:buClr>
                          <a:schemeClr val="dk1"/>
                        </a:buClr>
                        <a:buSzPts val="1000"/>
                        <a:buFont typeface="Merriweather"/>
                        <a:buNone/>
                      </a:pPr>
                      <a:r>
                        <a:rPr b="0" i="0" lang="en-US" sz="1000" u="none" strike="noStrike">
                          <a:latin typeface="Merriweather"/>
                          <a:ea typeface="Merriweather"/>
                          <a:cs typeface="Merriweather"/>
                          <a:sym typeface="Merriweather"/>
                        </a:rPr>
                        <a:t> </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000"/>
                        <a:buFont typeface="Merriweather"/>
                        <a:buNone/>
                      </a:pPr>
                      <a:r>
                        <a:rPr b="0" i="0" lang="en-US" sz="1000" u="none" cap="none" strike="noStrike">
                          <a:solidFill>
                            <a:srgbClr val="000000"/>
                          </a:solidFill>
                          <a:latin typeface="Merriweather"/>
                          <a:ea typeface="Merriweather"/>
                          <a:cs typeface="Merriweather"/>
                          <a:sym typeface="Merriweather"/>
                        </a:rPr>
                        <a:t>2024թ. առ այսօր</a:t>
                      </a:r>
                      <a:endParaRPr b="0" i="0" sz="1000" u="none" cap="none" strike="noStrike">
                        <a:solidFill>
                          <a:srgbClr val="000000"/>
                        </a:solidFill>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200"/>
                        <a:buFont typeface="Century Gothic"/>
                        <a:buNone/>
                      </a:pPr>
                      <a:r>
                        <a:rPr b="0" i="0" lang="en-US" sz="1200" u="none" strike="noStrike"/>
                        <a:t> </a:t>
                      </a:r>
                      <a:endParaRPr sz="1800"/>
                    </a:p>
                  </a:txBody>
                  <a:tcPr marT="0" marB="0" marR="0" marL="0" anchor="ctr"/>
                </a:tc>
              </a:tr>
              <a:tr h="384700">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Նաիրուհի Նիկողոսյան</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ԱՁ</a:t>
                      </a:r>
                      <a:endParaRPr/>
                    </a:p>
                    <a:p>
                      <a:pPr indent="0" lvl="0" marL="0" marR="0" rtl="0" algn="ctr">
                        <a:lnSpc>
                          <a:spcPct val="114999"/>
                        </a:lnSpc>
                        <a:spcBef>
                          <a:spcPts val="0"/>
                        </a:spcBef>
                        <a:spcAft>
                          <a:spcPts val="0"/>
                        </a:spcAft>
                        <a:buClr>
                          <a:schemeClr val="dk1"/>
                        </a:buClr>
                        <a:buSzPts val="1000"/>
                        <a:buFont typeface="Century Gothic"/>
                        <a:buNone/>
                      </a:pPr>
                      <a:r>
                        <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բարձրագույն</a:t>
                      </a:r>
                      <a:endParaRPr sz="1000">
                        <a:latin typeface="Merriweather"/>
                        <a:ea typeface="Merriweather"/>
                        <a:cs typeface="Merriweather"/>
                        <a:sym typeface="Merriweather"/>
                      </a:endParaRPr>
                    </a:p>
                    <a:p>
                      <a:pPr indent="0" lvl="0" marL="0" marR="0" rtl="0" algn="ctr">
                        <a:lnSpc>
                          <a:spcPct val="114999"/>
                        </a:lnSpc>
                        <a:spcBef>
                          <a:spcPts val="0"/>
                        </a:spcBef>
                        <a:spcAft>
                          <a:spcPts val="0"/>
                        </a:spcAft>
                        <a:buClr>
                          <a:schemeClr val="dk1"/>
                        </a:buClr>
                        <a:buSzPts val="1000"/>
                        <a:buFont typeface="Century Gothic"/>
                        <a:buNone/>
                      </a:pPr>
                      <a:r>
                        <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000"/>
                        <a:buFont typeface="Merriweather"/>
                        <a:buNone/>
                      </a:pPr>
                      <a:r>
                        <a:rPr b="0" i="0" lang="en-US" sz="1000" u="none" cap="none" strike="noStrike">
                          <a:solidFill>
                            <a:srgbClr val="000000"/>
                          </a:solidFill>
                          <a:latin typeface="Merriweather"/>
                          <a:ea typeface="Merriweather"/>
                          <a:cs typeface="Merriweather"/>
                          <a:sym typeface="Merriweather"/>
                        </a:rPr>
                        <a:t>2024թ. առ այսօր</a:t>
                      </a:r>
                      <a:endParaRPr b="0" i="0" sz="1000" u="none" cap="none" strike="noStrike">
                        <a:solidFill>
                          <a:srgbClr val="000000"/>
                        </a:solidFill>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800"/>
                        <a:buFont typeface="Century Gothic"/>
                        <a:buNone/>
                      </a:pPr>
                      <a:r>
                        <a:t/>
                      </a:r>
                      <a:endParaRPr sz="1800"/>
                    </a:p>
                  </a:txBody>
                  <a:tcPr marT="0" marB="0" marR="0" marL="0" anchor="ctr"/>
                </a:tc>
              </a:tr>
              <a:tr h="408375">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Սոնա Ղազարյան</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ԱՁ</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000"/>
                        <a:buFont typeface="Merriweather"/>
                        <a:buNone/>
                      </a:pPr>
                      <a:r>
                        <a:rPr lang="en-US" sz="1000">
                          <a:latin typeface="Merriweather"/>
                          <a:ea typeface="Merriweather"/>
                          <a:cs typeface="Merriweather"/>
                          <a:sym typeface="Merriweather"/>
                        </a:rPr>
                        <a:t>բարձրագույն</a:t>
                      </a:r>
                      <a:endParaRPr sz="1000">
                        <a:latin typeface="Merriweather"/>
                        <a:ea typeface="Merriweather"/>
                        <a:cs typeface="Merriweather"/>
                        <a:sym typeface="Merriweather"/>
                      </a:endParaRPr>
                    </a:p>
                    <a:p>
                      <a:pPr indent="0" lvl="0" marL="0" marR="0" rtl="0" algn="ctr">
                        <a:lnSpc>
                          <a:spcPct val="114999"/>
                        </a:lnSpc>
                        <a:spcBef>
                          <a:spcPts val="0"/>
                        </a:spcBef>
                        <a:spcAft>
                          <a:spcPts val="0"/>
                        </a:spcAft>
                        <a:buClr>
                          <a:schemeClr val="dk1"/>
                        </a:buClr>
                        <a:buSzPts val="1000"/>
                        <a:buFont typeface="Century Gothic"/>
                        <a:buNone/>
                      </a:pPr>
                      <a:r>
                        <a:t/>
                      </a:r>
                      <a:endParaRPr sz="10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000"/>
                        <a:buFont typeface="Merriweather"/>
                        <a:buNone/>
                      </a:pPr>
                      <a:r>
                        <a:rPr b="0" i="0" lang="en-US" sz="1000" u="none" cap="none" strike="noStrike">
                          <a:solidFill>
                            <a:srgbClr val="000000"/>
                          </a:solidFill>
                          <a:latin typeface="Merriweather"/>
                          <a:ea typeface="Merriweather"/>
                          <a:cs typeface="Merriweather"/>
                          <a:sym typeface="Merriweather"/>
                        </a:rPr>
                        <a:t>2024թ. առ այսօր</a:t>
                      </a:r>
                      <a:endParaRPr b="0" i="0" sz="1000" u="none" cap="none" strike="noStrike">
                        <a:solidFill>
                          <a:srgbClr val="000000"/>
                        </a:solidFill>
                        <a:latin typeface="Merriweather"/>
                        <a:ea typeface="Merriweather"/>
                        <a:cs typeface="Merriweather"/>
                        <a:sym typeface="Merriweather"/>
                      </a:endParaRPr>
                    </a:p>
                  </a:txBody>
                  <a:tcPr marT="0" marB="0" marR="0" marL="0" anchor="ctr"/>
                </a:tc>
                <a:tc>
                  <a:txBody>
                    <a:bodyPr/>
                    <a:lstStyle/>
                    <a:p>
                      <a:pPr indent="0" lvl="0" marL="0" marR="0" rtl="0" algn="ctr">
                        <a:lnSpc>
                          <a:spcPct val="114999"/>
                        </a:lnSpc>
                        <a:spcBef>
                          <a:spcPts val="0"/>
                        </a:spcBef>
                        <a:spcAft>
                          <a:spcPts val="0"/>
                        </a:spcAft>
                        <a:buClr>
                          <a:schemeClr val="dk1"/>
                        </a:buClr>
                        <a:buSzPts val="1800"/>
                        <a:buFont typeface="Century Gothic"/>
                        <a:buNone/>
                      </a:pPr>
                      <a:r>
                        <a:t/>
                      </a:r>
                      <a:endParaRPr sz="1800"/>
                    </a:p>
                  </a:txBody>
                  <a:tcPr marT="0" marB="0" marR="0" marL="0"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32"/>
          <p:cNvPicPr preferRelativeResize="0"/>
          <p:nvPr/>
        </p:nvPicPr>
        <p:blipFill rotWithShape="1">
          <a:blip r:embed="rId3">
            <a:alphaModFix/>
          </a:blip>
          <a:srcRect b="0" l="0" r="0" t="0"/>
          <a:stretch/>
        </p:blipFill>
        <p:spPr>
          <a:xfrm>
            <a:off x="1714500" y="0"/>
            <a:ext cx="10229850" cy="666750"/>
          </a:xfrm>
          <a:prstGeom prst="rect">
            <a:avLst/>
          </a:prstGeom>
          <a:noFill/>
          <a:ln>
            <a:noFill/>
          </a:ln>
        </p:spPr>
      </p:pic>
      <p:graphicFrame>
        <p:nvGraphicFramePr>
          <p:cNvPr id="272" name="Google Shape;272;p32"/>
          <p:cNvGraphicFramePr/>
          <p:nvPr/>
        </p:nvGraphicFramePr>
        <p:xfrm>
          <a:off x="590550" y="1175864"/>
          <a:ext cx="3000000" cy="3000000"/>
        </p:xfrm>
        <a:graphic>
          <a:graphicData uri="http://schemas.openxmlformats.org/drawingml/2006/table">
            <a:tbl>
              <a:tblPr>
                <a:noFill/>
                <a:tableStyleId>{40B977D2-3903-41EF-8714-5AC59086702B}</a:tableStyleId>
              </a:tblPr>
              <a:tblGrid>
                <a:gridCol w="1932450"/>
                <a:gridCol w="1461200"/>
                <a:gridCol w="2648325"/>
                <a:gridCol w="3117475"/>
                <a:gridCol w="2194325"/>
              </a:tblGrid>
              <a:tr h="681800">
                <a:tc>
                  <a:txBody>
                    <a:bodyPr/>
                    <a:lstStyle/>
                    <a:p>
                      <a:pPr indent="0" lvl="0" marL="0" marR="0" rtl="0" algn="ctr">
                        <a:lnSpc>
                          <a:spcPct val="114999"/>
                        </a:lnSpc>
                        <a:spcBef>
                          <a:spcPts val="0"/>
                        </a:spcBef>
                        <a:spcAft>
                          <a:spcPts val="0"/>
                        </a:spcAft>
                        <a:buNone/>
                      </a:pPr>
                      <a:r>
                        <a:rPr lang="en-US" sz="1200"/>
                        <a:t>Դասասենյակի </a:t>
                      </a:r>
                      <a:endParaRPr sz="1800"/>
                    </a:p>
                    <a:p>
                      <a:pPr indent="0" lvl="0" marL="0" marR="0" rtl="0" algn="ctr">
                        <a:lnSpc>
                          <a:spcPct val="114999"/>
                        </a:lnSpc>
                        <a:spcBef>
                          <a:spcPts val="0"/>
                        </a:spcBef>
                        <a:spcAft>
                          <a:spcPts val="0"/>
                        </a:spcAft>
                        <a:buNone/>
                      </a:pPr>
                      <a:r>
                        <a:rPr lang="en-US" sz="1200"/>
                        <a:t>                համար</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Դասասենյակի մակերեսը(քմ)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Սեղան-նստարանների դասավորվածության ձևը (շարքերով, շրջանաձև, T-աձև, П-աձև, խառը)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Սեղան-նստարանների թիվը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Սեղան-նստարանների շարքերի և միմյանց միջև հեռավորությունները </a:t>
                      </a:r>
                      <a:endParaRPr sz="1800"/>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N1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 54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12 սեղան, 24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N2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36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N3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36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N4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36քմ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N5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51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N6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51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N7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60քմ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12 սեղան, 24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925">
                <a:tc>
                  <a:txBody>
                    <a:bodyPr/>
                    <a:lstStyle/>
                    <a:p>
                      <a:pPr indent="0" lvl="0" marL="0" marR="0" rtl="0" algn="ctr">
                        <a:lnSpc>
                          <a:spcPct val="100000"/>
                        </a:lnSpc>
                        <a:spcBef>
                          <a:spcPts val="0"/>
                        </a:spcBef>
                        <a:spcAft>
                          <a:spcPts val="0"/>
                        </a:spcAft>
                        <a:buNone/>
                      </a:pPr>
                      <a:r>
                        <a:rPr lang="en-US" sz="1200"/>
                        <a:t>Դասասենյակ N8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54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12 սեղան, 24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N9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54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12 սեղան, 24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N10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50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N11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50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N12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54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12 սեղան, 24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N13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50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N14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51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N15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51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25375">
                <a:tc>
                  <a:txBody>
                    <a:bodyPr/>
                    <a:lstStyle/>
                    <a:p>
                      <a:pPr indent="0" lvl="0" marL="0" marR="0" rtl="0" algn="ctr">
                        <a:lnSpc>
                          <a:spcPct val="100000"/>
                        </a:lnSpc>
                        <a:spcBef>
                          <a:spcPts val="0"/>
                        </a:spcBef>
                        <a:spcAft>
                          <a:spcPts val="0"/>
                        </a:spcAft>
                        <a:buNone/>
                      </a:pPr>
                      <a:r>
                        <a:rPr lang="en-US" sz="1200"/>
                        <a:t>Դասասենյակ N16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54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12 սեղան, 24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r h="269575">
                <a:tc>
                  <a:txBody>
                    <a:bodyPr/>
                    <a:lstStyle/>
                    <a:p>
                      <a:pPr indent="0" lvl="0" marL="0" marR="0" rtl="0" algn="ctr">
                        <a:lnSpc>
                          <a:spcPct val="100000"/>
                        </a:lnSpc>
                        <a:spcBef>
                          <a:spcPts val="0"/>
                        </a:spcBef>
                        <a:spcAft>
                          <a:spcPts val="0"/>
                        </a:spcAft>
                        <a:buNone/>
                      </a:pPr>
                      <a:r>
                        <a:rPr lang="en-US" sz="1200"/>
                        <a:t>Դասասենյակ N17</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36 քմ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շարքերով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10 սեղան, 20 աթոռ</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00000"/>
                        </a:lnSpc>
                        <a:spcBef>
                          <a:spcPts val="0"/>
                        </a:spcBef>
                        <a:spcAft>
                          <a:spcPts val="0"/>
                        </a:spcAft>
                        <a:buNone/>
                      </a:pPr>
                      <a:r>
                        <a:rPr lang="en-US" sz="1200">
                          <a:latin typeface="Merriweather"/>
                          <a:ea typeface="Merriweather"/>
                          <a:cs typeface="Merriweather"/>
                          <a:sym typeface="Merriweather"/>
                        </a:rPr>
                        <a:t>1.5 քմ</a:t>
                      </a:r>
                      <a:endParaRPr sz="1200">
                        <a:latin typeface="Merriweather"/>
                        <a:ea typeface="Merriweather"/>
                        <a:cs typeface="Merriweather"/>
                        <a:sym typeface="Merriweather"/>
                      </a:endParaRPr>
                    </a:p>
                  </a:txBody>
                  <a:tcPr marT="0" marB="0" marR="0" marL="0" anchor="ctr"/>
                </a:tc>
              </a:tr>
            </a:tbl>
          </a:graphicData>
        </a:graphic>
      </p:graphicFrame>
      <p:sp>
        <p:nvSpPr>
          <p:cNvPr id="273" name="Google Shape;273;p32"/>
          <p:cNvSpPr txBox="1"/>
          <p:nvPr/>
        </p:nvSpPr>
        <p:spPr>
          <a:xfrm>
            <a:off x="1924050" y="754462"/>
            <a:ext cx="46471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entury Gothic"/>
                <a:ea typeface="Century Gothic"/>
                <a:cs typeface="Century Gothic"/>
                <a:sym typeface="Century Gothic"/>
              </a:rPr>
              <a:t>Դիտարկման ամսաթիվ՝ 01/06/2024թ</a:t>
            </a:r>
            <a:r>
              <a:rPr lang="en-US" sz="1800">
                <a:solidFill>
                  <a:schemeClr val="dk1"/>
                </a:solidFill>
                <a:latin typeface="Century Gothic"/>
                <a:ea typeface="Century Gothic"/>
                <a:cs typeface="Century Gothic"/>
                <a:sym typeface="Century Gothic"/>
              </a:rPr>
              <a:t>.</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33"/>
          <p:cNvPicPr preferRelativeResize="0"/>
          <p:nvPr/>
        </p:nvPicPr>
        <p:blipFill rotWithShape="1">
          <a:blip r:embed="rId3">
            <a:alphaModFix/>
          </a:blip>
          <a:srcRect b="0" l="0" r="0" t="0"/>
          <a:stretch/>
        </p:blipFill>
        <p:spPr>
          <a:xfrm>
            <a:off x="1692275" y="82550"/>
            <a:ext cx="9258242" cy="792978"/>
          </a:xfrm>
          <a:prstGeom prst="rect">
            <a:avLst/>
          </a:prstGeom>
          <a:noFill/>
          <a:ln>
            <a:noFill/>
          </a:ln>
        </p:spPr>
      </p:pic>
      <p:graphicFrame>
        <p:nvGraphicFramePr>
          <p:cNvPr id="280" name="Google Shape;280;p33"/>
          <p:cNvGraphicFramePr/>
          <p:nvPr/>
        </p:nvGraphicFramePr>
        <p:xfrm>
          <a:off x="1028699" y="1405331"/>
          <a:ext cx="3000000" cy="3000000"/>
        </p:xfrm>
        <a:graphic>
          <a:graphicData uri="http://schemas.openxmlformats.org/drawingml/2006/table">
            <a:tbl>
              <a:tblPr>
                <a:noFill/>
                <a:tableStyleId>{40B977D2-3903-41EF-8714-5AC59086702B}</a:tableStyleId>
              </a:tblPr>
              <a:tblGrid>
                <a:gridCol w="3381650"/>
                <a:gridCol w="2170325"/>
                <a:gridCol w="2831400"/>
                <a:gridCol w="2170325"/>
              </a:tblGrid>
              <a:tr h="331450">
                <a:tc>
                  <a:txBody>
                    <a:bodyPr/>
                    <a:lstStyle/>
                    <a:p>
                      <a:pPr indent="0" lvl="0" marL="0" marR="0" rtl="0" algn="ctr">
                        <a:lnSpc>
                          <a:spcPct val="150000"/>
                        </a:lnSpc>
                        <a:spcBef>
                          <a:spcPts val="0"/>
                        </a:spcBef>
                        <a:spcAft>
                          <a:spcPts val="0"/>
                        </a:spcAft>
                        <a:buNone/>
                      </a:pPr>
                      <a:r>
                        <a:rPr lang="en-US" sz="1200"/>
                        <a:t>Դասասենյակի համարը </a:t>
                      </a:r>
                      <a:endParaRPr/>
                    </a:p>
                  </a:txBody>
                  <a:tcPr marT="0" marB="0" marR="0" marL="0" anchor="ctr"/>
                </a:tc>
                <a:tc>
                  <a:txBody>
                    <a:bodyPr/>
                    <a:lstStyle/>
                    <a:p>
                      <a:pPr indent="0" lvl="0" marL="0" marR="0" rtl="0" algn="just">
                        <a:lnSpc>
                          <a:spcPct val="150000"/>
                        </a:lnSpc>
                        <a:spcBef>
                          <a:spcPts val="0"/>
                        </a:spcBef>
                        <a:spcAft>
                          <a:spcPts val="0"/>
                        </a:spcAft>
                        <a:buNone/>
                      </a:pPr>
                      <a:r>
                        <a:rPr lang="en-US" sz="1200"/>
                        <a:t>Դասասենյակի մակերեսը (քմ) </a:t>
                      </a:r>
                      <a:endParaRPr/>
                    </a:p>
                  </a:txBody>
                  <a:tcPr marT="0" marB="0" marR="0" marL="0" anchor="ctr"/>
                </a:tc>
                <a:tc>
                  <a:txBody>
                    <a:bodyPr/>
                    <a:lstStyle/>
                    <a:p>
                      <a:pPr indent="0" lvl="0" marL="0" marR="0" rtl="0" algn="l">
                        <a:lnSpc>
                          <a:spcPct val="150000"/>
                        </a:lnSpc>
                        <a:spcBef>
                          <a:spcPts val="0"/>
                        </a:spcBef>
                        <a:spcAft>
                          <a:spcPts val="0"/>
                        </a:spcAft>
                        <a:buNone/>
                      </a:pPr>
                      <a:r>
                        <a:rPr lang="en-US" sz="1200"/>
                        <a:t>Մեկ սովորողին ընկնող մակերեսը (քմ) </a:t>
                      </a:r>
                      <a:endParaRPr/>
                    </a:p>
                  </a:txBody>
                  <a:tcPr marT="0" marB="0" marR="0" marL="0" anchor="ctr"/>
                </a:tc>
                <a:tc>
                  <a:txBody>
                    <a:bodyPr/>
                    <a:lstStyle/>
                    <a:p>
                      <a:pPr indent="0" lvl="0" marL="0" marR="0" rtl="0" algn="l">
                        <a:lnSpc>
                          <a:spcPct val="150000"/>
                        </a:lnSpc>
                        <a:spcBef>
                          <a:spcPts val="0"/>
                        </a:spcBef>
                        <a:spcAft>
                          <a:spcPts val="0"/>
                        </a:spcAft>
                        <a:buNone/>
                      </a:pPr>
                      <a:r>
                        <a:rPr lang="en-US" sz="1200"/>
                        <a:t>Նորմերից պակաս կամ ավել մակերեսը (քմ) </a:t>
                      </a:r>
                      <a:endParaRPr/>
                    </a:p>
                  </a:txBody>
                  <a:tcPr marT="0" marB="0" marR="0" marL="0" anchor="ctr"/>
                </a:tc>
              </a:tr>
              <a:tr h="302250">
                <a:tc>
                  <a:txBody>
                    <a:bodyPr/>
                    <a:lstStyle/>
                    <a:p>
                      <a:pPr indent="0" lvl="0" marL="0" marR="0" rtl="0" algn="ctr">
                        <a:lnSpc>
                          <a:spcPct val="100000"/>
                        </a:lnSpc>
                        <a:spcBef>
                          <a:spcPts val="0"/>
                        </a:spcBef>
                        <a:spcAft>
                          <a:spcPts val="0"/>
                        </a:spcAft>
                        <a:buNone/>
                      </a:pPr>
                      <a:r>
                        <a:rPr lang="en-US" sz="1200"/>
                        <a:t>Դասասենյակ N1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 54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N2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36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N3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36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N4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36քմ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N5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51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N6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51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2.55</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0.55-ով ավել</a:t>
                      </a:r>
                      <a:endParaRPr sz="1200"/>
                    </a:p>
                  </a:txBody>
                  <a:tcPr marT="0" marB="0" marR="0" marL="0" anchor="ctr"/>
                </a:tc>
              </a:tr>
              <a:tr h="165725">
                <a:tc>
                  <a:txBody>
                    <a:bodyPr/>
                    <a:lstStyle/>
                    <a:p>
                      <a:pPr indent="0" lvl="0" marL="0" marR="0" rtl="0" algn="ctr">
                        <a:lnSpc>
                          <a:spcPct val="100000"/>
                        </a:lnSpc>
                        <a:spcBef>
                          <a:spcPts val="0"/>
                        </a:spcBef>
                        <a:spcAft>
                          <a:spcPts val="0"/>
                        </a:spcAft>
                        <a:buNone/>
                      </a:pPr>
                      <a:r>
                        <a:rPr lang="en-US" sz="1200"/>
                        <a:t>Դասասենյակ N7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60քմ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2.5</a:t>
                      </a:r>
                      <a:endParaRPr/>
                    </a:p>
                  </a:txBody>
                  <a:tcPr marT="0" marB="0" marR="0" marL="0" anchor="ctr"/>
                </a:tc>
                <a:tc>
                  <a:txBody>
                    <a:bodyPr/>
                    <a:lstStyle/>
                    <a:p>
                      <a:pPr indent="0" lvl="0" marL="0" marR="0" rtl="0" algn="ctr">
                        <a:lnSpc>
                          <a:spcPct val="150000"/>
                        </a:lnSpc>
                        <a:spcBef>
                          <a:spcPts val="0"/>
                        </a:spcBef>
                        <a:spcAft>
                          <a:spcPts val="0"/>
                        </a:spcAft>
                        <a:buNone/>
                      </a:pPr>
                      <a:r>
                        <a:rPr lang="en-US" sz="1200"/>
                        <a:t>0.5-ով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N8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54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N9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54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None/>
                      </a:pPr>
                      <a:r>
                        <a:rPr lang="en-US" sz="1200"/>
                        <a:t>0.25-ով ավել</a:t>
                      </a:r>
                      <a:endParaRPr sz="1200"/>
                    </a:p>
                  </a:txBody>
                  <a:tcPr marT="0" marB="0" marR="0" marL="0" anchor="ctr"/>
                </a:tc>
              </a:tr>
              <a:tr h="165725">
                <a:tc>
                  <a:txBody>
                    <a:bodyPr/>
                    <a:lstStyle/>
                    <a:p>
                      <a:pPr indent="0" lvl="0" marL="0" marR="0" rtl="0" algn="ctr">
                        <a:lnSpc>
                          <a:spcPct val="100000"/>
                        </a:lnSpc>
                        <a:spcBef>
                          <a:spcPts val="0"/>
                        </a:spcBef>
                        <a:spcAft>
                          <a:spcPts val="0"/>
                        </a:spcAft>
                        <a:buNone/>
                      </a:pPr>
                      <a:r>
                        <a:rPr lang="en-US" sz="1200"/>
                        <a:t>Դասասենյակ N10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50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N11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50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N12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54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N13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50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N14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51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2.55</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0.55-ով ավել</a:t>
                      </a:r>
                      <a:endParaRPr sz="1200"/>
                    </a:p>
                  </a:txBody>
                  <a:tcPr marT="0" marB="0" marR="0" marL="0" anchor="ctr"/>
                </a:tc>
              </a:tr>
              <a:tr h="165725">
                <a:tc>
                  <a:txBody>
                    <a:bodyPr/>
                    <a:lstStyle/>
                    <a:p>
                      <a:pPr indent="0" lvl="0" marL="0" marR="0" rtl="0" algn="ctr">
                        <a:lnSpc>
                          <a:spcPct val="100000"/>
                        </a:lnSpc>
                        <a:spcBef>
                          <a:spcPts val="0"/>
                        </a:spcBef>
                        <a:spcAft>
                          <a:spcPts val="0"/>
                        </a:spcAft>
                        <a:buNone/>
                      </a:pPr>
                      <a:r>
                        <a:rPr lang="en-US" sz="1200"/>
                        <a:t>Դասասենյակ N15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51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2.55</a:t>
                      </a:r>
                      <a:endParaRPr/>
                    </a:p>
                  </a:txBody>
                  <a:tcPr marT="0" marB="0" marR="0" marL="0" anchor="ctr"/>
                </a:tc>
                <a:tc>
                  <a:txBody>
                    <a:bodyPr/>
                    <a:lstStyle/>
                    <a:p>
                      <a:pPr indent="0" lvl="0" marL="0" marR="0" rtl="0" algn="ctr">
                        <a:lnSpc>
                          <a:spcPct val="150000"/>
                        </a:lnSpc>
                        <a:spcBef>
                          <a:spcPts val="0"/>
                        </a:spcBef>
                        <a:spcAft>
                          <a:spcPts val="0"/>
                        </a:spcAft>
                        <a:buNone/>
                      </a:pPr>
                      <a:r>
                        <a:rPr lang="en-US" sz="1200"/>
                        <a:t>0.55-ով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N16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54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0.25-ով ավել</a:t>
                      </a:r>
                      <a:endParaRPr sz="1200"/>
                    </a:p>
                  </a:txBody>
                  <a:tcPr marT="0" marB="0" marR="0" marL="0" anchor="ctr"/>
                </a:tc>
              </a:tr>
              <a:tr h="248575">
                <a:tc>
                  <a:txBody>
                    <a:bodyPr/>
                    <a:lstStyle/>
                    <a:p>
                      <a:pPr indent="0" lvl="0" marL="0" marR="0" rtl="0" algn="ctr">
                        <a:lnSpc>
                          <a:spcPct val="100000"/>
                        </a:lnSpc>
                        <a:spcBef>
                          <a:spcPts val="0"/>
                        </a:spcBef>
                        <a:spcAft>
                          <a:spcPts val="0"/>
                        </a:spcAft>
                        <a:buNone/>
                      </a:pPr>
                      <a:r>
                        <a:rPr lang="en-US" sz="1200"/>
                        <a:t>Դասասենյակ N17 </a:t>
                      </a:r>
                      <a:endParaRPr sz="1800"/>
                    </a:p>
                  </a:txBody>
                  <a:tcPr marT="0" marB="0" marR="0" marL="0" anchor="ctr"/>
                </a:tc>
                <a:tc>
                  <a:txBody>
                    <a:bodyPr/>
                    <a:lstStyle/>
                    <a:p>
                      <a:pPr indent="0" lvl="0" marL="0" marR="0" rtl="0" algn="ctr">
                        <a:lnSpc>
                          <a:spcPct val="100000"/>
                        </a:lnSpc>
                        <a:spcBef>
                          <a:spcPts val="0"/>
                        </a:spcBef>
                        <a:spcAft>
                          <a:spcPts val="0"/>
                        </a:spcAft>
                        <a:buNone/>
                      </a:pPr>
                      <a:r>
                        <a:rPr lang="en-US" sz="1200"/>
                        <a:t>36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2.25</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0.25-ով ավել</a:t>
                      </a:r>
                      <a:endParaRPr sz="1200"/>
                    </a:p>
                  </a:txBody>
                  <a:tcPr marT="0" marB="0" marR="0" marL="0" anchor="ctr"/>
                </a:tc>
              </a:tr>
            </a:tbl>
          </a:graphicData>
        </a:graphic>
      </p:graphicFrame>
      <p:sp>
        <p:nvSpPr>
          <p:cNvPr id="281" name="Google Shape;281;p33"/>
          <p:cNvSpPr txBox="1"/>
          <p:nvPr/>
        </p:nvSpPr>
        <p:spPr>
          <a:xfrm>
            <a:off x="1253812" y="871581"/>
            <a:ext cx="46471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entury Gothic"/>
                <a:ea typeface="Century Gothic"/>
                <a:cs typeface="Century Gothic"/>
                <a:sym typeface="Century Gothic"/>
              </a:rPr>
              <a:t>Դիտարկման ամսաթիվ՝ 01/06/2024 թ</a:t>
            </a:r>
            <a:r>
              <a:rPr lang="en-US" sz="1800">
                <a:solidFill>
                  <a:schemeClr val="dk1"/>
                </a:solidFill>
                <a:latin typeface="Century Gothic"/>
                <a:ea typeface="Century Gothic"/>
                <a:cs typeface="Century Gothic"/>
                <a:sym typeface="Century Gothic"/>
              </a:rPr>
              <a:t>.</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34"/>
          <p:cNvPicPr preferRelativeResize="0"/>
          <p:nvPr/>
        </p:nvPicPr>
        <p:blipFill rotWithShape="1">
          <a:blip r:embed="rId3">
            <a:alphaModFix/>
          </a:blip>
          <a:srcRect b="508" l="35200" r="35467" t="57868"/>
          <a:stretch/>
        </p:blipFill>
        <p:spPr>
          <a:xfrm>
            <a:off x="5113180" y="1713505"/>
            <a:ext cx="2501536" cy="929668"/>
          </a:xfrm>
          <a:prstGeom prst="rect">
            <a:avLst/>
          </a:prstGeom>
          <a:noFill/>
          <a:ln>
            <a:noFill/>
          </a:ln>
        </p:spPr>
      </p:pic>
      <p:pic>
        <p:nvPicPr>
          <p:cNvPr id="288" name="Google Shape;288;p34"/>
          <p:cNvPicPr preferRelativeResize="0"/>
          <p:nvPr/>
        </p:nvPicPr>
        <p:blipFill rotWithShape="1">
          <a:blip r:embed="rId4">
            <a:alphaModFix/>
          </a:blip>
          <a:srcRect b="0" l="0" r="0" t="0"/>
          <a:stretch/>
        </p:blipFill>
        <p:spPr>
          <a:xfrm>
            <a:off x="2167175" y="3594408"/>
            <a:ext cx="9269194" cy="130828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35"/>
          <p:cNvPicPr preferRelativeResize="0"/>
          <p:nvPr/>
        </p:nvPicPr>
        <p:blipFill rotWithShape="1">
          <a:blip r:embed="rId3">
            <a:alphaModFix/>
          </a:blip>
          <a:srcRect b="0" l="0" r="0" t="0"/>
          <a:stretch/>
        </p:blipFill>
        <p:spPr>
          <a:xfrm>
            <a:off x="58288" y="554702"/>
            <a:ext cx="9130217" cy="787359"/>
          </a:xfrm>
          <a:prstGeom prst="rect">
            <a:avLst/>
          </a:prstGeom>
          <a:noFill/>
          <a:ln>
            <a:noFill/>
          </a:ln>
        </p:spPr>
      </p:pic>
      <p:graphicFrame>
        <p:nvGraphicFramePr>
          <p:cNvPr id="295" name="Google Shape;295;p35"/>
          <p:cNvGraphicFramePr/>
          <p:nvPr/>
        </p:nvGraphicFramePr>
        <p:xfrm>
          <a:off x="1103194" y="1446245"/>
          <a:ext cx="3000000" cy="3000000"/>
        </p:xfrm>
        <a:graphic>
          <a:graphicData uri="http://schemas.openxmlformats.org/drawingml/2006/table">
            <a:tbl>
              <a:tblPr>
                <a:noFill/>
                <a:tableStyleId>{40B977D2-3903-41EF-8714-5AC59086702B}</a:tableStyleId>
              </a:tblPr>
              <a:tblGrid>
                <a:gridCol w="477675"/>
                <a:gridCol w="6573675"/>
                <a:gridCol w="3509400"/>
              </a:tblGrid>
              <a:tr h="1632450">
                <a:tc>
                  <a:txBody>
                    <a:bodyPr/>
                    <a:lstStyle/>
                    <a:p>
                      <a:pPr indent="0" lvl="0" marL="0" marR="0" rtl="0" algn="just">
                        <a:lnSpc>
                          <a:spcPct val="150000"/>
                        </a:lnSpc>
                        <a:spcBef>
                          <a:spcPts val="0"/>
                        </a:spcBef>
                        <a:spcAft>
                          <a:spcPts val="0"/>
                        </a:spcAft>
                        <a:buNone/>
                      </a:pPr>
                      <a:r>
                        <a:rPr lang="en-US" sz="1400"/>
                        <a:t>N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Չափանիշը </a:t>
                      </a:r>
                      <a:endParaRPr sz="1800"/>
                    </a:p>
                  </a:txBody>
                  <a:tcPr marT="0" marB="0" marR="0" marL="0" anchor="ctr"/>
                </a:tc>
                <a:tc>
                  <a:txBody>
                    <a:bodyPr/>
                    <a:lstStyle/>
                    <a:p>
                      <a:pPr indent="-347345" lvl="0" marL="347345" marR="0" rtl="0" algn="l">
                        <a:lnSpc>
                          <a:spcPct val="150000"/>
                        </a:lnSpc>
                        <a:spcBef>
                          <a:spcPts val="0"/>
                        </a:spcBef>
                        <a:spcAft>
                          <a:spcPts val="0"/>
                        </a:spcAft>
                        <a:buNone/>
                      </a:pPr>
                      <a:r>
                        <a:rPr lang="en-US" sz="1400">
                          <a:solidFill>
                            <a:schemeClr val="dk1"/>
                          </a:solidFill>
                        </a:rPr>
                        <a:t>1.Երևանի Տ. Շևչենկոյի անվան թիվ 42 ավագ դպրոցի քաղաքացիական պաշտպանության պլան 22.02.2012 թ. </a:t>
                      </a:r>
                      <a:endParaRPr sz="1800">
                        <a:solidFill>
                          <a:schemeClr val="dk1"/>
                        </a:solidFill>
                      </a:endParaRPr>
                    </a:p>
                    <a:p>
                      <a:pPr indent="-347345" lvl="0" marL="347345" marR="0" rtl="0" algn="l">
                        <a:lnSpc>
                          <a:spcPct val="150000"/>
                        </a:lnSpc>
                        <a:spcBef>
                          <a:spcPts val="0"/>
                        </a:spcBef>
                        <a:spcAft>
                          <a:spcPts val="0"/>
                        </a:spcAft>
                        <a:buNone/>
                      </a:pPr>
                      <a:r>
                        <a:rPr lang="en-US" sz="1400">
                          <a:solidFill>
                            <a:schemeClr val="dk1"/>
                          </a:solidFill>
                        </a:rPr>
                        <a:t>2.Հրդեհաշիջման օպերատիվ քարտ 14.07.2021թ </a:t>
                      </a:r>
                      <a:endParaRPr sz="1800">
                        <a:solidFill>
                          <a:schemeClr val="dk1"/>
                        </a:solidFill>
                      </a:endParaRPr>
                    </a:p>
                  </a:txBody>
                  <a:tcPr marT="0" marB="0" marR="0" marL="0" anchor="ctr"/>
                </a:tc>
              </a:tr>
              <a:tr h="677425">
                <a:tc>
                  <a:txBody>
                    <a:bodyPr/>
                    <a:lstStyle/>
                    <a:p>
                      <a:pPr indent="0" lvl="0" marL="0" marR="0" rtl="0" algn="just">
                        <a:lnSpc>
                          <a:spcPct val="150000"/>
                        </a:lnSpc>
                        <a:spcBef>
                          <a:spcPts val="0"/>
                        </a:spcBef>
                        <a:spcAft>
                          <a:spcPts val="0"/>
                        </a:spcAft>
                        <a:buNone/>
                      </a:pPr>
                      <a:r>
                        <a:rPr lang="en-US" sz="1400"/>
                        <a:t>1.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Ուսումնական հաստատության աշխատակազմը և սովորողները տիրապետում են արտակարգ իրավիճակներում գործելու վարքականոններին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այո </a:t>
                      </a:r>
                      <a:endParaRPr sz="1800"/>
                    </a:p>
                  </a:txBody>
                  <a:tcPr marT="0" marB="0" marR="0" marL="0" anchor="ctr"/>
                </a:tc>
              </a:tr>
              <a:tr h="1532550">
                <a:tc>
                  <a:txBody>
                    <a:bodyPr/>
                    <a:lstStyle/>
                    <a:p>
                      <a:pPr indent="0" lvl="0" marL="0" marR="0" rtl="0" algn="just">
                        <a:lnSpc>
                          <a:spcPct val="150000"/>
                        </a:lnSpc>
                        <a:spcBef>
                          <a:spcPts val="0"/>
                        </a:spcBef>
                        <a:spcAft>
                          <a:spcPts val="0"/>
                        </a:spcAft>
                        <a:buNone/>
                      </a:pPr>
                      <a:r>
                        <a:rPr lang="en-US" sz="1400"/>
                        <a:t>2.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Ուսումնական հաստատության աշխատակազմը և սովորողները տեղեկացված են հաստատությունում առկա անվտանգության միջոցների (էլեկտրական վահանակի, հրշեջ տեղեկատուի, հրշեջ ծորակի և այլն) տեղերին ու տիրապետում են դրանց օգտագործման կանոններին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այո </a:t>
                      </a:r>
                      <a:endParaRPr sz="1800"/>
                    </a:p>
                  </a:txBody>
                  <a:tcPr marT="0" marB="0" marR="0" marL="0" anchor="ctr"/>
                </a:tc>
              </a:tr>
            </a:tbl>
          </a:graphicData>
        </a:graphic>
      </p:graphicFrame>
      <p:pic>
        <p:nvPicPr>
          <p:cNvPr id="296" name="Google Shape;296;p35"/>
          <p:cNvPicPr preferRelativeResize="0"/>
          <p:nvPr/>
        </p:nvPicPr>
        <p:blipFill rotWithShape="1">
          <a:blip r:embed="rId4">
            <a:alphaModFix/>
          </a:blip>
          <a:srcRect b="0" l="0" r="0" t="0"/>
          <a:stretch/>
        </p:blipFill>
        <p:spPr>
          <a:xfrm>
            <a:off x="1549021" y="5759806"/>
            <a:ext cx="7089722" cy="577955"/>
          </a:xfrm>
          <a:prstGeom prst="rect">
            <a:avLst/>
          </a:prstGeom>
          <a:noFill/>
          <a:ln>
            <a:noFill/>
          </a:ln>
        </p:spPr>
      </p:pic>
      <p:sp>
        <p:nvSpPr>
          <p:cNvPr id="297" name="Google Shape;297;p35"/>
          <p:cNvSpPr txBox="1"/>
          <p:nvPr/>
        </p:nvSpPr>
        <p:spPr>
          <a:xfrm>
            <a:off x="10250096" y="129813"/>
            <a:ext cx="166110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Merriweather"/>
                <a:ea typeface="Merriweather"/>
                <a:cs typeface="Merriweather"/>
                <a:sym typeface="Merriweather"/>
              </a:rPr>
              <a:t>Դիտարկման ամսաթիվ`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Merriweather"/>
                <a:ea typeface="Merriweather"/>
                <a:cs typeface="Merriweather"/>
                <a:sym typeface="Merriweather"/>
              </a:rPr>
              <a:t> 01/06/2025թ.</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36"/>
          <p:cNvPicPr preferRelativeResize="0"/>
          <p:nvPr/>
        </p:nvPicPr>
        <p:blipFill rotWithShape="1">
          <a:blip r:embed="rId3">
            <a:alphaModFix/>
          </a:blip>
          <a:srcRect b="0" l="0" r="0" t="0"/>
          <a:stretch/>
        </p:blipFill>
        <p:spPr>
          <a:xfrm>
            <a:off x="1766841" y="601473"/>
            <a:ext cx="8415025" cy="999910"/>
          </a:xfrm>
          <a:prstGeom prst="rect">
            <a:avLst/>
          </a:prstGeom>
          <a:noFill/>
          <a:ln>
            <a:noFill/>
          </a:ln>
        </p:spPr>
      </p:pic>
      <p:graphicFrame>
        <p:nvGraphicFramePr>
          <p:cNvPr id="304" name="Google Shape;304;p36"/>
          <p:cNvGraphicFramePr/>
          <p:nvPr/>
        </p:nvGraphicFramePr>
        <p:xfrm>
          <a:off x="2365329" y="2038023"/>
          <a:ext cx="3000000" cy="3000000"/>
        </p:xfrm>
        <a:graphic>
          <a:graphicData uri="http://schemas.openxmlformats.org/drawingml/2006/table">
            <a:tbl>
              <a:tblPr>
                <a:noFill/>
                <a:tableStyleId>{40B977D2-3903-41EF-8714-5AC59086702B}</a:tableStyleId>
              </a:tblPr>
              <a:tblGrid>
                <a:gridCol w="1218700"/>
                <a:gridCol w="1459925"/>
                <a:gridCol w="3303850"/>
                <a:gridCol w="1929625"/>
              </a:tblGrid>
              <a:tr h="1371100">
                <a:tc>
                  <a:txBody>
                    <a:bodyPr/>
                    <a:lstStyle/>
                    <a:p>
                      <a:pPr indent="-54610" lvl="0" marL="54610" marR="0" rtl="0" algn="ctr">
                        <a:lnSpc>
                          <a:spcPct val="150000"/>
                        </a:lnSpc>
                        <a:spcBef>
                          <a:spcPts val="0"/>
                        </a:spcBef>
                        <a:spcAft>
                          <a:spcPts val="0"/>
                        </a:spcAft>
                        <a:buNone/>
                      </a:pPr>
                      <a:r>
                        <a:rPr lang="en-US" sz="1600"/>
                        <a:t>Ամսաթիվը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600"/>
                        <a:t>Դասարանը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600"/>
                        <a:t>Միջոցառման անվանումը, նկարագիրը և օգտագործված ուսումնական նյութերը և պարագաները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600"/>
                        <a:t>Մասնակից սովորողների և աշխատակիցների թիվը </a:t>
                      </a:r>
                      <a:endParaRPr sz="1800"/>
                    </a:p>
                  </a:txBody>
                  <a:tcPr marT="0" marB="0" marR="0" marL="0" anchor="ctr"/>
                </a:tc>
              </a:tr>
              <a:tr h="1371100">
                <a:tc>
                  <a:txBody>
                    <a:bodyPr/>
                    <a:lstStyle/>
                    <a:p>
                      <a:pPr indent="-54610" lvl="0" marL="54610" marR="0" rtl="0" algn="ctr">
                        <a:lnSpc>
                          <a:spcPct val="150000"/>
                        </a:lnSpc>
                        <a:spcBef>
                          <a:spcPts val="0"/>
                        </a:spcBef>
                        <a:spcAft>
                          <a:spcPts val="0"/>
                        </a:spcAft>
                        <a:buNone/>
                      </a:pPr>
                      <a:r>
                        <a:rPr lang="en-US" sz="1400">
                          <a:latin typeface="Merriweather"/>
                          <a:ea typeface="Merriweather"/>
                          <a:cs typeface="Merriweather"/>
                          <a:sym typeface="Merriweather"/>
                        </a:rPr>
                        <a:t>05.09.2025թ. </a:t>
                      </a:r>
                      <a:endParaRPr/>
                    </a:p>
                  </a:txBody>
                  <a:tcPr marT="0" marB="0" marR="0" marL="0" anchor="ctr"/>
                </a:tc>
                <a:tc>
                  <a:txBody>
                    <a:bodyPr/>
                    <a:lstStyle/>
                    <a:p>
                      <a:pPr indent="0" lvl="0" marL="0" marR="0" rtl="0" algn="ctr">
                        <a:lnSpc>
                          <a:spcPct val="150000"/>
                        </a:lnSpc>
                        <a:spcBef>
                          <a:spcPts val="0"/>
                        </a:spcBef>
                        <a:spcAft>
                          <a:spcPts val="0"/>
                        </a:spcAft>
                        <a:buNone/>
                      </a:pPr>
                      <a:r>
                        <a:rPr lang="en-US" sz="1600"/>
                        <a:t>10</a:t>
                      </a:r>
                      <a:endParaRPr sz="1800"/>
                    </a:p>
                  </a:txBody>
                  <a:tcPr marT="0" marB="0" marR="0" marL="0" anchor="ctr"/>
                </a:tc>
                <a:tc>
                  <a:txBody>
                    <a:bodyPr/>
                    <a:lstStyle/>
                    <a:p>
                      <a:pPr indent="0" lvl="0" marL="0" marR="0" rtl="0" algn="ctr">
                        <a:lnSpc>
                          <a:spcPct val="150000"/>
                        </a:lnSpc>
                        <a:spcBef>
                          <a:spcPts val="0"/>
                        </a:spcBef>
                        <a:spcAft>
                          <a:spcPts val="0"/>
                        </a:spcAft>
                        <a:buNone/>
                      </a:pPr>
                      <a:r>
                        <a:rPr lang="en-US" sz="1600"/>
                        <a:t>Փրկարարի</a:t>
                      </a:r>
                      <a:r>
                        <a:rPr lang="en-US" sz="1600"/>
                        <a:t> օրվա օրվա կապակցությամբ «Անձնակազմի պաշտպանությունը հրդեհի ժամանակ»</a:t>
                      </a:r>
                      <a:endParaRPr sz="1800"/>
                    </a:p>
                  </a:txBody>
                  <a:tcPr marT="0" marB="0" marR="0" marL="0" anchor="ctr"/>
                </a:tc>
                <a:tc>
                  <a:txBody>
                    <a:bodyPr/>
                    <a:lstStyle/>
                    <a:p>
                      <a:pPr indent="0" lvl="0" marL="0" marR="0" rtl="0" algn="ctr">
                        <a:lnSpc>
                          <a:spcPct val="150000"/>
                        </a:lnSpc>
                        <a:spcBef>
                          <a:spcPts val="0"/>
                        </a:spcBef>
                        <a:spcAft>
                          <a:spcPts val="0"/>
                        </a:spcAft>
                        <a:buNone/>
                      </a:pPr>
                      <a:r>
                        <a:rPr lang="en-US" sz="1600"/>
                        <a:t>115</a:t>
                      </a:r>
                      <a:endParaRPr sz="1600"/>
                    </a:p>
                  </a:txBody>
                  <a:tcPr marT="0" marB="0" marR="0" marL="0" anchor="ctr"/>
                </a:tc>
              </a:tr>
              <a:tr h="1371100">
                <a:tc>
                  <a:txBody>
                    <a:bodyPr/>
                    <a:lstStyle/>
                    <a:p>
                      <a:pPr indent="-54610" lvl="0" marL="54610" marR="0" rtl="0" algn="ctr">
                        <a:lnSpc>
                          <a:spcPct val="150000"/>
                        </a:lnSpc>
                        <a:spcBef>
                          <a:spcPts val="0"/>
                        </a:spcBef>
                        <a:spcAft>
                          <a:spcPts val="0"/>
                        </a:spcAft>
                        <a:buNone/>
                      </a:pPr>
                      <a:r>
                        <a:rPr lang="en-US" sz="1400">
                          <a:latin typeface="Merriweather"/>
                          <a:ea typeface="Merriweather"/>
                          <a:cs typeface="Merriweather"/>
                          <a:sym typeface="Merriweather"/>
                        </a:rPr>
                        <a:t>04.03.2026 թ. </a:t>
                      </a:r>
                      <a:endParaRPr sz="1400">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600"/>
                        <a:t>10-12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600"/>
                        <a:t>ՔՊ միջազգային օրվան նվիրված</a:t>
                      </a:r>
                      <a:r>
                        <a:rPr lang="en-US" sz="1600"/>
                        <a:t> դասախոսություն «Վարվելակերպի կանոնները երկրաշարժի ժամանակ» թեմայով</a:t>
                      </a:r>
                      <a:endParaRPr sz="1800"/>
                    </a:p>
                  </a:txBody>
                  <a:tcPr marT="0" marB="0" marR="0" marL="0" anchor="ctr"/>
                </a:tc>
                <a:tc>
                  <a:txBody>
                    <a:bodyPr/>
                    <a:lstStyle/>
                    <a:p>
                      <a:pPr indent="0" lvl="0" marL="0" marR="0" rtl="0" algn="ctr">
                        <a:lnSpc>
                          <a:spcPct val="150000"/>
                        </a:lnSpc>
                        <a:spcBef>
                          <a:spcPts val="0"/>
                        </a:spcBef>
                        <a:spcAft>
                          <a:spcPts val="0"/>
                        </a:spcAft>
                        <a:buNone/>
                      </a:pPr>
                      <a:r>
                        <a:rPr lang="en-US" sz="1600"/>
                        <a:t>300</a:t>
                      </a:r>
                      <a:endParaRPr/>
                    </a:p>
                  </a:txBody>
                  <a:tcPr marT="0" marB="0" marR="0" marL="0"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37"/>
          <p:cNvPicPr preferRelativeResize="0"/>
          <p:nvPr/>
        </p:nvPicPr>
        <p:blipFill rotWithShape="1">
          <a:blip r:embed="rId3">
            <a:alphaModFix/>
          </a:blip>
          <a:srcRect b="0" l="0" r="0" t="0"/>
          <a:stretch/>
        </p:blipFill>
        <p:spPr>
          <a:xfrm>
            <a:off x="1710518" y="444903"/>
            <a:ext cx="9182101" cy="878986"/>
          </a:xfrm>
          <a:prstGeom prst="rect">
            <a:avLst/>
          </a:prstGeom>
          <a:noFill/>
          <a:ln>
            <a:noFill/>
          </a:ln>
        </p:spPr>
      </p:pic>
      <p:graphicFrame>
        <p:nvGraphicFramePr>
          <p:cNvPr id="311" name="Google Shape;311;p37"/>
          <p:cNvGraphicFramePr/>
          <p:nvPr/>
        </p:nvGraphicFramePr>
        <p:xfrm>
          <a:off x="1159775" y="1524965"/>
          <a:ext cx="3000000" cy="3000000"/>
        </p:xfrm>
        <a:graphic>
          <a:graphicData uri="http://schemas.openxmlformats.org/drawingml/2006/table">
            <a:tbl>
              <a:tblPr>
                <a:noFill/>
                <a:tableStyleId>{40B977D2-3903-41EF-8714-5AC59086702B}</a:tableStyleId>
              </a:tblPr>
              <a:tblGrid>
                <a:gridCol w="1537675"/>
                <a:gridCol w="1820925"/>
                <a:gridCol w="4113950"/>
                <a:gridCol w="2414425"/>
              </a:tblGrid>
              <a:tr h="1218225">
                <a:tc>
                  <a:txBody>
                    <a:bodyPr/>
                    <a:lstStyle/>
                    <a:p>
                      <a:pPr indent="-54610" lvl="0" marL="54610" marR="0" rtl="0" algn="ctr">
                        <a:lnSpc>
                          <a:spcPct val="150000"/>
                        </a:lnSpc>
                        <a:spcBef>
                          <a:spcPts val="0"/>
                        </a:spcBef>
                        <a:spcAft>
                          <a:spcPts val="0"/>
                        </a:spcAft>
                        <a:buNone/>
                      </a:pPr>
                      <a:r>
                        <a:rPr lang="en-US" sz="1400"/>
                        <a:t>Ամսաթիվը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Դասարանը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Միջոցառման/վարժանքի անվանումը, նկարագիրը և օգտագործված պարագաներն ու ուսումնական նյութերը </a:t>
                      </a:r>
                      <a:endParaRPr sz="1800"/>
                    </a:p>
                    <a:p>
                      <a:pPr indent="0" lvl="0" marL="0" marR="0" rtl="0" algn="ctr">
                        <a:lnSpc>
                          <a:spcPct val="150000"/>
                        </a:lnSpc>
                        <a:spcBef>
                          <a:spcPts val="0"/>
                        </a:spcBef>
                        <a:spcAft>
                          <a:spcPts val="0"/>
                        </a:spcAft>
                        <a:buNone/>
                      </a:pPr>
                      <a:r>
                        <a:rPr lang="en-US" sz="1400"/>
                        <a:t>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Մասնակից սովորողների և աշխատակիցների թիվը </a:t>
                      </a:r>
                      <a:endParaRPr sz="1800"/>
                    </a:p>
                  </a:txBody>
                  <a:tcPr marT="0" marB="0" marR="0" marL="0" anchor="ctr"/>
                </a:tc>
              </a:tr>
              <a:tr h="696950">
                <a:tc>
                  <a:txBody>
                    <a:bodyPr/>
                    <a:lstStyle/>
                    <a:p>
                      <a:pPr indent="0" lvl="0" marL="0" marR="0" rtl="0" algn="ctr">
                        <a:lnSpc>
                          <a:spcPct val="100000"/>
                        </a:lnSpc>
                        <a:spcBef>
                          <a:spcPts val="0"/>
                        </a:spcBef>
                        <a:spcAft>
                          <a:spcPts val="0"/>
                        </a:spcAft>
                        <a:buClr>
                          <a:schemeClr val="dk1"/>
                        </a:buClr>
                        <a:buSzPts val="1200"/>
                        <a:buFont typeface="Merriweather"/>
                        <a:buNone/>
                      </a:pPr>
                      <a:r>
                        <a:rPr lang="en-US" sz="1200">
                          <a:latin typeface="Merriweather"/>
                          <a:ea typeface="Merriweather"/>
                          <a:cs typeface="Merriweather"/>
                          <a:sym typeface="Merriweather"/>
                        </a:rPr>
                        <a:t>05.12.2025թ. </a:t>
                      </a:r>
                      <a:endParaRPr/>
                    </a:p>
                    <a:p>
                      <a:pPr indent="0" lvl="0" marL="0" marR="0" rtl="0" algn="ctr">
                        <a:spcBef>
                          <a:spcPts val="0"/>
                        </a:spcBef>
                        <a:spcAft>
                          <a:spcPts val="0"/>
                        </a:spcAft>
                        <a:buNone/>
                      </a:pPr>
                      <a:r>
                        <a:t/>
                      </a:r>
                      <a:endParaRPr sz="1800"/>
                    </a:p>
                  </a:txBody>
                  <a:tcPr marT="0" marB="0" marR="0" marL="0" anchor="ctr"/>
                </a:tc>
                <a:tc>
                  <a:txBody>
                    <a:bodyPr/>
                    <a:lstStyle/>
                    <a:p>
                      <a:pPr indent="0" lvl="0" marL="0" marR="0" rtl="0" algn="ctr">
                        <a:spcBef>
                          <a:spcPts val="0"/>
                        </a:spcBef>
                        <a:spcAft>
                          <a:spcPts val="0"/>
                        </a:spcAft>
                        <a:buNone/>
                      </a:pPr>
                      <a:r>
                        <a:rPr lang="en-US" sz="1800"/>
                        <a:t>10-11-րդ</a:t>
                      </a:r>
                      <a:endParaRPr sz="1800"/>
                    </a:p>
                  </a:txBody>
                  <a:tcPr marT="0" marB="0" marR="0" marL="0" anchor="ctr"/>
                </a:tc>
                <a:tc>
                  <a:txBody>
                    <a:bodyPr/>
                    <a:lstStyle/>
                    <a:p>
                      <a:pPr indent="0" lvl="0" marL="0" marR="0" rtl="0" algn="ctr">
                        <a:spcBef>
                          <a:spcPts val="0"/>
                        </a:spcBef>
                        <a:spcAft>
                          <a:spcPts val="0"/>
                        </a:spcAft>
                        <a:buNone/>
                      </a:pPr>
                      <a:r>
                        <a:rPr lang="en-US" sz="1400"/>
                        <a:t>Դասախոսություն «Երկրաշարժը</a:t>
                      </a:r>
                      <a:r>
                        <a:rPr lang="en-US" sz="1400"/>
                        <a:t> և նրա հետևանքները</a:t>
                      </a:r>
                      <a:r>
                        <a:rPr lang="en-US" sz="1400"/>
                        <a:t>»</a:t>
                      </a:r>
                      <a:endParaRPr sz="1400"/>
                    </a:p>
                  </a:txBody>
                  <a:tcPr marT="0" marB="0" marR="0" marL="0" anchor="ctr"/>
                </a:tc>
                <a:tc>
                  <a:txBody>
                    <a:bodyPr/>
                    <a:lstStyle/>
                    <a:p>
                      <a:pPr indent="0" lvl="0" marL="0" marR="0" rtl="0" algn="ctr">
                        <a:lnSpc>
                          <a:spcPct val="150000"/>
                        </a:lnSpc>
                        <a:spcBef>
                          <a:spcPts val="0"/>
                        </a:spcBef>
                        <a:spcAft>
                          <a:spcPts val="0"/>
                        </a:spcAft>
                        <a:buNone/>
                      </a:pPr>
                      <a:r>
                        <a:rPr lang="en-US" sz="1800"/>
                        <a:t>120</a:t>
                      </a:r>
                      <a:endParaRPr sz="1800"/>
                    </a:p>
                  </a:txBody>
                  <a:tcPr marT="0" marB="0" marR="0" marL="0" anchor="ctr"/>
                </a:tc>
              </a:tr>
              <a:tr h="696950">
                <a:tc>
                  <a:txBody>
                    <a:bodyPr/>
                    <a:lstStyle/>
                    <a:p>
                      <a:pPr indent="0" lvl="0" marL="0" marR="0" rtl="0" algn="ctr">
                        <a:lnSpc>
                          <a:spcPct val="100000"/>
                        </a:lnSpc>
                        <a:spcBef>
                          <a:spcPts val="0"/>
                        </a:spcBef>
                        <a:spcAft>
                          <a:spcPts val="0"/>
                        </a:spcAft>
                        <a:buClr>
                          <a:schemeClr val="dk1"/>
                        </a:buClr>
                        <a:buSzPts val="1200"/>
                        <a:buFont typeface="Merriweather"/>
                        <a:buNone/>
                      </a:pPr>
                      <a:r>
                        <a:rPr lang="en-US" sz="1200">
                          <a:latin typeface="Merriweather"/>
                          <a:ea typeface="Merriweather"/>
                          <a:cs typeface="Merriweather"/>
                          <a:sym typeface="Merriweather"/>
                        </a:rPr>
                        <a:t>12.03.2026թ. </a:t>
                      </a:r>
                      <a:endParaRPr/>
                    </a:p>
                    <a:p>
                      <a:pPr indent="0" lvl="0" marL="0" marR="0" rtl="0" algn="ctr">
                        <a:spcBef>
                          <a:spcPts val="0"/>
                        </a:spcBef>
                        <a:spcAft>
                          <a:spcPts val="0"/>
                        </a:spcAft>
                        <a:buNone/>
                      </a:pPr>
                      <a:r>
                        <a:t/>
                      </a:r>
                      <a:endParaRPr sz="1200"/>
                    </a:p>
                  </a:txBody>
                  <a:tcPr marT="0" marB="0" marR="0" marL="0" anchor="ctr"/>
                </a:tc>
                <a:tc>
                  <a:txBody>
                    <a:bodyPr/>
                    <a:lstStyle/>
                    <a:p>
                      <a:pPr indent="0" lvl="0" marL="0" marR="0" rtl="0" algn="ctr">
                        <a:spcBef>
                          <a:spcPts val="0"/>
                        </a:spcBef>
                        <a:spcAft>
                          <a:spcPts val="0"/>
                        </a:spcAft>
                        <a:buNone/>
                      </a:pPr>
                      <a:r>
                        <a:rPr lang="en-US" sz="1800"/>
                        <a:t>10-12-րդ</a:t>
                      </a:r>
                      <a:endParaRPr sz="1800"/>
                    </a:p>
                  </a:txBody>
                  <a:tcPr marT="0" marB="0" marR="0" marL="0" anchor="ctr"/>
                </a:tc>
                <a:tc>
                  <a:txBody>
                    <a:bodyPr/>
                    <a:lstStyle/>
                    <a:p>
                      <a:pPr indent="0" lvl="0" marL="0" marR="0" rtl="0" algn="ctr">
                        <a:spcBef>
                          <a:spcPts val="0"/>
                        </a:spcBef>
                        <a:spcAft>
                          <a:spcPts val="0"/>
                        </a:spcAft>
                        <a:buNone/>
                      </a:pPr>
                      <a:r>
                        <a:rPr lang="en-US" sz="1400"/>
                        <a:t>Ուսումնական տագնապ-վարժանք</a:t>
                      </a:r>
                      <a:r>
                        <a:rPr lang="en-US" sz="1400"/>
                        <a:t>՝ </a:t>
                      </a:r>
                      <a:r>
                        <a:rPr lang="en-US" sz="1400"/>
                        <a:t>«Տարհանում</a:t>
                      </a:r>
                      <a:r>
                        <a:rPr lang="en-US" sz="1400"/>
                        <a:t> երկրաշարժի ժամանակ</a:t>
                      </a:r>
                      <a:r>
                        <a:rPr lang="en-US" sz="1400"/>
                        <a:t>»</a:t>
                      </a:r>
                      <a:endParaRPr sz="1400"/>
                    </a:p>
                  </a:txBody>
                  <a:tcPr marT="0" marB="0" marR="0" marL="0" anchor="ctr"/>
                </a:tc>
                <a:tc>
                  <a:txBody>
                    <a:bodyPr/>
                    <a:lstStyle/>
                    <a:p>
                      <a:pPr indent="0" lvl="0" marL="0" marR="0" rtl="0" algn="ctr">
                        <a:lnSpc>
                          <a:spcPct val="150000"/>
                        </a:lnSpc>
                        <a:spcBef>
                          <a:spcPts val="0"/>
                        </a:spcBef>
                        <a:spcAft>
                          <a:spcPts val="0"/>
                        </a:spcAft>
                        <a:buNone/>
                      </a:pPr>
                      <a:r>
                        <a:rPr lang="en-US" sz="1800"/>
                        <a:t>190</a:t>
                      </a:r>
                      <a:endParaRPr sz="1800"/>
                    </a:p>
                  </a:txBody>
                  <a:tcPr marT="0" marB="0" marR="0" marL="0" anchor="ctr"/>
                </a:tc>
              </a:tr>
              <a:tr h="801525">
                <a:tc>
                  <a:txBody>
                    <a:bodyPr/>
                    <a:lstStyle/>
                    <a:p>
                      <a:pPr indent="-54610" lvl="0" marL="54610" marR="0" rtl="0" algn="ctr">
                        <a:lnSpc>
                          <a:spcPct val="150000"/>
                        </a:lnSpc>
                        <a:spcBef>
                          <a:spcPts val="0"/>
                        </a:spcBef>
                        <a:spcAft>
                          <a:spcPts val="0"/>
                        </a:spcAft>
                        <a:buNone/>
                      </a:pPr>
                      <a:r>
                        <a:rPr lang="en-US" sz="1200"/>
                        <a:t>03.04.2026թ.</a:t>
                      </a:r>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Century Gothic"/>
                        <a:buNone/>
                      </a:pPr>
                      <a:r>
                        <a:rPr b="0" i="0" lang="en-US" sz="1800" u="none" cap="none" strike="noStrike">
                          <a:solidFill>
                            <a:srgbClr val="000000"/>
                          </a:solidFill>
                          <a:latin typeface="Century Gothic"/>
                          <a:ea typeface="Century Gothic"/>
                          <a:cs typeface="Century Gothic"/>
                          <a:sym typeface="Century Gothic"/>
                        </a:rPr>
                        <a:t>10-12-րդ</a:t>
                      </a:r>
                      <a:endParaRPr b="0" i="0" sz="1800" u="none" cap="none" strike="noStrike">
                        <a:solidFill>
                          <a:srgbClr val="000000"/>
                        </a:solidFill>
                        <a:latin typeface="Century Gothic"/>
                        <a:ea typeface="Century Gothic"/>
                        <a:cs typeface="Century Gothic"/>
                        <a:sym typeface="Century Gothic"/>
                      </a:endParaRPr>
                    </a:p>
                  </a:txBody>
                  <a:tcPr marT="0" marB="0" marR="0" marL="0" anchor="ctr"/>
                </a:tc>
                <a:tc>
                  <a:txBody>
                    <a:bodyPr/>
                    <a:lstStyle/>
                    <a:p>
                      <a:pPr indent="0" lvl="0" marL="0" marR="0" rtl="0" algn="ctr">
                        <a:lnSpc>
                          <a:spcPct val="115000"/>
                        </a:lnSpc>
                        <a:spcBef>
                          <a:spcPts val="0"/>
                        </a:spcBef>
                        <a:spcAft>
                          <a:spcPts val="0"/>
                        </a:spcAft>
                        <a:buClr>
                          <a:schemeClr val="dk1"/>
                        </a:buClr>
                        <a:buSzPts val="1400"/>
                        <a:buFont typeface="Century Gothic"/>
                        <a:buNone/>
                      </a:pPr>
                      <a:r>
                        <a:rPr lang="en-US" sz="1400"/>
                        <a:t>Դասախոսություն «Աշակերտների գործողությունները պատերազմական դրության ժամանակ»</a:t>
                      </a:r>
                      <a:endParaRPr sz="1400"/>
                    </a:p>
                  </a:txBody>
                  <a:tcPr marT="0" marB="0" marR="0" marL="0" anchor="ctr"/>
                </a:tc>
                <a:tc>
                  <a:txBody>
                    <a:bodyPr/>
                    <a:lstStyle/>
                    <a:p>
                      <a:pPr indent="0" lvl="0" marL="0" marR="0" rtl="0" algn="ctr">
                        <a:lnSpc>
                          <a:spcPct val="150000"/>
                        </a:lnSpc>
                        <a:spcBef>
                          <a:spcPts val="0"/>
                        </a:spcBef>
                        <a:spcAft>
                          <a:spcPts val="0"/>
                        </a:spcAft>
                        <a:buNone/>
                      </a:pPr>
                      <a:r>
                        <a:rPr lang="en-US" sz="1800"/>
                        <a:t>390</a:t>
                      </a:r>
                      <a:endParaRPr sz="1800"/>
                    </a:p>
                  </a:txBody>
                  <a:tcPr marT="0" marB="0" marR="0" marL="0" anchor="ctr"/>
                </a:tc>
              </a:tr>
              <a:tr h="801525">
                <a:tc>
                  <a:txBody>
                    <a:bodyPr/>
                    <a:lstStyle/>
                    <a:p>
                      <a:pPr indent="-54610" lvl="0" marL="54610" marR="0" rtl="0" algn="ctr">
                        <a:lnSpc>
                          <a:spcPct val="150000"/>
                        </a:lnSpc>
                        <a:spcBef>
                          <a:spcPts val="0"/>
                        </a:spcBef>
                        <a:spcAft>
                          <a:spcPts val="0"/>
                        </a:spcAft>
                        <a:buNone/>
                      </a:pPr>
                      <a:r>
                        <a:rPr lang="en-US" sz="1200"/>
                        <a:t>28.04.2026թ.</a:t>
                      </a:r>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Century Gothic"/>
                        <a:buNone/>
                      </a:pPr>
                      <a:r>
                        <a:rPr b="0" i="0" lang="en-US" sz="1800" u="none" cap="none" strike="noStrike">
                          <a:solidFill>
                            <a:srgbClr val="000000"/>
                          </a:solidFill>
                          <a:latin typeface="Century Gothic"/>
                          <a:ea typeface="Century Gothic"/>
                          <a:cs typeface="Century Gothic"/>
                          <a:sym typeface="Century Gothic"/>
                        </a:rPr>
                        <a:t>10-12-րդ</a:t>
                      </a:r>
                      <a:endParaRPr b="0" i="0" sz="1800" u="none" cap="none" strike="noStrike">
                        <a:solidFill>
                          <a:srgbClr val="000000"/>
                        </a:solidFill>
                        <a:latin typeface="Century Gothic"/>
                        <a:ea typeface="Century Gothic"/>
                        <a:cs typeface="Century Gothic"/>
                        <a:sym typeface="Century Gothic"/>
                      </a:endParaRPr>
                    </a:p>
                  </a:txBody>
                  <a:tcPr marT="0" marB="0" marR="0" marL="0" anchor="ctr"/>
                </a:tc>
                <a:tc>
                  <a:txBody>
                    <a:bodyPr/>
                    <a:lstStyle/>
                    <a:p>
                      <a:pPr indent="0" lvl="0" marL="0" marR="0" rtl="0" algn="ctr">
                        <a:lnSpc>
                          <a:spcPct val="115000"/>
                        </a:lnSpc>
                        <a:spcBef>
                          <a:spcPts val="0"/>
                        </a:spcBef>
                        <a:spcAft>
                          <a:spcPts val="0"/>
                        </a:spcAft>
                        <a:buClr>
                          <a:schemeClr val="dk1"/>
                        </a:buClr>
                        <a:buSzPts val="1400"/>
                        <a:buFont typeface="Century Gothic"/>
                        <a:buNone/>
                      </a:pPr>
                      <a:r>
                        <a:rPr lang="en-US" sz="1400"/>
                        <a:t>Ուսումնական տագնապ-տարհանում, վարժանքի անցկացում</a:t>
                      </a:r>
                      <a:endParaRPr sz="1400"/>
                    </a:p>
                  </a:txBody>
                  <a:tcPr marT="0" marB="0" marR="0" marL="0" anchor="ctr"/>
                </a:tc>
                <a:tc>
                  <a:txBody>
                    <a:bodyPr/>
                    <a:lstStyle/>
                    <a:p>
                      <a:pPr indent="0" lvl="0" marL="0" marR="0" rtl="0" algn="ctr">
                        <a:lnSpc>
                          <a:spcPct val="150000"/>
                        </a:lnSpc>
                        <a:spcBef>
                          <a:spcPts val="0"/>
                        </a:spcBef>
                        <a:spcAft>
                          <a:spcPts val="0"/>
                        </a:spcAft>
                        <a:buNone/>
                      </a:pPr>
                      <a:r>
                        <a:rPr lang="en-US" sz="1800"/>
                        <a:t>390</a:t>
                      </a:r>
                      <a:endParaRPr sz="1800"/>
                    </a:p>
                  </a:txBody>
                  <a:tcPr marT="0" marB="0" marR="0" marL="0" anchor="ctr"/>
                </a:tc>
              </a:tr>
            </a:tbl>
          </a:graphicData>
        </a:graphic>
      </p:graphicFrame>
      <p:pic>
        <p:nvPicPr>
          <p:cNvPr id="312" name="Google Shape;312;p37"/>
          <p:cNvPicPr preferRelativeResize="0"/>
          <p:nvPr/>
        </p:nvPicPr>
        <p:blipFill rotWithShape="1">
          <a:blip r:embed="rId4">
            <a:alphaModFix/>
          </a:blip>
          <a:srcRect b="0" l="0" r="0" t="0"/>
          <a:stretch/>
        </p:blipFill>
        <p:spPr>
          <a:xfrm>
            <a:off x="2157269" y="5946685"/>
            <a:ext cx="8892667" cy="66363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8"/>
          <p:cNvSpPr txBox="1"/>
          <p:nvPr/>
        </p:nvSpPr>
        <p:spPr>
          <a:xfrm>
            <a:off x="-213" y="745628"/>
            <a:ext cx="9047162"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1800">
                <a:solidFill>
                  <a:schemeClr val="dk1"/>
                </a:solidFill>
                <a:latin typeface="Merriweather"/>
                <a:ea typeface="Merriweather"/>
                <a:cs typeface="Merriweather"/>
                <a:sym typeface="Merriweather"/>
              </a:rPr>
              <a:t>Աղյուսակ 13.          Տվյալներ ուսումնական հաստատության շենքի</a:t>
            </a:r>
            <a:endParaRPr b="1" i="1" sz="1200">
              <a:solidFill>
                <a:schemeClr val="dk1"/>
              </a:solidFill>
              <a:latin typeface="Merriweather"/>
              <a:ea typeface="Merriweather"/>
              <a:cs typeface="Merriweather"/>
              <a:sym typeface="Merriweather"/>
            </a:endParaRPr>
          </a:p>
          <a:p>
            <a:pPr indent="0" lvl="0" marL="0" marR="0" rtl="0" algn="just">
              <a:spcBef>
                <a:spcPts val="0"/>
              </a:spcBef>
              <a:spcAft>
                <a:spcPts val="0"/>
              </a:spcAft>
              <a:buNone/>
            </a:pPr>
            <a:r>
              <a:rPr b="1" i="1" lang="en-US" sz="1800">
                <a:solidFill>
                  <a:schemeClr val="dk1"/>
                </a:solidFill>
                <a:latin typeface="Merriweather"/>
                <a:ea typeface="Merriweather"/>
                <a:cs typeface="Merriweather"/>
                <a:sym typeface="Merriweather"/>
              </a:rPr>
              <a:t>                                           ջեռուցման պայմանների մասին</a:t>
            </a:r>
            <a:endParaRPr b="1" i="1" sz="1200">
              <a:solidFill>
                <a:srgbClr val="000000"/>
              </a:solidFill>
              <a:latin typeface="Merriweather"/>
              <a:ea typeface="Merriweather"/>
              <a:cs typeface="Merriweather"/>
              <a:sym typeface="Merriweather"/>
            </a:endParaRPr>
          </a:p>
        </p:txBody>
      </p:sp>
      <p:sp>
        <p:nvSpPr>
          <p:cNvPr id="319" name="Google Shape;319;p38"/>
          <p:cNvSpPr txBox="1"/>
          <p:nvPr/>
        </p:nvSpPr>
        <p:spPr>
          <a:xfrm>
            <a:off x="9052146" y="6302031"/>
            <a:ext cx="3048000" cy="27699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200">
                <a:solidFill>
                  <a:schemeClr val="dk1"/>
                </a:solidFill>
                <a:latin typeface="Merriweather"/>
                <a:ea typeface="Merriweather"/>
                <a:cs typeface="Merriweather"/>
                <a:sym typeface="Merriweather"/>
              </a:rPr>
              <a:t>Դիտարկման ամսաթիվ`  01/06/2025թ</a:t>
            </a:r>
            <a:r>
              <a:rPr lang="en-US"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p:txBody>
      </p:sp>
      <p:graphicFrame>
        <p:nvGraphicFramePr>
          <p:cNvPr id="320" name="Google Shape;320;p38"/>
          <p:cNvGraphicFramePr/>
          <p:nvPr/>
        </p:nvGraphicFramePr>
        <p:xfrm>
          <a:off x="1944805" y="1899313"/>
          <a:ext cx="3000000" cy="3000000"/>
        </p:xfrm>
        <a:graphic>
          <a:graphicData uri="http://schemas.openxmlformats.org/drawingml/2006/table">
            <a:tbl>
              <a:tblPr>
                <a:noFill/>
                <a:tableStyleId>{40B977D2-3903-41EF-8714-5AC59086702B}</a:tableStyleId>
              </a:tblPr>
              <a:tblGrid>
                <a:gridCol w="2392150"/>
                <a:gridCol w="2314575"/>
                <a:gridCol w="297400"/>
                <a:gridCol w="1499950"/>
                <a:gridCol w="2148375"/>
              </a:tblGrid>
              <a:tr h="750050">
                <a:tc gridSpan="5">
                  <a:txBody>
                    <a:bodyPr/>
                    <a:lstStyle/>
                    <a:p>
                      <a:pPr indent="0" lvl="0" marL="0" marR="0" rtl="0" algn="ctr">
                        <a:lnSpc>
                          <a:spcPct val="150000"/>
                        </a:lnSpc>
                        <a:spcBef>
                          <a:spcPts val="0"/>
                        </a:spcBef>
                        <a:spcAft>
                          <a:spcPts val="0"/>
                        </a:spcAft>
                        <a:buNone/>
                      </a:pPr>
                      <a:r>
                        <a:rPr lang="en-US" sz="1400"/>
                        <a:t>Ուսումնական հաստատությունն ապահովված է լոկալ ջեռուցման անվտանգ համակարգով </a:t>
                      </a:r>
                      <a:endParaRPr sz="1800"/>
                    </a:p>
                  </a:txBody>
                  <a:tcPr marT="0" marB="0" marR="0" marL="0" anchor="ctr"/>
                </a:tc>
                <a:tc hMerge="1"/>
                <a:tc hMerge="1"/>
                <a:tc hMerge="1"/>
                <a:tc hMerge="1"/>
              </a:tr>
              <a:tr h="636900">
                <a:tc gridSpan="2">
                  <a:txBody>
                    <a:bodyPr/>
                    <a:lstStyle/>
                    <a:p>
                      <a:pPr indent="0" lvl="0" marL="0" marR="0" rtl="0" algn="ctr">
                        <a:lnSpc>
                          <a:spcPct val="150000"/>
                        </a:lnSpc>
                        <a:spcBef>
                          <a:spcPts val="0"/>
                        </a:spcBef>
                        <a:spcAft>
                          <a:spcPts val="0"/>
                        </a:spcAft>
                        <a:buNone/>
                      </a:pPr>
                      <a:r>
                        <a:rPr lang="en-US" sz="1400" u="sng"/>
                        <a:t>Այո</a:t>
                      </a:r>
                      <a:r>
                        <a:rPr lang="en-US" sz="1400"/>
                        <a:t> </a:t>
                      </a:r>
                      <a:endParaRPr sz="1800"/>
                    </a:p>
                    <a:p>
                      <a:pPr indent="0" lvl="0" marL="0" marR="0" rtl="0" algn="ctr">
                        <a:lnSpc>
                          <a:spcPct val="150000"/>
                        </a:lnSpc>
                        <a:spcBef>
                          <a:spcPts val="0"/>
                        </a:spcBef>
                        <a:spcAft>
                          <a:spcPts val="0"/>
                        </a:spcAft>
                        <a:buNone/>
                      </a:pPr>
                      <a:r>
                        <a:rPr lang="en-US" sz="1400"/>
                        <a:t>Առանձին կաթսայատուն </a:t>
                      </a:r>
                      <a:endParaRPr sz="1800"/>
                    </a:p>
                  </a:txBody>
                  <a:tcPr marT="0" marB="0" marR="0" marL="0" anchor="ctr"/>
                </a:tc>
                <a:tc hMerge="1"/>
                <a:tc gridSpan="3">
                  <a:txBody>
                    <a:bodyPr/>
                    <a:lstStyle/>
                    <a:p>
                      <a:pPr indent="0" lvl="0" marL="0" marR="0" rtl="0" algn="ctr">
                        <a:lnSpc>
                          <a:spcPct val="150000"/>
                        </a:lnSpc>
                        <a:spcBef>
                          <a:spcPts val="0"/>
                        </a:spcBef>
                        <a:spcAft>
                          <a:spcPts val="0"/>
                        </a:spcAft>
                        <a:buNone/>
                      </a:pPr>
                      <a:r>
                        <a:rPr lang="en-US" sz="1400"/>
                        <a:t>Ոչ </a:t>
                      </a:r>
                      <a:endParaRPr sz="1800"/>
                    </a:p>
                  </a:txBody>
                  <a:tcPr marT="0" marB="0" marR="0" marL="0" anchor="ctr"/>
                </a:tc>
                <a:tc hMerge="1"/>
                <a:tc hMerge="1"/>
              </a:tr>
              <a:tr h="1141375">
                <a:tc>
                  <a:txBody>
                    <a:bodyPr/>
                    <a:lstStyle/>
                    <a:p>
                      <a:pPr indent="0" lvl="0" marL="0" marR="0" rtl="0" algn="ctr">
                        <a:spcBef>
                          <a:spcPts val="0"/>
                        </a:spcBef>
                        <a:spcAft>
                          <a:spcPts val="0"/>
                        </a:spcAft>
                        <a:buNone/>
                      </a:pPr>
                      <a:r>
                        <a:rPr lang="en-US" sz="1400"/>
                        <a:t>Դասասենյակները, դահլիճները, այլ սենյակները, միջանցքները և այլն </a:t>
                      </a:r>
                      <a:endParaRPr sz="1800"/>
                    </a:p>
                  </a:txBody>
                  <a:tcPr marT="0" marB="0" marR="0" marL="0" anchor="ctr"/>
                </a:tc>
                <a:tc gridSpan="2">
                  <a:txBody>
                    <a:bodyPr/>
                    <a:lstStyle/>
                    <a:p>
                      <a:pPr indent="0" lvl="0" marL="0" marR="0" rtl="0" algn="ctr">
                        <a:spcBef>
                          <a:spcPts val="0"/>
                        </a:spcBef>
                        <a:spcAft>
                          <a:spcPts val="0"/>
                        </a:spcAft>
                        <a:buNone/>
                      </a:pPr>
                      <a:r>
                        <a:rPr lang="en-US" sz="1400"/>
                        <a:t>Ջեռուցման ձևը, (վառելիքի տեսակը) </a:t>
                      </a:r>
                      <a:endParaRPr sz="1800"/>
                    </a:p>
                  </a:txBody>
                  <a:tcPr marT="0" marB="0" marR="0" marL="0" anchor="ctr"/>
                </a:tc>
                <a:tc hMerge="1"/>
                <a:tc>
                  <a:txBody>
                    <a:bodyPr/>
                    <a:lstStyle/>
                    <a:p>
                      <a:pPr indent="0" lvl="0" marL="0" marR="0" rtl="0" algn="ctr">
                        <a:spcBef>
                          <a:spcPts val="0"/>
                        </a:spcBef>
                        <a:spcAft>
                          <a:spcPts val="0"/>
                        </a:spcAft>
                        <a:buNone/>
                      </a:pPr>
                      <a:r>
                        <a:rPr lang="en-US" sz="1400"/>
                        <a:t>Ջերմաստիճանը շրջայցի պահին </a:t>
                      </a:r>
                      <a:endParaRPr sz="1800"/>
                    </a:p>
                  </a:txBody>
                  <a:tcPr marT="0" marB="0" marR="0" marL="0" anchor="ctr"/>
                </a:tc>
                <a:tc>
                  <a:txBody>
                    <a:bodyPr/>
                    <a:lstStyle/>
                    <a:p>
                      <a:pPr indent="0" lvl="0" marL="0" marR="0" rtl="0" algn="ctr">
                        <a:spcBef>
                          <a:spcPts val="0"/>
                        </a:spcBef>
                        <a:spcAft>
                          <a:spcPts val="0"/>
                        </a:spcAft>
                        <a:buNone/>
                      </a:pPr>
                      <a:r>
                        <a:rPr lang="en-US" sz="1400"/>
                        <a:t>Ջեռուցման ժամերը</a:t>
                      </a:r>
                      <a:endParaRPr sz="1800"/>
                    </a:p>
                  </a:txBody>
                  <a:tcPr marT="0" marB="0" marR="0" marL="0" anchor="ctr"/>
                </a:tc>
              </a:tr>
              <a:tr h="793525">
                <a:tc>
                  <a:txBody>
                    <a:bodyPr/>
                    <a:lstStyle/>
                    <a:p>
                      <a:pPr indent="0" lvl="0" marL="0" marR="0" rtl="0" algn="ctr">
                        <a:spcBef>
                          <a:spcPts val="0"/>
                        </a:spcBef>
                        <a:spcAft>
                          <a:spcPts val="0"/>
                        </a:spcAft>
                        <a:buNone/>
                      </a:pPr>
                      <a:r>
                        <a:rPr lang="en-US" sz="1400"/>
                        <a:t>Դասասենյակ N1- N14 </a:t>
                      </a:r>
                      <a:endParaRPr sz="1800"/>
                    </a:p>
                  </a:txBody>
                  <a:tcPr marT="0" marB="0" marR="0" marL="0" anchor="ctr"/>
                </a:tc>
                <a:tc gridSpan="2">
                  <a:txBody>
                    <a:bodyPr/>
                    <a:lstStyle/>
                    <a:p>
                      <a:pPr indent="0" lvl="0" marL="0" marR="0" rtl="0" algn="ctr">
                        <a:spcBef>
                          <a:spcPts val="0"/>
                        </a:spcBef>
                        <a:spcAft>
                          <a:spcPts val="0"/>
                        </a:spcAft>
                        <a:buNone/>
                      </a:pPr>
                      <a:r>
                        <a:rPr lang="en-US" sz="1400"/>
                        <a:t>կենտրոնացված, բնական գազ </a:t>
                      </a:r>
                      <a:endParaRPr sz="1800"/>
                    </a:p>
                  </a:txBody>
                  <a:tcPr marT="0" marB="0" marR="0" marL="0" anchor="ctr"/>
                </a:tc>
                <a:tc hMerge="1"/>
                <a:tc>
                  <a:txBody>
                    <a:bodyPr/>
                    <a:lstStyle/>
                    <a:p>
                      <a:pPr indent="0" lvl="0" marL="0" marR="0" rtl="0" algn="ctr">
                        <a:spcBef>
                          <a:spcPts val="0"/>
                        </a:spcBef>
                        <a:spcAft>
                          <a:spcPts val="0"/>
                        </a:spcAft>
                        <a:buNone/>
                      </a:pPr>
                      <a:r>
                        <a:rPr lang="en-US" sz="1400"/>
                        <a:t>18-22 աստիճան </a:t>
                      </a:r>
                      <a:endParaRPr sz="1800"/>
                    </a:p>
                  </a:txBody>
                  <a:tcPr marT="0" marB="0" marR="0" marL="0" anchor="ctr"/>
                </a:tc>
                <a:tc>
                  <a:txBody>
                    <a:bodyPr/>
                    <a:lstStyle/>
                    <a:p>
                      <a:pPr indent="0" lvl="0" marL="0" marR="0" rtl="0" algn="ctr">
                        <a:spcBef>
                          <a:spcPts val="0"/>
                        </a:spcBef>
                        <a:spcAft>
                          <a:spcPts val="0"/>
                        </a:spcAft>
                        <a:buNone/>
                      </a:pPr>
                      <a:r>
                        <a:rPr lang="en-US" sz="1400"/>
                        <a:t>շուրջօրյա </a:t>
                      </a:r>
                      <a:endParaRPr sz="1800"/>
                    </a:p>
                  </a:txBody>
                  <a:tcPr marT="0" marB="0" marR="0" marL="0" anchor="ctr"/>
                </a:tc>
              </a:tr>
              <a:tr h="902225">
                <a:tc>
                  <a:txBody>
                    <a:bodyPr/>
                    <a:lstStyle/>
                    <a:p>
                      <a:pPr indent="0" lvl="0" marL="0" marR="0" rtl="0" algn="ctr">
                        <a:spcBef>
                          <a:spcPts val="0"/>
                        </a:spcBef>
                        <a:spcAft>
                          <a:spcPts val="0"/>
                        </a:spcAft>
                        <a:buNone/>
                      </a:pPr>
                      <a:r>
                        <a:rPr lang="en-US" sz="1400"/>
                        <a:t>1-4-րդ հարկերի միջանցքներ </a:t>
                      </a:r>
                      <a:endParaRPr sz="1800"/>
                    </a:p>
                  </a:txBody>
                  <a:tcPr marT="0" marB="0" marR="0" marL="0" anchor="ctr"/>
                </a:tc>
                <a:tc gridSpan="2">
                  <a:txBody>
                    <a:bodyPr/>
                    <a:lstStyle/>
                    <a:p>
                      <a:pPr indent="0" lvl="0" marL="0" marR="0" rtl="0" algn="ctr">
                        <a:spcBef>
                          <a:spcPts val="0"/>
                        </a:spcBef>
                        <a:spcAft>
                          <a:spcPts val="0"/>
                        </a:spcAft>
                        <a:buNone/>
                      </a:pPr>
                      <a:r>
                        <a:rPr lang="en-US" sz="1400"/>
                        <a:t>կենտրոնացված, բնական գազ </a:t>
                      </a:r>
                      <a:endParaRPr sz="1800"/>
                    </a:p>
                  </a:txBody>
                  <a:tcPr marT="0" marB="0" marR="0" marL="0" anchor="ctr"/>
                </a:tc>
                <a:tc hMerge="1"/>
                <a:tc>
                  <a:txBody>
                    <a:bodyPr/>
                    <a:lstStyle/>
                    <a:p>
                      <a:pPr indent="0" lvl="0" marL="0" marR="0" rtl="0" algn="ctr">
                        <a:spcBef>
                          <a:spcPts val="0"/>
                        </a:spcBef>
                        <a:spcAft>
                          <a:spcPts val="0"/>
                        </a:spcAft>
                        <a:buNone/>
                      </a:pPr>
                      <a:r>
                        <a:rPr lang="en-US" sz="1400"/>
                        <a:t>18-20 աստիճան </a:t>
                      </a:r>
                      <a:endParaRPr sz="1800"/>
                    </a:p>
                  </a:txBody>
                  <a:tcPr marT="0" marB="0" marR="0" marL="0" anchor="ctr"/>
                </a:tc>
                <a:tc>
                  <a:txBody>
                    <a:bodyPr/>
                    <a:lstStyle/>
                    <a:p>
                      <a:pPr indent="0" lvl="0" marL="0" marR="0" rtl="0" algn="ctr">
                        <a:spcBef>
                          <a:spcPts val="0"/>
                        </a:spcBef>
                        <a:spcAft>
                          <a:spcPts val="0"/>
                        </a:spcAft>
                        <a:buNone/>
                      </a:pPr>
                      <a:r>
                        <a:rPr lang="en-US" sz="1400"/>
                        <a:t>շուրջօրյա </a:t>
                      </a:r>
                      <a:endParaRPr sz="1800"/>
                    </a:p>
                  </a:txBody>
                  <a:tcPr marT="0" marB="0" marR="0" marL="0" anchor="ct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9"/>
          <p:cNvSpPr txBox="1"/>
          <p:nvPr/>
        </p:nvSpPr>
        <p:spPr>
          <a:xfrm>
            <a:off x="188461" y="176134"/>
            <a:ext cx="11245744" cy="5232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1400">
                <a:solidFill>
                  <a:schemeClr val="dk1"/>
                </a:solidFill>
                <a:latin typeface="Merriweather"/>
                <a:ea typeface="Merriweather"/>
                <a:cs typeface="Merriweather"/>
                <a:sym typeface="Merriweather"/>
              </a:rPr>
              <a:t>Աղյուսակ 14.                                         Տվյալներ ուսումնական հաստատության ջրամատակարարման, սանհանգույցների</a:t>
            </a:r>
            <a:endParaRPr b="1" i="1" sz="1400">
              <a:solidFill>
                <a:srgbClr val="000000"/>
              </a:solidFill>
              <a:latin typeface="Merriweather"/>
              <a:ea typeface="Merriweather"/>
              <a:cs typeface="Merriweather"/>
              <a:sym typeface="Merriweather"/>
            </a:endParaRPr>
          </a:p>
          <a:p>
            <a:pPr indent="0" lvl="0" marL="0" marR="0" rtl="0" algn="just">
              <a:spcBef>
                <a:spcPts val="0"/>
              </a:spcBef>
              <a:spcAft>
                <a:spcPts val="0"/>
              </a:spcAft>
              <a:buNone/>
            </a:pPr>
            <a:r>
              <a:rPr b="1" i="1" lang="en-US" sz="1400">
                <a:solidFill>
                  <a:schemeClr val="dk1"/>
                </a:solidFill>
                <a:latin typeface="Merriweather"/>
                <a:ea typeface="Merriweather"/>
                <a:cs typeface="Merriweather"/>
                <a:sym typeface="Merriweather"/>
              </a:rPr>
              <a:t>                                                                                 (կոյուղացման) առկայության և դրաց վիճակի վերաբերյալ </a:t>
            </a:r>
            <a:endParaRPr b="1" i="1" sz="1200">
              <a:solidFill>
                <a:schemeClr val="dk1"/>
              </a:solidFill>
              <a:latin typeface="Merriweather"/>
              <a:ea typeface="Merriweather"/>
              <a:cs typeface="Merriweather"/>
              <a:sym typeface="Merriweather"/>
            </a:endParaRPr>
          </a:p>
        </p:txBody>
      </p:sp>
      <p:graphicFrame>
        <p:nvGraphicFramePr>
          <p:cNvPr id="327" name="Google Shape;327;p39"/>
          <p:cNvGraphicFramePr/>
          <p:nvPr/>
        </p:nvGraphicFramePr>
        <p:xfrm>
          <a:off x="1861404" y="778862"/>
          <a:ext cx="3000000" cy="3000000"/>
        </p:xfrm>
        <a:graphic>
          <a:graphicData uri="http://schemas.openxmlformats.org/drawingml/2006/table">
            <a:tbl>
              <a:tblPr>
                <a:noFill/>
                <a:tableStyleId>{40B977D2-3903-41EF-8714-5AC59086702B}</a:tableStyleId>
              </a:tblPr>
              <a:tblGrid>
                <a:gridCol w="1000600"/>
                <a:gridCol w="759950"/>
                <a:gridCol w="1358400"/>
                <a:gridCol w="95000"/>
                <a:gridCol w="1253900"/>
                <a:gridCol w="1431225"/>
                <a:gridCol w="807450"/>
                <a:gridCol w="1025925"/>
                <a:gridCol w="1652875"/>
              </a:tblGrid>
              <a:tr h="272950">
                <a:tc gridSpan="9">
                  <a:txBody>
                    <a:bodyPr/>
                    <a:lstStyle/>
                    <a:p>
                      <a:pPr indent="0" lvl="0" marL="0" marR="0" rtl="0" algn="ctr">
                        <a:lnSpc>
                          <a:spcPct val="150000"/>
                        </a:lnSpc>
                        <a:spcBef>
                          <a:spcPts val="0"/>
                        </a:spcBef>
                        <a:spcAft>
                          <a:spcPts val="0"/>
                        </a:spcAft>
                        <a:buNone/>
                      </a:pPr>
                      <a:r>
                        <a:rPr lang="en-US" sz="1200"/>
                        <a:t>Հաստատության ջրամատակարարումը </a:t>
                      </a:r>
                      <a:endParaRPr sz="1800"/>
                    </a:p>
                  </a:txBody>
                  <a:tcPr marT="0" marB="0" marR="0" marL="0" anchor="ctr"/>
                </a:tc>
                <a:tc hMerge="1"/>
                <a:tc hMerge="1"/>
                <a:tc hMerge="1"/>
                <a:tc hMerge="1"/>
                <a:tc hMerge="1"/>
                <a:tc hMerge="1"/>
                <a:tc hMerge="1"/>
                <a:tc hMerge="1"/>
              </a:tr>
              <a:tr h="349250">
                <a:tc gridSpan="4">
                  <a:txBody>
                    <a:bodyPr/>
                    <a:lstStyle/>
                    <a:p>
                      <a:pPr indent="0" lvl="0" marL="0" marR="0" rtl="0" algn="l">
                        <a:lnSpc>
                          <a:spcPct val="150000"/>
                        </a:lnSpc>
                        <a:spcBef>
                          <a:spcPts val="0"/>
                        </a:spcBef>
                        <a:spcAft>
                          <a:spcPts val="0"/>
                        </a:spcAft>
                        <a:buNone/>
                      </a:pPr>
                      <a:r>
                        <a:rPr lang="en-US" sz="1200"/>
                        <a:t>Ապահովված է շուրջօրյա հոսող խմելու ջրով </a:t>
                      </a:r>
                      <a:endParaRPr sz="1800"/>
                    </a:p>
                  </a:txBody>
                  <a:tcPr marT="0" marB="0" marR="0" marL="0" anchor="ctr"/>
                </a:tc>
                <a:tc hMerge="1"/>
                <a:tc hMerge="1"/>
                <a:tc hMerge="1"/>
                <a:tc gridSpan="3">
                  <a:txBody>
                    <a:bodyPr/>
                    <a:lstStyle/>
                    <a:p>
                      <a:pPr indent="0" lvl="0" marL="0" marR="0" rtl="0" algn="l">
                        <a:lnSpc>
                          <a:spcPct val="150000"/>
                        </a:lnSpc>
                        <a:spcBef>
                          <a:spcPts val="0"/>
                        </a:spcBef>
                        <a:spcAft>
                          <a:spcPts val="0"/>
                        </a:spcAft>
                        <a:buNone/>
                      </a:pPr>
                      <a:r>
                        <a:rPr lang="en-US" sz="1200"/>
                        <a:t>Ապահովված է հոսող խմելու ջրով, շուրջօրյա </a:t>
                      </a:r>
                      <a:endParaRPr sz="1800"/>
                    </a:p>
                  </a:txBody>
                  <a:tcPr marT="0" marB="0" marR="0" marL="0" anchor="ctr"/>
                </a:tc>
                <a:tc hMerge="1"/>
                <a:tc hMerge="1"/>
                <a:tc gridSpan="2">
                  <a:txBody>
                    <a:bodyPr/>
                    <a:lstStyle/>
                    <a:p>
                      <a:pPr indent="0" lvl="0" marL="0" marR="0" rtl="0" algn="l">
                        <a:lnSpc>
                          <a:spcPct val="150000"/>
                        </a:lnSpc>
                        <a:spcBef>
                          <a:spcPts val="0"/>
                        </a:spcBef>
                        <a:spcAft>
                          <a:spcPts val="0"/>
                        </a:spcAft>
                        <a:buNone/>
                      </a:pPr>
                      <a:r>
                        <a:rPr lang="en-US" sz="1200"/>
                        <a:t>Ապահովված է հոսող խմելու ջրով </a:t>
                      </a:r>
                      <a:endParaRPr sz="1800"/>
                    </a:p>
                  </a:txBody>
                  <a:tcPr marT="0" marB="0" marR="0" marL="0" anchor="ctr"/>
                </a:tc>
                <a:tc hMerge="1"/>
              </a:tr>
              <a:tr h="279400">
                <a:tc gridSpan="4">
                  <a:txBody>
                    <a:bodyPr/>
                    <a:lstStyle/>
                    <a:p>
                      <a:pPr indent="0" lvl="0" marL="0" marR="0" rtl="0" algn="l">
                        <a:lnSpc>
                          <a:spcPct val="150000"/>
                        </a:lnSpc>
                        <a:spcBef>
                          <a:spcPts val="0"/>
                        </a:spcBef>
                        <a:spcAft>
                          <a:spcPts val="0"/>
                        </a:spcAft>
                        <a:buNone/>
                      </a:pPr>
                      <a:r>
                        <a:rPr lang="en-US" sz="1200" u="sng"/>
                        <a:t>այո</a:t>
                      </a:r>
                      <a:r>
                        <a:rPr lang="en-US" sz="1200"/>
                        <a:t> </a:t>
                      </a:r>
                      <a:endParaRPr sz="1800"/>
                    </a:p>
                  </a:txBody>
                  <a:tcPr marT="0" marB="0" marR="0" marL="0" anchor="ctr"/>
                </a:tc>
                <a:tc hMerge="1"/>
                <a:tc hMerge="1"/>
                <a:tc hMerge="1"/>
                <a:tc gridSpan="3">
                  <a:txBody>
                    <a:bodyPr/>
                    <a:lstStyle/>
                    <a:p>
                      <a:pPr indent="0" lvl="0" marL="0" marR="0" rtl="0" algn="l">
                        <a:lnSpc>
                          <a:spcPct val="150000"/>
                        </a:lnSpc>
                        <a:spcBef>
                          <a:spcPts val="0"/>
                        </a:spcBef>
                        <a:spcAft>
                          <a:spcPts val="0"/>
                        </a:spcAft>
                        <a:buNone/>
                      </a:pPr>
                      <a:r>
                        <a:rPr lang="en-US" sz="1200"/>
                        <a:t>Օրեկան քանի՞ ժամ է ջրամատակարարումը </a:t>
                      </a:r>
                      <a:endParaRPr sz="1800"/>
                    </a:p>
                  </a:txBody>
                  <a:tcPr marT="0" marB="0" marR="0" marL="0" anchor="ctr"/>
                </a:tc>
                <a:tc hMerge="1"/>
                <a:tc hMerge="1"/>
                <a:tc gridSpan="2">
                  <a:txBody>
                    <a:bodyPr/>
                    <a:lstStyle/>
                    <a:p>
                      <a:pPr indent="0" lvl="0" marL="0" marR="0" rtl="0" algn="l">
                        <a:lnSpc>
                          <a:spcPct val="150000"/>
                        </a:lnSpc>
                        <a:spcBef>
                          <a:spcPts val="0"/>
                        </a:spcBef>
                        <a:spcAft>
                          <a:spcPts val="0"/>
                        </a:spcAft>
                        <a:buNone/>
                      </a:pPr>
                      <a:r>
                        <a:rPr lang="en-US" sz="1200"/>
                        <a:t>շուրջօրյա </a:t>
                      </a:r>
                      <a:endParaRPr sz="1800"/>
                    </a:p>
                  </a:txBody>
                  <a:tcPr marT="0" marB="0" marR="0" marL="0" anchor="ctr"/>
                </a:tc>
                <a:tc hMerge="1"/>
              </a:tr>
              <a:tr h="217050">
                <a:tc gridSpan="4">
                  <a:txBody>
                    <a:bodyPr/>
                    <a:lstStyle/>
                    <a:p>
                      <a:pPr indent="0" lvl="0" marL="0" marR="0" rtl="0" algn="l">
                        <a:lnSpc>
                          <a:spcPct val="150000"/>
                        </a:lnSpc>
                        <a:spcBef>
                          <a:spcPts val="0"/>
                        </a:spcBef>
                        <a:spcAft>
                          <a:spcPts val="0"/>
                        </a:spcAft>
                        <a:buNone/>
                      </a:pPr>
                      <a:r>
                        <a:rPr lang="en-US" sz="1200"/>
                        <a:t>ոչ </a:t>
                      </a:r>
                      <a:endParaRPr sz="1800"/>
                    </a:p>
                  </a:txBody>
                  <a:tcPr marT="0" marB="0" marR="0" marL="0" anchor="ctr"/>
                </a:tc>
                <a:tc hMerge="1"/>
                <a:tc hMerge="1"/>
                <a:tc hMerge="1"/>
                <a:tc gridSpan="3">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hMerge="1"/>
                <a:tc hMerge="1"/>
                <a:tc gridSpan="2">
                  <a:txBody>
                    <a:bodyPr/>
                    <a:lstStyle/>
                    <a:p>
                      <a:pPr indent="0" lvl="0" marL="0" marR="0" rtl="0" algn="l">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c hMerge="1"/>
              </a:tr>
              <a:tr h="69850">
                <a:tc gridSpan="9">
                  <a:txBody>
                    <a:bodyPr/>
                    <a:lstStyle/>
                    <a:p>
                      <a:pPr indent="0" lvl="0" marL="0" marR="0" rtl="0" algn="l">
                        <a:lnSpc>
                          <a:spcPct val="150000"/>
                        </a:lnSpc>
                        <a:spcBef>
                          <a:spcPts val="0"/>
                        </a:spcBef>
                        <a:spcAft>
                          <a:spcPts val="0"/>
                        </a:spcAft>
                        <a:buNone/>
                      </a:pPr>
                      <a:r>
                        <a:rPr lang="en-US" sz="1200"/>
                        <a:t>Հաստատության սանհանգույցները և դրանց վիճակը </a:t>
                      </a:r>
                      <a:endParaRPr sz="1800"/>
                    </a:p>
                  </a:txBody>
                  <a:tcPr marT="0" marB="0" marR="0" marL="0" anchor="ctr"/>
                </a:tc>
                <a:tc hMerge="1"/>
                <a:tc hMerge="1"/>
                <a:tc hMerge="1"/>
                <a:tc hMerge="1"/>
                <a:tc hMerge="1"/>
                <a:tc hMerge="1"/>
                <a:tc hMerge="1"/>
                <a:tc hMerge="1"/>
              </a:tr>
              <a:tr h="989450">
                <a:tc>
                  <a:txBody>
                    <a:bodyPr/>
                    <a:lstStyle/>
                    <a:p>
                      <a:pPr indent="0" lvl="0" marL="0" marR="0" rtl="0" algn="ctr">
                        <a:lnSpc>
                          <a:spcPct val="150000"/>
                        </a:lnSpc>
                        <a:spcBef>
                          <a:spcPts val="0"/>
                        </a:spcBef>
                        <a:spcAft>
                          <a:spcPts val="0"/>
                        </a:spcAft>
                        <a:buNone/>
                      </a:pPr>
                      <a:r>
                        <a:rPr lang="en-US" sz="1200"/>
                        <a:t>Շենքի հարկը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Սանհան </a:t>
                      </a:r>
                      <a:endParaRPr sz="1800"/>
                    </a:p>
                    <a:p>
                      <a:pPr indent="0" lvl="0" marL="0" marR="0" rtl="0" algn="ctr">
                        <a:lnSpc>
                          <a:spcPct val="150000"/>
                        </a:lnSpc>
                        <a:spcBef>
                          <a:spcPts val="0"/>
                        </a:spcBef>
                        <a:spcAft>
                          <a:spcPts val="0"/>
                        </a:spcAft>
                        <a:buNone/>
                      </a:pPr>
                      <a:r>
                        <a:rPr lang="en-US" sz="1200"/>
                        <a:t>գույցների թիվը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Աղջիկների սան-հանգույցի առկայությունը </a:t>
                      </a:r>
                      <a:endParaRPr sz="1800"/>
                    </a:p>
                  </a:txBody>
                  <a:tcPr marT="0" marB="0" marR="0" marL="0" anchor="ctr"/>
                </a:tc>
                <a:tc gridSpan="2">
                  <a:txBody>
                    <a:bodyPr/>
                    <a:lstStyle/>
                    <a:p>
                      <a:pPr indent="0" lvl="0" marL="0" marR="0" rtl="0" algn="ctr">
                        <a:lnSpc>
                          <a:spcPct val="150000"/>
                        </a:lnSpc>
                        <a:spcBef>
                          <a:spcPts val="0"/>
                        </a:spcBef>
                        <a:spcAft>
                          <a:spcPts val="0"/>
                        </a:spcAft>
                        <a:buNone/>
                      </a:pPr>
                      <a:r>
                        <a:rPr lang="en-US" sz="1200"/>
                        <a:t>Տղաների սան-հանգույցի առկայությունը </a:t>
                      </a:r>
                      <a:endParaRPr sz="1800"/>
                    </a:p>
                  </a:txBody>
                  <a:tcPr marT="0" marB="0" marR="0" marL="0" anchor="ctr"/>
                </a:tc>
                <a:tc hMerge="1"/>
                <a:tc>
                  <a:txBody>
                    <a:bodyPr/>
                    <a:lstStyle/>
                    <a:p>
                      <a:pPr indent="0" lvl="0" marL="0" marR="0" rtl="0" algn="ctr">
                        <a:lnSpc>
                          <a:spcPct val="150000"/>
                        </a:lnSpc>
                        <a:spcBef>
                          <a:spcPts val="0"/>
                        </a:spcBef>
                        <a:spcAft>
                          <a:spcPts val="0"/>
                        </a:spcAft>
                        <a:buNone/>
                      </a:pPr>
                      <a:r>
                        <a:rPr lang="en-US" sz="1200"/>
                        <a:t>Հիգիենայի պարագաների առկայությունը </a:t>
                      </a:r>
                      <a:endParaRPr sz="1800"/>
                    </a:p>
                  </a:txBody>
                  <a:tcPr marT="0" marB="0" marR="0" marL="0" anchor="ctr"/>
                </a:tc>
                <a:tc gridSpan="2">
                  <a:txBody>
                    <a:bodyPr/>
                    <a:lstStyle/>
                    <a:p>
                      <a:pPr indent="0" lvl="0" marL="0" marR="0" rtl="0" algn="ctr">
                        <a:lnSpc>
                          <a:spcPct val="150000"/>
                        </a:lnSpc>
                        <a:spcBef>
                          <a:spcPts val="0"/>
                        </a:spcBef>
                        <a:spcAft>
                          <a:spcPts val="0"/>
                        </a:spcAft>
                        <a:buNone/>
                      </a:pPr>
                      <a:r>
                        <a:rPr lang="en-US" sz="1200"/>
                        <a:t>Հարմարեցվածությունը հաշմանդամություն ունեցող անձանց կարիքներին </a:t>
                      </a:r>
                      <a:endParaRPr sz="1800"/>
                    </a:p>
                  </a:txBody>
                  <a:tcPr marT="0" marB="0" marR="0" marL="0" anchor="ctr"/>
                </a:tc>
                <a:tc hMerge="1"/>
                <a:tc>
                  <a:txBody>
                    <a:bodyPr/>
                    <a:lstStyle/>
                    <a:p>
                      <a:pPr indent="0" lvl="0" marL="0" marR="0" rtl="0" algn="ctr">
                        <a:lnSpc>
                          <a:spcPct val="150000"/>
                        </a:lnSpc>
                        <a:spcBef>
                          <a:spcPts val="0"/>
                        </a:spcBef>
                        <a:spcAft>
                          <a:spcPts val="0"/>
                        </a:spcAft>
                        <a:buNone/>
                      </a:pPr>
                      <a:r>
                        <a:rPr lang="en-US" sz="1200"/>
                        <a:t>Վերանորոգված են, թե ոչ </a:t>
                      </a:r>
                      <a:endParaRPr sz="1800"/>
                    </a:p>
                  </a:txBody>
                  <a:tcPr marT="0" marB="0" marR="0" marL="0" anchor="ctr"/>
                </a:tc>
              </a:tr>
              <a:tr h="303150">
                <a:tc>
                  <a:txBody>
                    <a:bodyPr/>
                    <a:lstStyle/>
                    <a:p>
                      <a:pPr indent="0" lvl="0" marL="0" marR="0" rtl="0" algn="ctr">
                        <a:lnSpc>
                          <a:spcPct val="150000"/>
                        </a:lnSpc>
                        <a:spcBef>
                          <a:spcPts val="0"/>
                        </a:spcBef>
                        <a:spcAft>
                          <a:spcPts val="0"/>
                        </a:spcAft>
                        <a:buNone/>
                      </a:pPr>
                      <a:r>
                        <a:rPr lang="en-US" sz="1200"/>
                        <a:t>1-ին հարկ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2 հատ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gridSpan="2">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hMerge="1"/>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gridSpan="2">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hMerge="1"/>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r>
              <a:tr h="303150">
                <a:tc>
                  <a:txBody>
                    <a:bodyPr/>
                    <a:lstStyle/>
                    <a:p>
                      <a:pPr indent="0" lvl="0" marL="0" marR="0" rtl="0" algn="ctr">
                        <a:lnSpc>
                          <a:spcPct val="150000"/>
                        </a:lnSpc>
                        <a:spcBef>
                          <a:spcPts val="0"/>
                        </a:spcBef>
                        <a:spcAft>
                          <a:spcPts val="0"/>
                        </a:spcAft>
                        <a:buNone/>
                      </a:pPr>
                      <a:r>
                        <a:rPr lang="en-US" sz="1200"/>
                        <a:t>2-րդ հարկ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1 հատ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gridSpan="2">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hMerge="1"/>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gridSpan="2">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hMerge="1"/>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r>
              <a:tr h="303150">
                <a:tc>
                  <a:txBody>
                    <a:bodyPr/>
                    <a:lstStyle/>
                    <a:p>
                      <a:pPr indent="0" lvl="0" marL="0" marR="0" rtl="0" algn="ctr">
                        <a:lnSpc>
                          <a:spcPct val="150000"/>
                        </a:lnSpc>
                        <a:spcBef>
                          <a:spcPts val="0"/>
                        </a:spcBef>
                        <a:spcAft>
                          <a:spcPts val="0"/>
                        </a:spcAft>
                        <a:buNone/>
                      </a:pPr>
                      <a:r>
                        <a:rPr lang="en-US" sz="1200"/>
                        <a:t>3-րդ հարկ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1հատ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gridSpan="2">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hMerge="1"/>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gridSpan="2">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hMerge="1"/>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r>
              <a:tr h="303150">
                <a:tc>
                  <a:txBody>
                    <a:bodyPr/>
                    <a:lstStyle/>
                    <a:p>
                      <a:pPr indent="0" lvl="0" marL="0" marR="0" rtl="0" algn="ctr">
                        <a:lnSpc>
                          <a:spcPct val="150000"/>
                        </a:lnSpc>
                        <a:spcBef>
                          <a:spcPts val="0"/>
                        </a:spcBef>
                        <a:spcAft>
                          <a:spcPts val="0"/>
                        </a:spcAft>
                        <a:buNone/>
                      </a:pPr>
                      <a:r>
                        <a:rPr lang="en-US" sz="1200"/>
                        <a:t>4-րդ հարկ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1հատ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gridSpan="2">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hMerge="1"/>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gridSpan="2">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c hMerge="1"/>
                <a:tc>
                  <a:txBody>
                    <a:bodyPr/>
                    <a:lstStyle/>
                    <a:p>
                      <a:pPr indent="0" lvl="0" marL="0" marR="0" rtl="0" algn="ctr">
                        <a:lnSpc>
                          <a:spcPct val="150000"/>
                        </a:lnSpc>
                        <a:spcBef>
                          <a:spcPts val="0"/>
                        </a:spcBef>
                        <a:spcAft>
                          <a:spcPts val="0"/>
                        </a:spcAft>
                        <a:buNone/>
                      </a:pPr>
                      <a:r>
                        <a:rPr lang="en-US" sz="1200" u="sng"/>
                        <a:t>Այո </a:t>
                      </a:r>
                      <a:endParaRPr sz="1800" u="sng"/>
                    </a:p>
                    <a:p>
                      <a:pPr indent="0" lvl="0" marL="0" marR="0" rtl="0" algn="ctr">
                        <a:lnSpc>
                          <a:spcPct val="150000"/>
                        </a:lnSpc>
                        <a:spcBef>
                          <a:spcPts val="0"/>
                        </a:spcBef>
                        <a:spcAft>
                          <a:spcPts val="0"/>
                        </a:spcAft>
                        <a:buNone/>
                      </a:pPr>
                      <a:r>
                        <a:rPr lang="en-US" sz="1200" u="none"/>
                        <a:t>Ոչ </a:t>
                      </a:r>
                      <a:endParaRPr sz="1800" u="none"/>
                    </a:p>
                  </a:txBody>
                  <a:tcPr marT="0" marB="0" marR="0" marL="0" anchor="ctr"/>
                </a:tc>
              </a:tr>
            </a:tbl>
          </a:graphicData>
        </a:graphic>
      </p:graphicFrame>
      <p:sp>
        <p:nvSpPr>
          <p:cNvPr id="328" name="Google Shape;328;p39"/>
          <p:cNvSpPr txBox="1"/>
          <p:nvPr/>
        </p:nvSpPr>
        <p:spPr>
          <a:xfrm>
            <a:off x="1488355" y="5951712"/>
            <a:ext cx="829565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chemeClr val="dk1"/>
                </a:solidFill>
                <a:latin typeface="Merriweather"/>
                <a:ea typeface="Merriweather"/>
                <a:cs typeface="Merriweather"/>
                <a:sym typeface="Merriweather"/>
              </a:rPr>
              <a:t>Բոլոր սանհանգաույցները գործող են,  պահովված են շուրջօրյա ջրամատակարարումով, հիմնանորոգված են:</a:t>
            </a:r>
            <a:endParaRPr b="1" i="1" sz="1200" u="sng">
              <a:solidFill>
                <a:schemeClr val="dk1"/>
              </a:solidFill>
              <a:latin typeface="Merriweather"/>
              <a:ea typeface="Merriweather"/>
              <a:cs typeface="Merriweather"/>
              <a:sym typeface="Merriweath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0"/>
          <p:cNvSpPr txBox="1"/>
          <p:nvPr/>
        </p:nvSpPr>
        <p:spPr>
          <a:xfrm>
            <a:off x="165858" y="778420"/>
            <a:ext cx="1015564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400">
                <a:solidFill>
                  <a:schemeClr val="dk1"/>
                </a:solidFill>
                <a:latin typeface="Merriweather"/>
                <a:ea typeface="Merriweather"/>
                <a:cs typeface="Merriweather"/>
                <a:sym typeface="Merriweather"/>
              </a:rPr>
              <a:t>Աղյուսակ 16.                            Տվյալներ ուսումնական հաստատությունում բուժկետի առկայության</a:t>
            </a:r>
            <a:endParaRPr/>
          </a:p>
          <a:p>
            <a:pPr indent="0" lvl="0" marL="0" marR="0" rtl="0" algn="ctr">
              <a:spcBef>
                <a:spcPts val="0"/>
              </a:spcBef>
              <a:spcAft>
                <a:spcPts val="0"/>
              </a:spcAft>
              <a:buNone/>
            </a:pPr>
            <a:r>
              <a:rPr b="1" i="1" lang="en-US" sz="1400">
                <a:solidFill>
                  <a:schemeClr val="dk1"/>
                </a:solidFill>
                <a:latin typeface="Merriweather"/>
                <a:ea typeface="Merriweather"/>
                <a:cs typeface="Merriweather"/>
                <a:sym typeface="Merriweather"/>
              </a:rPr>
              <a:t>                                                                                          և բուժսպասարկման վիճակի վերաբերյալ </a:t>
            </a:r>
            <a:endParaRPr b="1" i="1" sz="1400">
              <a:solidFill>
                <a:schemeClr val="dk1"/>
              </a:solidFill>
              <a:latin typeface="Merriweather"/>
              <a:ea typeface="Merriweather"/>
              <a:cs typeface="Merriweather"/>
              <a:sym typeface="Merriweather"/>
            </a:endParaRPr>
          </a:p>
        </p:txBody>
      </p:sp>
      <p:sp>
        <p:nvSpPr>
          <p:cNvPr id="335" name="Google Shape;335;p40"/>
          <p:cNvSpPr txBox="1"/>
          <p:nvPr/>
        </p:nvSpPr>
        <p:spPr>
          <a:xfrm>
            <a:off x="9060431" y="6279285"/>
            <a:ext cx="30480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erriweather"/>
                <a:ea typeface="Merriweather"/>
                <a:cs typeface="Merriweather"/>
                <a:sym typeface="Merriweather"/>
              </a:rPr>
              <a:t>Դիտարկման ամսաթիվ՝  01.06.2025թ.</a:t>
            </a:r>
            <a:endParaRPr sz="1800">
              <a:solidFill>
                <a:schemeClr val="dk1"/>
              </a:solidFill>
              <a:latin typeface="Century Gothic"/>
              <a:ea typeface="Century Gothic"/>
              <a:cs typeface="Century Gothic"/>
              <a:sym typeface="Century Gothic"/>
            </a:endParaRPr>
          </a:p>
        </p:txBody>
      </p:sp>
      <p:graphicFrame>
        <p:nvGraphicFramePr>
          <p:cNvPr id="336" name="Google Shape;336;p40"/>
          <p:cNvGraphicFramePr/>
          <p:nvPr/>
        </p:nvGraphicFramePr>
        <p:xfrm>
          <a:off x="1707179" y="1766253"/>
          <a:ext cx="3000000" cy="3000000"/>
        </p:xfrm>
        <a:graphic>
          <a:graphicData uri="http://schemas.openxmlformats.org/drawingml/2006/table">
            <a:tbl>
              <a:tblPr>
                <a:noFill/>
                <a:tableStyleId>{40B977D2-3903-41EF-8714-5AC59086702B}</a:tableStyleId>
              </a:tblPr>
              <a:tblGrid>
                <a:gridCol w="1209225"/>
                <a:gridCol w="1520400"/>
                <a:gridCol w="1120450"/>
                <a:gridCol w="713900"/>
                <a:gridCol w="228525"/>
                <a:gridCol w="1675800"/>
                <a:gridCol w="2218525"/>
              </a:tblGrid>
              <a:tr h="147200">
                <a:tc gridSpan="7">
                  <a:txBody>
                    <a:bodyPr/>
                    <a:lstStyle/>
                    <a:p>
                      <a:pPr indent="0" lvl="0" marL="0" marR="0" rtl="0" algn="ctr">
                        <a:lnSpc>
                          <a:spcPct val="150000"/>
                        </a:lnSpc>
                        <a:spcBef>
                          <a:spcPts val="0"/>
                        </a:spcBef>
                        <a:spcAft>
                          <a:spcPts val="0"/>
                        </a:spcAft>
                        <a:buNone/>
                      </a:pPr>
                      <a:r>
                        <a:rPr lang="en-US" sz="1200"/>
                        <a:t>Ուսումնական հաստատությունում առկա է բուժկետ </a:t>
                      </a:r>
                      <a:endParaRPr sz="1800"/>
                    </a:p>
                  </a:txBody>
                  <a:tcPr marT="0" marB="0" marR="0" marL="0" anchor="ctr"/>
                </a:tc>
                <a:tc hMerge="1"/>
                <a:tc hMerge="1"/>
                <a:tc hMerge="1"/>
                <a:tc hMerge="1"/>
                <a:tc hMerge="1"/>
                <a:tc hMerge="1"/>
              </a:tr>
              <a:tr h="243075">
                <a:tc gridSpan="4">
                  <a:txBody>
                    <a:bodyPr/>
                    <a:lstStyle/>
                    <a:p>
                      <a:pPr indent="0" lvl="0" marL="0" marR="0" rtl="0" algn="l">
                        <a:lnSpc>
                          <a:spcPct val="150000"/>
                        </a:lnSpc>
                        <a:spcBef>
                          <a:spcPts val="0"/>
                        </a:spcBef>
                        <a:spcAft>
                          <a:spcPts val="0"/>
                        </a:spcAft>
                        <a:buNone/>
                      </a:pPr>
                      <a:r>
                        <a:rPr lang="en-US" sz="1200" u="sng"/>
                        <a:t>Այո </a:t>
                      </a:r>
                      <a:endParaRPr sz="1800"/>
                    </a:p>
                  </a:txBody>
                  <a:tcPr marT="0" marB="0" marR="0" marL="0" anchor="ctr"/>
                </a:tc>
                <a:tc hMerge="1"/>
                <a:tc hMerge="1"/>
                <a:tc hMerge="1"/>
                <a:tc gridSpan="3">
                  <a:txBody>
                    <a:bodyPr/>
                    <a:lstStyle/>
                    <a:p>
                      <a:pPr indent="0" lvl="0" marL="0" marR="0" rtl="0" algn="l">
                        <a:lnSpc>
                          <a:spcPct val="150000"/>
                        </a:lnSpc>
                        <a:spcBef>
                          <a:spcPts val="0"/>
                        </a:spcBef>
                        <a:spcAft>
                          <a:spcPts val="0"/>
                        </a:spcAft>
                        <a:buNone/>
                      </a:pPr>
                      <a:r>
                        <a:rPr lang="en-US" sz="1200"/>
                        <a:t>Ոչ </a:t>
                      </a:r>
                      <a:endParaRPr sz="1800"/>
                    </a:p>
                  </a:txBody>
                  <a:tcPr marT="0" marB="0" marR="0" marL="0" anchor="ctr"/>
                </a:tc>
                <a:tc hMerge="1"/>
                <a:tc hMerge="1"/>
              </a:tr>
              <a:tr h="147200">
                <a:tc gridSpan="7">
                  <a:txBody>
                    <a:bodyPr/>
                    <a:lstStyle/>
                    <a:p>
                      <a:pPr indent="0" lvl="0" marL="0" marR="0" rtl="0" algn="l">
                        <a:lnSpc>
                          <a:spcPct val="150000"/>
                        </a:lnSpc>
                        <a:spcBef>
                          <a:spcPts val="0"/>
                        </a:spcBef>
                        <a:spcAft>
                          <a:spcPts val="0"/>
                        </a:spcAft>
                        <a:buNone/>
                      </a:pPr>
                      <a:r>
                        <a:rPr lang="en-US" sz="1200"/>
                        <a:t>Ուսումնական հաստատությունն ունի բուժաշխատող և կարող է տրամադրել առաջին բուժօգնություն </a:t>
                      </a:r>
                      <a:endParaRPr sz="1800"/>
                    </a:p>
                  </a:txBody>
                  <a:tcPr marT="0" marB="0" marR="0" marL="0" anchor="ctr"/>
                </a:tc>
                <a:tc hMerge="1"/>
                <a:tc hMerge="1"/>
                <a:tc hMerge="1"/>
                <a:tc hMerge="1"/>
                <a:tc hMerge="1"/>
                <a:tc hMerge="1"/>
              </a:tr>
              <a:tr h="147200">
                <a:tc gridSpan="4">
                  <a:txBody>
                    <a:bodyPr/>
                    <a:lstStyle/>
                    <a:p>
                      <a:pPr indent="0" lvl="0" marL="0" marR="0" rtl="0" algn="l">
                        <a:lnSpc>
                          <a:spcPct val="150000"/>
                        </a:lnSpc>
                        <a:spcBef>
                          <a:spcPts val="0"/>
                        </a:spcBef>
                        <a:spcAft>
                          <a:spcPts val="0"/>
                        </a:spcAft>
                        <a:buNone/>
                      </a:pPr>
                      <a:r>
                        <a:rPr lang="en-US" sz="1200" u="sng"/>
                        <a:t>Այո</a:t>
                      </a:r>
                      <a:r>
                        <a:rPr lang="en-US" sz="1200"/>
                        <a:t> </a:t>
                      </a:r>
                      <a:endParaRPr sz="1800"/>
                    </a:p>
                  </a:txBody>
                  <a:tcPr marT="0" marB="0" marR="0" marL="0" anchor="ctr"/>
                </a:tc>
                <a:tc hMerge="1"/>
                <a:tc hMerge="1"/>
                <a:tc hMerge="1"/>
                <a:tc gridSpan="3">
                  <a:txBody>
                    <a:bodyPr/>
                    <a:lstStyle/>
                    <a:p>
                      <a:pPr indent="0" lvl="0" marL="0" marR="0" rtl="0" algn="l">
                        <a:lnSpc>
                          <a:spcPct val="150000"/>
                        </a:lnSpc>
                        <a:spcBef>
                          <a:spcPts val="0"/>
                        </a:spcBef>
                        <a:spcAft>
                          <a:spcPts val="0"/>
                        </a:spcAft>
                        <a:buNone/>
                      </a:pPr>
                      <a:r>
                        <a:rPr lang="en-US" sz="1200"/>
                        <a:t>Ոչ </a:t>
                      </a:r>
                      <a:endParaRPr sz="1800"/>
                    </a:p>
                  </a:txBody>
                  <a:tcPr marT="0" marB="0" marR="0" marL="0" anchor="ctr"/>
                </a:tc>
                <a:tc hMerge="1"/>
                <a:tc hMerge="1"/>
              </a:tr>
              <a:tr h="1086875">
                <a:tc>
                  <a:txBody>
                    <a:bodyPr/>
                    <a:lstStyle/>
                    <a:p>
                      <a:pPr indent="0" lvl="0" marL="0" marR="0" rtl="0" algn="ctr">
                        <a:lnSpc>
                          <a:spcPct val="150000"/>
                        </a:lnSpc>
                        <a:spcBef>
                          <a:spcPts val="0"/>
                        </a:spcBef>
                        <a:spcAft>
                          <a:spcPts val="0"/>
                        </a:spcAft>
                        <a:buNone/>
                      </a:pPr>
                      <a:r>
                        <a:rPr lang="en-US" sz="1200"/>
                        <a:t>Բուժկետի գտնվելու հարկը և տարածքը (քմ)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Բուժաշխատողների թիվը և նրանց պաշտոնները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Բուժկետում առկա գույքը </a:t>
                      </a:r>
                      <a:endParaRPr sz="1800"/>
                    </a:p>
                  </a:txBody>
                  <a:tcPr marT="0" marB="0" marR="0" marL="0" anchor="ctr"/>
                </a:tc>
                <a:tc gridSpan="2">
                  <a:txBody>
                    <a:bodyPr/>
                    <a:lstStyle/>
                    <a:p>
                      <a:pPr indent="0" lvl="0" marL="0" marR="0" rtl="0" algn="ctr">
                        <a:lnSpc>
                          <a:spcPct val="150000"/>
                        </a:lnSpc>
                        <a:spcBef>
                          <a:spcPts val="0"/>
                        </a:spcBef>
                        <a:spcAft>
                          <a:spcPts val="0"/>
                        </a:spcAft>
                        <a:buNone/>
                      </a:pPr>
                      <a:r>
                        <a:rPr lang="en-US" sz="1200"/>
                        <a:t>Բուժկետը վերանորոգված է,</a:t>
                      </a:r>
                      <a:endParaRPr sz="1200"/>
                    </a:p>
                    <a:p>
                      <a:pPr indent="0" lvl="0" marL="0" marR="0" rtl="0" algn="ctr">
                        <a:lnSpc>
                          <a:spcPct val="150000"/>
                        </a:lnSpc>
                        <a:spcBef>
                          <a:spcPts val="0"/>
                        </a:spcBef>
                        <a:spcAft>
                          <a:spcPts val="0"/>
                        </a:spcAft>
                        <a:buNone/>
                      </a:pPr>
                      <a:r>
                        <a:rPr lang="en-US" sz="1200"/>
                        <a:t> թե ոչ </a:t>
                      </a:r>
                      <a:endParaRPr sz="1800"/>
                    </a:p>
                  </a:txBody>
                  <a:tcPr marT="0" marB="0" marR="0" marL="0" anchor="ctr"/>
                </a:tc>
                <a:tc hMerge="1"/>
                <a:tc>
                  <a:txBody>
                    <a:bodyPr/>
                    <a:lstStyle/>
                    <a:p>
                      <a:pPr indent="0" lvl="0" marL="0" marR="0" rtl="0" algn="ctr">
                        <a:lnSpc>
                          <a:spcPct val="150000"/>
                        </a:lnSpc>
                        <a:spcBef>
                          <a:spcPts val="0"/>
                        </a:spcBef>
                        <a:spcAft>
                          <a:spcPts val="0"/>
                        </a:spcAft>
                        <a:buNone/>
                      </a:pPr>
                      <a:r>
                        <a:rPr lang="en-US" sz="1200"/>
                        <a:t>Սանիտարական վիճակը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Առաջին բուժօգնության միջոցների և դեղերի առկայությունը </a:t>
                      </a:r>
                      <a:endParaRPr sz="1800"/>
                    </a:p>
                  </a:txBody>
                  <a:tcPr marT="0" marB="0" marR="0" marL="0" anchor="ctr"/>
                </a:tc>
              </a:tr>
              <a:tr h="367925">
                <a:tc>
                  <a:txBody>
                    <a:bodyPr/>
                    <a:lstStyle/>
                    <a:p>
                      <a:pPr indent="0" lvl="0" marL="0" marR="0" rtl="0" algn="ctr">
                        <a:lnSpc>
                          <a:spcPct val="150000"/>
                        </a:lnSpc>
                        <a:spcBef>
                          <a:spcPts val="0"/>
                        </a:spcBef>
                        <a:spcAft>
                          <a:spcPts val="0"/>
                        </a:spcAft>
                        <a:buNone/>
                      </a:pPr>
                      <a:r>
                        <a:rPr lang="en-US" sz="1200"/>
                        <a:t>1-ին հարկ </a:t>
                      </a:r>
                      <a:endParaRPr sz="1800"/>
                    </a:p>
                    <a:p>
                      <a:pPr indent="0" lvl="0" marL="0" marR="0" rtl="0" algn="ctr">
                        <a:lnSpc>
                          <a:spcPct val="150000"/>
                        </a:lnSpc>
                        <a:spcBef>
                          <a:spcPts val="0"/>
                        </a:spcBef>
                        <a:spcAft>
                          <a:spcPts val="0"/>
                        </a:spcAft>
                        <a:buNone/>
                      </a:pPr>
                      <a:r>
                        <a:rPr lang="en-US" sz="1200"/>
                        <a:t>12 մ</a:t>
                      </a:r>
                      <a:r>
                        <a:rPr baseline="30000" lang="en-US" sz="1200"/>
                        <a:t>2</a:t>
                      </a:r>
                      <a:r>
                        <a:rPr lang="en-US" sz="1200"/>
                        <a:t>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1 բուժքույր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Բժշկական պահարան, անհրաժեշտ պարագաներ </a:t>
                      </a:r>
                      <a:endParaRPr sz="1800"/>
                    </a:p>
                  </a:txBody>
                  <a:tcPr marT="0" marB="0" marR="0" marL="0" anchor="ctr"/>
                </a:tc>
                <a:tc gridSpan="2">
                  <a:txBody>
                    <a:bodyPr/>
                    <a:lstStyle/>
                    <a:p>
                      <a:pPr indent="0" lvl="0" marL="0" marR="0" rtl="0" algn="ctr">
                        <a:lnSpc>
                          <a:spcPct val="150000"/>
                        </a:lnSpc>
                        <a:spcBef>
                          <a:spcPts val="0"/>
                        </a:spcBef>
                        <a:spcAft>
                          <a:spcPts val="0"/>
                        </a:spcAft>
                        <a:buNone/>
                      </a:pPr>
                      <a:r>
                        <a:rPr lang="en-US" sz="1200"/>
                        <a:t>Այո </a:t>
                      </a:r>
                      <a:endParaRPr sz="1800"/>
                    </a:p>
                    <a:p>
                      <a:pPr indent="0" lvl="0" marL="0" marR="0" rtl="0" algn="ctr">
                        <a:lnSpc>
                          <a:spcPct val="150000"/>
                        </a:lnSpc>
                        <a:spcBef>
                          <a:spcPts val="0"/>
                        </a:spcBef>
                        <a:spcAft>
                          <a:spcPts val="0"/>
                        </a:spcAft>
                        <a:buNone/>
                      </a:pPr>
                      <a:r>
                        <a:rPr lang="en-US" sz="1200" u="sng"/>
                        <a:t>Ոչ</a:t>
                      </a:r>
                      <a:r>
                        <a:rPr lang="en-US" sz="1200"/>
                        <a:t> </a:t>
                      </a:r>
                      <a:endParaRPr sz="1800"/>
                    </a:p>
                  </a:txBody>
                  <a:tcPr marT="0" marB="0" marR="0" marL="0" anchor="ctr"/>
                </a:tc>
                <a:tc hMerge="1"/>
                <a:tc>
                  <a:txBody>
                    <a:bodyPr/>
                    <a:lstStyle/>
                    <a:p>
                      <a:pPr indent="0" lvl="0" marL="0" marR="0" rtl="0" algn="ctr">
                        <a:lnSpc>
                          <a:spcPct val="150000"/>
                        </a:lnSpc>
                        <a:spcBef>
                          <a:spcPts val="0"/>
                        </a:spcBef>
                        <a:spcAft>
                          <a:spcPts val="0"/>
                        </a:spcAft>
                        <a:buNone/>
                      </a:pPr>
                      <a:r>
                        <a:rPr lang="en-US" sz="1200"/>
                        <a:t>բավարար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առկա է </a:t>
                      </a:r>
                      <a:endParaRPr sz="1800"/>
                    </a:p>
                  </a:txBody>
                  <a:tcPr marT="0" marB="0" marR="0" marL="0" anchor="ctr"/>
                </a:tc>
              </a:tr>
            </a:tbl>
          </a:graphicData>
        </a:graphic>
      </p:graphicFrame>
      <p:sp>
        <p:nvSpPr>
          <p:cNvPr id="337" name="Google Shape;337;p40"/>
          <p:cNvSpPr txBox="1"/>
          <p:nvPr/>
        </p:nvSpPr>
        <p:spPr>
          <a:xfrm>
            <a:off x="1420125" y="5313363"/>
            <a:ext cx="8160302"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Վիճակը բավարար է, կարող է տրամադրել առաջին անհրաժեշտության բուժօգնություն:</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p41"/>
          <p:cNvPicPr preferRelativeResize="0"/>
          <p:nvPr/>
        </p:nvPicPr>
        <p:blipFill rotWithShape="1">
          <a:blip r:embed="rId3">
            <a:alphaModFix/>
          </a:blip>
          <a:srcRect b="-2500" l="-241" r="8186" t="18750"/>
          <a:stretch/>
        </p:blipFill>
        <p:spPr>
          <a:xfrm>
            <a:off x="1995921" y="762569"/>
            <a:ext cx="8313112" cy="912530"/>
          </a:xfrm>
          <a:prstGeom prst="rect">
            <a:avLst/>
          </a:prstGeom>
          <a:noFill/>
          <a:ln>
            <a:noFill/>
          </a:ln>
        </p:spPr>
      </p:pic>
      <p:pic>
        <p:nvPicPr>
          <p:cNvPr id="344" name="Google Shape;344;p41"/>
          <p:cNvPicPr preferRelativeResize="0"/>
          <p:nvPr/>
        </p:nvPicPr>
        <p:blipFill rotWithShape="1">
          <a:blip r:embed="rId4">
            <a:alphaModFix/>
          </a:blip>
          <a:srcRect b="27160" l="3193" r="5619" t="48148"/>
          <a:stretch/>
        </p:blipFill>
        <p:spPr>
          <a:xfrm>
            <a:off x="2430746" y="3669385"/>
            <a:ext cx="8114848" cy="909101"/>
          </a:xfrm>
          <a:prstGeom prst="rect">
            <a:avLst/>
          </a:prstGeom>
          <a:noFill/>
          <a:ln>
            <a:noFill/>
          </a:ln>
        </p:spPr>
      </p:pic>
      <p:sp>
        <p:nvSpPr>
          <p:cNvPr id="345" name="Google Shape;345;p41"/>
          <p:cNvSpPr txBox="1"/>
          <p:nvPr/>
        </p:nvSpPr>
        <p:spPr>
          <a:xfrm>
            <a:off x="2382608" y="2686249"/>
            <a:ext cx="82065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entury Gothic"/>
                <a:ea typeface="Century Gothic"/>
                <a:cs typeface="Century Gothic"/>
                <a:sym typeface="Century Gothic"/>
              </a:rPr>
              <a:t>Տարածքը ապահով է, ցանկապատված և ունի դարպաս:</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42"/>
          <p:cNvPicPr preferRelativeResize="0"/>
          <p:nvPr/>
        </p:nvPicPr>
        <p:blipFill rotWithShape="1">
          <a:blip r:embed="rId3">
            <a:alphaModFix/>
          </a:blip>
          <a:srcRect b="0" l="0" r="0" t="0"/>
          <a:stretch/>
        </p:blipFill>
        <p:spPr>
          <a:xfrm>
            <a:off x="1940968" y="761550"/>
            <a:ext cx="8593997" cy="897563"/>
          </a:xfrm>
          <a:prstGeom prst="rect">
            <a:avLst/>
          </a:prstGeom>
          <a:noFill/>
          <a:ln>
            <a:noFill/>
          </a:ln>
        </p:spPr>
      </p:pic>
      <p:pic>
        <p:nvPicPr>
          <p:cNvPr descr="A picture containing table&#10;&#10;Description generated with very high confidence" id="352" name="Google Shape;352;p42"/>
          <p:cNvPicPr preferRelativeResize="0"/>
          <p:nvPr/>
        </p:nvPicPr>
        <p:blipFill rotWithShape="1">
          <a:blip r:embed="rId4">
            <a:alphaModFix/>
          </a:blip>
          <a:srcRect b="83562" l="0" r="0" t="0"/>
          <a:stretch/>
        </p:blipFill>
        <p:spPr>
          <a:xfrm>
            <a:off x="1750621" y="3340517"/>
            <a:ext cx="9416971" cy="68997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43"/>
          <p:cNvPicPr preferRelativeResize="0"/>
          <p:nvPr/>
        </p:nvPicPr>
        <p:blipFill rotWithShape="1">
          <a:blip r:embed="rId3">
            <a:alphaModFix/>
          </a:blip>
          <a:srcRect b="0" l="0" r="0" t="0"/>
          <a:stretch/>
        </p:blipFill>
        <p:spPr>
          <a:xfrm>
            <a:off x="1956974" y="542701"/>
            <a:ext cx="9138429" cy="1274524"/>
          </a:xfrm>
          <a:prstGeom prst="rect">
            <a:avLst/>
          </a:prstGeom>
          <a:noFill/>
          <a:ln>
            <a:noFill/>
          </a:ln>
        </p:spPr>
      </p:pic>
      <p:pic>
        <p:nvPicPr>
          <p:cNvPr id="359" name="Google Shape;359;p43"/>
          <p:cNvPicPr preferRelativeResize="0"/>
          <p:nvPr/>
        </p:nvPicPr>
        <p:blipFill rotWithShape="1">
          <a:blip r:embed="rId4">
            <a:alphaModFix/>
          </a:blip>
          <a:srcRect b="0" l="0" r="0" t="12103"/>
          <a:stretch/>
        </p:blipFill>
        <p:spPr>
          <a:xfrm>
            <a:off x="1795735" y="2621919"/>
            <a:ext cx="9446322" cy="4236081"/>
          </a:xfrm>
          <a:prstGeom prst="rect">
            <a:avLst/>
          </a:prstGeom>
          <a:noFill/>
          <a:ln>
            <a:noFill/>
          </a:ln>
        </p:spPr>
      </p:pic>
      <p:sp>
        <p:nvSpPr>
          <p:cNvPr id="360" name="Google Shape;360;p43"/>
          <p:cNvSpPr txBox="1"/>
          <p:nvPr/>
        </p:nvSpPr>
        <p:spPr>
          <a:xfrm>
            <a:off x="1886673" y="2037144"/>
            <a:ext cx="9167150" cy="584775"/>
          </a:xfrm>
          <a:prstGeom prst="rect">
            <a:avLst/>
          </a:prstGeom>
          <a:noFill/>
          <a:ln>
            <a:noFill/>
          </a:ln>
        </p:spPr>
        <p:txBody>
          <a:bodyPr anchorCtr="0" anchor="t" bIns="45700" lIns="91425" spcFirstLastPara="1" rIns="91425" wrap="square" tIns="45700">
            <a:spAutoFit/>
          </a:bodyPr>
          <a:lstStyle/>
          <a:p>
            <a:pPr indent="-115888" lvl="0" marL="115888" marR="0" rtl="0" algn="l">
              <a:spcBef>
                <a:spcPts val="0"/>
              </a:spcBef>
              <a:spcAft>
                <a:spcPts val="0"/>
              </a:spcAft>
              <a:buClr>
                <a:schemeClr val="dk1"/>
              </a:buClr>
              <a:buSzPts val="1600"/>
              <a:buFont typeface="Arial"/>
              <a:buChar char="•"/>
            </a:pPr>
            <a:r>
              <a:rPr lang="en-US" sz="1600">
                <a:solidFill>
                  <a:schemeClr val="dk1"/>
                </a:solidFill>
                <a:latin typeface="Century Gothic"/>
                <a:ea typeface="Century Gothic"/>
                <a:cs typeface="Century Gothic"/>
                <a:sym typeface="Century Gothic"/>
              </a:rPr>
              <a:t> Ուսումնական հաստատության շենքը հիմնանորոգված է և շենքի շահագործումը                                            համապատասխանում է շահագործման անվտանգության նորմատիվներին:</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p44"/>
          <p:cNvPicPr preferRelativeResize="0"/>
          <p:nvPr/>
        </p:nvPicPr>
        <p:blipFill rotWithShape="1">
          <a:blip r:embed="rId3">
            <a:alphaModFix/>
          </a:blip>
          <a:srcRect b="0" l="0" r="0" t="0"/>
          <a:stretch/>
        </p:blipFill>
        <p:spPr>
          <a:xfrm>
            <a:off x="1694597" y="644335"/>
            <a:ext cx="9708846" cy="1012529"/>
          </a:xfrm>
          <a:prstGeom prst="rect">
            <a:avLst/>
          </a:prstGeom>
          <a:noFill/>
          <a:ln>
            <a:noFill/>
          </a:ln>
        </p:spPr>
      </p:pic>
      <p:sp>
        <p:nvSpPr>
          <p:cNvPr id="367" name="Google Shape;367;p44"/>
          <p:cNvSpPr txBox="1"/>
          <p:nvPr/>
        </p:nvSpPr>
        <p:spPr>
          <a:xfrm>
            <a:off x="1694785" y="1784038"/>
            <a:ext cx="8925445" cy="4093428"/>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rgbClr val="000000"/>
              </a:buClr>
              <a:buSzPts val="2000"/>
              <a:buFont typeface="Arial"/>
              <a:buChar char="•"/>
            </a:pPr>
            <a:r>
              <a:rPr lang="en-US" sz="2000">
                <a:solidFill>
                  <a:srgbClr val="000000"/>
                </a:solidFill>
                <a:latin typeface="Merriweather"/>
                <a:ea typeface="Merriweather"/>
                <a:cs typeface="Merriweather"/>
                <a:sym typeface="Merriweather"/>
              </a:rPr>
              <a:t>Ոսումնական հաստատության կահույքը համապատասխանում է անվտանգ կենսագործունեության պահանջներին, ամուր և բարվոք վիճակում է: </a:t>
            </a:r>
            <a:endParaRPr sz="1800">
              <a:solidFill>
                <a:srgbClr val="000000"/>
              </a:solidFill>
              <a:latin typeface="Merriweather"/>
              <a:ea typeface="Merriweather"/>
              <a:cs typeface="Merriweather"/>
              <a:sym typeface="Merriweather"/>
            </a:endParaRPr>
          </a:p>
          <a:p>
            <a:pPr indent="-342900" lvl="0" marL="342900" marR="0" rtl="0" algn="just">
              <a:spcBef>
                <a:spcPts val="0"/>
              </a:spcBef>
              <a:spcAft>
                <a:spcPts val="0"/>
              </a:spcAft>
              <a:buClr>
                <a:srgbClr val="000000"/>
              </a:buClr>
              <a:buSzPts val="2000"/>
              <a:buFont typeface="Arial"/>
              <a:buChar char="•"/>
            </a:pPr>
            <a:r>
              <a:rPr lang="en-US" sz="2000">
                <a:solidFill>
                  <a:srgbClr val="000000"/>
                </a:solidFill>
                <a:latin typeface="Merriweather"/>
                <a:ea typeface="Merriweather"/>
                <a:cs typeface="Merriweather"/>
                <a:sym typeface="Merriweather"/>
              </a:rPr>
              <a:t>Ուսումնական հաստատությունում մշակված և առկա է սովորողների ու անձնակազմի տարհանման պլան, հաշմանդամների համար շենքային պայմանները հարմարեցված չեն: </a:t>
            </a:r>
            <a:endParaRPr sz="1800">
              <a:solidFill>
                <a:srgbClr val="000000"/>
              </a:solidFill>
              <a:latin typeface="Merriweather"/>
              <a:ea typeface="Merriweather"/>
              <a:cs typeface="Merriweather"/>
              <a:sym typeface="Merriweather"/>
            </a:endParaRPr>
          </a:p>
          <a:p>
            <a:pPr indent="-342900" lvl="0" marL="342900" marR="0" rtl="0" algn="just">
              <a:spcBef>
                <a:spcPts val="0"/>
              </a:spcBef>
              <a:spcAft>
                <a:spcPts val="0"/>
              </a:spcAft>
              <a:buClr>
                <a:srgbClr val="000000"/>
              </a:buClr>
              <a:buSzPts val="2000"/>
              <a:buFont typeface="Arial"/>
              <a:buChar char="•"/>
            </a:pPr>
            <a:r>
              <a:rPr lang="en-US" sz="2000">
                <a:solidFill>
                  <a:srgbClr val="000000"/>
                </a:solidFill>
                <a:latin typeface="Merriweather"/>
                <a:ea typeface="Merriweather"/>
                <a:cs typeface="Merriweather"/>
                <a:sym typeface="Merriweather"/>
              </a:rPr>
              <a:t>Ուսումնական հաստատության նախասրահում, բոլոր հարկերում, դասասենյակներում փակցված են տարհանման պլան-սխեմաները` համապատասխան գունային ցուցասլաքներով: Դրանց մասին բոլոր աշակերտները տեղեկացված են և փորձնական տարհանումների միջոցով աշակերտները գիտեն/սովորում են օգտվել դրանցից. </a:t>
            </a:r>
            <a:endParaRPr sz="1800">
              <a:solidFill>
                <a:srgbClr val="0BD0D9"/>
              </a:solidFill>
              <a:latin typeface="Merriweather"/>
              <a:ea typeface="Merriweather"/>
              <a:cs typeface="Merriweather"/>
              <a:sym typeface="Merriweather"/>
            </a:endParaRPr>
          </a:p>
          <a:p>
            <a:pPr indent="-342900" lvl="0" marL="342900" marR="0" rtl="0" algn="just">
              <a:spcBef>
                <a:spcPts val="0"/>
              </a:spcBef>
              <a:spcAft>
                <a:spcPts val="0"/>
              </a:spcAft>
              <a:buClr>
                <a:srgbClr val="000000"/>
              </a:buClr>
              <a:buSzPts val="2000"/>
              <a:buFont typeface="Arial"/>
              <a:buChar char="•"/>
            </a:pPr>
            <a:r>
              <a:rPr lang="en-US" sz="2000">
                <a:solidFill>
                  <a:srgbClr val="000000"/>
                </a:solidFill>
                <a:latin typeface="Merriweather"/>
                <a:ea typeface="Merriweather"/>
                <a:cs typeface="Merriweather"/>
                <a:sym typeface="Merriweather"/>
              </a:rPr>
              <a:t>Ուսումնական  հաստատության տարհանման ուղիները ազատ են ավելորդ իրերից և արգելափակված չեն ծանր իրերով: </a:t>
            </a:r>
            <a:r>
              <a:rPr lang="en-US" sz="1800">
                <a:solidFill>
                  <a:srgbClr val="000000"/>
                </a:solidFill>
                <a:latin typeface="Merriweather"/>
                <a:ea typeface="Merriweather"/>
                <a:cs typeface="Merriweather"/>
                <a:sym typeface="Merriweather"/>
              </a:rPr>
              <a:t> </a:t>
            </a:r>
            <a:endParaRPr sz="1800">
              <a:solidFill>
                <a:srgbClr val="000000"/>
              </a:solidFill>
              <a:latin typeface="Merriweather"/>
              <a:ea typeface="Merriweather"/>
              <a:cs typeface="Merriweather"/>
              <a:sym typeface="Merriweath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5"/>
          <p:cNvSpPr txBox="1"/>
          <p:nvPr/>
        </p:nvSpPr>
        <p:spPr>
          <a:xfrm>
            <a:off x="-49213" y="0"/>
            <a:ext cx="12234553" cy="27699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1200">
                <a:solidFill>
                  <a:schemeClr val="dk1"/>
                </a:solidFill>
                <a:latin typeface="Merriweather"/>
                <a:ea typeface="Merriweather"/>
                <a:cs typeface="Merriweather"/>
                <a:sym typeface="Merriweather"/>
              </a:rPr>
              <a:t>Աղյուսակ 17. Տվյալներ ուսումնական հաստատության սովորողների ֆիզիկական, հոգեկան և սոցիալական    աողջությանն ուղղված աշխատանքների վերաբերյալ </a:t>
            </a:r>
            <a:endParaRPr b="1" i="1" sz="1400">
              <a:solidFill>
                <a:schemeClr val="dk1"/>
              </a:solidFill>
              <a:latin typeface="Merriweather"/>
              <a:ea typeface="Merriweather"/>
              <a:cs typeface="Merriweather"/>
              <a:sym typeface="Merriweather"/>
            </a:endParaRPr>
          </a:p>
        </p:txBody>
      </p:sp>
      <p:graphicFrame>
        <p:nvGraphicFramePr>
          <p:cNvPr id="374" name="Google Shape;374;p45"/>
          <p:cNvGraphicFramePr/>
          <p:nvPr/>
        </p:nvGraphicFramePr>
        <p:xfrm>
          <a:off x="0" y="1"/>
          <a:ext cx="3000000" cy="3000000"/>
        </p:xfrm>
        <a:graphic>
          <a:graphicData uri="http://schemas.openxmlformats.org/drawingml/2006/table">
            <a:tbl>
              <a:tblPr>
                <a:noFill/>
                <a:tableStyleId>{40B977D2-3903-41EF-8714-5AC59086702B}</a:tableStyleId>
              </a:tblPr>
              <a:tblGrid>
                <a:gridCol w="4738350"/>
                <a:gridCol w="991275"/>
                <a:gridCol w="1929700"/>
                <a:gridCol w="1467100"/>
                <a:gridCol w="277550"/>
                <a:gridCol w="1060675"/>
                <a:gridCol w="1506750"/>
              </a:tblGrid>
              <a:tr h="534700">
                <a:tc gridSpan="7">
                  <a:txBody>
                    <a:bodyPr/>
                    <a:lstStyle/>
                    <a:p>
                      <a:pPr indent="0" lvl="0" marL="0" marR="0" rtl="0" algn="just">
                        <a:lnSpc>
                          <a:spcPct val="150000"/>
                        </a:lnSpc>
                        <a:spcBef>
                          <a:spcPts val="0"/>
                        </a:spcBef>
                        <a:spcAft>
                          <a:spcPts val="0"/>
                        </a:spcAft>
                        <a:buNone/>
                      </a:pPr>
                      <a:r>
                        <a:rPr lang="en-US" sz="1100"/>
                        <a:t>Ալկոհոլի, ծխախոտի, թմրամիջոցների և հոգեմետ նյութերի օգտագործումն կանխարգելելու ուղղությամբ իրականացված ուսումնական ծրագրերը և միջոցառումները </a:t>
                      </a:r>
                      <a:endParaRPr sz="1800"/>
                    </a:p>
                  </a:txBody>
                  <a:tcPr marT="0" marB="0" marR="0" marL="0" anchor="ctr"/>
                </a:tc>
                <a:tc hMerge="1"/>
                <a:tc hMerge="1"/>
                <a:tc hMerge="1"/>
                <a:tc hMerge="1"/>
                <a:tc hMerge="1"/>
                <a:tc hMerge="1"/>
              </a:tr>
              <a:tr h="267425">
                <a:tc gridSpan="3">
                  <a:txBody>
                    <a:bodyPr/>
                    <a:lstStyle/>
                    <a:p>
                      <a:pPr indent="0" lvl="0" marL="0" marR="0" rtl="0" algn="just">
                        <a:lnSpc>
                          <a:spcPct val="150000"/>
                        </a:lnSpc>
                        <a:spcBef>
                          <a:spcPts val="0"/>
                        </a:spcBef>
                        <a:spcAft>
                          <a:spcPts val="0"/>
                        </a:spcAft>
                        <a:buNone/>
                      </a:pPr>
                      <a:r>
                        <a:rPr lang="en-US" sz="1100"/>
                        <a:t>Ծրագիրը կամ միջոցառումը </a:t>
                      </a:r>
                      <a:endParaRPr sz="1800"/>
                    </a:p>
                  </a:txBody>
                  <a:tcPr marT="0" marB="0" marR="0" marL="0" anchor="ctr"/>
                </a:tc>
                <a:tc hMerge="1"/>
                <a:tc hMerge="1"/>
                <a:tc gridSpan="2">
                  <a:txBody>
                    <a:bodyPr/>
                    <a:lstStyle/>
                    <a:p>
                      <a:pPr indent="0" lvl="0" marL="0" marR="0" rtl="0" algn="just">
                        <a:lnSpc>
                          <a:spcPct val="150000"/>
                        </a:lnSpc>
                        <a:spcBef>
                          <a:spcPts val="0"/>
                        </a:spcBef>
                        <a:spcAft>
                          <a:spcPts val="0"/>
                        </a:spcAft>
                        <a:buNone/>
                      </a:pPr>
                      <a:r>
                        <a:rPr lang="en-US" sz="1100"/>
                        <a:t>Ամսաթիվը </a:t>
                      </a:r>
                      <a:endParaRPr sz="1800"/>
                    </a:p>
                  </a:txBody>
                  <a:tcPr marT="0" marB="0" marR="0" marL="0" anchor="ctr"/>
                </a:tc>
                <a:tc hMerge="1"/>
                <a:tc gridSpan="2">
                  <a:txBody>
                    <a:bodyPr/>
                    <a:lstStyle/>
                    <a:p>
                      <a:pPr indent="0" lvl="0" marL="0" marR="0" rtl="0" algn="just">
                        <a:lnSpc>
                          <a:spcPct val="150000"/>
                        </a:lnSpc>
                        <a:spcBef>
                          <a:spcPts val="0"/>
                        </a:spcBef>
                        <a:spcAft>
                          <a:spcPts val="0"/>
                        </a:spcAft>
                        <a:buNone/>
                      </a:pPr>
                      <a:r>
                        <a:rPr lang="en-US" sz="1100"/>
                        <a:t>Դասարանը </a:t>
                      </a:r>
                      <a:endParaRPr sz="1800"/>
                    </a:p>
                  </a:txBody>
                  <a:tcPr marT="0" marB="0" marR="0" marL="0" anchor="ctr"/>
                </a:tc>
                <a:tc hMerge="1"/>
              </a:tr>
              <a:tr h="734700">
                <a:tc gridSpan="3">
                  <a:txBody>
                    <a:bodyPr/>
                    <a:lstStyle/>
                    <a:p>
                      <a:pPr indent="-347472" lvl="0" marL="347472" marR="0" rtl="0" algn="just">
                        <a:lnSpc>
                          <a:spcPct val="150000"/>
                        </a:lnSpc>
                        <a:spcBef>
                          <a:spcPts val="0"/>
                        </a:spcBef>
                        <a:spcAft>
                          <a:spcPts val="0"/>
                        </a:spcAft>
                        <a:buNone/>
                      </a:pPr>
                      <a:r>
                        <a:rPr lang="en-US" sz="1100"/>
                        <a:t>1․ Մասնակցություն «ՀՀ մարզերի և Երևան քաղաքի հանրակրթական դպրոցների 7-12-րդ դասարանների աշակերտների միջև սպարտակիադա» մարզական միջոցառման ֆուտզալ մարզաձևի քաղաքային փուլին</a:t>
                      </a:r>
                      <a:endParaRPr sz="1800"/>
                    </a:p>
                  </a:txBody>
                  <a:tcPr marT="0" marB="0" marR="0" marL="0" anchor="ctr"/>
                </a:tc>
                <a:tc hMerge="1"/>
                <a:tc hMerge="1"/>
                <a:tc gridSpan="2">
                  <a:txBody>
                    <a:bodyPr/>
                    <a:lstStyle/>
                    <a:p>
                      <a:pPr indent="0" lvl="0" marL="0" marR="0" rtl="0" algn="just">
                        <a:lnSpc>
                          <a:spcPct val="150000"/>
                        </a:lnSpc>
                        <a:spcBef>
                          <a:spcPts val="0"/>
                        </a:spcBef>
                        <a:spcAft>
                          <a:spcPts val="0"/>
                        </a:spcAft>
                        <a:buNone/>
                      </a:pPr>
                      <a:r>
                        <a:rPr lang="en-US" sz="1100"/>
                        <a:t>Սեպտեմբեր 2025թ. </a:t>
                      </a:r>
                      <a:endParaRPr sz="1800"/>
                    </a:p>
                  </a:txBody>
                  <a:tcPr marT="0" marB="0" marR="0" marL="0" anchor="ctr"/>
                </a:tc>
                <a:tc hMerge="1"/>
                <a:tc gridSpan="2">
                  <a:txBody>
                    <a:bodyPr/>
                    <a:lstStyle/>
                    <a:p>
                      <a:pPr indent="0" lvl="0" marL="0" marR="0" rtl="0" algn="just">
                        <a:lnSpc>
                          <a:spcPct val="150000"/>
                        </a:lnSpc>
                        <a:spcBef>
                          <a:spcPts val="0"/>
                        </a:spcBef>
                        <a:spcAft>
                          <a:spcPts val="0"/>
                        </a:spcAft>
                        <a:buNone/>
                      </a:pPr>
                      <a:r>
                        <a:rPr lang="en-US" sz="1100"/>
                        <a:t>10-12-րդ դասարաններ </a:t>
                      </a:r>
                      <a:endParaRPr sz="1800"/>
                    </a:p>
                  </a:txBody>
                  <a:tcPr marT="0" marB="0" marR="0" marL="0" anchor="ctr"/>
                </a:tc>
                <a:tc hMerge="1"/>
              </a:tr>
              <a:tr h="666600">
                <a:tc gridSpan="3">
                  <a:txBody>
                    <a:bodyPr/>
                    <a:lstStyle/>
                    <a:p>
                      <a:pPr indent="-347472" lvl="0" marL="347472" marR="0" rtl="0" algn="just">
                        <a:lnSpc>
                          <a:spcPct val="150000"/>
                        </a:lnSpc>
                        <a:spcBef>
                          <a:spcPts val="0"/>
                        </a:spcBef>
                        <a:spcAft>
                          <a:spcPts val="0"/>
                        </a:spcAft>
                        <a:buNone/>
                      </a:pPr>
                      <a:r>
                        <a:rPr lang="en-US" sz="1100"/>
                        <a:t>2. Իրազեկման դասեր անցկացվեց «Ճանապարհային երթևեկության անվտանգություն»  և «Թմրամիջոցների ապօրինի շրջանառության կանխարգելման գործողություններ անչափահասների շրջանում» թեմաներով  ՝ դպրոցի տարբեր դասարանների սովորողների հետ «Անվտանգ և ապահով կրթության տարի» տարվա կարգախոսի շրջանակներում</a:t>
                      </a:r>
                      <a:endParaRPr sz="1800"/>
                    </a:p>
                  </a:txBody>
                  <a:tcPr marT="0" marB="0" marR="0" marL="0" anchor="ctr"/>
                </a:tc>
                <a:tc hMerge="1"/>
                <a:tc hMerge="1"/>
                <a:tc gridSpan="2">
                  <a:txBody>
                    <a:bodyPr/>
                    <a:lstStyle/>
                    <a:p>
                      <a:pPr indent="0" lvl="0" marL="0" marR="0" rtl="0" algn="just">
                        <a:lnSpc>
                          <a:spcPct val="150000"/>
                        </a:lnSpc>
                        <a:spcBef>
                          <a:spcPts val="0"/>
                        </a:spcBef>
                        <a:spcAft>
                          <a:spcPts val="0"/>
                        </a:spcAft>
                        <a:buNone/>
                      </a:pPr>
                      <a:r>
                        <a:t/>
                      </a:r>
                      <a:endParaRPr sz="1100"/>
                    </a:p>
                    <a:p>
                      <a:pPr indent="0" lvl="0" marL="0" marR="0" rtl="0" algn="just">
                        <a:lnSpc>
                          <a:spcPct val="150000"/>
                        </a:lnSpc>
                        <a:spcBef>
                          <a:spcPts val="0"/>
                        </a:spcBef>
                        <a:spcAft>
                          <a:spcPts val="0"/>
                        </a:spcAft>
                        <a:buNone/>
                      </a:pPr>
                      <a:r>
                        <a:rPr lang="en-US" sz="1100"/>
                        <a:t>Մարտ 2026թ </a:t>
                      </a:r>
                      <a:endParaRPr sz="1800"/>
                    </a:p>
                  </a:txBody>
                  <a:tcPr marT="0" marB="0" marR="0" marL="0" anchor="ctr"/>
                </a:tc>
                <a:tc hMerge="1"/>
                <a:tc gridSpan="2">
                  <a:txBody>
                    <a:bodyPr/>
                    <a:lstStyle/>
                    <a:p>
                      <a:pPr indent="0" lvl="0" marL="0" marR="0" rtl="0" algn="just">
                        <a:lnSpc>
                          <a:spcPct val="150000"/>
                        </a:lnSpc>
                        <a:spcBef>
                          <a:spcPts val="0"/>
                        </a:spcBef>
                        <a:spcAft>
                          <a:spcPts val="0"/>
                        </a:spcAft>
                        <a:buNone/>
                      </a:pPr>
                      <a:r>
                        <a:rPr lang="en-US" sz="1100"/>
                        <a:t>10-11-րդ դասարաններ </a:t>
                      </a:r>
                      <a:endParaRPr sz="1800"/>
                    </a:p>
                  </a:txBody>
                  <a:tcPr marT="0" marB="0" marR="0" marL="0" anchor="ctr"/>
                </a:tc>
                <a:tc hMerge="1"/>
              </a:tr>
              <a:tr h="469050">
                <a:tc gridSpan="3">
                  <a:txBody>
                    <a:bodyPr/>
                    <a:lstStyle/>
                    <a:p>
                      <a:pPr indent="0" lvl="0" marL="457200" marR="0" rtl="0" algn="just">
                        <a:lnSpc>
                          <a:spcPct val="150000"/>
                        </a:lnSpc>
                        <a:spcBef>
                          <a:spcPts val="0"/>
                        </a:spcBef>
                        <a:spcAft>
                          <a:spcPts val="0"/>
                        </a:spcAft>
                        <a:buNone/>
                      </a:pPr>
                      <a:r>
                        <a:rPr lang="en-US" sz="1100"/>
                        <a:t>Քննարկումներ  &lt;&lt;Բուլինգի</a:t>
                      </a:r>
                      <a:r>
                        <a:rPr lang="en-US" sz="1100"/>
                        <a:t> մասին&gt;&gt; ԱԽ նախաձեռնությամբ</a:t>
                      </a:r>
                      <a:endParaRPr sz="1100"/>
                    </a:p>
                  </a:txBody>
                  <a:tcPr marT="0" marB="0" marR="0" marL="0" anchor="ctr"/>
                </a:tc>
                <a:tc hMerge="1"/>
                <a:tc hMerge="1"/>
                <a:tc gridSpan="2">
                  <a:txBody>
                    <a:bodyPr/>
                    <a:lstStyle/>
                    <a:p>
                      <a:pPr indent="0" lvl="0" marL="0" marR="0" rtl="0" algn="just">
                        <a:lnSpc>
                          <a:spcPct val="150000"/>
                        </a:lnSpc>
                        <a:spcBef>
                          <a:spcPts val="0"/>
                        </a:spcBef>
                        <a:spcAft>
                          <a:spcPts val="0"/>
                        </a:spcAft>
                        <a:buNone/>
                      </a:pPr>
                      <a:r>
                        <a:rPr lang="en-US" sz="1100"/>
                        <a:t>Ապրիլ 2026թ</a:t>
                      </a:r>
                      <a:endParaRPr sz="1100"/>
                    </a:p>
                  </a:txBody>
                  <a:tcPr marT="0" marB="0" marR="0" marL="0" anchor="ctr"/>
                </a:tc>
                <a:tc hMerge="1"/>
                <a:tc gridSpan="2">
                  <a:txBody>
                    <a:bodyPr/>
                    <a:lstStyle/>
                    <a:p>
                      <a:pPr indent="0" lvl="0" marL="0" marR="0" rtl="0" algn="just">
                        <a:lnSpc>
                          <a:spcPct val="150000"/>
                        </a:lnSpc>
                        <a:spcBef>
                          <a:spcPts val="0"/>
                        </a:spcBef>
                        <a:spcAft>
                          <a:spcPts val="0"/>
                        </a:spcAft>
                        <a:buNone/>
                      </a:pPr>
                      <a:r>
                        <a:rPr lang="en-US" sz="1100"/>
                        <a:t>10-12-րդ դասարաններ</a:t>
                      </a:r>
                      <a:endParaRPr sz="1100"/>
                    </a:p>
                  </a:txBody>
                  <a:tcPr marT="0" marB="0" marR="0" marL="0" anchor="ctr"/>
                </a:tc>
                <a:tc hMerge="1"/>
              </a:tr>
              <a:tr h="267425">
                <a:tc gridSpan="3">
                  <a:txBody>
                    <a:bodyPr/>
                    <a:lstStyle/>
                    <a:p>
                      <a:pPr indent="-347345" lvl="0" marL="347345" marR="0" rtl="0" algn="just">
                        <a:lnSpc>
                          <a:spcPct val="150000"/>
                        </a:lnSpc>
                        <a:spcBef>
                          <a:spcPts val="0"/>
                        </a:spcBef>
                        <a:spcAft>
                          <a:spcPts val="0"/>
                        </a:spcAft>
                        <a:buNone/>
                      </a:pPr>
                      <a:r>
                        <a:rPr lang="en-US" sz="1100"/>
                        <a:t>1.Դասղեկի ժամեր , բանվեճեր, զրույցներ</a:t>
                      </a:r>
                      <a:endParaRPr sz="1800"/>
                    </a:p>
                  </a:txBody>
                  <a:tcPr marT="0" marB="0" marR="0" marL="0" anchor="ctr"/>
                </a:tc>
                <a:tc hMerge="1"/>
                <a:tc hMerge="1"/>
                <a:tc gridSpan="2">
                  <a:txBody>
                    <a:bodyPr/>
                    <a:lstStyle/>
                    <a:p>
                      <a:pPr indent="0" lvl="0" marL="0" marR="0" rtl="0" algn="just">
                        <a:lnSpc>
                          <a:spcPct val="150000"/>
                        </a:lnSpc>
                        <a:spcBef>
                          <a:spcPts val="0"/>
                        </a:spcBef>
                        <a:spcAft>
                          <a:spcPts val="0"/>
                        </a:spcAft>
                        <a:buNone/>
                      </a:pPr>
                      <a:r>
                        <a:rPr lang="en-US" sz="1100"/>
                        <a:t>Տարվա ընթացքում </a:t>
                      </a:r>
                      <a:endParaRPr sz="1800"/>
                    </a:p>
                  </a:txBody>
                  <a:tcPr marT="0" marB="0" marR="0" marL="0" anchor="ctr"/>
                </a:tc>
                <a:tc hMerge="1"/>
                <a:tc gridSpan="2">
                  <a:txBody>
                    <a:bodyPr/>
                    <a:lstStyle/>
                    <a:p>
                      <a:pPr indent="0" lvl="0" marL="0" marR="0" rtl="0" algn="just">
                        <a:lnSpc>
                          <a:spcPct val="150000"/>
                        </a:lnSpc>
                        <a:spcBef>
                          <a:spcPts val="0"/>
                        </a:spcBef>
                        <a:spcAft>
                          <a:spcPts val="0"/>
                        </a:spcAft>
                        <a:buNone/>
                      </a:pPr>
                      <a:r>
                        <a:rPr lang="en-US" sz="1100"/>
                        <a:t>10-12-րդ դասարաններ: </a:t>
                      </a:r>
                      <a:endParaRPr sz="1800"/>
                    </a:p>
                  </a:txBody>
                  <a:tcPr marT="0" marB="0" marR="0" marL="0" anchor="ctr"/>
                </a:tc>
                <a:tc hMerge="1"/>
              </a:tr>
              <a:tr h="802125">
                <a:tc gridSpan="7">
                  <a:txBody>
                    <a:bodyPr/>
                    <a:lstStyle/>
                    <a:p>
                      <a:pPr indent="0" lvl="0" marL="0" marR="0" rtl="0" algn="just">
                        <a:lnSpc>
                          <a:spcPct val="150000"/>
                        </a:lnSpc>
                        <a:spcBef>
                          <a:spcPts val="0"/>
                        </a:spcBef>
                        <a:spcAft>
                          <a:spcPts val="0"/>
                        </a:spcAft>
                        <a:buNone/>
                      </a:pPr>
                      <a:r>
                        <a:rPr lang="en-US" sz="1100"/>
                        <a:t>Ուսումնական հասատության կողմից երեխայի խնամքի ու դաստիարակության, ընտանիքում ծնողական պարտականությունների նկատմամբ պատասխանատվության բարձրացման, ինչպես նաև բռնության, ֆիզիկական կամ հոգեբանական ճնշման բացառման, երեխային զարգացման համար անվտանգ միջավայրի ձևավորման հարցերի վերաբերյալ ծնողների իրազեկմանն ուղղված միջոցառումներ և մեխանիզմներ </a:t>
                      </a:r>
                      <a:endParaRPr sz="1800"/>
                    </a:p>
                  </a:txBody>
                  <a:tcPr marT="0" marB="0" marR="0" marL="0" anchor="ctr"/>
                </a:tc>
                <a:tc hMerge="1"/>
                <a:tc hMerge="1"/>
                <a:tc hMerge="1"/>
                <a:tc hMerge="1"/>
                <a:tc hMerge="1"/>
                <a:tc hMerge="1"/>
              </a:tr>
              <a:tr h="298900">
                <a:tc>
                  <a:txBody>
                    <a:bodyPr/>
                    <a:lstStyle/>
                    <a:p>
                      <a:pPr indent="0" lvl="0" marL="0" marR="0" rtl="0" algn="just">
                        <a:lnSpc>
                          <a:spcPct val="150000"/>
                        </a:lnSpc>
                        <a:spcBef>
                          <a:spcPts val="0"/>
                        </a:spcBef>
                        <a:spcAft>
                          <a:spcPts val="0"/>
                        </a:spcAft>
                        <a:buNone/>
                      </a:pPr>
                      <a:r>
                        <a:rPr lang="en-US" sz="1100"/>
                        <a:t>Միջոցառում </a:t>
                      </a:r>
                      <a:endParaRPr sz="1800"/>
                    </a:p>
                  </a:txBody>
                  <a:tcPr marT="0" marB="0" marR="0" marL="0" anchor="ctr"/>
                </a:tc>
                <a:tc>
                  <a:txBody>
                    <a:bodyPr/>
                    <a:lstStyle/>
                    <a:p>
                      <a:pPr indent="0" lvl="0" marL="0" marR="0" rtl="0" algn="l">
                        <a:lnSpc>
                          <a:spcPct val="150000"/>
                        </a:lnSpc>
                        <a:spcBef>
                          <a:spcPts val="0"/>
                        </a:spcBef>
                        <a:spcAft>
                          <a:spcPts val="0"/>
                        </a:spcAft>
                        <a:buNone/>
                      </a:pPr>
                      <a:r>
                        <a:rPr lang="en-US" sz="1100"/>
                        <a:t>Ամսաթիվ </a:t>
                      </a:r>
                      <a:endParaRPr sz="1800"/>
                    </a:p>
                  </a:txBody>
                  <a:tcPr marT="0" marB="0" marR="0" marL="0" anchor="ctr"/>
                </a:tc>
                <a:tc>
                  <a:txBody>
                    <a:bodyPr/>
                    <a:lstStyle/>
                    <a:p>
                      <a:pPr indent="0" lvl="0" marL="0" marR="0" rtl="0" algn="l">
                        <a:lnSpc>
                          <a:spcPct val="150000"/>
                        </a:lnSpc>
                        <a:spcBef>
                          <a:spcPts val="0"/>
                        </a:spcBef>
                        <a:spcAft>
                          <a:spcPts val="0"/>
                        </a:spcAft>
                        <a:buNone/>
                      </a:pPr>
                      <a:r>
                        <a:rPr lang="en-US" sz="1100"/>
                        <a:t>Մասնակիցների թիվը </a:t>
                      </a:r>
                      <a:endParaRPr sz="1800"/>
                    </a:p>
                  </a:txBody>
                  <a:tcPr marT="0" marB="0" marR="0" marL="0" anchor="ctr"/>
                </a:tc>
                <a:tc gridSpan="4">
                  <a:txBody>
                    <a:bodyPr/>
                    <a:lstStyle/>
                    <a:p>
                      <a:pPr indent="0" lvl="0" marL="0" marR="0" rtl="0" algn="just">
                        <a:lnSpc>
                          <a:spcPct val="150000"/>
                        </a:lnSpc>
                        <a:spcBef>
                          <a:spcPts val="0"/>
                        </a:spcBef>
                        <a:spcAft>
                          <a:spcPts val="0"/>
                        </a:spcAft>
                        <a:buNone/>
                      </a:pPr>
                      <a:r>
                        <a:rPr lang="en-US" sz="1100"/>
                        <a:t>Առաջադրված մեխանիզմ </a:t>
                      </a:r>
                      <a:endParaRPr sz="1800"/>
                    </a:p>
                  </a:txBody>
                  <a:tcPr marT="0" marB="0" marR="0" marL="0" anchor="ctr"/>
                </a:tc>
                <a:tc hMerge="1"/>
                <a:tc hMerge="1"/>
                <a:tc hMerge="1"/>
              </a:tr>
              <a:tr h="1199850">
                <a:tc>
                  <a:txBody>
                    <a:bodyPr/>
                    <a:lstStyle/>
                    <a:p>
                      <a:pPr indent="-347345" lvl="0" marL="347345" marR="0" rtl="0" algn="l">
                        <a:lnSpc>
                          <a:spcPct val="150000"/>
                        </a:lnSpc>
                        <a:spcBef>
                          <a:spcPts val="0"/>
                        </a:spcBef>
                        <a:spcAft>
                          <a:spcPts val="0"/>
                        </a:spcAft>
                        <a:buNone/>
                      </a:pPr>
                      <a:r>
                        <a:rPr lang="en-US" sz="1100"/>
                        <a:t>       1․ Ծնողական խորհրդի նիստեր՝&lt;&lt;Դպրոց-ընտանիք կապի ամրապնդում&gt;&gt; </a:t>
                      </a:r>
                      <a:endParaRPr sz="1800"/>
                    </a:p>
                    <a:p>
                      <a:pPr indent="0" lvl="0" marL="228600" marR="0" rtl="0" algn="l">
                        <a:lnSpc>
                          <a:spcPct val="150000"/>
                        </a:lnSpc>
                        <a:spcBef>
                          <a:spcPts val="0"/>
                        </a:spcBef>
                        <a:spcAft>
                          <a:spcPts val="0"/>
                        </a:spcAft>
                        <a:buNone/>
                      </a:pPr>
                      <a:r>
                        <a:rPr lang="en-US" sz="1100"/>
                        <a:t> 2.  </a:t>
                      </a:r>
                      <a:r>
                        <a:rPr lang="en-US" sz="1200"/>
                        <a:t>Մասնակցություն «Անվտանգ և ապահով կրթական միջավայր» ուսուցչական համաժողովին</a:t>
                      </a:r>
                      <a:endParaRPr/>
                    </a:p>
                    <a:p>
                      <a:pPr indent="0" lvl="0" marL="228600" marR="0" rtl="0" algn="l">
                        <a:lnSpc>
                          <a:spcPct val="150000"/>
                        </a:lnSpc>
                        <a:spcBef>
                          <a:spcPts val="0"/>
                        </a:spcBef>
                        <a:spcAft>
                          <a:spcPts val="0"/>
                        </a:spcAft>
                        <a:buNone/>
                      </a:pPr>
                      <a:r>
                        <a:rPr lang="en-US" sz="1200"/>
                        <a:t>  3․ Տարվա խորհրդին ընդառաջ՝ «Անվտանգ և ապահով կրթական միջավայր» թեմայով սեմինար</a:t>
                      </a:r>
                      <a:endParaRPr sz="1200"/>
                    </a:p>
                    <a:p>
                      <a:pPr indent="0" lvl="0" marL="228600" marR="0" rtl="0" algn="l">
                        <a:lnSpc>
                          <a:spcPct val="150000"/>
                        </a:lnSpc>
                        <a:spcBef>
                          <a:spcPts val="0"/>
                        </a:spcBef>
                        <a:spcAft>
                          <a:spcPts val="0"/>
                        </a:spcAft>
                        <a:buNone/>
                      </a:pPr>
                      <a:r>
                        <a:rPr lang="en-US" sz="1200"/>
                        <a:t>   4. «Կրթութան աջակցող միջոցներ` մատչելիություն և խելամիտ հարմարեցումներ» թեմայով դասընթաց Թիվ 4 ՏՄԱԿ- ի ներկայացուցիչ՝ Մ․Սմբատյանի կողմից։</a:t>
                      </a:r>
                      <a:endParaRPr/>
                    </a:p>
                    <a:p>
                      <a:pPr indent="0" lvl="0" marL="228600" marR="0" rtl="0" algn="l">
                        <a:lnSpc>
                          <a:spcPct val="150000"/>
                        </a:lnSpc>
                        <a:spcBef>
                          <a:spcPts val="0"/>
                        </a:spcBef>
                        <a:spcAft>
                          <a:spcPts val="0"/>
                        </a:spcAft>
                        <a:buNone/>
                      </a:pPr>
                      <a:r>
                        <a:rPr lang="en-US" sz="1200"/>
                        <a:t>5․</a:t>
                      </a:r>
                      <a:r>
                        <a:rPr lang="en-US" sz="1200"/>
                        <a:t> ԵՊՀ մանկավարժության և կրթության զարգացման կենտրոնի կողմից կազմակերպված &lt;&lt;Բուլինգի բացասական ներգործությունը սովորողների սոցիալականացման գործընթացի վրա&gt;&gt; թեմայով քննարկմանը մասնակցել է նաև մեր դպրոցի ԱԽ նախագահ, 12-րդ դասարանի սովորող Դավիթ Մելքումյանը։</a:t>
                      </a:r>
                      <a:endParaRPr/>
                    </a:p>
                    <a:p>
                      <a:pPr indent="0" lvl="0" marL="228600" marR="0" rtl="0" algn="l">
                        <a:lnSpc>
                          <a:spcPct val="150000"/>
                        </a:lnSpc>
                        <a:spcBef>
                          <a:spcPts val="0"/>
                        </a:spcBef>
                        <a:spcAft>
                          <a:spcPts val="0"/>
                        </a:spcAft>
                        <a:buNone/>
                      </a:pPr>
                      <a:r>
                        <a:rPr lang="en-US" sz="1200"/>
                        <a:t>6․ Մասնակցություն «Իմ ձայնը՝ հանուն ապահով և անվտանգ դպրոցի» աշակերտական համաժողովին</a:t>
                      </a:r>
                      <a:endParaRPr/>
                    </a:p>
                    <a:p>
                      <a:pPr indent="0" lvl="0" marL="228600" marR="0" rtl="0" algn="l">
                        <a:lnSpc>
                          <a:spcPct val="150000"/>
                        </a:lnSpc>
                        <a:spcBef>
                          <a:spcPts val="0"/>
                        </a:spcBef>
                        <a:spcAft>
                          <a:spcPts val="0"/>
                        </a:spcAft>
                        <a:buNone/>
                      </a:pPr>
                      <a:r>
                        <a:t/>
                      </a:r>
                      <a:endParaRPr sz="1200"/>
                    </a:p>
                  </a:txBody>
                  <a:tcPr marT="0" marB="0" marR="0" marL="0" anchor="ctr"/>
                </a:tc>
                <a:tc>
                  <a:txBody>
                    <a:bodyPr/>
                    <a:lstStyle/>
                    <a:p>
                      <a:pPr indent="0" lvl="0" marL="0" marR="0" rtl="0" algn="l">
                        <a:lnSpc>
                          <a:spcPct val="150000"/>
                        </a:lnSpc>
                        <a:spcBef>
                          <a:spcPts val="0"/>
                        </a:spcBef>
                        <a:spcAft>
                          <a:spcPts val="0"/>
                        </a:spcAft>
                        <a:buNone/>
                      </a:pPr>
                      <a:r>
                        <a:rPr lang="en-US" sz="1100"/>
                        <a:t>Տարվա ընթացքում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rPr lang="en-US" sz="1100"/>
                        <a:t>  Մարտ 2026</a:t>
                      </a:r>
                      <a:endParaRPr/>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rPr lang="en-US" sz="1100"/>
                        <a:t>  Մարտ</a:t>
                      </a:r>
                      <a:r>
                        <a:rPr lang="en-US" sz="1100"/>
                        <a:t> 2026</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rPr lang="en-US" sz="1800"/>
                        <a:t> </a:t>
                      </a:r>
                      <a:endParaRPr/>
                    </a:p>
                    <a:p>
                      <a:pPr indent="0" lvl="0" marL="0" marR="0" rtl="0" algn="l">
                        <a:lnSpc>
                          <a:spcPct val="150000"/>
                        </a:lnSpc>
                        <a:spcBef>
                          <a:spcPts val="0"/>
                        </a:spcBef>
                        <a:spcAft>
                          <a:spcPts val="0"/>
                        </a:spcAft>
                        <a:buNone/>
                      </a:pPr>
                      <a:r>
                        <a:t/>
                      </a:r>
                      <a:endParaRPr sz="1800"/>
                    </a:p>
                    <a:p>
                      <a:pPr indent="0" lvl="0" marL="0" marR="0" rtl="0" algn="l">
                        <a:lnSpc>
                          <a:spcPct val="150000"/>
                        </a:lnSpc>
                        <a:spcBef>
                          <a:spcPts val="0"/>
                        </a:spcBef>
                        <a:spcAft>
                          <a:spcPts val="0"/>
                        </a:spcAft>
                        <a:buNone/>
                      </a:pPr>
                      <a:r>
                        <a:rPr lang="en-US" sz="1000"/>
                        <a:t> Նոյեմբեր 2025</a:t>
                      </a:r>
                      <a:endParaRPr/>
                    </a:p>
                    <a:p>
                      <a:pPr indent="0" lvl="0" marL="0" marR="0" rtl="0" algn="l">
                        <a:lnSpc>
                          <a:spcPct val="150000"/>
                        </a:lnSpc>
                        <a:spcBef>
                          <a:spcPts val="0"/>
                        </a:spcBef>
                        <a:spcAft>
                          <a:spcPts val="0"/>
                        </a:spcAft>
                        <a:buNone/>
                      </a:pPr>
                      <a:r>
                        <a:t/>
                      </a:r>
                      <a:endParaRPr sz="1000"/>
                    </a:p>
                    <a:p>
                      <a:pPr indent="0" lvl="0" marL="0" marR="0" rtl="0" algn="l">
                        <a:lnSpc>
                          <a:spcPct val="150000"/>
                        </a:lnSpc>
                        <a:spcBef>
                          <a:spcPts val="0"/>
                        </a:spcBef>
                        <a:spcAft>
                          <a:spcPts val="0"/>
                        </a:spcAft>
                        <a:buNone/>
                      </a:pPr>
                      <a:r>
                        <a:rPr lang="en-US" sz="1000"/>
                        <a:t>Դեկտեմբեր2025</a:t>
                      </a:r>
                      <a:endParaRPr sz="1000"/>
                    </a:p>
                  </a:txBody>
                  <a:tcPr marT="0" marB="0" marR="0" marL="0" anchor="ctr"/>
                </a:tc>
                <a:tc>
                  <a:txBody>
                    <a:bodyPr/>
                    <a:lstStyle/>
                    <a:p>
                      <a:pPr indent="0" lvl="0" marL="0" marR="0" rtl="0" algn="l">
                        <a:lnSpc>
                          <a:spcPct val="150000"/>
                        </a:lnSpc>
                        <a:spcBef>
                          <a:spcPts val="0"/>
                        </a:spcBef>
                        <a:spcAft>
                          <a:spcPts val="0"/>
                        </a:spcAft>
                        <a:buNone/>
                      </a:pPr>
                      <a:r>
                        <a:rPr lang="en-US" sz="1100"/>
                        <a:t>Ծնողներ, ուսուցչներ, աշակերտներ: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t/>
                      </a:r>
                      <a:endParaRPr sz="1100"/>
                    </a:p>
                    <a:p>
                      <a:pPr indent="0" lvl="0" marL="0" marR="0" rtl="0" algn="l">
                        <a:lnSpc>
                          <a:spcPct val="150000"/>
                        </a:lnSpc>
                        <a:spcBef>
                          <a:spcPts val="0"/>
                        </a:spcBef>
                        <a:spcAft>
                          <a:spcPts val="0"/>
                        </a:spcAft>
                        <a:buNone/>
                      </a:pPr>
                      <a:r>
                        <a:rPr lang="en-US" sz="1800"/>
                        <a:t> </a:t>
                      </a:r>
                      <a:r>
                        <a:rPr lang="en-US" sz="1200"/>
                        <a:t>Աշակերտներ</a:t>
                      </a:r>
                      <a:endParaRPr sz="1200"/>
                    </a:p>
                  </a:txBody>
                  <a:tcPr marT="0" marB="0" marR="0" marL="0" anchor="ctr"/>
                </a:tc>
                <a:tc gridSpan="4">
                  <a:txBody>
                    <a:bodyPr/>
                    <a:lstStyle/>
                    <a:p>
                      <a:pPr indent="0" lvl="0" marL="0" marR="0" rtl="0" algn="l">
                        <a:lnSpc>
                          <a:spcPct val="150000"/>
                        </a:lnSpc>
                        <a:spcBef>
                          <a:spcPts val="0"/>
                        </a:spcBef>
                        <a:spcAft>
                          <a:spcPts val="0"/>
                        </a:spcAft>
                        <a:buNone/>
                      </a:pPr>
                      <a:r>
                        <a:rPr lang="en-US" sz="1100"/>
                        <a:t>Աջակցություն ծնողին ճիշտ ընկալելու երեխային՝ իբրև դեռահասի, ստեղծել միասնական ոճ դպրոց-ծնող կապի ամրակցումով դաստիարակության հարցերում: </a:t>
                      </a:r>
                      <a:endParaRPr sz="1100"/>
                    </a:p>
                    <a:p>
                      <a:pPr indent="0" lvl="0" marL="0" marR="0" rtl="0" algn="l">
                        <a:lnSpc>
                          <a:spcPct val="150000"/>
                        </a:lnSpc>
                        <a:spcBef>
                          <a:spcPts val="1000"/>
                        </a:spcBef>
                        <a:spcAft>
                          <a:spcPts val="0"/>
                        </a:spcAft>
                        <a:buNone/>
                      </a:pPr>
                      <a:r>
                        <a:t/>
                      </a:r>
                      <a:endParaRPr sz="1100"/>
                    </a:p>
                    <a:p>
                      <a:pPr indent="0" lvl="0" marL="0" marR="0" rtl="0" algn="l">
                        <a:lnSpc>
                          <a:spcPct val="150000"/>
                        </a:lnSpc>
                        <a:spcBef>
                          <a:spcPts val="1000"/>
                        </a:spcBef>
                        <a:spcAft>
                          <a:spcPts val="0"/>
                        </a:spcAft>
                        <a:buNone/>
                      </a:pPr>
                      <a:r>
                        <a:t/>
                      </a:r>
                      <a:endParaRPr sz="1100"/>
                    </a:p>
                    <a:p>
                      <a:pPr indent="0" lvl="0" marL="0" marR="0" rtl="0" algn="l">
                        <a:lnSpc>
                          <a:spcPct val="150000"/>
                        </a:lnSpc>
                        <a:spcBef>
                          <a:spcPts val="1000"/>
                        </a:spcBef>
                        <a:spcAft>
                          <a:spcPts val="0"/>
                        </a:spcAft>
                        <a:buNone/>
                      </a:pPr>
                      <a:r>
                        <a:t/>
                      </a:r>
                      <a:endParaRPr sz="1100"/>
                    </a:p>
                    <a:p>
                      <a:pPr indent="0" lvl="0" marL="0" marR="0" rtl="0" algn="l">
                        <a:lnSpc>
                          <a:spcPct val="150000"/>
                        </a:lnSpc>
                        <a:spcBef>
                          <a:spcPts val="1000"/>
                        </a:spcBef>
                        <a:spcAft>
                          <a:spcPts val="0"/>
                        </a:spcAft>
                        <a:buNone/>
                      </a:pPr>
                      <a:r>
                        <a:t/>
                      </a:r>
                      <a:endParaRPr sz="1800"/>
                    </a:p>
                  </a:txBody>
                  <a:tcPr marT="0" marB="0" marR="0" marL="0" anchor="ctr"/>
                </a:tc>
                <a:tc hMerge="1"/>
                <a:tc hMerge="1"/>
                <a:tc hMerge="1"/>
              </a:tr>
              <a:tr h="298825">
                <a:tc gridSpan="7">
                  <a:txBody>
                    <a:bodyPr/>
                    <a:lstStyle/>
                    <a:p>
                      <a:pPr indent="0" lvl="0" marL="0" marR="0" rtl="0" algn="just">
                        <a:lnSpc>
                          <a:spcPct val="150000"/>
                        </a:lnSpc>
                        <a:spcBef>
                          <a:spcPts val="0"/>
                        </a:spcBef>
                        <a:spcAft>
                          <a:spcPts val="0"/>
                        </a:spcAft>
                        <a:buNone/>
                      </a:pPr>
                      <a:r>
                        <a:rPr lang="en-US" sz="1100"/>
                        <a:t>Ուսումնական հաստատության ստեղծած ուսումնամեթոդական նյութերը և կազմակերպած միջոցառումները` ուղղված բռնության, ֆիզիկական կամ հոգեբանական ճնշման դեմ </a:t>
                      </a:r>
                      <a:endParaRPr sz="1800"/>
                    </a:p>
                  </a:txBody>
                  <a:tcPr marT="0" marB="0" marR="0" marL="0" anchor="ctr"/>
                </a:tc>
                <a:tc hMerge="1"/>
                <a:tc hMerge="1"/>
                <a:tc hMerge="1"/>
                <a:tc hMerge="1"/>
                <a:tc hMerge="1"/>
                <a:tc hMerge="1"/>
              </a:tr>
              <a:tr h="252700">
                <a:tc gridSpan="3">
                  <a:txBody>
                    <a:bodyPr/>
                    <a:lstStyle/>
                    <a:p>
                      <a:pPr indent="0" lvl="0" marL="0" marR="0" rtl="0" algn="l">
                        <a:lnSpc>
                          <a:spcPct val="150000"/>
                        </a:lnSpc>
                        <a:spcBef>
                          <a:spcPts val="0"/>
                        </a:spcBef>
                        <a:spcAft>
                          <a:spcPts val="0"/>
                        </a:spcAft>
                        <a:buNone/>
                      </a:pPr>
                      <a:r>
                        <a:rPr lang="en-US" sz="1100"/>
                        <a:t>Դասընթացի անվանումը, միջոցառման թեման, օգտագործված ուսումնամեթոդական նյութերը </a:t>
                      </a:r>
                      <a:endParaRPr sz="1800"/>
                    </a:p>
                  </a:txBody>
                  <a:tcPr marT="0" marB="0" marR="0" marL="0" anchor="ctr"/>
                </a:tc>
                <a:tc hMerge="1"/>
                <a:tc hMerge="1"/>
                <a:tc>
                  <a:txBody>
                    <a:bodyPr/>
                    <a:lstStyle/>
                    <a:p>
                      <a:pPr indent="0" lvl="0" marL="0" marR="0" rtl="0" algn="just">
                        <a:lnSpc>
                          <a:spcPct val="150000"/>
                        </a:lnSpc>
                        <a:spcBef>
                          <a:spcPts val="0"/>
                        </a:spcBef>
                        <a:spcAft>
                          <a:spcPts val="0"/>
                        </a:spcAft>
                        <a:buNone/>
                      </a:pPr>
                      <a:r>
                        <a:rPr lang="en-US" sz="1100"/>
                        <a:t>Ամսաթիվ </a:t>
                      </a:r>
                      <a:endParaRPr sz="1800"/>
                    </a:p>
                  </a:txBody>
                  <a:tcPr marT="0" marB="0" marR="0" marL="0" anchor="ctr"/>
                </a:tc>
                <a:tc gridSpan="2">
                  <a:txBody>
                    <a:bodyPr/>
                    <a:lstStyle/>
                    <a:p>
                      <a:pPr indent="0" lvl="0" marL="0" marR="0" rtl="0" algn="just">
                        <a:lnSpc>
                          <a:spcPct val="150000"/>
                        </a:lnSpc>
                        <a:spcBef>
                          <a:spcPts val="0"/>
                        </a:spcBef>
                        <a:spcAft>
                          <a:spcPts val="0"/>
                        </a:spcAft>
                        <a:buNone/>
                      </a:pPr>
                      <a:r>
                        <a:rPr lang="en-US" sz="1100"/>
                        <a:t>Դասարանը </a:t>
                      </a:r>
                      <a:endParaRPr sz="1800"/>
                    </a:p>
                  </a:txBody>
                  <a:tcPr marT="0" marB="0" marR="0" marL="0" anchor="ctr"/>
                </a:tc>
                <a:tc hMerge="1"/>
                <a:tc>
                  <a:txBody>
                    <a:bodyPr/>
                    <a:lstStyle/>
                    <a:p>
                      <a:pPr indent="0" lvl="0" marL="0" marR="0" rtl="0" algn="just">
                        <a:lnSpc>
                          <a:spcPct val="150000"/>
                        </a:lnSpc>
                        <a:spcBef>
                          <a:spcPts val="0"/>
                        </a:spcBef>
                        <a:spcAft>
                          <a:spcPts val="0"/>
                        </a:spcAft>
                        <a:buNone/>
                      </a:pPr>
                      <a:r>
                        <a:rPr lang="en-US" sz="1100"/>
                        <a:t>Մասնակիցների թիվը </a:t>
                      </a:r>
                      <a:endParaRPr sz="1800"/>
                    </a:p>
                  </a:txBody>
                  <a:tcPr marT="0" marB="0" marR="0" marL="0" anchor="ctr"/>
                </a:tc>
              </a:tr>
              <a:tr h="789000">
                <a:tc gridSpan="3">
                  <a:txBody>
                    <a:bodyPr/>
                    <a:lstStyle/>
                    <a:p>
                      <a:pPr indent="-54610" lvl="0" marL="54610" marR="0" rtl="0" algn="just">
                        <a:lnSpc>
                          <a:spcPct val="150000"/>
                        </a:lnSpc>
                        <a:spcBef>
                          <a:spcPts val="0"/>
                        </a:spcBef>
                        <a:spcAft>
                          <a:spcPts val="0"/>
                        </a:spcAft>
                        <a:buNone/>
                      </a:pPr>
                      <a:r>
                        <a:rPr lang="en-US" sz="1100"/>
                        <a:t>1. Երեխայի իրավունքների իրազեկման վերաբերյալ պաստառների  պատրաստման գործընթաց:</a:t>
                      </a:r>
                      <a:endParaRPr sz="1800"/>
                    </a:p>
                  </a:txBody>
                  <a:tcPr marT="0" marB="0" marR="0" marL="0" anchor="ctr"/>
                </a:tc>
                <a:tc hMerge="1"/>
                <a:tc hMerge="1"/>
                <a:tc>
                  <a:txBody>
                    <a:bodyPr/>
                    <a:lstStyle/>
                    <a:p>
                      <a:pPr indent="0" lvl="0" marL="0" marR="0" rtl="0" algn="just">
                        <a:lnSpc>
                          <a:spcPct val="150000"/>
                        </a:lnSpc>
                        <a:spcBef>
                          <a:spcPts val="0"/>
                        </a:spcBef>
                        <a:spcAft>
                          <a:spcPts val="0"/>
                        </a:spcAft>
                        <a:buNone/>
                      </a:pPr>
                      <a:r>
                        <a:rPr lang="en-US" sz="1100"/>
                        <a:t>Նոյեմբեր 2025</a:t>
                      </a:r>
                      <a:endParaRPr sz="1800"/>
                    </a:p>
                  </a:txBody>
                  <a:tcPr marT="0" marB="0" marR="0" marL="0" anchor="ctr"/>
                </a:tc>
                <a:tc gridSpan="2">
                  <a:txBody>
                    <a:bodyPr/>
                    <a:lstStyle/>
                    <a:p>
                      <a:pPr indent="0" lvl="0" marL="0" marR="0" rtl="0" algn="just">
                        <a:lnSpc>
                          <a:spcPct val="150000"/>
                        </a:lnSpc>
                        <a:spcBef>
                          <a:spcPts val="0"/>
                        </a:spcBef>
                        <a:spcAft>
                          <a:spcPts val="0"/>
                        </a:spcAft>
                        <a:buNone/>
                      </a:pPr>
                      <a:r>
                        <a:rPr lang="en-US" sz="1100"/>
                        <a:t>10-12-րդ դասարաններ </a:t>
                      </a:r>
                      <a:endParaRPr sz="1800"/>
                    </a:p>
                  </a:txBody>
                  <a:tcPr marT="0" marB="0" marR="0" marL="0" anchor="ctr"/>
                </a:tc>
                <a:tc hMerge="1"/>
                <a:tc>
                  <a:txBody>
                    <a:bodyPr/>
                    <a:lstStyle/>
                    <a:p>
                      <a:pPr indent="0" lvl="0" marL="0" marR="0" rtl="0" algn="just">
                        <a:lnSpc>
                          <a:spcPct val="150000"/>
                        </a:lnSpc>
                        <a:spcBef>
                          <a:spcPts val="0"/>
                        </a:spcBef>
                        <a:spcAft>
                          <a:spcPts val="0"/>
                        </a:spcAft>
                        <a:buNone/>
                      </a:pPr>
                      <a:r>
                        <a:rPr lang="en-US" sz="1100"/>
                        <a:t>224 աշակերտ </a:t>
                      </a:r>
                      <a:endParaRPr sz="1800"/>
                    </a:p>
                  </a:txBody>
                  <a:tcPr marT="0" marB="0" marR="0" marL="0"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6"/>
          <p:cNvSpPr txBox="1"/>
          <p:nvPr/>
        </p:nvSpPr>
        <p:spPr>
          <a:xfrm>
            <a:off x="-60583" y="0"/>
            <a:ext cx="12234553" cy="27699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1200">
                <a:solidFill>
                  <a:schemeClr val="dk1"/>
                </a:solidFill>
                <a:latin typeface="Merriweather"/>
                <a:ea typeface="Merriweather"/>
                <a:cs typeface="Merriweather"/>
                <a:sym typeface="Merriweather"/>
              </a:rPr>
              <a:t>Աղյուսակ 17. Տվյալներ ուսումնական հաստատության սովորողների ֆիզիկական, հոգեկան և սոցիալական    աողջությանն ուղղված աշխատանքների վերաբերյալ </a:t>
            </a:r>
            <a:endParaRPr b="1" i="1" sz="1400">
              <a:solidFill>
                <a:schemeClr val="dk1"/>
              </a:solidFill>
              <a:latin typeface="Merriweather"/>
              <a:ea typeface="Merriweather"/>
              <a:cs typeface="Merriweather"/>
              <a:sym typeface="Merriweather"/>
            </a:endParaRPr>
          </a:p>
        </p:txBody>
      </p:sp>
      <p:graphicFrame>
        <p:nvGraphicFramePr>
          <p:cNvPr id="381" name="Google Shape;381;p46"/>
          <p:cNvGraphicFramePr/>
          <p:nvPr/>
        </p:nvGraphicFramePr>
        <p:xfrm>
          <a:off x="426128" y="550947"/>
          <a:ext cx="3000000" cy="3000000"/>
        </p:xfrm>
        <a:graphic>
          <a:graphicData uri="http://schemas.openxmlformats.org/drawingml/2006/table">
            <a:tbl>
              <a:tblPr>
                <a:noFill/>
                <a:tableStyleId>{40B977D2-3903-41EF-8714-5AC59086702B}</a:tableStyleId>
              </a:tblPr>
              <a:tblGrid>
                <a:gridCol w="4903400"/>
                <a:gridCol w="1612425"/>
                <a:gridCol w="1612425"/>
                <a:gridCol w="2907475"/>
              </a:tblGrid>
              <a:tr h="51825">
                <a:tc gridSpan="4">
                  <a:txBody>
                    <a:bodyPr/>
                    <a:lstStyle/>
                    <a:p>
                      <a:pPr indent="0" lvl="0" marL="0" marR="0" rtl="0" algn="just">
                        <a:lnSpc>
                          <a:spcPct val="150000"/>
                        </a:lnSpc>
                        <a:spcBef>
                          <a:spcPts val="0"/>
                        </a:spcBef>
                        <a:spcAft>
                          <a:spcPts val="0"/>
                        </a:spcAft>
                        <a:buNone/>
                      </a:pPr>
                      <a:r>
                        <a:rPr lang="en-US" sz="1100"/>
                        <a:t>Հաստատությունում կազմակերպված ՄԻԱՎ/ՁԻԱՀ-ի կանխարգելմանն ուղղված միջոցառումները` ՄԻԱՎ/ՁԻԱՀ-ի փոխանցման ուղիների և կանխարգելման մասին սովորողների գիտելիքների մակարդակը բարձրացնելու նպատակով </a:t>
                      </a:r>
                      <a:endParaRPr sz="1800"/>
                    </a:p>
                  </a:txBody>
                  <a:tcPr marT="0" marB="0" marR="0" marL="0" anchor="ctr"/>
                </a:tc>
                <a:tc hMerge="1"/>
                <a:tc hMerge="1"/>
                <a:tc hMerge="1"/>
              </a:tr>
              <a:tr h="101225">
                <a:tc>
                  <a:txBody>
                    <a:bodyPr/>
                    <a:lstStyle/>
                    <a:p>
                      <a:pPr indent="0" lvl="0" marL="0" marR="0" rtl="0" algn="l">
                        <a:lnSpc>
                          <a:spcPct val="150000"/>
                        </a:lnSpc>
                        <a:spcBef>
                          <a:spcPts val="0"/>
                        </a:spcBef>
                        <a:spcAft>
                          <a:spcPts val="0"/>
                        </a:spcAft>
                        <a:buNone/>
                      </a:pPr>
                      <a:r>
                        <a:rPr lang="en-US" sz="1100"/>
                        <a:t>Դասընթացի անվանումը, միջոցառման թեման, օգտագործված ուսումնամեթոդական նյութերը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100"/>
                        <a:t>Ամսաթիվ </a:t>
                      </a:r>
                      <a:endParaRPr sz="1800"/>
                    </a:p>
                  </a:txBody>
                  <a:tcPr marT="0" marB="0" marR="0" marL="0" anchor="ctr"/>
                </a:tc>
                <a:tc>
                  <a:txBody>
                    <a:bodyPr/>
                    <a:lstStyle/>
                    <a:p>
                      <a:pPr indent="0" lvl="0" marL="0" marR="0" rtl="0" algn="l">
                        <a:lnSpc>
                          <a:spcPct val="150000"/>
                        </a:lnSpc>
                        <a:spcBef>
                          <a:spcPts val="0"/>
                        </a:spcBef>
                        <a:spcAft>
                          <a:spcPts val="0"/>
                        </a:spcAft>
                        <a:buNone/>
                      </a:pPr>
                      <a:r>
                        <a:rPr lang="en-US" sz="1100"/>
                        <a:t>Դասարանը(ները)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100"/>
                        <a:t>Մասնակիցների թիվը </a:t>
                      </a:r>
                      <a:endParaRPr sz="1800"/>
                    </a:p>
                  </a:txBody>
                  <a:tcPr marT="0" marB="0" marR="0" marL="0" anchor="ctr"/>
                </a:tc>
              </a:tr>
              <a:tr h="135000">
                <a:tc>
                  <a:txBody>
                    <a:bodyPr/>
                    <a:lstStyle/>
                    <a:p>
                      <a:pPr indent="0" lvl="0" marL="0" marR="0" rtl="0" algn="l">
                        <a:lnSpc>
                          <a:spcPct val="150000"/>
                        </a:lnSpc>
                        <a:spcBef>
                          <a:spcPts val="0"/>
                        </a:spcBef>
                        <a:spcAft>
                          <a:spcPts val="0"/>
                        </a:spcAft>
                        <a:buNone/>
                      </a:pPr>
                      <a:r>
                        <a:rPr lang="en-US" sz="1000"/>
                        <a:t>1․Դասղեկի ժամեր՝ ՁԻԱՀԻ դեմ պայքարի միջազգային օրվան նվիրված </a:t>
                      </a:r>
                      <a:endParaRPr/>
                    </a:p>
                    <a:p>
                      <a:pPr indent="0" lvl="0" marL="0" marR="0" rtl="0" algn="l">
                        <a:lnSpc>
                          <a:spcPct val="150000"/>
                        </a:lnSpc>
                        <a:spcBef>
                          <a:spcPts val="0"/>
                        </a:spcBef>
                        <a:spcAft>
                          <a:spcPts val="0"/>
                        </a:spcAft>
                        <a:buNone/>
                      </a:pPr>
                      <a:r>
                        <a:rPr lang="en-US" sz="1000"/>
                        <a:t>Թեմաներ՝ 1.Ինչ է ՄԻԱՎ, ՁԻԱՀԸ, 2.ՄԻԱՎԻ փոխանցման ուղիները, </a:t>
                      </a:r>
                      <a:endParaRPr/>
                    </a:p>
                    <a:p>
                      <a:pPr indent="0" lvl="0" marL="0" marR="0" rtl="0" algn="l">
                        <a:lnSpc>
                          <a:spcPct val="150000"/>
                        </a:lnSpc>
                        <a:spcBef>
                          <a:spcPts val="0"/>
                        </a:spcBef>
                        <a:spcAft>
                          <a:spcPts val="0"/>
                        </a:spcAft>
                        <a:buNone/>
                      </a:pPr>
                      <a:r>
                        <a:rPr lang="en-US" sz="1000"/>
                        <a:t>3.ՄԻԱՎ-ՁԻԱՀԸ և մարդու իրավունքները: </a:t>
                      </a:r>
                      <a:endParaRPr/>
                    </a:p>
                  </a:txBody>
                  <a:tcPr marT="0" marB="0" marR="0" marL="0" anchor="ctr"/>
                </a:tc>
                <a:tc>
                  <a:txBody>
                    <a:bodyPr/>
                    <a:lstStyle/>
                    <a:p>
                      <a:pPr indent="0" lvl="0" marL="0" marR="0" rtl="0" algn="l">
                        <a:lnSpc>
                          <a:spcPct val="150000"/>
                        </a:lnSpc>
                        <a:spcBef>
                          <a:spcPts val="0"/>
                        </a:spcBef>
                        <a:spcAft>
                          <a:spcPts val="0"/>
                        </a:spcAft>
                        <a:buNone/>
                      </a:pPr>
                      <a:r>
                        <a:rPr lang="en-US" sz="1000"/>
                        <a:t>02.12.2025</a:t>
                      </a:r>
                      <a:r>
                        <a:rPr lang="en-US" sz="1000"/>
                        <a:t> թ.</a:t>
                      </a:r>
                      <a:endParaRPr sz="1000"/>
                    </a:p>
                  </a:txBody>
                  <a:tcPr marT="0" marB="0" marR="0" marL="0" anchor="ctr"/>
                </a:tc>
                <a:tc>
                  <a:txBody>
                    <a:bodyPr/>
                    <a:lstStyle/>
                    <a:p>
                      <a:pPr indent="0" lvl="0" marL="0" marR="0" rtl="0" algn="l">
                        <a:lnSpc>
                          <a:spcPct val="150000"/>
                        </a:lnSpc>
                        <a:spcBef>
                          <a:spcPts val="0"/>
                        </a:spcBef>
                        <a:spcAft>
                          <a:spcPts val="0"/>
                        </a:spcAft>
                        <a:buNone/>
                      </a:pPr>
                      <a:r>
                        <a:rPr lang="en-US" sz="1000"/>
                        <a:t>10-12-րդ դասարաններ </a:t>
                      </a:r>
                      <a:endParaRPr/>
                    </a:p>
                  </a:txBody>
                  <a:tcPr marT="0" marB="0" marR="0" marL="0" anchor="ctr"/>
                </a:tc>
                <a:tc>
                  <a:txBody>
                    <a:bodyPr/>
                    <a:lstStyle/>
                    <a:p>
                      <a:pPr indent="0" lvl="0" marL="0" marR="0" rtl="0" algn="l">
                        <a:lnSpc>
                          <a:spcPct val="150000"/>
                        </a:lnSpc>
                        <a:spcBef>
                          <a:spcPts val="0"/>
                        </a:spcBef>
                        <a:spcAft>
                          <a:spcPts val="0"/>
                        </a:spcAft>
                        <a:buNone/>
                      </a:pPr>
                      <a:r>
                        <a:rPr lang="en-US" sz="1000"/>
                        <a:t> 185 աշակերտ </a:t>
                      </a:r>
                      <a:endParaRPr/>
                    </a:p>
                  </a:txBody>
                  <a:tcPr marT="0" marB="0" marR="0" marL="0" anchor="ctr"/>
                </a:tc>
              </a:tr>
              <a:tr h="328550">
                <a:tc>
                  <a:txBody>
                    <a:bodyPr/>
                    <a:lstStyle/>
                    <a:p>
                      <a:pPr indent="-347345" lvl="0" marL="347345" marR="0" rtl="0" algn="l">
                        <a:lnSpc>
                          <a:spcPct val="150000"/>
                        </a:lnSpc>
                        <a:spcBef>
                          <a:spcPts val="0"/>
                        </a:spcBef>
                        <a:spcAft>
                          <a:spcPts val="0"/>
                        </a:spcAft>
                        <a:buNone/>
                      </a:pPr>
                      <a:r>
                        <a:rPr lang="en-US" sz="1000"/>
                        <a:t>2․&lt;&lt;Առողջ ապրելակերպ&gt;&gt;-ի  դասընթացներ՝ </a:t>
                      </a:r>
                      <a:endParaRPr/>
                    </a:p>
                    <a:p>
                      <a:pPr indent="-54610" lvl="0" marL="54610" marR="0" rtl="0" algn="l">
                        <a:lnSpc>
                          <a:spcPct val="150000"/>
                        </a:lnSpc>
                        <a:spcBef>
                          <a:spcPts val="0"/>
                        </a:spcBef>
                        <a:spcAft>
                          <a:spcPts val="0"/>
                        </a:spcAft>
                        <a:buNone/>
                      </a:pPr>
                      <a:r>
                        <a:rPr lang="en-US" sz="1000"/>
                        <a:t>           Թեմա՝ Սեռավարակներ, հիվանդություններ </a:t>
                      </a:r>
                      <a:endParaRPr/>
                    </a:p>
                  </a:txBody>
                  <a:tcPr marT="0" marB="0" marR="0" marL="0" anchor="ctr"/>
                </a:tc>
                <a:tc>
                  <a:txBody>
                    <a:bodyPr/>
                    <a:lstStyle/>
                    <a:p>
                      <a:pPr indent="0" lvl="0" marL="0" marR="0" rtl="0" algn="l">
                        <a:lnSpc>
                          <a:spcPct val="150000"/>
                        </a:lnSpc>
                        <a:spcBef>
                          <a:spcPts val="0"/>
                        </a:spcBef>
                        <a:spcAft>
                          <a:spcPts val="0"/>
                        </a:spcAft>
                        <a:buNone/>
                      </a:pPr>
                      <a:r>
                        <a:rPr lang="en-US" sz="1000"/>
                        <a:t>12.02.25 թ.</a:t>
                      </a:r>
                      <a:endParaRPr/>
                    </a:p>
                  </a:txBody>
                  <a:tcPr marT="0" marB="0" marR="0" marL="0" anchor="ctr"/>
                </a:tc>
                <a:tc>
                  <a:txBody>
                    <a:bodyPr/>
                    <a:lstStyle/>
                    <a:p>
                      <a:pPr indent="0" lvl="0" marL="0" marR="0" rtl="0" algn="l">
                        <a:lnSpc>
                          <a:spcPct val="150000"/>
                        </a:lnSpc>
                        <a:spcBef>
                          <a:spcPts val="0"/>
                        </a:spcBef>
                        <a:spcAft>
                          <a:spcPts val="0"/>
                        </a:spcAft>
                        <a:buNone/>
                      </a:pPr>
                      <a:r>
                        <a:rPr lang="en-US" sz="1000"/>
                        <a:t>10-11-րդ</a:t>
                      </a:r>
                      <a:r>
                        <a:rPr lang="en-US" sz="1000"/>
                        <a:t> դասարաններ</a:t>
                      </a:r>
                      <a:endParaRPr sz="1000"/>
                    </a:p>
                  </a:txBody>
                  <a:tcPr marT="0" marB="0" marR="0" marL="0" anchor="ctr"/>
                </a:tc>
                <a:tc>
                  <a:txBody>
                    <a:bodyPr/>
                    <a:lstStyle/>
                    <a:p>
                      <a:pPr indent="0" lvl="0" marL="0" marR="0" rtl="0" algn="l">
                        <a:lnSpc>
                          <a:spcPct val="150000"/>
                        </a:lnSpc>
                        <a:spcBef>
                          <a:spcPts val="0"/>
                        </a:spcBef>
                        <a:spcAft>
                          <a:spcPts val="0"/>
                        </a:spcAft>
                        <a:buNone/>
                      </a:pPr>
                      <a:r>
                        <a:rPr lang="en-US" sz="1000"/>
                        <a:t> 314 աշակերտ </a:t>
                      </a:r>
                      <a:endParaRPr/>
                    </a:p>
                  </a:txBody>
                  <a:tcPr marT="0" marB="0" marR="0" marL="0" anchor="ctr"/>
                </a:tc>
              </a:tr>
              <a:tr h="50550">
                <a:tc gridSpan="4">
                  <a:txBody>
                    <a:bodyPr/>
                    <a:lstStyle/>
                    <a:p>
                      <a:pPr indent="0" lvl="0" marL="0" marR="0" rtl="0" algn="just">
                        <a:lnSpc>
                          <a:spcPct val="150000"/>
                        </a:lnSpc>
                        <a:spcBef>
                          <a:spcPts val="0"/>
                        </a:spcBef>
                        <a:spcAft>
                          <a:spcPts val="0"/>
                        </a:spcAft>
                        <a:buNone/>
                      </a:pPr>
                      <a:r>
                        <a:rPr lang="en-US" sz="1000"/>
                        <a:t>3․Ուսումնական հաստատության ստեղծած ուսումնամեթոդական նյութերը և կազմակերպած միջոցառումները` ուղղված բռնության, ֆիզիկական կամ հոգեբանական ճնշման դեմ </a:t>
                      </a:r>
                      <a:endParaRPr/>
                    </a:p>
                  </a:txBody>
                  <a:tcPr marT="0" marB="0" marR="0" marL="0" anchor="ctr"/>
                </a:tc>
                <a:tc hMerge="1"/>
                <a:tc hMerge="1"/>
                <a:tc hMerge="1"/>
              </a:tr>
              <a:tr h="101225">
                <a:tc>
                  <a:txBody>
                    <a:bodyPr/>
                    <a:lstStyle/>
                    <a:p>
                      <a:pPr indent="0" lvl="0" marL="0" marR="0" rtl="0" algn="l">
                        <a:lnSpc>
                          <a:spcPct val="150000"/>
                        </a:lnSpc>
                        <a:spcBef>
                          <a:spcPts val="0"/>
                        </a:spcBef>
                        <a:spcAft>
                          <a:spcPts val="0"/>
                        </a:spcAft>
                        <a:buNone/>
                      </a:pPr>
                      <a:r>
                        <a:rPr lang="en-US" sz="1000"/>
                        <a:t>Դասընթացի անվանումը, միջոցառման թեման, օգտագործված ուսումնամեթոդական նյութերը </a:t>
                      </a:r>
                      <a:endParaRPr/>
                    </a:p>
                  </a:txBody>
                  <a:tcPr marT="0" marB="0" marR="0" marL="0" anchor="ctr"/>
                </a:tc>
                <a:tc>
                  <a:txBody>
                    <a:bodyPr/>
                    <a:lstStyle/>
                    <a:p>
                      <a:pPr indent="0" lvl="0" marL="0" marR="0" rtl="0" algn="just">
                        <a:lnSpc>
                          <a:spcPct val="150000"/>
                        </a:lnSpc>
                        <a:spcBef>
                          <a:spcPts val="0"/>
                        </a:spcBef>
                        <a:spcAft>
                          <a:spcPts val="0"/>
                        </a:spcAft>
                        <a:buNone/>
                      </a:pPr>
                      <a:r>
                        <a:rPr lang="en-US" sz="1000"/>
                        <a:t>Ամսաթիվ </a:t>
                      </a:r>
                      <a:endParaRPr/>
                    </a:p>
                  </a:txBody>
                  <a:tcPr marT="0" marB="0" marR="0" marL="0" anchor="ctr"/>
                </a:tc>
                <a:tc>
                  <a:txBody>
                    <a:bodyPr/>
                    <a:lstStyle/>
                    <a:p>
                      <a:pPr indent="0" lvl="0" marL="0" marR="0" rtl="0" algn="just">
                        <a:lnSpc>
                          <a:spcPct val="150000"/>
                        </a:lnSpc>
                        <a:spcBef>
                          <a:spcPts val="0"/>
                        </a:spcBef>
                        <a:spcAft>
                          <a:spcPts val="0"/>
                        </a:spcAft>
                        <a:buNone/>
                      </a:pPr>
                      <a:r>
                        <a:rPr lang="en-US" sz="1000"/>
                        <a:t>Դասարանը(ները) </a:t>
                      </a:r>
                      <a:endParaRPr/>
                    </a:p>
                  </a:txBody>
                  <a:tcPr marT="0" marB="0" marR="0" marL="0" anchor="ctr"/>
                </a:tc>
                <a:tc>
                  <a:txBody>
                    <a:bodyPr/>
                    <a:lstStyle/>
                    <a:p>
                      <a:pPr indent="0" lvl="0" marL="0" marR="0" rtl="0" algn="just">
                        <a:lnSpc>
                          <a:spcPct val="150000"/>
                        </a:lnSpc>
                        <a:spcBef>
                          <a:spcPts val="0"/>
                        </a:spcBef>
                        <a:spcAft>
                          <a:spcPts val="0"/>
                        </a:spcAft>
                        <a:buNone/>
                      </a:pPr>
                      <a:r>
                        <a:rPr lang="en-US" sz="1000"/>
                        <a:t>Մասնակիցների թիվը </a:t>
                      </a:r>
                      <a:endParaRPr/>
                    </a:p>
                  </a:txBody>
                  <a:tcPr marT="0" marB="0" marR="0" marL="0" anchor="ctr"/>
                </a:tc>
              </a:tr>
              <a:tr h="135000">
                <a:tc>
                  <a:txBody>
                    <a:bodyPr/>
                    <a:lstStyle/>
                    <a:p>
                      <a:pPr indent="-54610" lvl="0" marL="54610" marR="0" rtl="0" algn="just">
                        <a:lnSpc>
                          <a:spcPct val="150000"/>
                        </a:lnSpc>
                        <a:spcBef>
                          <a:spcPts val="0"/>
                        </a:spcBef>
                        <a:spcAft>
                          <a:spcPts val="0"/>
                        </a:spcAft>
                        <a:buNone/>
                      </a:pPr>
                      <a:r>
                        <a:rPr lang="en-US" sz="1000"/>
                        <a:t>4. Դասղեկի ժամեր: </a:t>
                      </a:r>
                      <a:endParaRPr/>
                    </a:p>
                    <a:p>
                      <a:pPr indent="-54610" lvl="0" marL="54610" marR="0" rtl="0" algn="just">
                        <a:lnSpc>
                          <a:spcPct val="150000"/>
                        </a:lnSpc>
                        <a:spcBef>
                          <a:spcPts val="0"/>
                        </a:spcBef>
                        <a:spcAft>
                          <a:spcPts val="0"/>
                        </a:spcAft>
                        <a:buNone/>
                      </a:pPr>
                      <a:r>
                        <a:rPr lang="en-US" sz="1000"/>
                        <a:t>Թեմաներ՝ </a:t>
                      </a:r>
                      <a:endParaRPr/>
                    </a:p>
                    <a:p>
                      <a:pPr indent="-54610" lvl="0" marL="54610" marR="0" rtl="0" algn="just">
                        <a:lnSpc>
                          <a:spcPct val="150000"/>
                        </a:lnSpc>
                        <a:spcBef>
                          <a:spcPts val="0"/>
                        </a:spcBef>
                        <a:spcAft>
                          <a:spcPts val="0"/>
                        </a:spcAft>
                        <a:buNone/>
                      </a:pPr>
                      <a:r>
                        <a:rPr lang="en-US" sz="1000"/>
                        <a:t>&lt;&lt;Անչափահասների տարիքային առանձնահատկությունները&gt;&gt; Սերգեյ Արզումանյան և Էլդա Գրին &lt;&lt;Իրավաբանական հոգեբանություն&gt;&gt; դասագիրք: </a:t>
                      </a:r>
                      <a:endParaRPr/>
                    </a:p>
                  </a:txBody>
                  <a:tcPr marT="0" marB="0" marR="0" marL="0" anchor="ctr"/>
                </a:tc>
                <a:tc>
                  <a:txBody>
                    <a:bodyPr/>
                    <a:lstStyle/>
                    <a:p>
                      <a:pPr indent="0" lvl="0" marL="0" marR="0" rtl="0" algn="just">
                        <a:lnSpc>
                          <a:spcPct val="150000"/>
                        </a:lnSpc>
                        <a:spcBef>
                          <a:spcPts val="0"/>
                        </a:spcBef>
                        <a:spcAft>
                          <a:spcPts val="0"/>
                        </a:spcAft>
                        <a:buNone/>
                      </a:pPr>
                      <a:r>
                        <a:rPr lang="en-US" sz="1000">
                          <a:latin typeface="Merriweather"/>
                          <a:ea typeface="Merriweather"/>
                          <a:cs typeface="Merriweather"/>
                          <a:sym typeface="Merriweather"/>
                        </a:rPr>
                        <a:t>պարբեաբար</a:t>
                      </a:r>
                      <a:endParaRPr sz="1000">
                        <a:latin typeface="Merriweather"/>
                        <a:ea typeface="Merriweather"/>
                        <a:cs typeface="Merriweather"/>
                        <a:sym typeface="Merriweather"/>
                      </a:endParaRPr>
                    </a:p>
                  </a:txBody>
                  <a:tcPr marT="0" marB="0" marR="0" marL="0" anchor="ctr"/>
                </a:tc>
                <a:tc>
                  <a:txBody>
                    <a:bodyPr/>
                    <a:lstStyle/>
                    <a:p>
                      <a:pPr indent="0" lvl="0" marL="0" marR="0" rtl="0" algn="just">
                        <a:lnSpc>
                          <a:spcPct val="150000"/>
                        </a:lnSpc>
                        <a:spcBef>
                          <a:spcPts val="0"/>
                        </a:spcBef>
                        <a:spcAft>
                          <a:spcPts val="0"/>
                        </a:spcAft>
                        <a:buNone/>
                      </a:pPr>
                      <a:r>
                        <a:rPr lang="en-US" sz="1000"/>
                        <a:t>10-11-րդ դասարաններ                </a:t>
                      </a:r>
                      <a:endParaRPr/>
                    </a:p>
                  </a:txBody>
                  <a:tcPr marT="0" marB="0" marR="0" marL="0" anchor="ctr"/>
                </a:tc>
                <a:tc>
                  <a:txBody>
                    <a:bodyPr/>
                    <a:lstStyle/>
                    <a:p>
                      <a:pPr indent="0" lvl="0" marL="0" marR="0" rtl="0" algn="just">
                        <a:lnSpc>
                          <a:spcPct val="150000"/>
                        </a:lnSpc>
                        <a:spcBef>
                          <a:spcPts val="0"/>
                        </a:spcBef>
                        <a:spcAft>
                          <a:spcPts val="0"/>
                        </a:spcAft>
                        <a:buNone/>
                      </a:pPr>
                      <a:r>
                        <a:rPr lang="en-US" sz="1000"/>
                        <a:t> 316 Աշակերտներ </a:t>
                      </a:r>
                      <a:endParaRPr/>
                    </a:p>
                  </a:txBody>
                  <a:tcPr marT="0" marB="0" marR="0" marL="0" anchor="ctr"/>
                </a:tc>
              </a:tr>
              <a:tr h="118100">
                <a:tc>
                  <a:txBody>
                    <a:bodyPr/>
                    <a:lstStyle/>
                    <a:p>
                      <a:pPr indent="-54610" lvl="0" marL="54610" marR="0" rtl="0" algn="l">
                        <a:lnSpc>
                          <a:spcPct val="150000"/>
                        </a:lnSpc>
                        <a:spcBef>
                          <a:spcPts val="0"/>
                        </a:spcBef>
                        <a:spcAft>
                          <a:spcPts val="0"/>
                        </a:spcAft>
                        <a:buNone/>
                      </a:pPr>
                      <a:r>
                        <a:rPr lang="en-US" sz="1000"/>
                        <a:t>5.Քննարկումներ &lt;&lt;Երեխաների իրավունքների մասին կոնվենցիայի&gt;&gt; 37-րդ և 40-րդ հոդվածները: </a:t>
                      </a:r>
                      <a:endParaRPr/>
                    </a:p>
                  </a:txBody>
                  <a:tcPr marT="0" marB="0" marR="0" marL="0" anchor="ctr"/>
                </a:tc>
                <a:tc>
                  <a:txBody>
                    <a:bodyPr/>
                    <a:lstStyle/>
                    <a:p>
                      <a:pPr indent="0" lvl="0" marL="0" marR="0" rtl="0" algn="just">
                        <a:lnSpc>
                          <a:spcPct val="150000"/>
                        </a:lnSpc>
                        <a:spcBef>
                          <a:spcPts val="0"/>
                        </a:spcBef>
                        <a:spcAft>
                          <a:spcPts val="0"/>
                        </a:spcAft>
                        <a:buNone/>
                      </a:pPr>
                      <a:r>
                        <a:rPr lang="en-US" sz="1000">
                          <a:latin typeface="Merriweather"/>
                          <a:ea typeface="Merriweather"/>
                          <a:cs typeface="Merriweather"/>
                          <a:sym typeface="Merriweather"/>
                        </a:rPr>
                        <a:t>պարբերաբար</a:t>
                      </a:r>
                      <a:endParaRPr/>
                    </a:p>
                  </a:txBody>
                  <a:tcPr marT="0" marB="0" marR="0" marL="0" anchor="ctr"/>
                </a:tc>
                <a:tc>
                  <a:txBody>
                    <a:bodyPr/>
                    <a:lstStyle/>
                    <a:p>
                      <a:pPr indent="0" lvl="0" marL="0" marR="0" rtl="0" algn="just">
                        <a:lnSpc>
                          <a:spcPct val="150000"/>
                        </a:lnSpc>
                        <a:spcBef>
                          <a:spcPts val="0"/>
                        </a:spcBef>
                        <a:spcAft>
                          <a:spcPts val="0"/>
                        </a:spcAft>
                        <a:buNone/>
                      </a:pPr>
                      <a:r>
                        <a:rPr lang="en-US" sz="1000"/>
                        <a:t>12-րդ դասարաններ </a:t>
                      </a:r>
                      <a:endParaRPr/>
                    </a:p>
                  </a:txBody>
                  <a:tcPr marT="0" marB="0" marR="0" marL="0" anchor="ctr"/>
                </a:tc>
                <a:tc>
                  <a:txBody>
                    <a:bodyPr/>
                    <a:lstStyle/>
                    <a:p>
                      <a:pPr indent="0" lvl="0" marL="0" marR="0" rtl="0" algn="just">
                        <a:lnSpc>
                          <a:spcPct val="150000"/>
                        </a:lnSpc>
                        <a:spcBef>
                          <a:spcPts val="0"/>
                        </a:spcBef>
                        <a:spcAft>
                          <a:spcPts val="0"/>
                        </a:spcAft>
                        <a:buNone/>
                      </a:pPr>
                      <a:r>
                        <a:rPr lang="en-US" sz="1000"/>
                        <a:t>Ուսուցիչներ և աշակերտներ: </a:t>
                      </a:r>
                      <a:endParaRPr/>
                    </a:p>
                  </a:txBody>
                  <a:tcPr marT="0" marB="0" marR="0" marL="0" anchor="ctr"/>
                </a:tc>
              </a:tr>
              <a:tr h="135000">
                <a:tc>
                  <a:txBody>
                    <a:bodyPr/>
                    <a:lstStyle/>
                    <a:p>
                      <a:pPr indent="0" lvl="0" marL="0" marR="0" rtl="0" algn="l">
                        <a:lnSpc>
                          <a:spcPct val="150000"/>
                        </a:lnSpc>
                        <a:spcBef>
                          <a:spcPts val="0"/>
                        </a:spcBef>
                        <a:spcAft>
                          <a:spcPts val="0"/>
                        </a:spcAft>
                        <a:buNone/>
                      </a:pPr>
                      <a:r>
                        <a:rPr lang="en-US" sz="1000"/>
                        <a:t>6․«Անվտանգ և ապահով կրթության տարի» կարգախոսի շրջանակներում հանդիպում ՀՀ ՆԳՆ ոստիկանության ՀՈԳՎ կենտրոնական բաժնի ոստիկանների հետ</a:t>
                      </a:r>
                      <a:endParaRPr sz="1000"/>
                    </a:p>
                  </a:txBody>
                  <a:tcPr marT="0" marB="0" marR="0" marL="0" anchor="ctr"/>
                </a:tc>
                <a:tc>
                  <a:txBody>
                    <a:bodyPr/>
                    <a:lstStyle/>
                    <a:p>
                      <a:pPr indent="0" lvl="0" marL="0" marR="0" rtl="0" algn="just">
                        <a:lnSpc>
                          <a:spcPct val="150000"/>
                        </a:lnSpc>
                        <a:spcBef>
                          <a:spcPts val="0"/>
                        </a:spcBef>
                        <a:spcAft>
                          <a:spcPts val="0"/>
                        </a:spcAft>
                        <a:buNone/>
                      </a:pPr>
                      <a:r>
                        <a:rPr lang="en-US" sz="1000">
                          <a:latin typeface="Merriweather"/>
                          <a:ea typeface="Merriweather"/>
                          <a:cs typeface="Merriweather"/>
                          <a:sym typeface="Merriweather"/>
                        </a:rPr>
                        <a:t>պարբերաբար</a:t>
                      </a:r>
                      <a:endParaRPr/>
                    </a:p>
                  </a:txBody>
                  <a:tcPr marT="0" marB="0" marR="0" marL="0" anchor="ctr"/>
                </a:tc>
                <a:tc>
                  <a:txBody>
                    <a:bodyPr/>
                    <a:lstStyle/>
                    <a:p>
                      <a:pPr indent="0" lvl="0" marL="0" marR="0" rtl="0" algn="just">
                        <a:lnSpc>
                          <a:spcPct val="150000"/>
                        </a:lnSpc>
                        <a:spcBef>
                          <a:spcPts val="0"/>
                        </a:spcBef>
                        <a:spcAft>
                          <a:spcPts val="0"/>
                        </a:spcAft>
                        <a:buNone/>
                      </a:pPr>
                      <a:r>
                        <a:rPr lang="en-US" sz="1000"/>
                        <a:t>10-12-րդ դասարաններ </a:t>
                      </a:r>
                      <a:endParaRPr/>
                    </a:p>
                  </a:txBody>
                  <a:tcPr marT="0" marB="0" marR="0" marL="0" anchor="ctr"/>
                </a:tc>
                <a:tc>
                  <a:txBody>
                    <a:bodyPr/>
                    <a:lstStyle/>
                    <a:p>
                      <a:pPr indent="0" lvl="0" marL="0" marR="0" rtl="0" algn="just">
                        <a:lnSpc>
                          <a:spcPct val="150000"/>
                        </a:lnSpc>
                        <a:spcBef>
                          <a:spcPts val="0"/>
                        </a:spcBef>
                        <a:spcAft>
                          <a:spcPts val="0"/>
                        </a:spcAft>
                        <a:buNone/>
                      </a:pPr>
                      <a:r>
                        <a:rPr lang="en-US" sz="1000"/>
                        <a:t>Բոլոր աշակերտները </a:t>
                      </a:r>
                      <a:endParaRPr/>
                    </a:p>
                  </a:txBody>
                  <a:tcPr marT="0" marB="0" marR="0" marL="0" anchor="ctr"/>
                </a:tc>
              </a:tr>
            </a:tbl>
          </a:graphicData>
        </a:graphic>
      </p:graphicFrame>
      <p:sp>
        <p:nvSpPr>
          <p:cNvPr id="382" name="Google Shape;382;p46"/>
          <p:cNvSpPr txBox="1"/>
          <p:nvPr/>
        </p:nvSpPr>
        <p:spPr>
          <a:xfrm>
            <a:off x="274638" y="5846763"/>
            <a:ext cx="950576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Վերոնշյալ միջոցառումները նպատակաուղղված են, արդյունավետ՝ միտված դեռահասների տեղեկացվածությանն ու արժեհամակարգի ձևավորմանը:</a:t>
            </a:r>
            <a:endParaRPr sz="1800">
              <a:solidFill>
                <a:srgbClr val="000000"/>
              </a:solidFill>
              <a:latin typeface="Trebuchet MS"/>
              <a:ea typeface="Trebuchet MS"/>
              <a:cs typeface="Trebuchet MS"/>
              <a:sym typeface="Trebuchet M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47"/>
          <p:cNvPicPr preferRelativeResize="0"/>
          <p:nvPr/>
        </p:nvPicPr>
        <p:blipFill rotWithShape="1">
          <a:blip r:embed="rId3">
            <a:alphaModFix/>
          </a:blip>
          <a:srcRect b="0" l="35690" r="36027" t="60000"/>
          <a:stretch/>
        </p:blipFill>
        <p:spPr>
          <a:xfrm>
            <a:off x="4093731" y="1921151"/>
            <a:ext cx="1910015" cy="705102"/>
          </a:xfrm>
          <a:prstGeom prst="rect">
            <a:avLst/>
          </a:prstGeom>
          <a:noFill/>
          <a:ln>
            <a:noFill/>
          </a:ln>
        </p:spPr>
      </p:pic>
      <p:sp>
        <p:nvSpPr>
          <p:cNvPr id="389" name="Google Shape;389;p47"/>
          <p:cNvSpPr txBox="1"/>
          <p:nvPr/>
        </p:nvSpPr>
        <p:spPr>
          <a:xfrm>
            <a:off x="2338814" y="3110126"/>
            <a:ext cx="7324355"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entury Gothic"/>
                <a:ea typeface="Century Gothic"/>
                <a:cs typeface="Century Gothic"/>
                <a:sym typeface="Century Gothic"/>
              </a:rPr>
              <a:t>Ուսումնական հաստատության գործունեության արդյունավետություն</a:t>
            </a:r>
            <a:endParaRPr b="1" sz="2400">
              <a:solidFill>
                <a:srgbClr val="000000"/>
              </a:solidFill>
              <a:latin typeface="Trebuchet MS"/>
              <a:ea typeface="Trebuchet MS"/>
              <a:cs typeface="Trebuchet MS"/>
              <a:sym typeface="Trebuchet M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graphicFrame>
        <p:nvGraphicFramePr>
          <p:cNvPr id="395" name="Google Shape;395;p48"/>
          <p:cNvGraphicFramePr/>
          <p:nvPr/>
        </p:nvGraphicFramePr>
        <p:xfrm>
          <a:off x="2184450" y="1592790"/>
          <a:ext cx="3000000" cy="3000000"/>
        </p:xfrm>
        <a:graphic>
          <a:graphicData uri="http://schemas.openxmlformats.org/drawingml/2006/table">
            <a:tbl>
              <a:tblPr>
                <a:noFill/>
                <a:tableStyleId>{40B977D2-3903-41EF-8714-5AC59086702B}</a:tableStyleId>
              </a:tblPr>
              <a:tblGrid>
                <a:gridCol w="2689400"/>
                <a:gridCol w="2148400"/>
                <a:gridCol w="2370350"/>
                <a:gridCol w="1571350"/>
              </a:tblGrid>
              <a:tr h="2124900">
                <a:tc rowSpan="2">
                  <a:txBody>
                    <a:bodyPr/>
                    <a:lstStyle/>
                    <a:p>
                      <a:pPr indent="0" lvl="0" marL="0" marR="0" rtl="0" algn="ctr">
                        <a:lnSpc>
                          <a:spcPct val="150000"/>
                        </a:lnSpc>
                        <a:spcBef>
                          <a:spcPts val="0"/>
                        </a:spcBef>
                        <a:spcAft>
                          <a:spcPts val="0"/>
                        </a:spcAft>
                        <a:buNone/>
                      </a:pPr>
                      <a:r>
                        <a:rPr lang="en-US" sz="1400"/>
                        <a:t>Հիմնական առարկաներ </a:t>
                      </a:r>
                      <a:endParaRPr sz="1800"/>
                    </a:p>
                  </a:txBody>
                  <a:tcPr marT="0" marB="0" marR="0" marL="0" anchor="ctr"/>
                </a:tc>
                <a:tc>
                  <a:txBody>
                    <a:bodyPr/>
                    <a:lstStyle/>
                    <a:p>
                      <a:pPr indent="0" lvl="0" marL="0" marR="0" rtl="0" algn="ctr">
                        <a:lnSpc>
                          <a:spcPct val="150000"/>
                        </a:lnSpc>
                        <a:spcBef>
                          <a:spcPts val="0"/>
                        </a:spcBef>
                        <a:spcAft>
                          <a:spcPts val="0"/>
                        </a:spcAft>
                        <a:buClr>
                          <a:schemeClr val="dk1"/>
                        </a:buClr>
                        <a:buSzPts val="1400"/>
                        <a:buFont typeface="Century Gothic"/>
                        <a:buNone/>
                      </a:pPr>
                      <a:r>
                        <a:rPr lang="en-US" sz="1400"/>
                        <a:t>Սովորողների թիվը </a:t>
                      </a:r>
                      <a:endParaRPr/>
                    </a:p>
                    <a:p>
                      <a:pPr indent="0" lvl="0" marL="0" marR="0" rtl="0" algn="ctr">
                        <a:lnSpc>
                          <a:spcPct val="150000"/>
                        </a:lnSpc>
                        <a:spcBef>
                          <a:spcPts val="0"/>
                        </a:spcBef>
                        <a:spcAft>
                          <a:spcPts val="0"/>
                        </a:spcAft>
                        <a:buNone/>
                      </a:pPr>
                      <a:r>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Հիմնական առարկաներից տարեկան գնահատականների միջինը</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400"/>
                        <a:buFont typeface="Century Gothic"/>
                        <a:buNone/>
                      </a:pPr>
                      <a:r>
                        <a:rPr lang="en-US" sz="1400"/>
                        <a:t>12-րդ դասարաններում  պետական ավարտական քննությունների միավորների միջինը</a:t>
                      </a:r>
                      <a:r>
                        <a:rPr lang="en-US" sz="1800"/>
                        <a:t> </a:t>
                      </a:r>
                      <a:endParaRPr sz="1800"/>
                    </a:p>
                  </a:txBody>
                  <a:tcPr marT="0" marB="0" marR="0" marL="0" anchor="ctr"/>
                </a:tc>
              </a:tr>
              <a:tr h="858550">
                <a:tc vMerge="1"/>
                <a:tc>
                  <a:txBody>
                    <a:bodyPr/>
                    <a:lstStyle/>
                    <a:p>
                      <a:pPr indent="0" lvl="0" marL="0" marR="0" rtl="0" algn="ctr">
                        <a:lnSpc>
                          <a:spcPct val="150000"/>
                        </a:lnSpc>
                        <a:spcBef>
                          <a:spcPts val="0"/>
                        </a:spcBef>
                        <a:spcAft>
                          <a:spcPts val="0"/>
                        </a:spcAft>
                        <a:buNone/>
                      </a:pPr>
                      <a:r>
                        <a:rPr lang="en-US" sz="1400"/>
                        <a:t>12-րդ. </a:t>
                      </a:r>
                      <a:endParaRPr sz="1800"/>
                    </a:p>
                    <a:p>
                      <a:pPr indent="0" lvl="0" marL="0" marR="0" rtl="0" algn="ctr">
                        <a:lnSpc>
                          <a:spcPct val="150000"/>
                        </a:lnSpc>
                        <a:spcBef>
                          <a:spcPts val="0"/>
                        </a:spcBef>
                        <a:spcAft>
                          <a:spcPts val="0"/>
                        </a:spcAft>
                        <a:buNone/>
                      </a:pPr>
                      <a:r>
                        <a:rPr lang="en-US" sz="1400"/>
                        <a:t>դաս. </a:t>
                      </a:r>
                      <a:endParaRPr sz="1800"/>
                    </a:p>
                  </a:txBody>
                  <a:tcPr marT="0" marB="0" marR="0" marL="0" anchor="ctr">
                    <a:lnL cap="flat" cmpd="sng" w="12700">
                      <a:solidFill>
                        <a:schemeClr val="dk1"/>
                      </a:solidFill>
                      <a:prstDash val="solid"/>
                      <a:round/>
                      <a:headEnd len="sm" w="sm" type="none"/>
                      <a:tailEnd len="sm" w="sm" type="none"/>
                    </a:lnL>
                  </a:tcPr>
                </a:tc>
                <a:tc>
                  <a:txBody>
                    <a:bodyPr/>
                    <a:lstStyle/>
                    <a:p>
                      <a:pPr indent="0" lvl="0" marL="0" marR="0" rtl="0" algn="ctr">
                        <a:lnSpc>
                          <a:spcPct val="150000"/>
                        </a:lnSpc>
                        <a:spcBef>
                          <a:spcPts val="0"/>
                        </a:spcBef>
                        <a:spcAft>
                          <a:spcPts val="0"/>
                        </a:spcAft>
                        <a:buNone/>
                      </a:pPr>
                      <a:r>
                        <a:rPr lang="en-US" sz="1400"/>
                        <a:t>12-րդ. </a:t>
                      </a:r>
                      <a:endParaRPr sz="1800"/>
                    </a:p>
                    <a:p>
                      <a:pPr indent="0" lvl="0" marL="0" marR="0" rtl="0" algn="ctr">
                        <a:lnSpc>
                          <a:spcPct val="150000"/>
                        </a:lnSpc>
                        <a:spcBef>
                          <a:spcPts val="0"/>
                        </a:spcBef>
                        <a:spcAft>
                          <a:spcPts val="0"/>
                        </a:spcAft>
                        <a:buNone/>
                      </a:pPr>
                      <a:r>
                        <a:rPr lang="en-US" sz="1400"/>
                        <a:t>դաս.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12-րդ. </a:t>
                      </a:r>
                      <a:endParaRPr sz="1800"/>
                    </a:p>
                    <a:p>
                      <a:pPr indent="0" lvl="0" marL="0" marR="0" rtl="0" algn="ctr">
                        <a:lnSpc>
                          <a:spcPct val="150000"/>
                        </a:lnSpc>
                        <a:spcBef>
                          <a:spcPts val="0"/>
                        </a:spcBef>
                        <a:spcAft>
                          <a:spcPts val="0"/>
                        </a:spcAft>
                        <a:buNone/>
                      </a:pPr>
                      <a:r>
                        <a:rPr lang="en-US" sz="1400"/>
                        <a:t>դաս. 2025-2026</a:t>
                      </a:r>
                      <a:endParaRPr sz="1800"/>
                    </a:p>
                  </a:txBody>
                  <a:tcPr marT="0" marB="0" marR="0" marL="0" anchor="ctr"/>
                </a:tc>
              </a:tr>
              <a:tr h="431500">
                <a:tc>
                  <a:txBody>
                    <a:bodyPr/>
                    <a:lstStyle/>
                    <a:p>
                      <a:pPr indent="0" lvl="0" marL="0" marR="0" rtl="0" algn="just">
                        <a:lnSpc>
                          <a:spcPct val="150000"/>
                        </a:lnSpc>
                        <a:spcBef>
                          <a:spcPts val="0"/>
                        </a:spcBef>
                        <a:spcAft>
                          <a:spcPts val="0"/>
                        </a:spcAft>
                        <a:buNone/>
                      </a:pPr>
                      <a:r>
                        <a:rPr lang="en-US" sz="1400"/>
                        <a:t>Հայոց լեզու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105</a:t>
                      </a:r>
                      <a:endParaRPr sz="1200"/>
                    </a:p>
                  </a:txBody>
                  <a:tcPr marT="0" marB="0" marR="0" marL="0" anchor="ctr"/>
                </a:tc>
                <a:tc>
                  <a:txBody>
                    <a:bodyPr/>
                    <a:lstStyle/>
                    <a:p>
                      <a:pPr indent="0" lvl="0" marL="0" marR="0" rtl="0" algn="ctr">
                        <a:spcBef>
                          <a:spcPts val="0"/>
                        </a:spcBef>
                        <a:spcAft>
                          <a:spcPts val="0"/>
                        </a:spcAft>
                        <a:buNone/>
                      </a:pPr>
                      <a:r>
                        <a:rPr lang="en-US" sz="1200"/>
                        <a:t>8</a:t>
                      </a:r>
                      <a:endParaRPr/>
                    </a:p>
                  </a:txBody>
                  <a:tcPr marT="0" marB="0" marR="0" marL="0" anchor="ctr"/>
                </a:tc>
                <a:tc>
                  <a:txBody>
                    <a:bodyPr/>
                    <a:lstStyle/>
                    <a:p>
                      <a:pPr indent="0" lvl="0" marL="0" marR="0" rtl="0" algn="ctr">
                        <a:lnSpc>
                          <a:spcPct val="150000"/>
                        </a:lnSpc>
                        <a:spcBef>
                          <a:spcPts val="0"/>
                        </a:spcBef>
                        <a:spcAft>
                          <a:spcPts val="0"/>
                        </a:spcAft>
                        <a:buNone/>
                      </a:pPr>
                      <a:r>
                        <a:rPr lang="en-US" sz="1200"/>
                        <a:t>15 քմ/8</a:t>
                      </a:r>
                      <a:endParaRPr sz="1200"/>
                    </a:p>
                  </a:txBody>
                  <a:tcPr marT="0" marB="0" marR="0" marL="0" anchor="ctr"/>
                </a:tc>
              </a:tr>
              <a:tr h="429275">
                <a:tc>
                  <a:txBody>
                    <a:bodyPr/>
                    <a:lstStyle/>
                    <a:p>
                      <a:pPr indent="0" lvl="0" marL="0" marR="0" rtl="0" algn="just">
                        <a:lnSpc>
                          <a:spcPct val="150000"/>
                        </a:lnSpc>
                        <a:spcBef>
                          <a:spcPts val="0"/>
                        </a:spcBef>
                        <a:spcAft>
                          <a:spcPts val="0"/>
                        </a:spcAft>
                        <a:buNone/>
                      </a:pPr>
                      <a:r>
                        <a:rPr lang="en-US" sz="1400"/>
                        <a:t>Մաթեմատիկա </a:t>
                      </a:r>
                      <a:endParaRPr sz="1800"/>
                    </a:p>
                  </a:txBody>
                  <a:tcPr marT="0" marB="0" marR="0" marL="0" anchor="ctr"/>
                </a:tc>
                <a:tc>
                  <a:txBody>
                    <a:bodyPr/>
                    <a:lstStyle/>
                    <a:p>
                      <a:pPr indent="0" lvl="0" marL="0" marR="0" rtl="0" algn="ctr">
                        <a:lnSpc>
                          <a:spcPct val="150000"/>
                        </a:lnSpc>
                        <a:spcBef>
                          <a:spcPts val="0"/>
                        </a:spcBef>
                        <a:spcAft>
                          <a:spcPts val="0"/>
                        </a:spcAft>
                        <a:buClr>
                          <a:srgbClr val="000000"/>
                        </a:buClr>
                        <a:buSzPts val="1200"/>
                        <a:buFont typeface="Century Gothic"/>
                        <a:buNone/>
                      </a:pPr>
                      <a:r>
                        <a:rPr b="0" i="0" lang="en-US" sz="1200" u="none" cap="none" strike="noStrike">
                          <a:solidFill>
                            <a:srgbClr val="000000"/>
                          </a:solidFill>
                          <a:latin typeface="Century Gothic"/>
                          <a:ea typeface="Century Gothic"/>
                          <a:cs typeface="Century Gothic"/>
                          <a:sym typeface="Century Gothic"/>
                        </a:rPr>
                        <a:t>105</a:t>
                      </a:r>
                      <a:endParaRPr b="0" i="0" sz="1200" u="none" cap="none" strike="noStrike">
                        <a:solidFill>
                          <a:srgbClr val="000000"/>
                        </a:solidFill>
                        <a:latin typeface="Century Gothic"/>
                        <a:ea typeface="Century Gothic"/>
                        <a:cs typeface="Century Gothic"/>
                        <a:sym typeface="Century Gothic"/>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200"/>
                        <a:buFont typeface="Century Gothic"/>
                        <a:buNone/>
                      </a:pPr>
                      <a:r>
                        <a:rPr b="0" i="0" lang="en-US" sz="1200" u="none" cap="none" strike="noStrike">
                          <a:solidFill>
                            <a:srgbClr val="000000"/>
                          </a:solidFill>
                          <a:latin typeface="Century Gothic"/>
                          <a:ea typeface="Century Gothic"/>
                          <a:cs typeface="Century Gothic"/>
                          <a:sym typeface="Century Gothic"/>
                        </a:rPr>
                        <a:t>8</a:t>
                      </a:r>
                      <a:endParaRPr b="0" i="0" sz="1200" u="none" cap="none" strike="noStrike">
                        <a:solidFill>
                          <a:srgbClr val="000000"/>
                        </a:solidFill>
                        <a:latin typeface="Century Gothic"/>
                        <a:ea typeface="Century Gothic"/>
                        <a:cs typeface="Century Gothic"/>
                        <a:sym typeface="Century Gothic"/>
                      </a:endParaRPr>
                    </a:p>
                  </a:txBody>
                  <a:tcPr marT="0" marB="0" marR="0" marL="0" anchor="ctr"/>
                </a:tc>
                <a:tc>
                  <a:txBody>
                    <a:bodyPr/>
                    <a:lstStyle/>
                    <a:p>
                      <a:pPr indent="0" lvl="0" marL="0" marR="0" rtl="0" algn="ctr">
                        <a:lnSpc>
                          <a:spcPct val="150000"/>
                        </a:lnSpc>
                        <a:spcBef>
                          <a:spcPts val="0"/>
                        </a:spcBef>
                        <a:spcAft>
                          <a:spcPts val="0"/>
                        </a:spcAft>
                        <a:buClr>
                          <a:srgbClr val="000000"/>
                        </a:buClr>
                        <a:buSzPts val="1200"/>
                        <a:buFont typeface="Century Gothic"/>
                        <a:buNone/>
                      </a:pPr>
                      <a:r>
                        <a:rPr b="0" i="0" lang="en-US" sz="1200" u="none" cap="none" strike="noStrike">
                          <a:solidFill>
                            <a:srgbClr val="000000"/>
                          </a:solidFill>
                          <a:latin typeface="Century Gothic"/>
                          <a:ea typeface="Century Gothic"/>
                          <a:cs typeface="Century Gothic"/>
                          <a:sym typeface="Century Gothic"/>
                        </a:rPr>
                        <a:t>15 քմ/8</a:t>
                      </a:r>
                      <a:endParaRPr b="0" i="0" sz="1200" u="none" cap="none" strike="noStrike">
                        <a:solidFill>
                          <a:srgbClr val="000000"/>
                        </a:solidFill>
                        <a:latin typeface="Century Gothic"/>
                        <a:ea typeface="Century Gothic"/>
                        <a:cs typeface="Century Gothic"/>
                        <a:sym typeface="Century Gothic"/>
                      </a:endParaRPr>
                    </a:p>
                  </a:txBody>
                  <a:tcPr marT="0" marB="0" marR="0" marL="0" anchor="ctr"/>
                </a:tc>
              </a:tr>
              <a:tr h="364875">
                <a:tc>
                  <a:txBody>
                    <a:bodyPr/>
                    <a:lstStyle/>
                    <a:p>
                      <a:pPr indent="0" lvl="0" marL="0" marR="0" rtl="0" algn="just">
                        <a:spcBef>
                          <a:spcPts val="0"/>
                        </a:spcBef>
                        <a:spcAft>
                          <a:spcPts val="0"/>
                        </a:spcAft>
                        <a:buNone/>
                      </a:pPr>
                      <a:r>
                        <a:rPr lang="en-US" sz="1400"/>
                        <a:t>Հայոց պատմ </a:t>
                      </a:r>
                      <a:endParaRPr sz="1800"/>
                    </a:p>
                  </a:txBody>
                  <a:tcPr marT="0" marB="0" marR="0" marL="0" anchor="ctr"/>
                </a:tc>
                <a:tc>
                  <a:txBody>
                    <a:bodyPr/>
                    <a:lstStyle/>
                    <a:p>
                      <a:pPr indent="0" lvl="0" marL="0" marR="0" rtl="0" algn="ctr">
                        <a:lnSpc>
                          <a:spcPct val="150000"/>
                        </a:lnSpc>
                        <a:spcBef>
                          <a:spcPts val="0"/>
                        </a:spcBef>
                        <a:spcAft>
                          <a:spcPts val="0"/>
                        </a:spcAft>
                        <a:buClr>
                          <a:srgbClr val="000000"/>
                        </a:buClr>
                        <a:buSzPts val="1200"/>
                        <a:buFont typeface="Century Gothic"/>
                        <a:buNone/>
                      </a:pPr>
                      <a:r>
                        <a:rPr b="0" i="0" lang="en-US" sz="1200" u="none" cap="none" strike="noStrike">
                          <a:solidFill>
                            <a:srgbClr val="000000"/>
                          </a:solidFill>
                          <a:latin typeface="Century Gothic"/>
                          <a:ea typeface="Century Gothic"/>
                          <a:cs typeface="Century Gothic"/>
                          <a:sym typeface="Century Gothic"/>
                        </a:rPr>
                        <a:t>105</a:t>
                      </a:r>
                      <a:endParaRPr b="0" i="0" sz="1200" u="none" cap="none" strike="noStrike">
                        <a:solidFill>
                          <a:srgbClr val="000000"/>
                        </a:solidFill>
                        <a:latin typeface="Century Gothic"/>
                        <a:ea typeface="Century Gothic"/>
                        <a:cs typeface="Century Gothic"/>
                        <a:sym typeface="Century Gothic"/>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200"/>
                        <a:buFont typeface="Century Gothic"/>
                        <a:buNone/>
                      </a:pPr>
                      <a:r>
                        <a:rPr b="0" i="0" lang="en-US" sz="1200" u="none" cap="none" strike="noStrike">
                          <a:solidFill>
                            <a:srgbClr val="000000"/>
                          </a:solidFill>
                          <a:latin typeface="Century Gothic"/>
                          <a:ea typeface="Century Gothic"/>
                          <a:cs typeface="Century Gothic"/>
                          <a:sym typeface="Century Gothic"/>
                        </a:rPr>
                        <a:t>8</a:t>
                      </a:r>
                      <a:endParaRPr b="0" i="0" sz="1200" u="none" cap="none" strike="noStrike">
                        <a:solidFill>
                          <a:srgbClr val="000000"/>
                        </a:solidFill>
                        <a:latin typeface="Century Gothic"/>
                        <a:ea typeface="Century Gothic"/>
                        <a:cs typeface="Century Gothic"/>
                        <a:sym typeface="Century Gothic"/>
                      </a:endParaRPr>
                    </a:p>
                  </a:txBody>
                  <a:tcPr marT="0" marB="0" marR="0" marL="0" anchor="ctr"/>
                </a:tc>
                <a:tc>
                  <a:txBody>
                    <a:bodyPr/>
                    <a:lstStyle/>
                    <a:p>
                      <a:pPr indent="0" lvl="0" marL="0" marR="0" rtl="0" algn="ctr">
                        <a:lnSpc>
                          <a:spcPct val="150000"/>
                        </a:lnSpc>
                        <a:spcBef>
                          <a:spcPts val="0"/>
                        </a:spcBef>
                        <a:spcAft>
                          <a:spcPts val="0"/>
                        </a:spcAft>
                        <a:buClr>
                          <a:srgbClr val="000000"/>
                        </a:buClr>
                        <a:buSzPts val="1200"/>
                        <a:buFont typeface="Century Gothic"/>
                        <a:buNone/>
                      </a:pPr>
                      <a:r>
                        <a:rPr b="0" i="0" lang="en-US" sz="1200" u="none" cap="none" strike="noStrike">
                          <a:solidFill>
                            <a:srgbClr val="000000"/>
                          </a:solidFill>
                          <a:latin typeface="Century Gothic"/>
                          <a:ea typeface="Century Gothic"/>
                          <a:cs typeface="Century Gothic"/>
                          <a:sym typeface="Century Gothic"/>
                        </a:rPr>
                        <a:t>15 քմ/8</a:t>
                      </a:r>
                      <a:endParaRPr b="0" i="0" sz="1200" u="none" cap="none" strike="noStrike">
                        <a:solidFill>
                          <a:srgbClr val="000000"/>
                        </a:solidFill>
                        <a:latin typeface="Century Gothic"/>
                        <a:ea typeface="Century Gothic"/>
                        <a:cs typeface="Century Gothic"/>
                        <a:sym typeface="Century Gothic"/>
                      </a:endParaRPr>
                    </a:p>
                  </a:txBody>
                  <a:tcPr marT="0" marB="0" marR="0" marL="0" anchor="ctr"/>
                </a:tc>
              </a:tr>
            </a:tbl>
          </a:graphicData>
        </a:graphic>
      </p:graphicFrame>
      <p:pic>
        <p:nvPicPr>
          <p:cNvPr id="396" name="Google Shape;396;p48"/>
          <p:cNvPicPr preferRelativeResize="0"/>
          <p:nvPr/>
        </p:nvPicPr>
        <p:blipFill rotWithShape="1">
          <a:blip r:embed="rId3">
            <a:alphaModFix/>
          </a:blip>
          <a:srcRect b="0" l="0" r="0" t="0"/>
          <a:stretch/>
        </p:blipFill>
        <p:spPr>
          <a:xfrm>
            <a:off x="2016170" y="790321"/>
            <a:ext cx="9516681" cy="67671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49"/>
          <p:cNvPicPr preferRelativeResize="0"/>
          <p:nvPr/>
        </p:nvPicPr>
        <p:blipFill rotWithShape="1">
          <a:blip r:embed="rId3">
            <a:alphaModFix/>
          </a:blip>
          <a:srcRect b="0" l="0" r="0" t="0"/>
          <a:stretch/>
        </p:blipFill>
        <p:spPr>
          <a:xfrm>
            <a:off x="1555667" y="107545"/>
            <a:ext cx="8159767" cy="847417"/>
          </a:xfrm>
          <a:prstGeom prst="rect">
            <a:avLst/>
          </a:prstGeom>
          <a:noFill/>
          <a:ln>
            <a:noFill/>
          </a:ln>
        </p:spPr>
      </p:pic>
      <p:graphicFrame>
        <p:nvGraphicFramePr>
          <p:cNvPr id="403" name="Google Shape;403;p49"/>
          <p:cNvGraphicFramePr/>
          <p:nvPr/>
        </p:nvGraphicFramePr>
        <p:xfrm>
          <a:off x="1215190" y="1371601"/>
          <a:ext cx="3000000" cy="3000000"/>
        </p:xfrm>
        <a:graphic>
          <a:graphicData uri="http://schemas.openxmlformats.org/drawingml/2006/table">
            <a:tbl>
              <a:tblPr>
                <a:noFill/>
                <a:tableStyleId>{6A89F46A-32DD-4337-B89F-853120939335}</a:tableStyleId>
              </a:tblPr>
              <a:tblGrid>
                <a:gridCol w="2769700"/>
                <a:gridCol w="2367925"/>
                <a:gridCol w="2367925"/>
                <a:gridCol w="2179850"/>
              </a:tblGrid>
              <a:tr h="1443800">
                <a:tc rowSpan="2">
                  <a:txBody>
                    <a:bodyPr/>
                    <a:lstStyle/>
                    <a:p>
                      <a:pPr indent="0" lvl="0" marL="0" marR="0" rtl="0" algn="just">
                        <a:spcBef>
                          <a:spcPts val="0"/>
                        </a:spcBef>
                        <a:spcAft>
                          <a:spcPts val="0"/>
                        </a:spcAft>
                        <a:buNone/>
                      </a:pPr>
                      <a:r>
                        <a:rPr b="0" i="0" lang="en-US" sz="1400">
                          <a:solidFill>
                            <a:srgbClr val="000000"/>
                          </a:solidFill>
                          <a:latin typeface="Century Gothic"/>
                          <a:ea typeface="Century Gothic"/>
                          <a:cs typeface="Century Gothic"/>
                          <a:sym typeface="Century Gothic"/>
                        </a:rPr>
                        <a:t>Հիմնական առարկաներ ​</a:t>
                      </a:r>
                      <a:endParaRPr b="0"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just">
                        <a:spcBef>
                          <a:spcPts val="0"/>
                        </a:spcBef>
                        <a:spcAft>
                          <a:spcPts val="0"/>
                        </a:spcAft>
                        <a:buNone/>
                      </a:pPr>
                      <a:r>
                        <a:rPr b="0" i="0" lang="en-US" sz="1400">
                          <a:solidFill>
                            <a:srgbClr val="000000"/>
                          </a:solidFill>
                          <a:latin typeface="Century Gothic"/>
                          <a:ea typeface="Century Gothic"/>
                          <a:cs typeface="Century Gothic"/>
                          <a:sym typeface="Century Gothic"/>
                        </a:rPr>
                        <a:t>Սովորողների թիվը ​</a:t>
                      </a:r>
                      <a:endParaRPr b="0" i="0" sz="1400">
                        <a:solidFill>
                          <a:srgbClr val="000000"/>
                        </a:solidFill>
                      </a:endParaRPr>
                    </a:p>
                    <a:p>
                      <a:pPr indent="0" lvl="0" marL="0" marR="0" rtl="0" algn="just">
                        <a:spcBef>
                          <a:spcPts val="0"/>
                        </a:spcBef>
                        <a:spcAft>
                          <a:spcPts val="0"/>
                        </a:spcAft>
                        <a:buNone/>
                      </a:pPr>
                      <a:r>
                        <a:rPr b="0" i="0" lang="en-US" sz="1400">
                          <a:solidFill>
                            <a:srgbClr val="000000"/>
                          </a:solidFill>
                          <a:latin typeface="Century Gothic"/>
                          <a:ea typeface="Century Gothic"/>
                          <a:cs typeface="Century Gothic"/>
                          <a:sym typeface="Century Gothic"/>
                        </a:rPr>
                        <a:t>​</a:t>
                      </a:r>
                      <a:endParaRPr b="0"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a:solidFill>
                            <a:srgbClr val="000000"/>
                          </a:solidFill>
                          <a:latin typeface="Century Gothic"/>
                          <a:ea typeface="Century Gothic"/>
                          <a:cs typeface="Century Gothic"/>
                          <a:sym typeface="Century Gothic"/>
                        </a:rPr>
                        <a:t>Հիմնական առարկաներից տարեկան գնահատականների միջինը​</a:t>
                      </a:r>
                      <a:endParaRPr b="0"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a:solidFill>
                            <a:srgbClr val="000000"/>
                          </a:solidFill>
                          <a:latin typeface="Century Gothic"/>
                          <a:ea typeface="Century Gothic"/>
                          <a:cs typeface="Century Gothic"/>
                          <a:sym typeface="Century Gothic"/>
                        </a:rPr>
                        <a:t>12-րդ դասարաններում  պետական ավարտական քննությունների միավորների միջինը ​</a:t>
                      </a:r>
                      <a:endParaRPr b="0"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1168025">
                <a:tc vMerge="1"/>
                <a:tc>
                  <a:txBody>
                    <a:bodyPr/>
                    <a:lstStyle/>
                    <a:p>
                      <a:pPr indent="0" lvl="0" marL="0" marR="0" rtl="0" algn="ctr">
                        <a:spcBef>
                          <a:spcPts val="0"/>
                        </a:spcBef>
                        <a:spcAft>
                          <a:spcPts val="0"/>
                        </a:spcAft>
                        <a:buNone/>
                      </a:pPr>
                      <a:r>
                        <a:rPr b="0" i="0" lang="en-US" sz="1400">
                          <a:solidFill>
                            <a:srgbClr val="000000"/>
                          </a:solidFill>
                          <a:latin typeface="Century Gothic"/>
                          <a:ea typeface="Century Gothic"/>
                          <a:cs typeface="Century Gothic"/>
                          <a:sym typeface="Century Gothic"/>
                        </a:rPr>
                        <a:t>12-րդ. ​</a:t>
                      </a:r>
                      <a:endParaRPr b="0" i="0" sz="1400">
                        <a:solidFill>
                          <a:srgbClr val="000000"/>
                        </a:solidFill>
                      </a:endParaRPr>
                    </a:p>
                    <a:p>
                      <a:pPr indent="0" lvl="0" marL="0" marR="0" rtl="0" algn="ctr">
                        <a:spcBef>
                          <a:spcPts val="0"/>
                        </a:spcBef>
                        <a:spcAft>
                          <a:spcPts val="0"/>
                        </a:spcAft>
                        <a:buNone/>
                      </a:pPr>
                      <a:r>
                        <a:rPr b="0" i="0" lang="en-US" sz="1400">
                          <a:solidFill>
                            <a:srgbClr val="000000"/>
                          </a:solidFill>
                          <a:latin typeface="Century Gothic"/>
                          <a:ea typeface="Century Gothic"/>
                          <a:cs typeface="Century Gothic"/>
                          <a:sym typeface="Century Gothic"/>
                        </a:rPr>
                        <a:t>դաս. ​</a:t>
                      </a:r>
                      <a:endParaRPr b="0"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400">
                          <a:solidFill>
                            <a:srgbClr val="000000"/>
                          </a:solidFill>
                          <a:latin typeface="Century Gothic"/>
                          <a:ea typeface="Century Gothic"/>
                          <a:cs typeface="Century Gothic"/>
                          <a:sym typeface="Century Gothic"/>
                        </a:rPr>
                        <a:t>12-րդ. ​</a:t>
                      </a:r>
                      <a:endParaRPr b="0" i="0" sz="1400">
                        <a:solidFill>
                          <a:srgbClr val="000000"/>
                        </a:solidFill>
                      </a:endParaRPr>
                    </a:p>
                    <a:p>
                      <a:pPr indent="0" lvl="0" marL="0" marR="0" rtl="0" algn="ctr">
                        <a:spcBef>
                          <a:spcPts val="0"/>
                        </a:spcBef>
                        <a:spcAft>
                          <a:spcPts val="0"/>
                        </a:spcAft>
                        <a:buNone/>
                      </a:pPr>
                      <a:r>
                        <a:rPr b="0" i="0" lang="en-US" sz="1400">
                          <a:solidFill>
                            <a:srgbClr val="000000"/>
                          </a:solidFill>
                          <a:latin typeface="Century Gothic"/>
                          <a:ea typeface="Century Gothic"/>
                          <a:cs typeface="Century Gothic"/>
                          <a:sym typeface="Century Gothic"/>
                        </a:rPr>
                        <a:t>դաս. ​</a:t>
                      </a:r>
                      <a:endParaRPr b="0"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400">
                          <a:solidFill>
                            <a:srgbClr val="000000"/>
                          </a:solidFill>
                          <a:latin typeface="Century Gothic"/>
                          <a:ea typeface="Century Gothic"/>
                          <a:cs typeface="Century Gothic"/>
                          <a:sym typeface="Century Gothic"/>
                        </a:rPr>
                        <a:t>12-րդ. ​</a:t>
                      </a:r>
                      <a:endParaRPr b="0" i="0" sz="1400">
                        <a:solidFill>
                          <a:srgbClr val="000000"/>
                        </a:solidFill>
                      </a:endParaRPr>
                    </a:p>
                    <a:p>
                      <a:pPr indent="0" lvl="0" marL="0" marR="0" rtl="0" algn="ctr">
                        <a:spcBef>
                          <a:spcPts val="0"/>
                        </a:spcBef>
                        <a:spcAft>
                          <a:spcPts val="0"/>
                        </a:spcAft>
                        <a:buNone/>
                      </a:pPr>
                      <a:r>
                        <a:rPr b="0" i="0" lang="en-US" sz="1400">
                          <a:solidFill>
                            <a:srgbClr val="000000"/>
                          </a:solidFill>
                          <a:latin typeface="Century Gothic"/>
                          <a:ea typeface="Century Gothic"/>
                          <a:cs typeface="Century Gothic"/>
                          <a:sym typeface="Century Gothic"/>
                        </a:rPr>
                        <a:t>դաս. ​</a:t>
                      </a:r>
                      <a:endParaRPr b="0"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584025">
                <a:tc>
                  <a:txBody>
                    <a:bodyPr/>
                    <a:lstStyle/>
                    <a:p>
                      <a:pPr indent="0" lvl="0" marL="0" marR="0" rtl="0" algn="just">
                        <a:spcBef>
                          <a:spcPts val="0"/>
                        </a:spcBef>
                        <a:spcAft>
                          <a:spcPts val="0"/>
                        </a:spcAft>
                        <a:buNone/>
                      </a:pPr>
                      <a:r>
                        <a:rPr b="0" i="0" lang="en-US" sz="1400">
                          <a:solidFill>
                            <a:srgbClr val="000000"/>
                          </a:solidFill>
                          <a:latin typeface="Century Gothic"/>
                          <a:ea typeface="Century Gothic"/>
                          <a:cs typeface="Century Gothic"/>
                          <a:sym typeface="Century Gothic"/>
                        </a:rPr>
                        <a:t>Հայոց լեզու ​</a:t>
                      </a:r>
                      <a:endParaRPr b="0"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400">
                          <a:solidFill>
                            <a:srgbClr val="000000"/>
                          </a:solidFill>
                          <a:latin typeface="Century Gothic"/>
                          <a:ea typeface="Century Gothic"/>
                          <a:cs typeface="Century Gothic"/>
                          <a:sym typeface="Century Gothic"/>
                        </a:rPr>
                        <a:t>186</a:t>
                      </a:r>
                      <a:endParaRPr b="1" i="0" sz="1400">
                        <a:solidFill>
                          <a:srgbClr val="000000"/>
                        </a:solidFill>
                        <a:latin typeface="Century Gothic"/>
                        <a:ea typeface="Century Gothic"/>
                        <a:cs typeface="Century Gothic"/>
                        <a:sym typeface="Century Gothic"/>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400">
                          <a:solidFill>
                            <a:srgbClr val="000000"/>
                          </a:solidFill>
                          <a:latin typeface="Century Gothic"/>
                          <a:ea typeface="Century Gothic"/>
                          <a:cs typeface="Century Gothic"/>
                          <a:sym typeface="Century Gothic"/>
                        </a:rPr>
                        <a:t>8​</a:t>
                      </a:r>
                      <a:endParaRPr b="1"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400">
                          <a:solidFill>
                            <a:srgbClr val="000000"/>
                          </a:solidFill>
                          <a:latin typeface="Century Gothic"/>
                          <a:ea typeface="Century Gothic"/>
                          <a:cs typeface="Century Gothic"/>
                          <a:sym typeface="Century Gothic"/>
                        </a:rPr>
                        <a:t>13</a:t>
                      </a:r>
                      <a:endParaRPr b="1"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584025">
                <a:tc>
                  <a:txBody>
                    <a:bodyPr/>
                    <a:lstStyle/>
                    <a:p>
                      <a:pPr indent="0" lvl="0" marL="0" marR="0" rtl="0" algn="just">
                        <a:spcBef>
                          <a:spcPts val="0"/>
                        </a:spcBef>
                        <a:spcAft>
                          <a:spcPts val="0"/>
                        </a:spcAft>
                        <a:buNone/>
                      </a:pPr>
                      <a:r>
                        <a:rPr b="0" i="0" lang="en-US" sz="1400">
                          <a:solidFill>
                            <a:srgbClr val="000000"/>
                          </a:solidFill>
                          <a:latin typeface="Century Gothic"/>
                          <a:ea typeface="Century Gothic"/>
                          <a:cs typeface="Century Gothic"/>
                          <a:sym typeface="Century Gothic"/>
                        </a:rPr>
                        <a:t>Մաթեմատիկա ​</a:t>
                      </a:r>
                      <a:endParaRPr b="0"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Century Gothic"/>
                        <a:buNone/>
                      </a:pPr>
                      <a:r>
                        <a:rPr b="1" i="0" lang="en-US" sz="1400" u="none" cap="none" strike="noStrike">
                          <a:solidFill>
                            <a:srgbClr val="000000"/>
                          </a:solidFill>
                          <a:latin typeface="Century Gothic"/>
                          <a:ea typeface="Century Gothic"/>
                          <a:cs typeface="Century Gothic"/>
                          <a:sym typeface="Century Gothic"/>
                        </a:rPr>
                        <a:t>186</a:t>
                      </a:r>
                      <a:endParaRPr b="1" i="0" sz="1400" u="none" cap="none" strike="noStrike">
                        <a:solidFill>
                          <a:srgbClr val="000000"/>
                        </a:solidFill>
                        <a:latin typeface="Century Gothic"/>
                        <a:ea typeface="Century Gothic"/>
                        <a:cs typeface="Century Gothic"/>
                        <a:sym typeface="Century Gothic"/>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400">
                          <a:solidFill>
                            <a:srgbClr val="000000"/>
                          </a:solidFill>
                          <a:latin typeface="Century Gothic"/>
                          <a:ea typeface="Century Gothic"/>
                          <a:cs typeface="Century Gothic"/>
                          <a:sym typeface="Century Gothic"/>
                        </a:rPr>
                        <a:t>7​</a:t>
                      </a:r>
                      <a:endParaRPr b="1"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400">
                          <a:solidFill>
                            <a:srgbClr val="000000"/>
                          </a:solidFill>
                          <a:latin typeface="Century Gothic"/>
                          <a:ea typeface="Century Gothic"/>
                          <a:cs typeface="Century Gothic"/>
                          <a:sym typeface="Century Gothic"/>
                        </a:rPr>
                        <a:t>14</a:t>
                      </a:r>
                      <a:endParaRPr b="1"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493175">
                <a:tc>
                  <a:txBody>
                    <a:bodyPr/>
                    <a:lstStyle/>
                    <a:p>
                      <a:pPr indent="0" lvl="0" marL="0" marR="0" rtl="0" algn="just">
                        <a:spcBef>
                          <a:spcPts val="0"/>
                        </a:spcBef>
                        <a:spcAft>
                          <a:spcPts val="0"/>
                        </a:spcAft>
                        <a:buNone/>
                      </a:pPr>
                      <a:r>
                        <a:rPr b="0" i="0" lang="en-US" sz="1400">
                          <a:solidFill>
                            <a:srgbClr val="000000"/>
                          </a:solidFill>
                          <a:latin typeface="Century Gothic"/>
                          <a:ea typeface="Century Gothic"/>
                          <a:cs typeface="Century Gothic"/>
                          <a:sym typeface="Century Gothic"/>
                        </a:rPr>
                        <a:t>Հայոց պատմ ​</a:t>
                      </a:r>
                      <a:endParaRPr b="0"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Century Gothic"/>
                        <a:buNone/>
                      </a:pPr>
                      <a:r>
                        <a:rPr b="1" i="0" lang="en-US" sz="1400" u="none" cap="none" strike="noStrike">
                          <a:solidFill>
                            <a:srgbClr val="000000"/>
                          </a:solidFill>
                          <a:latin typeface="Century Gothic"/>
                          <a:ea typeface="Century Gothic"/>
                          <a:cs typeface="Century Gothic"/>
                          <a:sym typeface="Century Gothic"/>
                        </a:rPr>
                        <a:t>186</a:t>
                      </a:r>
                      <a:endParaRPr b="1" i="0" sz="1400" u="none" cap="none" strike="noStrike">
                        <a:solidFill>
                          <a:srgbClr val="000000"/>
                        </a:solidFill>
                        <a:latin typeface="Century Gothic"/>
                        <a:ea typeface="Century Gothic"/>
                        <a:cs typeface="Century Gothic"/>
                        <a:sym typeface="Century Gothic"/>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400">
                          <a:solidFill>
                            <a:srgbClr val="000000"/>
                          </a:solidFill>
                          <a:latin typeface="Century Gothic"/>
                          <a:ea typeface="Century Gothic"/>
                          <a:cs typeface="Century Gothic"/>
                          <a:sym typeface="Century Gothic"/>
                        </a:rPr>
                        <a:t>7​</a:t>
                      </a:r>
                      <a:endParaRPr b="1"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400">
                          <a:solidFill>
                            <a:srgbClr val="000000"/>
                          </a:solidFill>
                          <a:latin typeface="Century Gothic"/>
                          <a:ea typeface="Century Gothic"/>
                          <a:cs typeface="Century Gothic"/>
                          <a:sym typeface="Century Gothic"/>
                        </a:rPr>
                        <a:t>16​</a:t>
                      </a:r>
                      <a:endParaRPr b="1" i="0" sz="1400">
                        <a:solidFill>
                          <a:srgbClr val="000000"/>
                        </a:solidFill>
                      </a:endParaRPr>
                    </a:p>
                  </a:txBody>
                  <a:tcPr marT="34425" marB="34425" marR="68875" marL="6887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404" name="Google Shape;404;p49"/>
          <p:cNvSpPr/>
          <p:nvPr/>
        </p:nvSpPr>
        <p:spPr>
          <a:xfrm>
            <a:off x="0" y="0"/>
            <a:ext cx="12192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0"/>
          <p:cNvSpPr txBox="1"/>
          <p:nvPr/>
        </p:nvSpPr>
        <p:spPr>
          <a:xfrm>
            <a:off x="2018945" y="242035"/>
            <a:ext cx="9817138"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1600">
                <a:solidFill>
                  <a:schemeClr val="dk1"/>
                </a:solidFill>
                <a:latin typeface="Merriweather"/>
                <a:ea typeface="Merriweather"/>
                <a:cs typeface="Merriweather"/>
                <a:sym typeface="Merriweather"/>
              </a:rPr>
              <a:t>Աղյուսակ 20. Տվյալներ 12-րդ դասարաններում պետական ավարտական</a:t>
            </a:r>
            <a:endParaRPr b="1" i="1" sz="1600">
              <a:solidFill>
                <a:schemeClr val="dk1"/>
              </a:solidFill>
              <a:latin typeface="Merriweather"/>
              <a:ea typeface="Merriweather"/>
              <a:cs typeface="Merriweather"/>
              <a:sym typeface="Merriweather"/>
            </a:endParaRPr>
          </a:p>
          <a:p>
            <a:pPr indent="0" lvl="0" marL="0" marR="0" rtl="0" algn="just">
              <a:spcBef>
                <a:spcPts val="0"/>
              </a:spcBef>
              <a:spcAft>
                <a:spcPts val="0"/>
              </a:spcAft>
              <a:buNone/>
            </a:pPr>
            <a:r>
              <a:rPr b="1" i="1" lang="en-US" sz="1600">
                <a:solidFill>
                  <a:schemeClr val="dk1"/>
                </a:solidFill>
                <a:latin typeface="Merriweather"/>
                <a:ea typeface="Merriweather"/>
                <a:cs typeface="Merriweather"/>
                <a:sym typeface="Merriweather"/>
              </a:rPr>
              <a:t>                           քննությունների արդյունքների փոփոխության դինամիկայի վերաբերյալ</a:t>
            </a:r>
            <a:endParaRPr b="1" i="1" sz="1600">
              <a:solidFill>
                <a:schemeClr val="dk1"/>
              </a:solidFill>
              <a:latin typeface="Merriweather"/>
              <a:ea typeface="Merriweather"/>
              <a:cs typeface="Merriweather"/>
              <a:sym typeface="Merriweather"/>
            </a:endParaRPr>
          </a:p>
          <a:p>
            <a:pPr indent="0" lvl="0" marL="0" marR="0" rtl="0" algn="l">
              <a:spcBef>
                <a:spcPts val="0"/>
              </a:spcBef>
              <a:spcAft>
                <a:spcPts val="0"/>
              </a:spcAft>
              <a:buNone/>
            </a:pPr>
            <a:r>
              <a:t/>
            </a:r>
            <a:endParaRPr b="1" i="1" sz="1600">
              <a:solidFill>
                <a:schemeClr val="dk1"/>
              </a:solidFill>
              <a:latin typeface="Merriweather"/>
              <a:ea typeface="Merriweather"/>
              <a:cs typeface="Merriweather"/>
              <a:sym typeface="Merriweather"/>
            </a:endParaRPr>
          </a:p>
        </p:txBody>
      </p:sp>
      <p:graphicFrame>
        <p:nvGraphicFramePr>
          <p:cNvPr id="411" name="Google Shape;411;p50"/>
          <p:cNvGraphicFramePr/>
          <p:nvPr/>
        </p:nvGraphicFramePr>
        <p:xfrm>
          <a:off x="390059" y="1000696"/>
          <a:ext cx="3000000" cy="3000000"/>
        </p:xfrm>
        <a:graphic>
          <a:graphicData uri="http://schemas.openxmlformats.org/drawingml/2006/table">
            <a:tbl>
              <a:tblPr>
                <a:noFill/>
                <a:tableStyleId>{40B977D2-3903-41EF-8714-5AC59086702B}</a:tableStyleId>
              </a:tblPr>
              <a:tblGrid>
                <a:gridCol w="1971400"/>
                <a:gridCol w="1994575"/>
                <a:gridCol w="1751800"/>
                <a:gridCol w="3320250"/>
              </a:tblGrid>
              <a:tr h="767450">
                <a:tc rowSpan="3">
                  <a:txBody>
                    <a:bodyPr/>
                    <a:lstStyle/>
                    <a:p>
                      <a:pPr indent="0" lvl="0" marL="0" marR="0" rtl="0" algn="just">
                        <a:lnSpc>
                          <a:spcPct val="150000"/>
                        </a:lnSpc>
                        <a:spcBef>
                          <a:spcPts val="0"/>
                        </a:spcBef>
                        <a:spcAft>
                          <a:spcPts val="0"/>
                        </a:spcAft>
                        <a:buNone/>
                      </a:pPr>
                      <a:r>
                        <a:rPr lang="en-US" sz="1400"/>
                        <a:t>Քննական առարկաներ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gridSpan="3">
                  <a:txBody>
                    <a:bodyPr/>
                    <a:lstStyle/>
                    <a:p>
                      <a:pPr indent="0" lvl="0" marL="0" marR="0" rtl="0" algn="just">
                        <a:lnSpc>
                          <a:spcPct val="150000"/>
                        </a:lnSpc>
                        <a:spcBef>
                          <a:spcPts val="0"/>
                        </a:spcBef>
                        <a:spcAft>
                          <a:spcPts val="0"/>
                        </a:spcAft>
                        <a:buNone/>
                      </a:pPr>
                      <a:r>
                        <a:rPr lang="en-US" sz="1400"/>
                        <a:t>Քննությունների միջին միավորների փոփոխությունը նախորդ ուսումնական տարվա նկատմամբ՝ ըստ կրթական աստիճանների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hMerge="1"/>
                <a:tc hMerge="1"/>
              </a:tr>
              <a:tr h="772725">
                <a:tc vMerge="1"/>
                <a:tc gridSpan="2">
                  <a:txBody>
                    <a:bodyPr/>
                    <a:lstStyle/>
                    <a:p>
                      <a:pPr indent="0" lvl="0" marL="0" marR="0" rtl="0" algn="ctr">
                        <a:lnSpc>
                          <a:spcPct val="150000"/>
                        </a:lnSpc>
                        <a:spcBef>
                          <a:spcPts val="0"/>
                        </a:spcBef>
                        <a:spcAft>
                          <a:spcPts val="0"/>
                        </a:spcAft>
                        <a:buNone/>
                      </a:pPr>
                      <a:r>
                        <a:rPr lang="en-US" sz="1400"/>
                        <a:t>Քննությունների միջին միավորների աճի տոկոսը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hMerge="1"/>
                <a:tc>
                  <a:txBody>
                    <a:bodyPr/>
                    <a:lstStyle/>
                    <a:p>
                      <a:pPr indent="0" lvl="0" marL="0" marR="0" rtl="0" algn="ctr">
                        <a:lnSpc>
                          <a:spcPct val="150000"/>
                        </a:lnSpc>
                        <a:spcBef>
                          <a:spcPts val="0"/>
                        </a:spcBef>
                        <a:spcAft>
                          <a:spcPts val="0"/>
                        </a:spcAft>
                        <a:buNone/>
                      </a:pPr>
                      <a:r>
                        <a:rPr lang="en-US" sz="1400"/>
                        <a:t>Քննությունների միջին միավորների նվազման տոկոսը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52425">
                <a:tc vMerge="1"/>
                <a:tc>
                  <a:txBody>
                    <a:bodyPr/>
                    <a:lstStyle/>
                    <a:p>
                      <a:pPr indent="0" lvl="0" marL="0" marR="0" rtl="0" algn="ctr">
                        <a:lnSpc>
                          <a:spcPct val="150000"/>
                        </a:lnSpc>
                        <a:spcBef>
                          <a:spcPts val="0"/>
                        </a:spcBef>
                        <a:spcAft>
                          <a:spcPts val="0"/>
                        </a:spcAft>
                        <a:buClr>
                          <a:schemeClr val="dk1"/>
                        </a:buClr>
                        <a:buSzPts val="1400"/>
                        <a:buFont typeface="Century Gothic"/>
                        <a:buNone/>
                      </a:pPr>
                      <a:r>
                        <a:rPr lang="en-US" sz="1400"/>
                        <a:t>12-րդ. դաս. </a:t>
                      </a:r>
                      <a:endParaRPr sz="1800"/>
                    </a:p>
                  </a:txBody>
                  <a:tcPr marT="0" marB="0" marR="0" marL="0" anchor="ctr">
                    <a:lnL cap="flat" cmpd="sng" w="381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400"/>
                        <a:buFont typeface="Century Gothic"/>
                        <a:buNone/>
                      </a:pPr>
                      <a:r>
                        <a:rPr lang="en-US" sz="1400"/>
                        <a:t>12-րդ. դաս. </a:t>
                      </a:r>
                      <a:endParaRPr sz="1400"/>
                    </a:p>
                    <a:p>
                      <a:pPr indent="0" lvl="0" marL="0" marR="0" rtl="0" algn="ctr">
                        <a:lnSpc>
                          <a:spcPct val="150000"/>
                        </a:lnSpc>
                        <a:spcBef>
                          <a:spcPts val="0"/>
                        </a:spcBef>
                        <a:spcAft>
                          <a:spcPts val="0"/>
                        </a:spcAft>
                        <a:buClr>
                          <a:schemeClr val="dk1"/>
                        </a:buClr>
                        <a:buSzPts val="1400"/>
                        <a:buFont typeface="Century Gothic"/>
                        <a:buNone/>
                      </a:pPr>
                      <a:r>
                        <a:rPr lang="en-US" sz="1400"/>
                        <a:t>2024-2025</a:t>
                      </a:r>
                      <a:endParaRPr sz="1800"/>
                    </a:p>
                  </a:txBody>
                  <a:tcPr marT="0" marB="0" marR="0" marL="0" anchor="ctr">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400"/>
                        <a:buFont typeface="Century Gothic"/>
                        <a:buNone/>
                      </a:pPr>
                      <a:r>
                        <a:rPr lang="en-US" sz="1400"/>
                        <a:t>12-րդ. դաս.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99100">
                <a:tc>
                  <a:txBody>
                    <a:bodyPr/>
                    <a:lstStyle/>
                    <a:p>
                      <a:pPr indent="0" lvl="0" marL="0" marR="0" rtl="0" algn="just">
                        <a:lnSpc>
                          <a:spcPct val="150000"/>
                        </a:lnSpc>
                        <a:spcBef>
                          <a:spcPts val="0"/>
                        </a:spcBef>
                        <a:spcAft>
                          <a:spcPts val="0"/>
                        </a:spcAft>
                        <a:buNone/>
                      </a:pPr>
                      <a:r>
                        <a:rPr lang="en-US" sz="1400"/>
                        <a:t>Հայոց լեզու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Merriweather"/>
                        <a:buNone/>
                      </a:pPr>
                      <a:r>
                        <a:rPr lang="en-US" sz="1400" u="none">
                          <a:solidFill>
                            <a:schemeClr val="dk1"/>
                          </a:solidFill>
                          <a:latin typeface="Merriweather"/>
                          <a:ea typeface="Merriweather"/>
                          <a:cs typeface="Merriweather"/>
                          <a:sym typeface="Merriweather"/>
                        </a:rPr>
                        <a:t>10%</a:t>
                      </a:r>
                      <a:endParaRPr/>
                    </a:p>
                    <a:p>
                      <a:pPr indent="0" lvl="0" marL="0" marR="0" rtl="0" algn="ctr">
                        <a:spcBef>
                          <a:spcPts val="0"/>
                        </a:spcBef>
                        <a:spcAft>
                          <a:spcPts val="0"/>
                        </a:spcAft>
                        <a:buClr>
                          <a:schemeClr val="dk1"/>
                        </a:buClr>
                        <a:buSzPts val="1400"/>
                        <a:buFont typeface="Century Gothic"/>
                        <a:buNone/>
                      </a:pPr>
                      <a:r>
                        <a:t/>
                      </a:r>
                      <a:endParaRPr b="0" i="0" sz="1400" u="none" strike="noStrike">
                        <a:solidFill>
                          <a:srgbClr val="000000"/>
                        </a:solidFill>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400"/>
                        <a:buFont typeface="Merriweather"/>
                        <a:buNone/>
                      </a:pPr>
                      <a:r>
                        <a:rPr lang="en-US" sz="1400" u="none">
                          <a:solidFill>
                            <a:schemeClr val="dk1"/>
                          </a:solidFill>
                          <a:latin typeface="Merriweather"/>
                          <a:ea typeface="Merriweather"/>
                          <a:cs typeface="Merriweather"/>
                          <a:sym typeface="Merriweather"/>
                        </a:rPr>
                        <a:t>10%</a:t>
                      </a:r>
                      <a:endParaRPr sz="1400" u="none">
                        <a:solidFill>
                          <a:schemeClr val="dk1"/>
                        </a:solidFill>
                        <a:latin typeface="Merriweather"/>
                        <a:ea typeface="Merriweather"/>
                        <a:cs typeface="Merriweather"/>
                        <a:sym typeface="Merriweather"/>
                      </a:endParaRPr>
                    </a:p>
                  </a:txBody>
                  <a:tcPr marT="0" marB="0" marR="0" marL="0" anchor="ctr">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400"/>
                        <a:buFont typeface="Merriweather"/>
                        <a:buNone/>
                      </a:pPr>
                      <a:r>
                        <a:rPr lang="en-US" sz="1400" u="none">
                          <a:solidFill>
                            <a:schemeClr val="dk1"/>
                          </a:solidFill>
                          <a:latin typeface="Merriweather"/>
                          <a:ea typeface="Merriweather"/>
                          <a:cs typeface="Merriweather"/>
                          <a:sym typeface="Merriweather"/>
                        </a:rPr>
                        <a:t>10%</a:t>
                      </a: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98350">
                <a:tc>
                  <a:txBody>
                    <a:bodyPr/>
                    <a:lstStyle/>
                    <a:p>
                      <a:pPr indent="0" lvl="0" marL="0" marR="0" rtl="0" algn="just">
                        <a:lnSpc>
                          <a:spcPct val="150000"/>
                        </a:lnSpc>
                        <a:spcBef>
                          <a:spcPts val="0"/>
                        </a:spcBef>
                        <a:spcAft>
                          <a:spcPts val="0"/>
                        </a:spcAft>
                        <a:buNone/>
                      </a:pPr>
                      <a:r>
                        <a:rPr lang="en-US" sz="1400"/>
                        <a:t>Մաթեմատիկա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t/>
                      </a:r>
                      <a:endParaRPr sz="14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400"/>
                        <a:buFont typeface="Merriweather"/>
                        <a:buNone/>
                      </a:pPr>
                      <a:r>
                        <a:rPr lang="en-US" sz="1400">
                          <a:latin typeface="Merriweather"/>
                          <a:ea typeface="Merriweather"/>
                          <a:cs typeface="Merriweather"/>
                          <a:sym typeface="Merriweather"/>
                        </a:rPr>
                        <a:t>6% աճ</a:t>
                      </a:r>
                      <a:endParaRPr sz="1400">
                        <a:latin typeface="Merriweather"/>
                        <a:ea typeface="Merriweather"/>
                        <a:cs typeface="Merriweather"/>
                        <a:sym typeface="Merriweather"/>
                      </a:endParaRPr>
                    </a:p>
                  </a:txBody>
                  <a:tcPr marT="0" marB="0" marR="0" marL="0" anchor="ctr">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400"/>
                        <a:buFont typeface="Century Gothic"/>
                        <a:buNone/>
                      </a:pPr>
                      <a:r>
                        <a:t/>
                      </a:r>
                      <a:endParaRPr sz="14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98350">
                <a:tc>
                  <a:txBody>
                    <a:bodyPr/>
                    <a:lstStyle/>
                    <a:p>
                      <a:pPr indent="0" lvl="0" marL="0" marR="0" rtl="0" algn="just">
                        <a:spcBef>
                          <a:spcPts val="0"/>
                        </a:spcBef>
                        <a:spcAft>
                          <a:spcPts val="0"/>
                        </a:spcAft>
                        <a:buNone/>
                      </a:pPr>
                      <a:r>
                        <a:rPr lang="en-US" sz="1400"/>
                        <a:t>Հայոց պատմություն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t/>
                      </a:r>
                      <a:endParaRPr sz="14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400"/>
                        <a:buFont typeface="Merriweather"/>
                        <a:buNone/>
                      </a:pPr>
                      <a:r>
                        <a:rPr lang="en-US" sz="1400">
                          <a:latin typeface="Merriweather"/>
                          <a:ea typeface="Merriweather"/>
                          <a:cs typeface="Merriweather"/>
                          <a:sym typeface="Merriweather"/>
                        </a:rPr>
                        <a:t>6% նվազում</a:t>
                      </a:r>
                      <a:endParaRPr sz="1400">
                        <a:latin typeface="Merriweather"/>
                        <a:ea typeface="Merriweather"/>
                        <a:cs typeface="Merriweather"/>
                        <a:sym typeface="Merriweather"/>
                      </a:endParaRPr>
                    </a:p>
                  </a:txBody>
                  <a:tcPr marT="0" marB="0" marR="0" marL="0" anchor="ctr">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400"/>
                        <a:buFont typeface="Century Gothic"/>
                        <a:buNone/>
                      </a:pPr>
                      <a:r>
                        <a:t/>
                      </a:r>
                      <a:endParaRPr sz="14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98350">
                <a:tc>
                  <a:txBody>
                    <a:bodyPr/>
                    <a:lstStyle/>
                    <a:p>
                      <a:pPr indent="0" lvl="0" marL="0" marR="0" rtl="0" algn="just">
                        <a:spcBef>
                          <a:spcPts val="0"/>
                        </a:spcBef>
                        <a:spcAft>
                          <a:spcPts val="0"/>
                        </a:spcAft>
                        <a:buNone/>
                      </a:pPr>
                      <a:r>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t/>
                      </a:r>
                      <a:endParaRPr sz="14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t/>
                      </a:r>
                      <a:endParaRPr sz="1400">
                        <a:latin typeface="Merriweather"/>
                        <a:ea typeface="Merriweather"/>
                        <a:cs typeface="Merriweather"/>
                        <a:sym typeface="Merriweather"/>
                      </a:endParaRPr>
                    </a:p>
                  </a:txBody>
                  <a:tcPr marT="0" marB="0" marR="0" marL="0" anchor="ctr">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800"/>
                        <a:buFont typeface="Century Gothic"/>
                        <a:buNone/>
                      </a:pPr>
                      <a:r>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412" name="Google Shape;412;p50"/>
          <p:cNvSpPr txBox="1"/>
          <p:nvPr/>
        </p:nvSpPr>
        <p:spPr>
          <a:xfrm>
            <a:off x="830179" y="4800600"/>
            <a:ext cx="10876547"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1" lang="en-US" sz="1200" u="sng">
                <a:solidFill>
                  <a:schemeClr val="dk1"/>
                </a:solidFill>
                <a:latin typeface="Merriweather"/>
                <a:ea typeface="Merriweather"/>
                <a:cs typeface="Merriweather"/>
                <a:sym typeface="Merriweather"/>
              </a:rPr>
              <a:t>   Քննության միջին միավորների տատանումները 1-2 բալի սահմաններում է, որը բնական է և պայմանավորված է ենթահոսքերում սովորող աշակերտների  թվաքանակների տարբերությամբ;</a:t>
            </a:r>
            <a:endParaRPr/>
          </a:p>
          <a:p>
            <a:pPr indent="0" lvl="0" marL="0" marR="0" rtl="0" algn="just">
              <a:spcBef>
                <a:spcPts val="0"/>
              </a:spcBef>
              <a:spcAft>
                <a:spcPts val="0"/>
              </a:spcAft>
              <a:buNone/>
            </a:pPr>
            <a:r>
              <a:t/>
            </a:r>
            <a:endParaRPr sz="1200">
              <a:solidFill>
                <a:schemeClr val="dk1"/>
              </a:solidFill>
              <a:latin typeface="Merriweather"/>
              <a:ea typeface="Merriweather"/>
              <a:cs typeface="Merriweather"/>
              <a:sym typeface="Merriweathe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413" name="Google Shape;413;p50"/>
          <p:cNvGraphicFramePr/>
          <p:nvPr/>
        </p:nvGraphicFramePr>
        <p:xfrm>
          <a:off x="9428086" y="1757780"/>
          <a:ext cx="3000000" cy="3000000"/>
        </p:xfrm>
        <a:graphic>
          <a:graphicData uri="http://schemas.openxmlformats.org/drawingml/2006/table">
            <a:tbl>
              <a:tblPr>
                <a:noFill/>
                <a:tableStyleId>{40B977D2-3903-41EF-8714-5AC59086702B}</a:tableStyleId>
              </a:tblPr>
              <a:tblGrid>
                <a:gridCol w="2636675"/>
              </a:tblGrid>
              <a:tr h="759500">
                <a:tc>
                  <a:txBody>
                    <a:bodyPr/>
                    <a:lstStyle/>
                    <a:p>
                      <a:pPr indent="0" lvl="0" marL="0" marR="0" rtl="0" algn="ctr">
                        <a:lnSpc>
                          <a:spcPct val="150000"/>
                        </a:lnSpc>
                        <a:spcBef>
                          <a:spcPts val="0"/>
                        </a:spcBef>
                        <a:spcAft>
                          <a:spcPts val="0"/>
                        </a:spcAft>
                        <a:buNone/>
                      </a:pPr>
                      <a:r>
                        <a:rPr lang="en-US" sz="1400"/>
                        <a:t>Քննությունների միջին միավորների նվազման տոկոսը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59250">
                <a:tc>
                  <a:txBody>
                    <a:bodyPr/>
                    <a:lstStyle/>
                    <a:p>
                      <a:pPr indent="0" lvl="0" marL="0" marR="0" rtl="0" algn="ctr">
                        <a:lnSpc>
                          <a:spcPct val="150000"/>
                        </a:lnSpc>
                        <a:spcBef>
                          <a:spcPts val="0"/>
                        </a:spcBef>
                        <a:spcAft>
                          <a:spcPts val="0"/>
                        </a:spcAft>
                        <a:buClr>
                          <a:schemeClr val="dk1"/>
                        </a:buClr>
                        <a:buSzPts val="1400"/>
                        <a:buFont typeface="Century Gothic"/>
                        <a:buNone/>
                      </a:pPr>
                      <a:r>
                        <a:rPr lang="en-US" sz="1400"/>
                        <a:t>12-րդ. դաս. </a:t>
                      </a:r>
                      <a:endParaRPr sz="1400"/>
                    </a:p>
                    <a:p>
                      <a:pPr indent="0" lvl="0" marL="0" marR="0" rtl="0" algn="ctr">
                        <a:lnSpc>
                          <a:spcPct val="150000"/>
                        </a:lnSpc>
                        <a:spcBef>
                          <a:spcPts val="0"/>
                        </a:spcBef>
                        <a:spcAft>
                          <a:spcPts val="0"/>
                        </a:spcAft>
                        <a:buClr>
                          <a:schemeClr val="dk1"/>
                        </a:buClr>
                        <a:buSzPts val="1400"/>
                        <a:buFont typeface="Century Gothic"/>
                        <a:buNone/>
                      </a:pPr>
                      <a:r>
                        <a:rPr lang="en-US" sz="1400"/>
                        <a:t>2025-2026</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403250">
                <a:tc>
                  <a:txBody>
                    <a:bodyPr/>
                    <a:lstStyle/>
                    <a:p>
                      <a:pPr indent="0" lvl="0" marL="0" marR="0" rtl="0" algn="ctr">
                        <a:lnSpc>
                          <a:spcPct val="150000"/>
                        </a:lnSpc>
                        <a:spcBef>
                          <a:spcPts val="0"/>
                        </a:spcBef>
                        <a:spcAft>
                          <a:spcPts val="0"/>
                        </a:spcAft>
                        <a:buClr>
                          <a:schemeClr val="dk1"/>
                        </a:buClr>
                        <a:buSzPts val="1400"/>
                        <a:buFont typeface="Merriweather"/>
                        <a:buNone/>
                      </a:pPr>
                      <a:r>
                        <a:rPr lang="en-US" sz="1400" u="none">
                          <a:solidFill>
                            <a:schemeClr val="dk1"/>
                          </a:solidFill>
                          <a:latin typeface="Merriweather"/>
                          <a:ea typeface="Merriweather"/>
                          <a:cs typeface="Merriweather"/>
                          <a:sym typeface="Merriweather"/>
                        </a:rPr>
                        <a:t>10%</a:t>
                      </a:r>
                      <a:endParaRPr sz="1400" u="none">
                        <a:solidFill>
                          <a:schemeClr val="dk1"/>
                        </a:solidFill>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415175">
                <a:tc>
                  <a:txBody>
                    <a:bodyPr/>
                    <a:lstStyle/>
                    <a:p>
                      <a:pPr indent="0" lvl="0" marL="0" marR="0" rtl="0" algn="ctr">
                        <a:lnSpc>
                          <a:spcPct val="150000"/>
                        </a:lnSpc>
                        <a:spcBef>
                          <a:spcPts val="0"/>
                        </a:spcBef>
                        <a:spcAft>
                          <a:spcPts val="0"/>
                        </a:spcAft>
                        <a:buClr>
                          <a:schemeClr val="dk1"/>
                        </a:buClr>
                        <a:buSzPts val="1400"/>
                        <a:buFont typeface="Merriweather"/>
                        <a:buNone/>
                      </a:pPr>
                      <a:r>
                        <a:rPr lang="en-US" sz="1400">
                          <a:latin typeface="Merriweather"/>
                          <a:ea typeface="Merriweather"/>
                          <a:cs typeface="Merriweather"/>
                          <a:sym typeface="Merriweather"/>
                        </a:rPr>
                        <a:t>6% աճ</a:t>
                      </a:r>
                      <a:endParaRPr sz="14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402525">
                <a:tc>
                  <a:txBody>
                    <a:bodyPr/>
                    <a:lstStyle/>
                    <a:p>
                      <a:pPr indent="0" lvl="0" marL="0" marR="0" rtl="0" algn="ctr">
                        <a:lnSpc>
                          <a:spcPct val="150000"/>
                        </a:lnSpc>
                        <a:spcBef>
                          <a:spcPts val="0"/>
                        </a:spcBef>
                        <a:spcAft>
                          <a:spcPts val="0"/>
                        </a:spcAft>
                        <a:buClr>
                          <a:schemeClr val="dk1"/>
                        </a:buClr>
                        <a:buSzPts val="1400"/>
                        <a:buFont typeface="Merriweather"/>
                        <a:buNone/>
                      </a:pPr>
                      <a:r>
                        <a:rPr lang="en-US" sz="1400">
                          <a:latin typeface="Merriweather"/>
                          <a:ea typeface="Merriweather"/>
                          <a:cs typeface="Merriweather"/>
                          <a:sym typeface="Merriweather"/>
                        </a:rPr>
                        <a:t>6% նվազում</a:t>
                      </a:r>
                      <a:endParaRPr sz="1400">
                        <a:latin typeface="Merriweather"/>
                        <a:ea typeface="Merriweather"/>
                        <a:cs typeface="Merriweather"/>
                        <a:sym typeface="Merriweather"/>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415775">
                <a:tc>
                  <a:txBody>
                    <a:bodyPr/>
                    <a:lstStyle/>
                    <a:p>
                      <a:pPr indent="0" lvl="0" marL="0" marR="0" rtl="0" algn="ctr">
                        <a:lnSpc>
                          <a:spcPct val="150000"/>
                        </a:lnSpc>
                        <a:spcBef>
                          <a:spcPts val="0"/>
                        </a:spcBef>
                        <a:spcAft>
                          <a:spcPts val="0"/>
                        </a:spcAft>
                        <a:buClr>
                          <a:schemeClr val="dk1"/>
                        </a:buClr>
                        <a:buSzPts val="1800"/>
                        <a:buFont typeface="Century Gothic"/>
                        <a:buNone/>
                      </a:pPr>
                      <a:r>
                        <a:t/>
                      </a:r>
                      <a:endParaRPr sz="1800"/>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1"/>
          <p:cNvSpPr txBox="1"/>
          <p:nvPr/>
        </p:nvSpPr>
        <p:spPr>
          <a:xfrm>
            <a:off x="204788" y="0"/>
            <a:ext cx="9363892"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1800">
                <a:solidFill>
                  <a:schemeClr val="dk1"/>
                </a:solidFill>
                <a:latin typeface="Merriweather"/>
                <a:ea typeface="Merriweather"/>
                <a:cs typeface="Merriweather"/>
                <a:sym typeface="Merriweather"/>
              </a:rPr>
              <a:t>Աղյուսակ 21. Տվյալներ սովորողների առաջադիմության վերաբերյալ տվյալ և նախորդ</a:t>
            </a:r>
            <a:r>
              <a:rPr lang="en-US" sz="1800">
                <a:solidFill>
                  <a:schemeClr val="dk1"/>
                </a:solidFill>
                <a:latin typeface="Merriweather"/>
                <a:ea typeface="Merriweather"/>
                <a:cs typeface="Merriweather"/>
                <a:sym typeface="Merriweather"/>
              </a:rPr>
              <a:t>​</a:t>
            </a:r>
            <a:endParaRPr sz="1800">
              <a:solidFill>
                <a:schemeClr val="dk1"/>
              </a:solidFill>
              <a:latin typeface="Merriweather"/>
              <a:ea typeface="Merriweather"/>
              <a:cs typeface="Merriweather"/>
              <a:sym typeface="Merriweather"/>
            </a:endParaRPr>
          </a:p>
          <a:p>
            <a:pPr indent="0" lvl="0" marL="0" marR="0" rtl="0" algn="just">
              <a:spcBef>
                <a:spcPts val="0"/>
              </a:spcBef>
              <a:spcAft>
                <a:spcPts val="0"/>
              </a:spcAft>
              <a:buNone/>
            </a:pPr>
            <a:r>
              <a:rPr b="1" i="1" lang="en-US" sz="1800">
                <a:solidFill>
                  <a:schemeClr val="dk1"/>
                </a:solidFill>
                <a:latin typeface="Merriweather"/>
                <a:ea typeface="Merriweather"/>
                <a:cs typeface="Merriweather"/>
                <a:sym typeface="Merriweather"/>
              </a:rPr>
              <a:t>                          2 ուստարիների համար՝ ըստ կրթական աստիճանների</a:t>
            </a:r>
            <a:r>
              <a:rPr lang="en-US" sz="1800">
                <a:solidFill>
                  <a:schemeClr val="dk1"/>
                </a:solidFill>
                <a:latin typeface="Merriweather"/>
                <a:ea typeface="Merriweather"/>
                <a:cs typeface="Merriweather"/>
                <a:sym typeface="Merriweather"/>
              </a:rPr>
              <a:t>​</a:t>
            </a:r>
            <a:endParaRPr/>
          </a:p>
        </p:txBody>
      </p:sp>
      <p:graphicFrame>
        <p:nvGraphicFramePr>
          <p:cNvPr id="420" name="Google Shape;420;p51"/>
          <p:cNvGraphicFramePr/>
          <p:nvPr/>
        </p:nvGraphicFramePr>
        <p:xfrm>
          <a:off x="1097142" y="926562"/>
          <a:ext cx="3000000" cy="3000000"/>
        </p:xfrm>
        <a:graphic>
          <a:graphicData uri="http://schemas.openxmlformats.org/drawingml/2006/table">
            <a:tbl>
              <a:tblPr>
                <a:noFill/>
                <a:tableStyleId>{40B977D2-3903-41EF-8714-5AC59086702B}</a:tableStyleId>
              </a:tblPr>
              <a:tblGrid>
                <a:gridCol w="5918525"/>
                <a:gridCol w="1228125"/>
                <a:gridCol w="1204575"/>
                <a:gridCol w="1160900"/>
              </a:tblGrid>
              <a:tr h="631400">
                <a:tc rowSpan="2">
                  <a:txBody>
                    <a:bodyPr/>
                    <a:lstStyle/>
                    <a:p>
                      <a:pPr indent="0" lvl="0" marL="0" marR="0" rtl="0" algn="ctr">
                        <a:lnSpc>
                          <a:spcPct val="150000"/>
                        </a:lnSpc>
                        <a:spcBef>
                          <a:spcPts val="0"/>
                        </a:spcBef>
                        <a:spcAft>
                          <a:spcPts val="0"/>
                        </a:spcAft>
                        <a:buNone/>
                      </a:pPr>
                      <a:r>
                        <a:rPr lang="en-US" sz="1800"/>
                        <a:t>Ցուցանիշ</a:t>
                      </a:r>
                      <a:r>
                        <a:rPr lang="en-US" sz="1200"/>
                        <a:t> </a:t>
                      </a:r>
                      <a:endParaRPr sz="1800"/>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2023-2024 ուստարի </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2024-2025 ուստարի </a:t>
                      </a:r>
                      <a:endParaRPr/>
                    </a:p>
                  </a:txBody>
                  <a:tcPr marT="0" marB="0" marR="0" marL="0" anchor="ctr"/>
                </a:tc>
                <a:tc>
                  <a:txBody>
                    <a:bodyPr/>
                    <a:lstStyle/>
                    <a:p>
                      <a:pPr indent="0" lvl="0" marL="0" marR="0" rtl="0" algn="ctr">
                        <a:spcBef>
                          <a:spcPts val="0"/>
                        </a:spcBef>
                        <a:spcAft>
                          <a:spcPts val="0"/>
                        </a:spcAft>
                        <a:buNone/>
                      </a:pPr>
                      <a:r>
                        <a:rPr lang="en-US" sz="1200"/>
                        <a:t>2025-2026 ուստարի</a:t>
                      </a:r>
                      <a:endParaRPr sz="1200"/>
                    </a:p>
                  </a:txBody>
                  <a:tcPr marT="0" marB="0" marR="0" marL="0" anchor="ctr"/>
                </a:tc>
              </a:tr>
              <a:tr h="911350">
                <a:tc vMerge="1"/>
                <a:tc>
                  <a:txBody>
                    <a:bodyPr/>
                    <a:lstStyle/>
                    <a:p>
                      <a:pPr indent="0" lvl="0" marL="0" marR="0" rtl="0" algn="ctr">
                        <a:lnSpc>
                          <a:spcPct val="150000"/>
                        </a:lnSpc>
                        <a:spcBef>
                          <a:spcPts val="0"/>
                        </a:spcBef>
                        <a:spcAft>
                          <a:spcPts val="0"/>
                        </a:spcAft>
                        <a:buNone/>
                      </a:pPr>
                      <a:r>
                        <a:rPr lang="en-US" sz="1200"/>
                        <a:t>10-ից 12-րդ. </a:t>
                      </a:r>
                      <a:endParaRPr sz="1800"/>
                    </a:p>
                    <a:p>
                      <a:pPr indent="0" lvl="0" marL="0" marR="0" rtl="0" algn="ctr">
                        <a:lnSpc>
                          <a:spcPct val="150000"/>
                        </a:lnSpc>
                        <a:spcBef>
                          <a:spcPts val="0"/>
                        </a:spcBef>
                        <a:spcAft>
                          <a:spcPts val="0"/>
                        </a:spcAft>
                        <a:buNone/>
                      </a:pPr>
                      <a:r>
                        <a:rPr lang="en-US" sz="1200"/>
                        <a:t>դաս. </a:t>
                      </a:r>
                      <a:endParaRPr sz="1800"/>
                    </a:p>
                  </a:txBody>
                  <a:tcPr marT="0" marB="0" marR="0" marL="0" anchor="ctr">
                    <a:lnL cap="flat" cmpd="sng" w="12700">
                      <a:solidFill>
                        <a:schemeClr val="dk1"/>
                      </a:solidFill>
                      <a:prstDash val="solid"/>
                      <a:round/>
                      <a:headEnd len="sm" w="sm" type="none"/>
                      <a:tailEnd len="sm" w="sm" type="none"/>
                    </a:lnL>
                  </a:tcPr>
                </a:tc>
                <a:tc>
                  <a:txBody>
                    <a:bodyPr/>
                    <a:lstStyle/>
                    <a:p>
                      <a:pPr indent="0" lvl="0" marL="0" marR="0" rtl="0" algn="ctr">
                        <a:lnSpc>
                          <a:spcPct val="150000"/>
                        </a:lnSpc>
                        <a:spcBef>
                          <a:spcPts val="0"/>
                        </a:spcBef>
                        <a:spcAft>
                          <a:spcPts val="0"/>
                        </a:spcAft>
                        <a:buNone/>
                      </a:pPr>
                      <a:r>
                        <a:rPr lang="en-US" sz="1200"/>
                        <a:t>10-ից 12-րդ. </a:t>
                      </a:r>
                      <a:endParaRPr sz="1800"/>
                    </a:p>
                    <a:p>
                      <a:pPr indent="0" lvl="0" marL="0" marR="0" rtl="0" algn="ctr">
                        <a:lnSpc>
                          <a:spcPct val="150000"/>
                        </a:lnSpc>
                        <a:spcBef>
                          <a:spcPts val="0"/>
                        </a:spcBef>
                        <a:spcAft>
                          <a:spcPts val="0"/>
                        </a:spcAft>
                        <a:buNone/>
                      </a:pPr>
                      <a:r>
                        <a:rPr lang="en-US" sz="1200"/>
                        <a:t>դաս.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10-ից 12-րդ. </a:t>
                      </a:r>
                      <a:endParaRPr/>
                    </a:p>
                    <a:p>
                      <a:pPr indent="0" lvl="0" marL="0" marR="0" rtl="0" algn="ctr">
                        <a:lnSpc>
                          <a:spcPct val="150000"/>
                        </a:lnSpc>
                        <a:spcBef>
                          <a:spcPts val="0"/>
                        </a:spcBef>
                        <a:spcAft>
                          <a:spcPts val="0"/>
                        </a:spcAft>
                        <a:buNone/>
                      </a:pPr>
                      <a:r>
                        <a:rPr lang="en-US" sz="1200"/>
                        <a:t>դաս. </a:t>
                      </a:r>
                      <a:endParaRPr/>
                    </a:p>
                  </a:txBody>
                  <a:tcPr marT="0" marB="0" marR="0" marL="0" anchor="ctr"/>
                </a:tc>
              </a:tr>
              <a:tr h="607525">
                <a:tc>
                  <a:txBody>
                    <a:bodyPr/>
                    <a:lstStyle/>
                    <a:p>
                      <a:pPr indent="0" lvl="0" marL="0" marR="0" rtl="0" algn="l">
                        <a:lnSpc>
                          <a:spcPct val="150000"/>
                        </a:lnSpc>
                        <a:spcBef>
                          <a:spcPts val="0"/>
                        </a:spcBef>
                        <a:spcAft>
                          <a:spcPts val="0"/>
                        </a:spcAft>
                        <a:buNone/>
                      </a:pPr>
                      <a:r>
                        <a:rPr lang="en-US" sz="1200"/>
                        <a:t>Գերազանց առաջադիմությամբ սովորողների թիվը և տոկոսը՝ ըստ կրթական աստիճանների </a:t>
                      </a:r>
                      <a:endParaRPr sz="1800"/>
                    </a:p>
                  </a:txBody>
                  <a:tcPr marT="0" marB="0" marR="0" marL="0" anchor="ctr"/>
                </a:tc>
                <a:tc>
                  <a:txBody>
                    <a:bodyPr/>
                    <a:lstStyle/>
                    <a:p>
                      <a:pPr indent="0" lvl="0" marL="0" marR="0" rtl="0" algn="ctr">
                        <a:spcBef>
                          <a:spcPts val="0"/>
                        </a:spcBef>
                        <a:spcAft>
                          <a:spcPts val="0"/>
                        </a:spcAft>
                        <a:buClr>
                          <a:schemeClr val="dk1"/>
                        </a:buClr>
                        <a:buSzPts val="1200"/>
                        <a:buFont typeface="Century Gothic"/>
                        <a:buNone/>
                      </a:pPr>
                      <a:r>
                        <a:rPr lang="en-US" sz="1200"/>
                        <a:t>44 աշ.</a:t>
                      </a:r>
                      <a:endParaRPr/>
                    </a:p>
                    <a:p>
                      <a:pPr indent="0" lvl="0" marL="0" marR="0" rtl="0" algn="ctr">
                        <a:lnSpc>
                          <a:spcPct val="100000"/>
                        </a:lnSpc>
                        <a:spcBef>
                          <a:spcPts val="0"/>
                        </a:spcBef>
                        <a:spcAft>
                          <a:spcPts val="0"/>
                        </a:spcAft>
                        <a:buClr>
                          <a:schemeClr val="dk1"/>
                        </a:buClr>
                        <a:buSzPts val="1200"/>
                        <a:buFont typeface="Century Gothic"/>
                        <a:buNone/>
                      </a:pPr>
                      <a:r>
                        <a:rPr lang="en-US" sz="1200"/>
                        <a:t>10%</a:t>
                      </a:r>
                      <a:endParaRPr sz="1200"/>
                    </a:p>
                  </a:txBody>
                  <a:tcPr marT="0" marB="0" marR="0" marL="0" anchor="ctr"/>
                </a:tc>
                <a:tc>
                  <a:txBody>
                    <a:bodyPr/>
                    <a:lstStyle/>
                    <a:p>
                      <a:pPr indent="0" lvl="0" marL="0" marR="0" rtl="0" algn="ctr">
                        <a:spcBef>
                          <a:spcPts val="0"/>
                        </a:spcBef>
                        <a:spcAft>
                          <a:spcPts val="0"/>
                        </a:spcAft>
                        <a:buClr>
                          <a:schemeClr val="dk1"/>
                        </a:buClr>
                        <a:buSzPts val="1200"/>
                        <a:buFont typeface="Century Gothic"/>
                        <a:buNone/>
                      </a:pPr>
                      <a:r>
                        <a:rPr lang="en-US" sz="1200"/>
                        <a:t>63 աշ.</a:t>
                      </a:r>
                      <a:endParaRPr/>
                    </a:p>
                    <a:p>
                      <a:pPr indent="0" lvl="0" marL="0" marR="0" rtl="0" algn="ctr">
                        <a:lnSpc>
                          <a:spcPct val="100000"/>
                        </a:lnSpc>
                        <a:spcBef>
                          <a:spcPts val="0"/>
                        </a:spcBef>
                        <a:spcAft>
                          <a:spcPts val="0"/>
                        </a:spcAft>
                        <a:buClr>
                          <a:schemeClr val="dk1"/>
                        </a:buClr>
                        <a:buSzPts val="1200"/>
                        <a:buFont typeface="Century Gothic"/>
                        <a:buNone/>
                      </a:pPr>
                      <a:r>
                        <a:rPr lang="en-US" sz="1200"/>
                        <a:t>15%</a:t>
                      </a:r>
                      <a:endParaRPr sz="1200"/>
                    </a:p>
                  </a:txBody>
                  <a:tcPr marT="0" marB="0" marR="0" marL="0" anchor="ctr"/>
                </a:tc>
                <a:tc>
                  <a:txBody>
                    <a:bodyPr/>
                    <a:lstStyle/>
                    <a:p>
                      <a:pPr indent="0" lvl="0" marL="0" marR="0" rtl="0" algn="l">
                        <a:spcBef>
                          <a:spcPts val="0"/>
                        </a:spcBef>
                        <a:spcAft>
                          <a:spcPts val="0"/>
                        </a:spcAft>
                        <a:buNone/>
                      </a:pPr>
                      <a:r>
                        <a:rPr lang="en-US" sz="1200"/>
                        <a:t>          58 աշ․</a:t>
                      </a:r>
                      <a:endParaRPr/>
                    </a:p>
                    <a:p>
                      <a:pPr indent="0" lvl="0" marL="0" marR="0" rtl="0" algn="l">
                        <a:lnSpc>
                          <a:spcPct val="100000"/>
                        </a:lnSpc>
                        <a:spcBef>
                          <a:spcPts val="0"/>
                        </a:spcBef>
                        <a:spcAft>
                          <a:spcPts val="0"/>
                        </a:spcAft>
                        <a:buClr>
                          <a:schemeClr val="dk1"/>
                        </a:buClr>
                        <a:buSzPts val="1200"/>
                        <a:buFont typeface="Century Gothic"/>
                        <a:buNone/>
                      </a:pPr>
                      <a:r>
                        <a:rPr lang="en-US" sz="1200"/>
                        <a:t>          14%</a:t>
                      </a:r>
                      <a:endParaRPr sz="1200"/>
                    </a:p>
                  </a:txBody>
                  <a:tcPr marT="0" marB="0" marR="0" marL="0" anchor="ctr">
                    <a:solidFill>
                      <a:srgbClr val="E9EEDA"/>
                    </a:solidFill>
                  </a:tcPr>
                </a:tc>
              </a:tr>
              <a:tr h="607525">
                <a:tc>
                  <a:txBody>
                    <a:bodyPr/>
                    <a:lstStyle/>
                    <a:p>
                      <a:pPr indent="0" lvl="0" marL="0" marR="0" rtl="0" algn="l">
                        <a:lnSpc>
                          <a:spcPct val="150000"/>
                        </a:lnSpc>
                        <a:spcBef>
                          <a:spcPts val="0"/>
                        </a:spcBef>
                        <a:spcAft>
                          <a:spcPts val="0"/>
                        </a:spcAft>
                        <a:buNone/>
                      </a:pPr>
                      <a:r>
                        <a:rPr lang="en-US" sz="1200"/>
                        <a:t>Ցածր առաջադիմությամբ սովորողների թիվը և տոկոսը` ըստ կրթական աստիճանների </a:t>
                      </a:r>
                      <a:endParaRPr sz="1800"/>
                    </a:p>
                  </a:txBody>
                  <a:tcPr marT="0" marB="0" marR="0" marL="0" anchor="ctr"/>
                </a:tc>
                <a:tc>
                  <a:txBody>
                    <a:bodyPr/>
                    <a:lstStyle/>
                    <a:p>
                      <a:pPr indent="0" lvl="0" marL="0" marR="0" rtl="0" algn="ctr">
                        <a:lnSpc>
                          <a:spcPct val="100000"/>
                        </a:lnSpc>
                        <a:spcBef>
                          <a:spcPts val="0"/>
                        </a:spcBef>
                        <a:spcAft>
                          <a:spcPts val="0"/>
                        </a:spcAft>
                        <a:buClr>
                          <a:schemeClr val="dk1"/>
                        </a:buClr>
                        <a:buSzPts val="1200"/>
                        <a:buFont typeface="Century Gothic"/>
                        <a:buNone/>
                      </a:pPr>
                      <a:r>
                        <a:rPr lang="en-US" sz="1200"/>
                        <a:t>-</a:t>
                      </a:r>
                      <a:endParaRPr sz="1200"/>
                    </a:p>
                  </a:txBody>
                  <a:tcPr marT="0" marB="0" marR="0" marL="0" anchor="ctr"/>
                </a:tc>
                <a:tc>
                  <a:txBody>
                    <a:bodyPr/>
                    <a:lstStyle/>
                    <a:p>
                      <a:pPr indent="0" lvl="0" marL="0" marR="0" rtl="0" algn="ctr">
                        <a:lnSpc>
                          <a:spcPct val="100000"/>
                        </a:lnSpc>
                        <a:spcBef>
                          <a:spcPts val="0"/>
                        </a:spcBef>
                        <a:spcAft>
                          <a:spcPts val="0"/>
                        </a:spcAft>
                        <a:buClr>
                          <a:schemeClr val="dk1"/>
                        </a:buClr>
                        <a:buSzPts val="1200"/>
                        <a:buFont typeface="Century Gothic"/>
                        <a:buNone/>
                      </a:pPr>
                      <a:r>
                        <a:rPr lang="en-US" sz="1200"/>
                        <a:t>-</a:t>
                      </a:r>
                      <a:endParaRPr sz="1200"/>
                    </a:p>
                  </a:txBody>
                  <a:tcPr marT="0" marB="0" marR="0" marL="0" anchor="ctr"/>
                </a:tc>
                <a:tc>
                  <a:txBody>
                    <a:bodyPr/>
                    <a:lstStyle/>
                    <a:p>
                      <a:pPr indent="0" lvl="0" marL="0" marR="0" rtl="0" algn="l">
                        <a:spcBef>
                          <a:spcPts val="0"/>
                        </a:spcBef>
                        <a:spcAft>
                          <a:spcPts val="0"/>
                        </a:spcAft>
                        <a:buNone/>
                      </a:pPr>
                      <a:r>
                        <a:rPr lang="en-US" sz="1200"/>
                        <a:t>            -</a:t>
                      </a:r>
                      <a:endParaRPr sz="1200"/>
                    </a:p>
                  </a:txBody>
                  <a:tcPr marT="0" marB="0" marR="0" marL="0" anchor="ctr">
                    <a:solidFill>
                      <a:srgbClr val="E9EEDA"/>
                    </a:solidFill>
                  </a:tcPr>
                </a:tc>
              </a:tr>
              <a:tr h="303825">
                <a:tc>
                  <a:txBody>
                    <a:bodyPr/>
                    <a:lstStyle/>
                    <a:p>
                      <a:pPr indent="0" lvl="0" marL="0" marR="0" rtl="0" algn="l">
                        <a:lnSpc>
                          <a:spcPct val="150000"/>
                        </a:lnSpc>
                        <a:spcBef>
                          <a:spcPts val="0"/>
                        </a:spcBef>
                        <a:spcAft>
                          <a:spcPts val="0"/>
                        </a:spcAft>
                        <a:buNone/>
                      </a:pPr>
                      <a:r>
                        <a:rPr lang="en-US" sz="1200"/>
                        <a:t>Ավարտման գործակից՝ ըստ կրթական աստիճանների </a:t>
                      </a:r>
                      <a:endParaRPr sz="1800"/>
                    </a:p>
                  </a:txBody>
                  <a:tcPr marT="0" marB="0" marR="0" marL="0" anchor="ctr"/>
                </a:tc>
                <a:tc>
                  <a:txBody>
                    <a:bodyPr/>
                    <a:lstStyle/>
                    <a:p>
                      <a:pPr indent="0" lvl="0" marL="0" marR="0" rtl="0" algn="ctr">
                        <a:spcBef>
                          <a:spcPts val="0"/>
                        </a:spcBef>
                        <a:spcAft>
                          <a:spcPts val="0"/>
                        </a:spcAft>
                        <a:buNone/>
                      </a:pPr>
                      <a:r>
                        <a:rPr lang="en-US" sz="1200"/>
                        <a:t>100%</a:t>
                      </a:r>
                      <a:endParaRPr sz="1200"/>
                    </a:p>
                  </a:txBody>
                  <a:tcPr marT="0" marB="0" marR="0" marL="0" anchor="ctr"/>
                </a:tc>
                <a:tc>
                  <a:txBody>
                    <a:bodyPr/>
                    <a:lstStyle/>
                    <a:p>
                      <a:pPr indent="0" lvl="0" marL="0" marR="0" rtl="0" algn="ctr">
                        <a:spcBef>
                          <a:spcPts val="0"/>
                        </a:spcBef>
                        <a:spcAft>
                          <a:spcPts val="0"/>
                        </a:spcAft>
                        <a:buNone/>
                      </a:pPr>
                      <a:r>
                        <a:rPr lang="en-US" sz="1200"/>
                        <a:t>100%</a:t>
                      </a:r>
                      <a:endParaRPr sz="1200"/>
                    </a:p>
                  </a:txBody>
                  <a:tcPr marT="0" marB="0" marR="0" marL="0" anchor="ctr"/>
                </a:tc>
                <a:tc>
                  <a:txBody>
                    <a:bodyPr/>
                    <a:lstStyle/>
                    <a:p>
                      <a:pPr indent="0" lvl="0" marL="0" marR="0" rtl="0" algn="l">
                        <a:lnSpc>
                          <a:spcPct val="100000"/>
                        </a:lnSpc>
                        <a:spcBef>
                          <a:spcPts val="0"/>
                        </a:spcBef>
                        <a:spcAft>
                          <a:spcPts val="0"/>
                        </a:spcAft>
                        <a:buClr>
                          <a:schemeClr val="dk1"/>
                        </a:buClr>
                        <a:buSzPts val="1200"/>
                        <a:buFont typeface="Century Gothic"/>
                        <a:buNone/>
                      </a:pPr>
                      <a:r>
                        <a:rPr lang="en-US" sz="1200"/>
                        <a:t>        100%</a:t>
                      </a:r>
                      <a:endParaRPr sz="1200"/>
                    </a:p>
                  </a:txBody>
                  <a:tcPr marT="0" marB="0" marR="0" marL="0" anchor="ctr"/>
                </a:tc>
              </a:tr>
              <a:tr h="548350">
                <a:tc>
                  <a:txBody>
                    <a:bodyPr/>
                    <a:lstStyle/>
                    <a:p>
                      <a:pPr indent="0" lvl="0" marL="0" marR="0" rtl="0" algn="l">
                        <a:lnSpc>
                          <a:spcPct val="150000"/>
                        </a:lnSpc>
                        <a:spcBef>
                          <a:spcPts val="0"/>
                        </a:spcBef>
                        <a:spcAft>
                          <a:spcPts val="0"/>
                        </a:spcAft>
                        <a:buNone/>
                      </a:pPr>
                      <a:r>
                        <a:rPr lang="en-US" sz="1200"/>
                        <a:t>Երկտարեցիների թիվը և տոկոսը՝ ըստ կրթական աստիճանների </a:t>
                      </a:r>
                      <a:endParaRPr sz="1800"/>
                    </a:p>
                  </a:txBody>
                  <a:tcPr marT="0" marB="0" marR="0" marL="0" anchor="ctr"/>
                </a:tc>
                <a:tc>
                  <a:txBody>
                    <a:bodyPr/>
                    <a:lstStyle/>
                    <a:p>
                      <a:pPr indent="0" lvl="0" marL="0" marR="0" rtl="0" algn="ctr">
                        <a:spcBef>
                          <a:spcPts val="0"/>
                        </a:spcBef>
                        <a:spcAft>
                          <a:spcPts val="0"/>
                        </a:spcAft>
                        <a:buNone/>
                      </a:pPr>
                      <a:r>
                        <a:rPr lang="en-US" sz="1800"/>
                        <a:t>-</a:t>
                      </a:r>
                      <a:endParaRPr sz="1800"/>
                    </a:p>
                  </a:txBody>
                  <a:tcPr marT="0" marB="0" marR="0" marL="0" anchor="ctr"/>
                </a:tc>
                <a:tc>
                  <a:txBody>
                    <a:bodyPr/>
                    <a:lstStyle/>
                    <a:p>
                      <a:pPr indent="0" lvl="0" marL="0" marR="0" rtl="0" algn="ctr">
                        <a:spcBef>
                          <a:spcPts val="0"/>
                        </a:spcBef>
                        <a:spcAft>
                          <a:spcPts val="0"/>
                        </a:spcAft>
                        <a:buNone/>
                      </a:pPr>
                      <a:r>
                        <a:rPr lang="en-US" sz="1800"/>
                        <a:t>-</a:t>
                      </a:r>
                      <a:endParaRPr sz="1800"/>
                    </a:p>
                  </a:txBody>
                  <a:tcPr marT="0" marB="0" marR="0" marL="0" anchor="ctr"/>
                </a:tc>
                <a:tc>
                  <a:txBody>
                    <a:bodyPr/>
                    <a:lstStyle/>
                    <a:p>
                      <a:pPr indent="0" lvl="0" marL="0" marR="0" rtl="0" algn="l">
                        <a:spcBef>
                          <a:spcPts val="0"/>
                        </a:spcBef>
                        <a:spcAft>
                          <a:spcPts val="0"/>
                        </a:spcAft>
                        <a:buNone/>
                      </a:pPr>
                      <a:r>
                        <a:rPr lang="en-US" sz="1200"/>
                        <a:t>             -</a:t>
                      </a:r>
                      <a:endParaRPr sz="1200"/>
                    </a:p>
                  </a:txBody>
                  <a:tcPr marT="0" marB="0" marR="0" marL="0" anchor="ctr"/>
                </a:tc>
              </a:tr>
              <a:tr h="607525">
                <a:tc>
                  <a:txBody>
                    <a:bodyPr/>
                    <a:lstStyle/>
                    <a:p>
                      <a:pPr indent="0" lvl="0" marL="0" marR="0" rtl="0" algn="l">
                        <a:lnSpc>
                          <a:spcPct val="150000"/>
                        </a:lnSpc>
                        <a:spcBef>
                          <a:spcPts val="0"/>
                        </a:spcBef>
                        <a:spcAft>
                          <a:spcPts val="0"/>
                        </a:spcAft>
                        <a:buNone/>
                      </a:pPr>
                      <a:r>
                        <a:rPr lang="en-US" sz="1200"/>
                        <a:t>Կրկնուսույցների մոտ պարապող սովորողների թիվը և տոկոսը՝ ըստ կրթական աստիճանների </a:t>
                      </a:r>
                      <a:endParaRPr sz="1800"/>
                    </a:p>
                  </a:txBody>
                  <a:tcPr marT="0" marB="0" marR="0" marL="0" anchor="ctr"/>
                </a:tc>
                <a:tc>
                  <a:txBody>
                    <a:bodyPr/>
                    <a:lstStyle/>
                    <a:p>
                      <a:pPr indent="0" lvl="0" marL="0" marR="0" rtl="0" algn="ctr">
                        <a:spcBef>
                          <a:spcPts val="0"/>
                        </a:spcBef>
                        <a:spcAft>
                          <a:spcPts val="0"/>
                        </a:spcAft>
                        <a:buNone/>
                      </a:pPr>
                      <a:r>
                        <a:rPr lang="en-US" sz="1200"/>
                        <a:t>38%</a:t>
                      </a:r>
                      <a:endParaRPr sz="1200"/>
                    </a:p>
                  </a:txBody>
                  <a:tcPr marT="0" marB="0" marR="0" marL="0" anchor="ctr"/>
                </a:tc>
                <a:tc>
                  <a:txBody>
                    <a:bodyPr/>
                    <a:lstStyle/>
                    <a:p>
                      <a:pPr indent="0" lvl="0" marL="0" marR="0" rtl="0" algn="ctr">
                        <a:spcBef>
                          <a:spcPts val="0"/>
                        </a:spcBef>
                        <a:spcAft>
                          <a:spcPts val="0"/>
                        </a:spcAft>
                        <a:buClr>
                          <a:schemeClr val="dk1"/>
                        </a:buClr>
                        <a:buSzPts val="1200"/>
                        <a:buFont typeface="Century Gothic"/>
                        <a:buNone/>
                      </a:pPr>
                      <a:r>
                        <a:rPr lang="en-US" sz="1200"/>
                        <a:t>76 աշ.</a:t>
                      </a:r>
                      <a:endParaRPr/>
                    </a:p>
                    <a:p>
                      <a:pPr indent="0" lvl="0" marL="0" marR="0" rtl="0" algn="ctr">
                        <a:lnSpc>
                          <a:spcPct val="100000"/>
                        </a:lnSpc>
                        <a:spcBef>
                          <a:spcPts val="0"/>
                        </a:spcBef>
                        <a:spcAft>
                          <a:spcPts val="0"/>
                        </a:spcAft>
                        <a:buClr>
                          <a:schemeClr val="dk1"/>
                        </a:buClr>
                        <a:buSzPts val="1200"/>
                        <a:buFont typeface="Century Gothic"/>
                        <a:buNone/>
                      </a:pPr>
                      <a:r>
                        <a:rPr lang="en-US" sz="1200"/>
                        <a:t>41%</a:t>
                      </a:r>
                      <a:endParaRPr sz="1200"/>
                    </a:p>
                  </a:txBody>
                  <a:tcPr marT="0" marB="0" marR="0" marL="0" anchor="ctr"/>
                </a:tc>
                <a:tc>
                  <a:txBody>
                    <a:bodyPr/>
                    <a:lstStyle/>
                    <a:p>
                      <a:pPr indent="0" lvl="0" marL="0" marR="0" rtl="0" algn="l">
                        <a:spcBef>
                          <a:spcPts val="0"/>
                        </a:spcBef>
                        <a:spcAft>
                          <a:spcPts val="0"/>
                        </a:spcAft>
                        <a:buNone/>
                      </a:pPr>
                      <a:r>
                        <a:rPr lang="en-US" sz="1200"/>
                        <a:t>          40 աշ․</a:t>
                      </a:r>
                      <a:endParaRPr/>
                    </a:p>
                    <a:p>
                      <a:pPr indent="0" lvl="0" marL="0" marR="0" rtl="0" algn="l">
                        <a:lnSpc>
                          <a:spcPct val="100000"/>
                        </a:lnSpc>
                        <a:spcBef>
                          <a:spcPts val="0"/>
                        </a:spcBef>
                        <a:spcAft>
                          <a:spcPts val="0"/>
                        </a:spcAft>
                        <a:buClr>
                          <a:schemeClr val="dk1"/>
                        </a:buClr>
                        <a:buSzPts val="1200"/>
                        <a:buFont typeface="Century Gothic"/>
                        <a:buNone/>
                      </a:pPr>
                      <a:r>
                        <a:rPr lang="en-US" sz="1200"/>
                        <a:t>            38%</a:t>
                      </a:r>
                      <a:endParaRPr sz="1200"/>
                    </a:p>
                  </a:txBody>
                  <a:tcPr marT="0" marB="0" marR="0" marL="0" anchor="ctr"/>
                </a:tc>
              </a:tr>
              <a:tr h="607525">
                <a:tc>
                  <a:txBody>
                    <a:bodyPr/>
                    <a:lstStyle/>
                    <a:p>
                      <a:pPr indent="0" lvl="0" marL="0" marR="0" rtl="0" algn="l">
                        <a:lnSpc>
                          <a:spcPct val="150000"/>
                        </a:lnSpc>
                        <a:spcBef>
                          <a:spcPts val="0"/>
                        </a:spcBef>
                        <a:spcAft>
                          <a:spcPts val="0"/>
                        </a:spcAft>
                        <a:buNone/>
                      </a:pPr>
                      <a:r>
                        <a:rPr lang="en-US" sz="1200"/>
                        <a:t>Միասնական քննություններին մասնակիցների թիվը և տոկոսը՝ շրջանավարտների ընդհանուր թվի նկատմամբ </a:t>
                      </a:r>
                      <a:endParaRPr sz="1800"/>
                    </a:p>
                  </a:txBody>
                  <a:tcPr marT="0" marB="0" marR="0" marL="0" anchor="ctr"/>
                </a:tc>
                <a:tc>
                  <a:txBody>
                    <a:bodyPr/>
                    <a:lstStyle/>
                    <a:p>
                      <a:pPr indent="0" lvl="0" marL="0" marR="0" rtl="0" algn="ctr">
                        <a:spcBef>
                          <a:spcPts val="0"/>
                        </a:spcBef>
                        <a:spcAft>
                          <a:spcPts val="0"/>
                        </a:spcAft>
                        <a:buNone/>
                      </a:pPr>
                      <a:r>
                        <a:rPr lang="en-US" sz="1200"/>
                        <a:t>90 աշ.</a:t>
                      </a:r>
                      <a:endParaRPr/>
                    </a:p>
                    <a:p>
                      <a:pPr indent="0" lvl="0" marL="0" marR="0" rtl="0" algn="ctr">
                        <a:spcBef>
                          <a:spcPts val="0"/>
                        </a:spcBef>
                        <a:spcAft>
                          <a:spcPts val="0"/>
                        </a:spcAft>
                        <a:buNone/>
                      </a:pPr>
                      <a:r>
                        <a:rPr lang="en-US" sz="1200"/>
                        <a:t>59%</a:t>
                      </a:r>
                      <a:endParaRPr sz="1200"/>
                    </a:p>
                  </a:txBody>
                  <a:tcPr marT="0" marB="0" marR="0" marL="0" anchor="ctr"/>
                </a:tc>
                <a:tc>
                  <a:txBody>
                    <a:bodyPr/>
                    <a:lstStyle/>
                    <a:p>
                      <a:pPr indent="0" lvl="0" marL="0" marR="0" rtl="0" algn="ctr">
                        <a:spcBef>
                          <a:spcPts val="0"/>
                        </a:spcBef>
                        <a:spcAft>
                          <a:spcPts val="0"/>
                        </a:spcAft>
                        <a:buNone/>
                      </a:pPr>
                      <a:r>
                        <a:rPr lang="en-US" sz="1200"/>
                        <a:t>79 աշ.</a:t>
                      </a:r>
                      <a:endParaRPr/>
                    </a:p>
                    <a:p>
                      <a:pPr indent="0" lvl="0" marL="0" marR="0" rtl="0" algn="ctr">
                        <a:spcBef>
                          <a:spcPts val="0"/>
                        </a:spcBef>
                        <a:spcAft>
                          <a:spcPts val="0"/>
                        </a:spcAft>
                        <a:buNone/>
                      </a:pPr>
                      <a:r>
                        <a:rPr lang="en-US" sz="1200"/>
                        <a:t>42%</a:t>
                      </a:r>
                      <a:endParaRPr sz="1200"/>
                    </a:p>
                  </a:txBody>
                  <a:tcPr marT="0" marB="0" marR="0" marL="0" anchor="ctr"/>
                </a:tc>
                <a:tc>
                  <a:txBody>
                    <a:bodyPr/>
                    <a:lstStyle/>
                    <a:p>
                      <a:pPr indent="0" lvl="0" marL="0" marR="0" rtl="0" algn="l">
                        <a:spcBef>
                          <a:spcPts val="0"/>
                        </a:spcBef>
                        <a:spcAft>
                          <a:spcPts val="0"/>
                        </a:spcAft>
                        <a:buNone/>
                      </a:pPr>
                      <a:r>
                        <a:rPr lang="en-US" sz="1200"/>
                        <a:t>          33 աշ․</a:t>
                      </a:r>
                      <a:endParaRPr/>
                    </a:p>
                    <a:p>
                      <a:pPr indent="0" lvl="0" marL="0" marR="0" rtl="0" algn="l">
                        <a:lnSpc>
                          <a:spcPct val="100000"/>
                        </a:lnSpc>
                        <a:spcBef>
                          <a:spcPts val="0"/>
                        </a:spcBef>
                        <a:spcAft>
                          <a:spcPts val="0"/>
                        </a:spcAft>
                        <a:buClr>
                          <a:schemeClr val="dk1"/>
                        </a:buClr>
                        <a:buSzPts val="1200"/>
                        <a:buFont typeface="Century Gothic"/>
                        <a:buNone/>
                      </a:pPr>
                      <a:r>
                        <a:rPr lang="en-US" sz="1200"/>
                        <a:t>            31%</a:t>
                      </a:r>
                      <a:endParaRPr/>
                    </a:p>
                  </a:txBody>
                  <a:tcPr marT="0" marB="0" marR="0" marL="0" anchor="ctr"/>
                </a:tc>
              </a:tr>
              <a:tr h="911350">
                <a:tc>
                  <a:txBody>
                    <a:bodyPr/>
                    <a:lstStyle/>
                    <a:p>
                      <a:pPr indent="0" lvl="0" marL="0" marR="0" rtl="0" algn="l">
                        <a:lnSpc>
                          <a:spcPct val="150000"/>
                        </a:lnSpc>
                        <a:spcBef>
                          <a:spcPts val="0"/>
                        </a:spcBef>
                        <a:spcAft>
                          <a:spcPts val="0"/>
                        </a:spcAft>
                        <a:buNone/>
                      </a:pPr>
                      <a:r>
                        <a:rPr lang="en-US" sz="1200"/>
                        <a:t>Ավարտական և միասնական քննություններից անբավարար ստացած շրջանավարտների թիվը և տոկոսը՝ շրջանավարտների ընդհանուր թվի նկատմամբ </a:t>
                      </a:r>
                      <a:endParaRPr sz="1800"/>
                    </a:p>
                  </a:txBody>
                  <a:tcPr marT="0" marB="0" marR="0" marL="0" anchor="ctr"/>
                </a:tc>
                <a:tc>
                  <a:txBody>
                    <a:bodyPr/>
                    <a:lstStyle/>
                    <a:p>
                      <a:pPr indent="0" lvl="0" marL="0" marR="0" rtl="0" algn="ctr">
                        <a:spcBef>
                          <a:spcPts val="0"/>
                        </a:spcBef>
                        <a:spcAft>
                          <a:spcPts val="0"/>
                        </a:spcAft>
                        <a:buNone/>
                      </a:pPr>
                      <a:r>
                        <a:rPr lang="en-US" sz="1800"/>
                        <a:t>-</a:t>
                      </a:r>
                      <a:endParaRPr sz="1800"/>
                    </a:p>
                  </a:txBody>
                  <a:tcPr marT="0" marB="0" marR="0" marL="0" anchor="ctr"/>
                </a:tc>
                <a:tc>
                  <a:txBody>
                    <a:bodyPr/>
                    <a:lstStyle/>
                    <a:p>
                      <a:pPr indent="0" lvl="0" marL="0" marR="0" rtl="0" algn="ctr">
                        <a:spcBef>
                          <a:spcPts val="0"/>
                        </a:spcBef>
                        <a:spcAft>
                          <a:spcPts val="0"/>
                        </a:spcAft>
                        <a:buNone/>
                      </a:pPr>
                      <a:r>
                        <a:rPr lang="en-US" sz="1200">
                          <a:latin typeface="Merriweather"/>
                          <a:ea typeface="Merriweather"/>
                          <a:cs typeface="Merriweather"/>
                          <a:sym typeface="Merriweather"/>
                        </a:rPr>
                        <a:t>3 աշ.</a:t>
                      </a:r>
                      <a:endParaRPr/>
                    </a:p>
                    <a:p>
                      <a:pPr indent="0" lvl="0" marL="0" marR="0" rtl="0" algn="ctr">
                        <a:spcBef>
                          <a:spcPts val="0"/>
                        </a:spcBef>
                        <a:spcAft>
                          <a:spcPts val="0"/>
                        </a:spcAft>
                        <a:buNone/>
                      </a:pPr>
                      <a:r>
                        <a:rPr lang="en-US" sz="1200">
                          <a:latin typeface="Merriweather"/>
                          <a:ea typeface="Merriweather"/>
                          <a:cs typeface="Merriweather"/>
                          <a:sym typeface="Merriweather"/>
                        </a:rPr>
                        <a:t>1,6%</a:t>
                      </a:r>
                      <a:endParaRPr/>
                    </a:p>
                  </a:txBody>
                  <a:tcPr marT="0" marB="0" marR="0" marL="0" anchor="ctr"/>
                </a:tc>
                <a:tc>
                  <a:txBody>
                    <a:bodyPr/>
                    <a:lstStyle/>
                    <a:p>
                      <a:pPr indent="0" lvl="0" marL="0" marR="0" rtl="0" algn="ctr">
                        <a:spcBef>
                          <a:spcPts val="0"/>
                        </a:spcBef>
                        <a:spcAft>
                          <a:spcPts val="0"/>
                        </a:spcAft>
                        <a:buNone/>
                      </a:pPr>
                      <a:r>
                        <a:t/>
                      </a:r>
                      <a:endParaRPr sz="1200">
                        <a:latin typeface="Merriweather"/>
                        <a:ea typeface="Merriweather"/>
                        <a:cs typeface="Merriweather"/>
                        <a:sym typeface="Merriweather"/>
                      </a:endParaRPr>
                    </a:p>
                    <a:p>
                      <a:pPr indent="0" lvl="0" marL="0" marR="0" rtl="0" algn="ctr">
                        <a:spcBef>
                          <a:spcPts val="0"/>
                        </a:spcBef>
                        <a:spcAft>
                          <a:spcPts val="0"/>
                        </a:spcAft>
                        <a:buNone/>
                      </a:pPr>
                      <a:r>
                        <a:rPr lang="en-US" sz="1200">
                          <a:latin typeface="Merriweather"/>
                          <a:ea typeface="Merriweather"/>
                          <a:cs typeface="Merriweather"/>
                          <a:sym typeface="Merriweather"/>
                        </a:rPr>
                        <a:t>3 աշ.</a:t>
                      </a:r>
                      <a:endParaRPr/>
                    </a:p>
                    <a:p>
                      <a:pPr indent="0" lvl="0" marL="0" marR="0" rtl="0" algn="ctr">
                        <a:spcBef>
                          <a:spcPts val="0"/>
                        </a:spcBef>
                        <a:spcAft>
                          <a:spcPts val="0"/>
                        </a:spcAft>
                        <a:buNone/>
                      </a:pPr>
                      <a:r>
                        <a:rPr lang="en-US" sz="1200">
                          <a:latin typeface="Merriweather"/>
                          <a:ea typeface="Merriweather"/>
                          <a:cs typeface="Merriweather"/>
                          <a:sym typeface="Merriweather"/>
                        </a:rPr>
                        <a:t>2,8%</a:t>
                      </a:r>
                      <a:endParaRPr/>
                    </a:p>
                    <a:p>
                      <a:pPr indent="0" lvl="0" marL="0" marR="0" rtl="0" algn="l">
                        <a:spcBef>
                          <a:spcPts val="0"/>
                        </a:spcBef>
                        <a:spcAft>
                          <a:spcPts val="0"/>
                        </a:spcAft>
                        <a:buNone/>
                      </a:pPr>
                      <a:r>
                        <a:t/>
                      </a:r>
                      <a:endParaRPr sz="1200"/>
                    </a:p>
                  </a:txBody>
                  <a:tcPr marT="0" marB="0" marR="0" marL="0" anchor="ct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2"/>
          <p:cNvSpPr txBox="1"/>
          <p:nvPr/>
        </p:nvSpPr>
        <p:spPr>
          <a:xfrm>
            <a:off x="161925" y="112713"/>
            <a:ext cx="9420792"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1600">
                <a:solidFill>
                  <a:schemeClr val="dk1"/>
                </a:solidFill>
                <a:latin typeface="Merriweather"/>
                <a:ea typeface="Merriweather"/>
                <a:cs typeface="Merriweather"/>
                <a:sym typeface="Merriweather"/>
              </a:rPr>
              <a:t>Աղյուսակ 21. Տվյալներ սովորողների առաջադիմության վերաբերյալ տվյալ և նախորդ</a:t>
            </a:r>
            <a:endParaRPr b="1" i="1" sz="1600">
              <a:solidFill>
                <a:schemeClr val="dk1"/>
              </a:solidFill>
              <a:latin typeface="Merriweather"/>
              <a:ea typeface="Merriweather"/>
              <a:cs typeface="Merriweather"/>
              <a:sym typeface="Merriweather"/>
            </a:endParaRPr>
          </a:p>
          <a:p>
            <a:pPr indent="0" lvl="0" marL="0" marR="0" rtl="0" algn="just">
              <a:spcBef>
                <a:spcPts val="0"/>
              </a:spcBef>
              <a:spcAft>
                <a:spcPts val="0"/>
              </a:spcAft>
              <a:buNone/>
            </a:pPr>
            <a:r>
              <a:rPr b="1" i="1" lang="en-US" sz="1600">
                <a:solidFill>
                  <a:schemeClr val="dk1"/>
                </a:solidFill>
                <a:latin typeface="Merriweather"/>
                <a:ea typeface="Merriweather"/>
                <a:cs typeface="Merriweather"/>
                <a:sym typeface="Merriweather"/>
              </a:rPr>
              <a:t>                          2 ուստարիների համար՝ ըստ կրթական աստիճանների</a:t>
            </a:r>
            <a:endParaRPr b="1" i="1" sz="1600">
              <a:solidFill>
                <a:schemeClr val="dk1"/>
              </a:solidFill>
              <a:latin typeface="Merriweather"/>
              <a:ea typeface="Merriweather"/>
              <a:cs typeface="Merriweather"/>
              <a:sym typeface="Merriweather"/>
            </a:endParaRPr>
          </a:p>
        </p:txBody>
      </p:sp>
      <p:graphicFrame>
        <p:nvGraphicFramePr>
          <p:cNvPr id="427" name="Google Shape;427;p52"/>
          <p:cNvGraphicFramePr/>
          <p:nvPr/>
        </p:nvGraphicFramePr>
        <p:xfrm>
          <a:off x="1585831" y="697488"/>
          <a:ext cx="3000000" cy="3000000"/>
        </p:xfrm>
        <a:graphic>
          <a:graphicData uri="http://schemas.openxmlformats.org/drawingml/2006/table">
            <a:tbl>
              <a:tblPr>
                <a:noFill/>
                <a:tableStyleId>{40B977D2-3903-41EF-8714-5AC59086702B}</a:tableStyleId>
              </a:tblPr>
              <a:tblGrid>
                <a:gridCol w="4395250"/>
                <a:gridCol w="1485050"/>
                <a:gridCol w="1530125"/>
                <a:gridCol w="1507575"/>
              </a:tblGrid>
              <a:tr h="499750">
                <a:tc rowSpan="2">
                  <a:txBody>
                    <a:bodyPr/>
                    <a:lstStyle/>
                    <a:p>
                      <a:pPr indent="0" lvl="0" marL="0" marR="0" rtl="0" algn="just">
                        <a:lnSpc>
                          <a:spcPct val="150000"/>
                        </a:lnSpc>
                        <a:spcBef>
                          <a:spcPts val="0"/>
                        </a:spcBef>
                        <a:spcAft>
                          <a:spcPts val="0"/>
                        </a:spcAft>
                        <a:buNone/>
                      </a:pPr>
                      <a:r>
                        <a:rPr lang="en-US" sz="1200"/>
                        <a:t>Ցուցանիշ </a:t>
                      </a:r>
                      <a:endParaRPr sz="1800"/>
                    </a:p>
                  </a:txBody>
                  <a:tcPr marT="0" marB="0" marR="0" marL="0" anchor="ctr"/>
                </a:tc>
                <a:tc>
                  <a:txBody>
                    <a:bodyPr/>
                    <a:lstStyle/>
                    <a:p>
                      <a:pPr indent="0" lvl="0" marL="0" marR="0" rtl="0" algn="just">
                        <a:lnSpc>
                          <a:spcPct val="150000"/>
                        </a:lnSpc>
                        <a:spcBef>
                          <a:spcPts val="0"/>
                        </a:spcBef>
                        <a:spcAft>
                          <a:spcPts val="0"/>
                        </a:spcAft>
                        <a:buNone/>
                      </a:pPr>
                      <a:r>
                        <a:rPr lang="en-US" sz="1200"/>
                        <a:t>2023-2024 ուստարի </a:t>
                      </a:r>
                      <a:endParaRPr sz="1800"/>
                    </a:p>
                  </a:txBody>
                  <a:tcPr marT="0" marB="0" marR="0" marL="0" anchor="ctr"/>
                </a:tc>
                <a:tc>
                  <a:txBody>
                    <a:bodyPr/>
                    <a:lstStyle/>
                    <a:p>
                      <a:pPr indent="0" lvl="0" marL="0" marR="0" rtl="0" algn="just">
                        <a:lnSpc>
                          <a:spcPct val="150000"/>
                        </a:lnSpc>
                        <a:spcBef>
                          <a:spcPts val="0"/>
                        </a:spcBef>
                        <a:spcAft>
                          <a:spcPts val="0"/>
                        </a:spcAft>
                        <a:buNone/>
                      </a:pPr>
                      <a:r>
                        <a:rPr lang="en-US" sz="1200"/>
                        <a:t>2024-2025 ուստարի </a:t>
                      </a:r>
                      <a:endParaRPr sz="1800"/>
                    </a:p>
                  </a:txBody>
                  <a:tcPr marT="0" marB="0" marR="0" marL="0" anchor="ctr"/>
                </a:tc>
                <a:tc>
                  <a:txBody>
                    <a:bodyPr/>
                    <a:lstStyle/>
                    <a:p>
                      <a:pPr indent="0" lvl="0" marL="0" marR="0" rtl="0" algn="l">
                        <a:spcBef>
                          <a:spcPts val="0"/>
                        </a:spcBef>
                        <a:spcAft>
                          <a:spcPts val="0"/>
                        </a:spcAft>
                        <a:buNone/>
                      </a:pPr>
                      <a:r>
                        <a:rPr lang="en-US" sz="1200"/>
                        <a:t>2025-2026 ուստարի</a:t>
                      </a:r>
                      <a:endParaRPr sz="1200"/>
                    </a:p>
                  </a:txBody>
                  <a:tcPr marT="0" marB="0" marR="0" marL="0" anchor="ctr"/>
                </a:tc>
              </a:tr>
              <a:tr h="749550">
                <a:tc vMerge="1"/>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10-ից 12-րդ. </a:t>
                      </a:r>
                      <a:endParaRPr sz="1800"/>
                    </a:p>
                    <a:p>
                      <a:pPr indent="0" lvl="0" marL="0" marR="0" rtl="0" algn="ctr">
                        <a:lnSpc>
                          <a:spcPct val="150000"/>
                        </a:lnSpc>
                        <a:spcBef>
                          <a:spcPts val="0"/>
                        </a:spcBef>
                        <a:spcAft>
                          <a:spcPts val="0"/>
                        </a:spcAft>
                        <a:buClr>
                          <a:schemeClr val="dk1"/>
                        </a:buClr>
                        <a:buSzPts val="1200"/>
                        <a:buFont typeface="Century Gothic"/>
                        <a:buNone/>
                      </a:pPr>
                      <a:r>
                        <a:rPr lang="en-US" sz="1200"/>
                        <a:t>դաս. </a:t>
                      </a:r>
                      <a:endParaRPr sz="1800"/>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10-ից 12-րդ. </a:t>
                      </a:r>
                      <a:endParaRPr sz="1800"/>
                    </a:p>
                    <a:p>
                      <a:pPr indent="0" lvl="0" marL="0" marR="0" rtl="0" algn="ctr">
                        <a:lnSpc>
                          <a:spcPct val="150000"/>
                        </a:lnSpc>
                        <a:spcBef>
                          <a:spcPts val="0"/>
                        </a:spcBef>
                        <a:spcAft>
                          <a:spcPts val="0"/>
                        </a:spcAft>
                        <a:buClr>
                          <a:schemeClr val="dk1"/>
                        </a:buClr>
                        <a:buSzPts val="1200"/>
                        <a:buFont typeface="Century Gothic"/>
                        <a:buNone/>
                      </a:pPr>
                      <a:r>
                        <a:rPr lang="en-US" sz="1200"/>
                        <a:t>դաս. </a:t>
                      </a:r>
                      <a:endParaRPr sz="1800"/>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10-ից 12-րդ. </a:t>
                      </a:r>
                      <a:endParaRPr/>
                    </a:p>
                    <a:p>
                      <a:pPr indent="0" lvl="0" marL="0" marR="0" rtl="0" algn="ctr">
                        <a:lnSpc>
                          <a:spcPct val="150000"/>
                        </a:lnSpc>
                        <a:spcBef>
                          <a:spcPts val="0"/>
                        </a:spcBef>
                        <a:spcAft>
                          <a:spcPts val="0"/>
                        </a:spcAft>
                        <a:buClr>
                          <a:schemeClr val="dk1"/>
                        </a:buClr>
                        <a:buSzPts val="1200"/>
                        <a:buFont typeface="Century Gothic"/>
                        <a:buNone/>
                      </a:pPr>
                      <a:r>
                        <a:rPr lang="en-US" sz="1200"/>
                        <a:t>դաս. </a:t>
                      </a:r>
                      <a:endParaRPr/>
                    </a:p>
                  </a:txBody>
                  <a:tcPr marT="0" marB="0" marR="0" marL="0" anchor="ctr"/>
                </a:tc>
              </a:tr>
              <a:tr h="499750">
                <a:tc>
                  <a:txBody>
                    <a:bodyPr/>
                    <a:lstStyle/>
                    <a:p>
                      <a:pPr indent="0" lvl="0" marL="0" marR="0" rtl="0" algn="l">
                        <a:lnSpc>
                          <a:spcPct val="150000"/>
                        </a:lnSpc>
                        <a:spcBef>
                          <a:spcPts val="0"/>
                        </a:spcBef>
                        <a:spcAft>
                          <a:spcPts val="0"/>
                        </a:spcAft>
                        <a:buNone/>
                      </a:pPr>
                      <a:r>
                        <a:rPr lang="en-US" sz="1200"/>
                        <a:t>Հիմնական դպրոցն ավարտած սովորողներից նախնական և միջին մասնագիտական հաստատություններ ընդունվածների թիվը և տոկոսը</a:t>
                      </a:r>
                      <a:endParaRPr sz="1800"/>
                    </a:p>
                  </a:txBody>
                  <a:tcPr marT="0" marB="0" marR="0" marL="0" anchor="ctr"/>
                </a:tc>
                <a:tc>
                  <a:txBody>
                    <a:bodyPr/>
                    <a:lstStyle/>
                    <a:p>
                      <a:pPr indent="0" lvl="0" marL="0" marR="0" rtl="0" algn="ctr">
                        <a:spcBef>
                          <a:spcPts val="0"/>
                        </a:spcBef>
                        <a:spcAft>
                          <a:spcPts val="0"/>
                        </a:spcAft>
                        <a:buNone/>
                      </a:pPr>
                      <a:r>
                        <a:rPr lang="en-US" sz="1800"/>
                        <a:t>-</a:t>
                      </a:r>
                      <a:endParaRPr sz="1800"/>
                    </a:p>
                  </a:txBody>
                  <a:tcPr marT="0" marB="0" marR="0" marL="0" anchor="ctr"/>
                </a:tc>
                <a:tc>
                  <a:txBody>
                    <a:bodyPr/>
                    <a:lstStyle/>
                    <a:p>
                      <a:pPr indent="0" lvl="0" marL="0" marR="0" rtl="0" algn="ctr">
                        <a:spcBef>
                          <a:spcPts val="0"/>
                        </a:spcBef>
                        <a:spcAft>
                          <a:spcPts val="0"/>
                        </a:spcAft>
                        <a:buNone/>
                      </a:pPr>
                      <a:r>
                        <a:rPr lang="en-US" sz="1800"/>
                        <a:t>-</a:t>
                      </a:r>
                      <a:endParaRPr sz="1800"/>
                    </a:p>
                  </a:txBody>
                  <a:tcPr marT="0" marB="0" marR="0" marL="0" anchor="ctr"/>
                </a:tc>
                <a:tc>
                  <a:txBody>
                    <a:bodyPr/>
                    <a:lstStyle/>
                    <a:p>
                      <a:pPr indent="0" lvl="0" marL="0" marR="0" rtl="0" algn="l">
                        <a:spcBef>
                          <a:spcPts val="0"/>
                        </a:spcBef>
                        <a:spcAft>
                          <a:spcPts val="0"/>
                        </a:spcAft>
                        <a:buNone/>
                      </a:pPr>
                      <a:r>
                        <a:rPr lang="en-US" sz="1200"/>
                        <a:t>                -</a:t>
                      </a:r>
                      <a:endParaRPr sz="1200"/>
                    </a:p>
                  </a:txBody>
                  <a:tcPr marT="0" marB="0" marR="0" marL="0" anchor="ctr"/>
                </a:tc>
              </a:tr>
              <a:tr h="749550">
                <a:tc>
                  <a:txBody>
                    <a:bodyPr/>
                    <a:lstStyle/>
                    <a:p>
                      <a:pPr indent="0" lvl="0" marL="0" marR="0" rtl="0" algn="l">
                        <a:lnSpc>
                          <a:spcPct val="150000"/>
                        </a:lnSpc>
                        <a:spcBef>
                          <a:spcPts val="0"/>
                        </a:spcBef>
                        <a:spcAft>
                          <a:spcPts val="0"/>
                        </a:spcAft>
                        <a:buNone/>
                      </a:pPr>
                      <a:r>
                        <a:rPr lang="en-US" sz="1200"/>
                        <a:t>Հիմնական դպրոցն ավարտած սովորողների թիվը և տոկոսը, որոնք ուսումը շարունակում են ավագ դպրոցներում կամ ավագ դասարաններում </a:t>
                      </a:r>
                      <a:endParaRPr sz="1800"/>
                    </a:p>
                  </a:txBody>
                  <a:tcPr marT="0" marB="0" marR="0" marL="0" anchor="ctr"/>
                </a:tc>
                <a:tc>
                  <a:txBody>
                    <a:bodyPr/>
                    <a:lstStyle/>
                    <a:p>
                      <a:pPr indent="0" lvl="0" marL="0" marR="0" rtl="0" algn="ctr">
                        <a:spcBef>
                          <a:spcPts val="0"/>
                        </a:spcBef>
                        <a:spcAft>
                          <a:spcPts val="0"/>
                        </a:spcAft>
                        <a:buNone/>
                      </a:pPr>
                      <a:r>
                        <a:rPr lang="en-US" sz="1800"/>
                        <a:t>-</a:t>
                      </a:r>
                      <a:endParaRPr sz="1800"/>
                    </a:p>
                  </a:txBody>
                  <a:tcPr marT="0" marB="0" marR="0" marL="0" anchor="ctr"/>
                </a:tc>
                <a:tc>
                  <a:txBody>
                    <a:bodyPr/>
                    <a:lstStyle/>
                    <a:p>
                      <a:pPr indent="0" lvl="0" marL="0" marR="0" rtl="0" algn="ctr">
                        <a:spcBef>
                          <a:spcPts val="0"/>
                        </a:spcBef>
                        <a:spcAft>
                          <a:spcPts val="0"/>
                        </a:spcAft>
                        <a:buNone/>
                      </a:pPr>
                      <a:r>
                        <a:rPr lang="en-US" sz="1800"/>
                        <a:t>-</a:t>
                      </a:r>
                      <a:endParaRPr sz="1800"/>
                    </a:p>
                  </a:txBody>
                  <a:tcPr marT="0" marB="0" marR="0" marL="0" anchor="ctr"/>
                </a:tc>
                <a:tc>
                  <a:txBody>
                    <a:bodyPr/>
                    <a:lstStyle/>
                    <a:p>
                      <a:pPr indent="0" lvl="0" marL="0" marR="0" rtl="0" algn="l">
                        <a:spcBef>
                          <a:spcPts val="0"/>
                        </a:spcBef>
                        <a:spcAft>
                          <a:spcPts val="0"/>
                        </a:spcAft>
                        <a:buNone/>
                      </a:pPr>
                      <a:r>
                        <a:rPr lang="en-US" sz="1200"/>
                        <a:t>                  -</a:t>
                      </a:r>
                      <a:endParaRPr sz="1200"/>
                    </a:p>
                  </a:txBody>
                  <a:tcPr marT="0" marB="0" marR="0" marL="0" anchor="ctr"/>
                </a:tc>
              </a:tr>
              <a:tr h="999375">
                <a:tc>
                  <a:txBody>
                    <a:bodyPr/>
                    <a:lstStyle/>
                    <a:p>
                      <a:pPr indent="0" lvl="0" marL="0" marR="0" rtl="0" algn="l">
                        <a:lnSpc>
                          <a:spcPct val="150000"/>
                        </a:lnSpc>
                        <a:spcBef>
                          <a:spcPts val="0"/>
                        </a:spcBef>
                        <a:spcAft>
                          <a:spcPts val="0"/>
                        </a:spcAft>
                        <a:buNone/>
                      </a:pPr>
                      <a:r>
                        <a:rPr lang="en-US" sz="1200"/>
                        <a:t>Նախնական (արհեստագործական) և միջին մասնագիտական հաստատություններ ընդունված 12-րդ դասարանի շրջանավարտների թիվը և տոկոսը </a:t>
                      </a:r>
                      <a:endParaRPr sz="1800"/>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5աշ </a:t>
                      </a:r>
                      <a:endParaRPr sz="1200"/>
                    </a:p>
                    <a:p>
                      <a:pPr indent="0" lvl="0" marL="0" marR="0" rtl="0" algn="ctr">
                        <a:lnSpc>
                          <a:spcPct val="150000"/>
                        </a:lnSpc>
                        <a:spcBef>
                          <a:spcPts val="0"/>
                        </a:spcBef>
                        <a:spcAft>
                          <a:spcPts val="0"/>
                        </a:spcAft>
                        <a:buClr>
                          <a:schemeClr val="dk1"/>
                        </a:buClr>
                        <a:buSzPts val="1200"/>
                        <a:buFont typeface="Century Gothic"/>
                        <a:buNone/>
                      </a:pPr>
                      <a:r>
                        <a:rPr lang="en-US" sz="1200"/>
                        <a:t>3.7 % </a:t>
                      </a:r>
                      <a:endParaRPr sz="1200"/>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10 աշ </a:t>
                      </a:r>
                      <a:endParaRPr sz="1200"/>
                    </a:p>
                    <a:p>
                      <a:pPr indent="0" lvl="0" marL="0" marR="0" rtl="0" algn="ctr">
                        <a:lnSpc>
                          <a:spcPct val="150000"/>
                        </a:lnSpc>
                        <a:spcBef>
                          <a:spcPts val="0"/>
                        </a:spcBef>
                        <a:spcAft>
                          <a:spcPts val="0"/>
                        </a:spcAft>
                        <a:buClr>
                          <a:schemeClr val="dk1"/>
                        </a:buClr>
                        <a:buSzPts val="1200"/>
                        <a:buFont typeface="Century Gothic"/>
                        <a:buNone/>
                      </a:pPr>
                      <a:r>
                        <a:rPr lang="en-US" sz="1200"/>
                        <a:t>5 % </a:t>
                      </a:r>
                      <a:endParaRPr sz="1200"/>
                    </a:p>
                  </a:txBody>
                  <a:tcPr marT="0" marB="0" marR="0" marL="0" anchor="ctr"/>
                </a:tc>
                <a:tc>
                  <a:txBody>
                    <a:bodyPr/>
                    <a:lstStyle/>
                    <a:p>
                      <a:pPr indent="0" lvl="0" marL="0" marR="0" rtl="0" algn="l">
                        <a:spcBef>
                          <a:spcPts val="0"/>
                        </a:spcBef>
                        <a:spcAft>
                          <a:spcPts val="0"/>
                        </a:spcAft>
                        <a:buNone/>
                      </a:pPr>
                      <a:r>
                        <a:rPr lang="en-US" sz="1200">
                          <a:solidFill>
                            <a:srgbClr val="262626"/>
                          </a:solidFill>
                        </a:rPr>
                        <a:t>              8 աշ</a:t>
                      </a:r>
                      <a:endParaRPr/>
                    </a:p>
                    <a:p>
                      <a:pPr indent="0" lvl="0" marL="0" marR="0" rtl="0" algn="l">
                        <a:spcBef>
                          <a:spcPts val="0"/>
                        </a:spcBef>
                        <a:spcAft>
                          <a:spcPts val="0"/>
                        </a:spcAft>
                        <a:buNone/>
                      </a:pPr>
                      <a:r>
                        <a:rPr lang="en-US" sz="1200">
                          <a:solidFill>
                            <a:srgbClr val="262626"/>
                          </a:solidFill>
                        </a:rPr>
                        <a:t>               6 %</a:t>
                      </a:r>
                      <a:endParaRPr sz="1200">
                        <a:solidFill>
                          <a:srgbClr val="262626"/>
                        </a:solidFill>
                      </a:endParaRPr>
                    </a:p>
                  </a:txBody>
                  <a:tcPr marT="0" marB="0" marR="0" marL="0" anchor="ctr"/>
                </a:tc>
              </a:tr>
              <a:tr h="749550">
                <a:tc>
                  <a:txBody>
                    <a:bodyPr/>
                    <a:lstStyle/>
                    <a:p>
                      <a:pPr indent="0" lvl="0" marL="0" marR="0" rtl="0" algn="l">
                        <a:lnSpc>
                          <a:spcPct val="150000"/>
                        </a:lnSpc>
                        <a:spcBef>
                          <a:spcPts val="0"/>
                        </a:spcBef>
                        <a:spcAft>
                          <a:spcPts val="0"/>
                        </a:spcAft>
                        <a:buNone/>
                      </a:pPr>
                      <a:r>
                        <a:rPr lang="en-US" sz="1200"/>
                        <a:t>Բուհեր ընդունված շրջանավարտների թիվը և տոկոսը՝ շրջանավարտների ընդհանուր թվի համեմատ </a:t>
                      </a:r>
                      <a:endParaRPr sz="1800"/>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80</a:t>
                      </a:r>
                      <a:endParaRPr sz="1200"/>
                    </a:p>
                    <a:p>
                      <a:pPr indent="0" lvl="0" marL="0" marR="0" rtl="0" algn="ctr">
                        <a:lnSpc>
                          <a:spcPct val="150000"/>
                        </a:lnSpc>
                        <a:spcBef>
                          <a:spcPts val="0"/>
                        </a:spcBef>
                        <a:spcAft>
                          <a:spcPts val="0"/>
                        </a:spcAft>
                        <a:buClr>
                          <a:schemeClr val="dk1"/>
                        </a:buClr>
                        <a:buSzPts val="1200"/>
                        <a:buFont typeface="Century Gothic"/>
                        <a:buNone/>
                      </a:pPr>
                      <a:r>
                        <a:rPr lang="en-US" sz="1200"/>
                        <a:t>59%</a:t>
                      </a:r>
                      <a:endParaRPr sz="1200"/>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120</a:t>
                      </a:r>
                      <a:endParaRPr sz="1200"/>
                    </a:p>
                    <a:p>
                      <a:pPr indent="0" lvl="0" marL="0" marR="0" rtl="0" algn="ctr">
                        <a:lnSpc>
                          <a:spcPct val="150000"/>
                        </a:lnSpc>
                        <a:spcBef>
                          <a:spcPts val="0"/>
                        </a:spcBef>
                        <a:spcAft>
                          <a:spcPts val="0"/>
                        </a:spcAft>
                        <a:buClr>
                          <a:schemeClr val="dk1"/>
                        </a:buClr>
                        <a:buSzPts val="1200"/>
                        <a:buFont typeface="Century Gothic"/>
                        <a:buNone/>
                      </a:pPr>
                      <a:r>
                        <a:rPr lang="en-US" sz="1200"/>
                        <a:t>64%</a:t>
                      </a:r>
                      <a:endParaRPr sz="1200"/>
                    </a:p>
                  </a:txBody>
                  <a:tcPr marT="0" marB="0" marR="0" marL="0" anchor="ctr"/>
                </a:tc>
                <a:tc>
                  <a:txBody>
                    <a:bodyPr/>
                    <a:lstStyle/>
                    <a:p>
                      <a:pPr indent="0" lvl="0" marL="0" marR="0" rtl="0" algn="l">
                        <a:spcBef>
                          <a:spcPts val="0"/>
                        </a:spcBef>
                        <a:spcAft>
                          <a:spcPts val="0"/>
                        </a:spcAft>
                        <a:buNone/>
                      </a:pPr>
                      <a:r>
                        <a:rPr lang="en-US" sz="1200"/>
                        <a:t>                 82       </a:t>
                      </a:r>
                      <a:endParaRPr/>
                    </a:p>
                    <a:p>
                      <a:pPr indent="0" lvl="0" marL="0" marR="0" rtl="0" algn="l">
                        <a:spcBef>
                          <a:spcPts val="0"/>
                        </a:spcBef>
                        <a:spcAft>
                          <a:spcPts val="0"/>
                        </a:spcAft>
                        <a:buNone/>
                      </a:pPr>
                      <a:r>
                        <a:rPr lang="en-US" sz="1200"/>
                        <a:t>                62%</a:t>
                      </a:r>
                      <a:endParaRPr/>
                    </a:p>
                  </a:txBody>
                  <a:tcPr marT="0" marB="0" marR="0" marL="0" anchor="ctr"/>
                </a:tc>
              </a:tr>
              <a:tr h="499750">
                <a:tc>
                  <a:txBody>
                    <a:bodyPr/>
                    <a:lstStyle/>
                    <a:p>
                      <a:pPr indent="0" lvl="0" marL="0" marR="0" rtl="0" algn="l">
                        <a:lnSpc>
                          <a:spcPct val="150000"/>
                        </a:lnSpc>
                        <a:spcBef>
                          <a:spcPts val="0"/>
                        </a:spcBef>
                        <a:spcAft>
                          <a:spcPts val="0"/>
                        </a:spcAft>
                        <a:buNone/>
                      </a:pPr>
                      <a:r>
                        <a:rPr lang="en-US" sz="1200"/>
                        <a:t>Սովորողների բացակայությունների թիվը ժամերով՝ ըստ կրթական աստիճանների . </a:t>
                      </a:r>
                      <a:endParaRPr sz="1800"/>
                    </a:p>
                  </a:txBody>
                  <a:tcPr marT="0" marB="0" marR="0" marL="0" anchor="ctr"/>
                </a:tc>
                <a:tc>
                  <a:txBody>
                    <a:bodyPr/>
                    <a:lstStyle/>
                    <a:p>
                      <a:pPr indent="0" lvl="0" marL="0" marR="0" rtl="0" algn="ctr">
                        <a:spcBef>
                          <a:spcPts val="0"/>
                        </a:spcBef>
                        <a:spcAft>
                          <a:spcPts val="0"/>
                        </a:spcAft>
                        <a:buNone/>
                      </a:pPr>
                      <a:r>
                        <a:t/>
                      </a:r>
                      <a:endParaRPr b="0" i="0" sz="1200">
                        <a:solidFill>
                          <a:schemeClr val="dk1"/>
                        </a:solidFill>
                        <a:latin typeface="Century Gothic"/>
                        <a:ea typeface="Century Gothic"/>
                        <a:cs typeface="Century Gothic"/>
                        <a:sym typeface="Century Gothic"/>
                      </a:endParaRPr>
                    </a:p>
                    <a:p>
                      <a:pPr indent="0" lvl="0" marL="0" marR="0" rtl="0" algn="ctr">
                        <a:spcBef>
                          <a:spcPts val="0"/>
                        </a:spcBef>
                        <a:spcAft>
                          <a:spcPts val="0"/>
                        </a:spcAft>
                        <a:buNone/>
                      </a:pPr>
                      <a:r>
                        <a:rPr b="0" i="0" lang="en-US" sz="1200">
                          <a:solidFill>
                            <a:schemeClr val="dk1"/>
                          </a:solidFill>
                          <a:latin typeface="Century Gothic"/>
                          <a:ea typeface="Century Gothic"/>
                          <a:cs typeface="Century Gothic"/>
                          <a:sym typeface="Century Gothic"/>
                        </a:rPr>
                        <a:t>24711</a:t>
                      </a:r>
                      <a:endParaRPr b="0" i="0" sz="1200">
                        <a:solidFill>
                          <a:schemeClr val="dk1"/>
                        </a:solidFill>
                        <a:latin typeface="Century Gothic"/>
                        <a:ea typeface="Century Gothic"/>
                        <a:cs typeface="Century Gothic"/>
                        <a:sym typeface="Century Gothic"/>
                      </a:endParaRPr>
                    </a:p>
                  </a:txBody>
                  <a:tcPr marT="0" marB="0" marR="0" marL="0" anchor="ctr"/>
                </a:tc>
                <a:tc>
                  <a:txBody>
                    <a:bodyPr/>
                    <a:lstStyle/>
                    <a:p>
                      <a:pPr indent="0" lvl="0" marL="0" marR="0" rtl="0" algn="ctr">
                        <a:spcBef>
                          <a:spcPts val="0"/>
                        </a:spcBef>
                        <a:spcAft>
                          <a:spcPts val="0"/>
                        </a:spcAft>
                        <a:buNone/>
                      </a:pPr>
                      <a:r>
                        <a:t/>
                      </a:r>
                      <a:endParaRPr b="0" i="0" sz="1200">
                        <a:solidFill>
                          <a:schemeClr val="dk1"/>
                        </a:solidFill>
                        <a:latin typeface="Century Gothic"/>
                        <a:ea typeface="Century Gothic"/>
                        <a:cs typeface="Century Gothic"/>
                        <a:sym typeface="Century Gothic"/>
                      </a:endParaRPr>
                    </a:p>
                    <a:p>
                      <a:pPr indent="0" lvl="0" marL="0" marR="0" rtl="0" algn="ctr">
                        <a:spcBef>
                          <a:spcPts val="0"/>
                        </a:spcBef>
                        <a:spcAft>
                          <a:spcPts val="0"/>
                        </a:spcAft>
                        <a:buNone/>
                      </a:pPr>
                      <a:r>
                        <a:rPr b="0" i="0" lang="en-US" sz="1200">
                          <a:solidFill>
                            <a:schemeClr val="dk1"/>
                          </a:solidFill>
                          <a:latin typeface="Century Gothic"/>
                          <a:ea typeface="Century Gothic"/>
                          <a:cs typeface="Century Gothic"/>
                          <a:sym typeface="Century Gothic"/>
                        </a:rPr>
                        <a:t>17579</a:t>
                      </a:r>
                      <a:endParaRPr b="0" i="0" sz="1200">
                        <a:solidFill>
                          <a:schemeClr val="dk1"/>
                        </a:solidFill>
                        <a:latin typeface="Century Gothic"/>
                        <a:ea typeface="Century Gothic"/>
                        <a:cs typeface="Century Gothic"/>
                        <a:sym typeface="Century Gothic"/>
                      </a:endParaRPr>
                    </a:p>
                  </a:txBody>
                  <a:tcPr marT="0" marB="0" marR="0" marL="0" anchor="ctr"/>
                </a:tc>
                <a:tc>
                  <a:txBody>
                    <a:bodyPr/>
                    <a:lstStyle/>
                    <a:p>
                      <a:pPr indent="0" lvl="0" marL="0" marR="0" rtl="0" algn="l">
                        <a:spcBef>
                          <a:spcPts val="0"/>
                        </a:spcBef>
                        <a:spcAft>
                          <a:spcPts val="0"/>
                        </a:spcAft>
                        <a:buNone/>
                      </a:pPr>
                      <a:r>
                        <a:rPr lang="en-US" sz="1200"/>
                        <a:t>              15658</a:t>
                      </a:r>
                      <a:endParaRPr sz="1200"/>
                    </a:p>
                  </a:txBody>
                  <a:tcPr marT="0" marB="0" marR="0" marL="0" anchor="ctr"/>
                </a:tc>
              </a:tr>
              <a:tr h="801375">
                <a:tc>
                  <a:txBody>
                    <a:bodyPr/>
                    <a:lstStyle/>
                    <a:p>
                      <a:pPr indent="0" lvl="0" marL="0" marR="0" rtl="0" algn="l">
                        <a:lnSpc>
                          <a:spcPct val="150000"/>
                        </a:lnSpc>
                        <a:spcBef>
                          <a:spcPts val="0"/>
                        </a:spcBef>
                        <a:spcAft>
                          <a:spcPts val="0"/>
                        </a:spcAft>
                        <a:buNone/>
                      </a:pPr>
                      <a:r>
                        <a:rPr lang="en-US" sz="1200"/>
                        <a:t>Դասարանից դասարան վաղաժամկետ փոխադրված սովորողների թիվը և տոկոսը՝ըստ կրթական ատիճանների </a:t>
                      </a:r>
                      <a:endParaRPr sz="1800"/>
                    </a:p>
                  </a:txBody>
                  <a:tcPr marT="0" marB="0" marR="0" marL="0" anchor="ctr"/>
                </a:tc>
                <a:tc>
                  <a:txBody>
                    <a:bodyPr/>
                    <a:lstStyle/>
                    <a:p>
                      <a:pPr indent="0" lvl="0" marL="0" marR="0" rtl="0" algn="ctr">
                        <a:lnSpc>
                          <a:spcPct val="100000"/>
                        </a:lnSpc>
                        <a:spcBef>
                          <a:spcPts val="0"/>
                        </a:spcBef>
                        <a:spcAft>
                          <a:spcPts val="0"/>
                        </a:spcAft>
                        <a:buClr>
                          <a:schemeClr val="dk1"/>
                        </a:buClr>
                        <a:buSzPts val="1800"/>
                        <a:buFont typeface="Century Gothic"/>
                        <a:buNone/>
                      </a:pPr>
                      <a:r>
                        <a:rPr lang="en-US" sz="1800"/>
                        <a:t>                               </a:t>
                      </a:r>
                      <a:r>
                        <a:rPr lang="en-US" sz="1800"/>
                        <a:t>-</a:t>
                      </a:r>
                      <a:endParaRPr sz="1800"/>
                    </a:p>
                  </a:txBody>
                  <a:tcPr marT="0" marB="0" marR="0" marL="0" anchor="ctr"/>
                </a:tc>
                <a:tc>
                  <a:txBody>
                    <a:bodyPr/>
                    <a:lstStyle/>
                    <a:p>
                      <a:pPr indent="0" lvl="0" marL="0" marR="0" rtl="0" algn="ctr">
                        <a:lnSpc>
                          <a:spcPct val="100000"/>
                        </a:lnSpc>
                        <a:spcBef>
                          <a:spcPts val="0"/>
                        </a:spcBef>
                        <a:spcAft>
                          <a:spcPts val="0"/>
                        </a:spcAft>
                        <a:buClr>
                          <a:schemeClr val="dk1"/>
                        </a:buClr>
                        <a:buSzPts val="1800"/>
                        <a:buFont typeface="Century Gothic"/>
                        <a:buNone/>
                      </a:pPr>
                      <a:r>
                        <a:rPr lang="en-US" sz="1800"/>
                        <a:t>                               </a:t>
                      </a:r>
                      <a:r>
                        <a:rPr lang="en-US" sz="1800"/>
                        <a:t>-</a:t>
                      </a:r>
                      <a:endParaRPr sz="1800"/>
                    </a:p>
                  </a:txBody>
                  <a:tcPr marT="0" marB="0" marR="0" marL="0" anchor="ctr"/>
                </a:tc>
                <a:tc>
                  <a:txBody>
                    <a:bodyPr/>
                    <a:lstStyle/>
                    <a:p>
                      <a:pPr indent="0" lvl="0" marL="0" marR="0" rtl="0" algn="l">
                        <a:spcBef>
                          <a:spcPts val="0"/>
                        </a:spcBef>
                        <a:spcAft>
                          <a:spcPts val="0"/>
                        </a:spcAft>
                        <a:buNone/>
                      </a:pPr>
                      <a:r>
                        <a:rPr lang="en-US" sz="1800"/>
                        <a:t>            -</a:t>
                      </a:r>
                      <a:endParaRPr sz="1800"/>
                    </a:p>
                  </a:txBody>
                  <a:tcPr marT="0" marB="0" marR="0" marL="0" anchor="ct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3"/>
          <p:cNvSpPr txBox="1"/>
          <p:nvPr/>
        </p:nvSpPr>
        <p:spPr>
          <a:xfrm>
            <a:off x="119063" y="0"/>
            <a:ext cx="9506142"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1800">
                <a:solidFill>
                  <a:schemeClr val="dk1"/>
                </a:solidFill>
                <a:latin typeface="Merriweather"/>
                <a:ea typeface="Merriweather"/>
                <a:cs typeface="Merriweather"/>
                <a:sym typeface="Merriweather"/>
              </a:rPr>
              <a:t>Աղյուսակ 21. Տվյալներ սովորողների առաջադիմության վերաբերյալ տվյալ և նախորդ</a:t>
            </a:r>
            <a:r>
              <a:rPr lang="en-US" sz="1800">
                <a:solidFill>
                  <a:schemeClr val="dk1"/>
                </a:solidFill>
                <a:latin typeface="Merriweather"/>
                <a:ea typeface="Merriweather"/>
                <a:cs typeface="Merriweather"/>
                <a:sym typeface="Merriweather"/>
              </a:rPr>
              <a:t>​</a:t>
            </a:r>
            <a:endParaRPr sz="1800">
              <a:solidFill>
                <a:schemeClr val="dk1"/>
              </a:solidFill>
              <a:latin typeface="Merriweather"/>
              <a:ea typeface="Merriweather"/>
              <a:cs typeface="Merriweather"/>
              <a:sym typeface="Merriweather"/>
            </a:endParaRPr>
          </a:p>
          <a:p>
            <a:pPr indent="0" lvl="0" marL="0" marR="0" rtl="0" algn="just">
              <a:spcBef>
                <a:spcPts val="0"/>
              </a:spcBef>
              <a:spcAft>
                <a:spcPts val="0"/>
              </a:spcAft>
              <a:buNone/>
            </a:pPr>
            <a:r>
              <a:rPr b="1" i="1" lang="en-US" sz="1800">
                <a:solidFill>
                  <a:schemeClr val="dk1"/>
                </a:solidFill>
                <a:latin typeface="Merriweather"/>
                <a:ea typeface="Merriweather"/>
                <a:cs typeface="Merriweather"/>
                <a:sym typeface="Merriweather"/>
              </a:rPr>
              <a:t>                          2 ուստարիների համար՝ ըստ կրթական աստիճանների</a:t>
            </a:r>
            <a:r>
              <a:rPr lang="en-US" sz="1800">
                <a:solidFill>
                  <a:schemeClr val="dk1"/>
                </a:solidFill>
                <a:latin typeface="Merriweather"/>
                <a:ea typeface="Merriweather"/>
                <a:cs typeface="Merriweather"/>
                <a:sym typeface="Merriweather"/>
              </a:rPr>
              <a:t>​</a:t>
            </a:r>
            <a:endParaRPr/>
          </a:p>
        </p:txBody>
      </p:sp>
      <p:graphicFrame>
        <p:nvGraphicFramePr>
          <p:cNvPr id="434" name="Google Shape;434;p53"/>
          <p:cNvGraphicFramePr/>
          <p:nvPr/>
        </p:nvGraphicFramePr>
        <p:xfrm>
          <a:off x="1218052" y="781236"/>
          <a:ext cx="3000000" cy="3000000"/>
        </p:xfrm>
        <a:graphic>
          <a:graphicData uri="http://schemas.openxmlformats.org/drawingml/2006/table">
            <a:tbl>
              <a:tblPr>
                <a:noFill/>
                <a:tableStyleId>{40B977D2-3903-41EF-8714-5AC59086702B}</a:tableStyleId>
              </a:tblPr>
              <a:tblGrid>
                <a:gridCol w="5582250"/>
                <a:gridCol w="1420425"/>
                <a:gridCol w="1404475"/>
              </a:tblGrid>
              <a:tr h="701650">
                <a:tc rowSpan="2">
                  <a:txBody>
                    <a:bodyPr/>
                    <a:lstStyle/>
                    <a:p>
                      <a:pPr indent="0" lvl="0" marL="0" marR="0" rtl="0" algn="just">
                        <a:lnSpc>
                          <a:spcPct val="150000"/>
                        </a:lnSpc>
                        <a:spcBef>
                          <a:spcPts val="0"/>
                        </a:spcBef>
                        <a:spcAft>
                          <a:spcPts val="0"/>
                        </a:spcAft>
                        <a:buNone/>
                      </a:pPr>
                      <a:r>
                        <a:rPr lang="en-US" sz="1400"/>
                        <a:t>Ցուցանիշ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2023-2024 ուստարի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2024-2025 ուստարի </a:t>
                      </a:r>
                      <a:endParaRPr sz="1800"/>
                    </a:p>
                  </a:txBody>
                  <a:tcPr marT="0" marB="0" marR="0" marL="0" anchor="ctr"/>
                </a:tc>
              </a:tr>
              <a:tr h="1052400">
                <a:tc vMerge="1"/>
                <a:tc>
                  <a:txBody>
                    <a:bodyPr/>
                    <a:lstStyle/>
                    <a:p>
                      <a:pPr indent="0" lvl="0" marL="0" marR="0" rtl="0" algn="ctr">
                        <a:lnSpc>
                          <a:spcPct val="150000"/>
                        </a:lnSpc>
                        <a:spcBef>
                          <a:spcPts val="0"/>
                        </a:spcBef>
                        <a:spcAft>
                          <a:spcPts val="0"/>
                        </a:spcAft>
                        <a:buNone/>
                      </a:pPr>
                      <a:r>
                        <a:rPr lang="en-US" sz="1400"/>
                        <a:t>10-ից 12-րդ. </a:t>
                      </a:r>
                      <a:endParaRPr sz="1800"/>
                    </a:p>
                    <a:p>
                      <a:pPr indent="0" lvl="0" marL="0" marR="0" rtl="0" algn="ctr">
                        <a:lnSpc>
                          <a:spcPct val="150000"/>
                        </a:lnSpc>
                        <a:spcBef>
                          <a:spcPts val="0"/>
                        </a:spcBef>
                        <a:spcAft>
                          <a:spcPts val="0"/>
                        </a:spcAft>
                        <a:buNone/>
                      </a:pPr>
                      <a:r>
                        <a:rPr lang="en-US" sz="1400"/>
                        <a:t>դաս.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10-ից 12-րդ. </a:t>
                      </a:r>
                      <a:endParaRPr sz="1800"/>
                    </a:p>
                    <a:p>
                      <a:pPr indent="0" lvl="0" marL="0" marR="0" rtl="0" algn="ctr">
                        <a:lnSpc>
                          <a:spcPct val="150000"/>
                        </a:lnSpc>
                        <a:spcBef>
                          <a:spcPts val="0"/>
                        </a:spcBef>
                        <a:spcAft>
                          <a:spcPts val="0"/>
                        </a:spcAft>
                        <a:buNone/>
                      </a:pPr>
                      <a:r>
                        <a:rPr lang="en-US" sz="1400"/>
                        <a:t>դաս. </a:t>
                      </a:r>
                      <a:endParaRPr sz="1800"/>
                    </a:p>
                  </a:txBody>
                  <a:tcPr marT="0" marB="0" marR="0" marL="0" anchor="ctr"/>
                </a:tc>
              </a:tr>
              <a:tr h="1388175">
                <a:tc>
                  <a:txBody>
                    <a:bodyPr/>
                    <a:lstStyle/>
                    <a:p>
                      <a:pPr indent="0" lvl="0" marL="0" marR="0" rtl="0" algn="l">
                        <a:lnSpc>
                          <a:spcPct val="150000"/>
                        </a:lnSpc>
                        <a:spcBef>
                          <a:spcPts val="0"/>
                        </a:spcBef>
                        <a:spcAft>
                          <a:spcPts val="0"/>
                        </a:spcAft>
                        <a:buNone/>
                      </a:pPr>
                      <a:r>
                        <a:rPr lang="en-US" sz="1400"/>
                        <a:t>Ուսումնական տարվա ընթացքում տվյալ հաստատությունից այլ հաստատություն տեղափոխված սովորողների թիվը և տոկոսը ըստ կրթական աստիճանների </a:t>
                      </a:r>
                      <a:endParaRPr sz="1800"/>
                    </a:p>
                  </a:txBody>
                  <a:tcPr marT="0" marB="0" marR="0" marL="0" anchor="ctr"/>
                </a:tc>
                <a:tc>
                  <a:txBody>
                    <a:bodyPr/>
                    <a:lstStyle/>
                    <a:p>
                      <a:pPr indent="0" lvl="0" marL="0" marR="0" rtl="0" algn="ctr">
                        <a:spcBef>
                          <a:spcPts val="0"/>
                        </a:spcBef>
                        <a:spcAft>
                          <a:spcPts val="0"/>
                        </a:spcAft>
                        <a:buNone/>
                      </a:pPr>
                      <a:r>
                        <a:rPr lang="en-US" sz="1200"/>
                        <a:t>25 աշ.</a:t>
                      </a:r>
                      <a:endParaRPr sz="1200"/>
                    </a:p>
                    <a:p>
                      <a:pPr indent="0" lvl="0" marL="0" marR="0" rtl="0" algn="ctr">
                        <a:spcBef>
                          <a:spcPts val="0"/>
                        </a:spcBef>
                        <a:spcAft>
                          <a:spcPts val="0"/>
                        </a:spcAft>
                        <a:buClr>
                          <a:schemeClr val="dk1"/>
                        </a:buClr>
                        <a:buSzPts val="1200"/>
                        <a:buFont typeface="Century Gothic"/>
                        <a:buNone/>
                      </a:pPr>
                      <a:r>
                        <a:rPr lang="en-US" sz="1200"/>
                        <a:t>5,8%</a:t>
                      </a:r>
                      <a:endParaRPr sz="1200"/>
                    </a:p>
                  </a:txBody>
                  <a:tcPr marT="0" marB="0" marR="0" marL="0" anchor="ctr"/>
                </a:tc>
                <a:tc>
                  <a:txBody>
                    <a:bodyPr/>
                    <a:lstStyle/>
                    <a:p>
                      <a:pPr indent="0" lvl="0" marL="0" marR="0" rtl="0" algn="ctr">
                        <a:spcBef>
                          <a:spcPts val="0"/>
                        </a:spcBef>
                        <a:spcAft>
                          <a:spcPts val="0"/>
                        </a:spcAft>
                        <a:buNone/>
                      </a:pPr>
                      <a:r>
                        <a:rPr lang="en-US" sz="1200"/>
                        <a:t>16 աշ.</a:t>
                      </a:r>
                      <a:endParaRPr sz="1200"/>
                    </a:p>
                    <a:p>
                      <a:pPr indent="0" lvl="0" marL="0" marR="0" rtl="0" algn="ctr">
                        <a:spcBef>
                          <a:spcPts val="0"/>
                        </a:spcBef>
                        <a:spcAft>
                          <a:spcPts val="0"/>
                        </a:spcAft>
                        <a:buClr>
                          <a:schemeClr val="dk1"/>
                        </a:buClr>
                        <a:buSzPts val="1200"/>
                        <a:buFont typeface="Century Gothic"/>
                        <a:buNone/>
                      </a:pPr>
                      <a:r>
                        <a:rPr lang="en-US" sz="1200"/>
                        <a:t>3,9%</a:t>
                      </a:r>
                      <a:endParaRPr sz="1200"/>
                    </a:p>
                  </a:txBody>
                  <a:tcPr marT="0" marB="0" marR="0" marL="0" anchor="ctr"/>
                </a:tc>
              </a:tr>
              <a:tr h="1172150">
                <a:tc>
                  <a:txBody>
                    <a:bodyPr/>
                    <a:lstStyle/>
                    <a:p>
                      <a:pPr indent="0" lvl="0" marL="0" marR="0" rtl="0" algn="l">
                        <a:lnSpc>
                          <a:spcPct val="150000"/>
                        </a:lnSpc>
                        <a:spcBef>
                          <a:spcPts val="0"/>
                        </a:spcBef>
                        <a:spcAft>
                          <a:spcPts val="0"/>
                        </a:spcAft>
                        <a:buNone/>
                      </a:pPr>
                      <a:r>
                        <a:rPr lang="en-US" sz="1400"/>
                        <a:t>ՀՀ այլ հաստատություններ տեղափոխվածների թիվը </a:t>
                      </a:r>
                      <a:endParaRPr sz="1800"/>
                    </a:p>
                  </a:txBody>
                  <a:tcPr marT="0" marB="0" marR="0" marL="0" anchor="ctr"/>
                </a:tc>
                <a:tc>
                  <a:txBody>
                    <a:bodyPr/>
                    <a:lstStyle/>
                    <a:p>
                      <a:pPr indent="0" lvl="0" marL="0" marR="0" rtl="0" algn="ctr">
                        <a:spcBef>
                          <a:spcPts val="0"/>
                        </a:spcBef>
                        <a:spcAft>
                          <a:spcPts val="0"/>
                        </a:spcAft>
                        <a:buNone/>
                      </a:pPr>
                      <a:r>
                        <a:rPr lang="en-US" sz="1200"/>
                        <a:t>10 աշ.</a:t>
                      </a:r>
                      <a:endParaRPr sz="1200"/>
                    </a:p>
                    <a:p>
                      <a:pPr indent="0" lvl="0" marL="0" marR="0" rtl="0" algn="ctr">
                        <a:spcBef>
                          <a:spcPts val="0"/>
                        </a:spcBef>
                        <a:spcAft>
                          <a:spcPts val="0"/>
                        </a:spcAft>
                        <a:buClr>
                          <a:schemeClr val="dk1"/>
                        </a:buClr>
                        <a:buSzPts val="1200"/>
                        <a:buFont typeface="Century Gothic"/>
                        <a:buNone/>
                      </a:pPr>
                      <a:r>
                        <a:rPr lang="en-US" sz="1200"/>
                        <a:t>2,3%</a:t>
                      </a:r>
                      <a:endParaRPr sz="1200"/>
                    </a:p>
                  </a:txBody>
                  <a:tcPr marT="0" marB="0" marR="0" marL="0" anchor="ctr"/>
                </a:tc>
                <a:tc>
                  <a:txBody>
                    <a:bodyPr/>
                    <a:lstStyle/>
                    <a:p>
                      <a:pPr indent="0" lvl="0" marL="0" marR="0" rtl="0" algn="ctr">
                        <a:spcBef>
                          <a:spcPts val="0"/>
                        </a:spcBef>
                        <a:spcAft>
                          <a:spcPts val="0"/>
                        </a:spcAft>
                        <a:buNone/>
                      </a:pPr>
                      <a:r>
                        <a:rPr lang="en-US" sz="1200"/>
                        <a:t>7 աշ.</a:t>
                      </a:r>
                      <a:endParaRPr sz="1200"/>
                    </a:p>
                    <a:p>
                      <a:pPr indent="0" lvl="0" marL="0" marR="0" rtl="0" algn="ctr">
                        <a:spcBef>
                          <a:spcPts val="0"/>
                        </a:spcBef>
                        <a:spcAft>
                          <a:spcPts val="0"/>
                        </a:spcAft>
                        <a:buClr>
                          <a:schemeClr val="dk1"/>
                        </a:buClr>
                        <a:buSzPts val="1200"/>
                        <a:buFont typeface="Century Gothic"/>
                        <a:buNone/>
                      </a:pPr>
                      <a:r>
                        <a:rPr lang="en-US" sz="1200"/>
                        <a:t>1,6%</a:t>
                      </a:r>
                      <a:endParaRPr sz="1200"/>
                    </a:p>
                  </a:txBody>
                  <a:tcPr marT="0" marB="0" marR="0" marL="0" anchor="ctr"/>
                </a:tc>
              </a:tr>
              <a:tr h="802025">
                <a:tc>
                  <a:txBody>
                    <a:bodyPr/>
                    <a:lstStyle/>
                    <a:p>
                      <a:pPr indent="0" lvl="0" marL="0" marR="0" rtl="0" algn="l">
                        <a:lnSpc>
                          <a:spcPct val="150000"/>
                        </a:lnSpc>
                        <a:spcBef>
                          <a:spcPts val="0"/>
                        </a:spcBef>
                        <a:spcAft>
                          <a:spcPts val="0"/>
                        </a:spcAft>
                        <a:buNone/>
                      </a:pPr>
                      <a:r>
                        <a:rPr lang="en-US" sz="1400"/>
                        <a:t>-այլ երկրների ուսումնական հաստատություններ տեղափոխվածների թիվը </a:t>
                      </a:r>
                      <a:endParaRPr sz="1800"/>
                    </a:p>
                  </a:txBody>
                  <a:tcPr marT="0" marB="0" marR="0" marL="0" anchor="ctr"/>
                </a:tc>
                <a:tc>
                  <a:txBody>
                    <a:bodyPr/>
                    <a:lstStyle/>
                    <a:p>
                      <a:pPr indent="0" lvl="0" marL="0" marR="0" rtl="0" algn="ctr">
                        <a:spcBef>
                          <a:spcPts val="0"/>
                        </a:spcBef>
                        <a:spcAft>
                          <a:spcPts val="0"/>
                        </a:spcAft>
                        <a:buNone/>
                      </a:pPr>
                      <a:r>
                        <a:rPr lang="en-US" sz="1200"/>
                        <a:t>15 աշ.</a:t>
                      </a:r>
                      <a:endParaRPr sz="1200"/>
                    </a:p>
                    <a:p>
                      <a:pPr indent="0" lvl="0" marL="0" marR="0" rtl="0" algn="ctr">
                        <a:spcBef>
                          <a:spcPts val="0"/>
                        </a:spcBef>
                        <a:spcAft>
                          <a:spcPts val="0"/>
                        </a:spcAft>
                        <a:buClr>
                          <a:schemeClr val="dk1"/>
                        </a:buClr>
                        <a:buSzPts val="1200"/>
                        <a:buFont typeface="Century Gothic"/>
                        <a:buNone/>
                      </a:pPr>
                      <a:r>
                        <a:rPr lang="en-US" sz="1200"/>
                        <a:t>3,5%</a:t>
                      </a:r>
                      <a:endParaRPr/>
                    </a:p>
                  </a:txBody>
                  <a:tcPr marT="0" marB="0" marR="0" marL="0" anchor="ctr"/>
                </a:tc>
                <a:tc>
                  <a:txBody>
                    <a:bodyPr/>
                    <a:lstStyle/>
                    <a:p>
                      <a:pPr indent="0" lvl="0" marL="0" marR="0" rtl="0" algn="ctr">
                        <a:spcBef>
                          <a:spcPts val="0"/>
                        </a:spcBef>
                        <a:spcAft>
                          <a:spcPts val="0"/>
                        </a:spcAft>
                        <a:buNone/>
                      </a:pPr>
                      <a:r>
                        <a:rPr lang="en-US" sz="1200"/>
                        <a:t>9 աշ.</a:t>
                      </a:r>
                      <a:endParaRPr sz="1200"/>
                    </a:p>
                    <a:p>
                      <a:pPr indent="0" lvl="0" marL="0" marR="0" rtl="0" algn="ctr">
                        <a:spcBef>
                          <a:spcPts val="0"/>
                        </a:spcBef>
                        <a:spcAft>
                          <a:spcPts val="0"/>
                        </a:spcAft>
                        <a:buClr>
                          <a:schemeClr val="dk1"/>
                        </a:buClr>
                        <a:buSzPts val="1200"/>
                        <a:buFont typeface="Century Gothic"/>
                        <a:buNone/>
                      </a:pPr>
                      <a:r>
                        <a:rPr lang="en-US" sz="1200"/>
                        <a:t>2,08%</a:t>
                      </a:r>
                      <a:endParaRPr sz="1200"/>
                    </a:p>
                  </a:txBody>
                  <a:tcPr marT="0" marB="0" marR="0" marL="0" anchor="ctr"/>
                </a:tc>
              </a:tr>
              <a:tr h="694100">
                <a:tc>
                  <a:txBody>
                    <a:bodyPr/>
                    <a:lstStyle/>
                    <a:p>
                      <a:pPr indent="0" lvl="0" marL="0" marR="0" rtl="0" algn="l">
                        <a:lnSpc>
                          <a:spcPct val="150000"/>
                        </a:lnSpc>
                        <a:spcBef>
                          <a:spcPts val="0"/>
                        </a:spcBef>
                        <a:spcAft>
                          <a:spcPts val="0"/>
                        </a:spcAft>
                        <a:buNone/>
                      </a:pPr>
                      <a:r>
                        <a:rPr lang="en-US" sz="1400"/>
                        <a:t>Ուսումնական տարվա ընթացքում ուսումն ընդհատած </a:t>
                      </a:r>
                      <a:endParaRPr sz="1800"/>
                    </a:p>
                  </a:txBody>
                  <a:tcPr marT="0" marB="0" marR="0" marL="0" anchor="ctr"/>
                </a:tc>
                <a:tc>
                  <a:txBody>
                    <a:bodyPr/>
                    <a:lstStyle/>
                    <a:p>
                      <a:pPr indent="0" lvl="0" marL="0" marR="0" rtl="0" algn="l">
                        <a:spcBef>
                          <a:spcPts val="0"/>
                        </a:spcBef>
                        <a:spcAft>
                          <a:spcPts val="0"/>
                        </a:spcAft>
                        <a:buNone/>
                      </a:pPr>
                      <a:r>
                        <a:rPr lang="en-US" sz="1200"/>
                        <a:t>-</a:t>
                      </a:r>
                      <a:endParaRPr sz="1200"/>
                    </a:p>
                  </a:txBody>
                  <a:tcPr marT="0" marB="0" marR="0" marL="0" anchor="ctr"/>
                </a:tc>
                <a:tc>
                  <a:txBody>
                    <a:bodyPr/>
                    <a:lstStyle/>
                    <a:p>
                      <a:pPr indent="0" lvl="0" marL="0" marR="0" rtl="0" algn="ctr">
                        <a:spcBef>
                          <a:spcPts val="0"/>
                        </a:spcBef>
                        <a:spcAft>
                          <a:spcPts val="0"/>
                        </a:spcAft>
                        <a:buNone/>
                      </a:pPr>
                      <a:r>
                        <a:rPr lang="en-US" sz="1200"/>
                        <a:t>-</a:t>
                      </a:r>
                      <a:endParaRPr sz="1200"/>
                    </a:p>
                  </a:txBody>
                  <a:tcPr marT="0" marB="0" marR="0" marL="0" anchor="ctr"/>
                </a:tc>
              </a:tr>
            </a:tbl>
          </a:graphicData>
        </a:graphic>
      </p:graphicFrame>
      <p:graphicFrame>
        <p:nvGraphicFramePr>
          <p:cNvPr id="435" name="Google Shape;435;p53"/>
          <p:cNvGraphicFramePr/>
          <p:nvPr/>
        </p:nvGraphicFramePr>
        <p:xfrm>
          <a:off x="9625205" y="781236"/>
          <a:ext cx="3000000" cy="3000000"/>
        </p:xfrm>
        <a:graphic>
          <a:graphicData uri="http://schemas.openxmlformats.org/drawingml/2006/table">
            <a:tbl>
              <a:tblPr>
                <a:noFill/>
                <a:tableStyleId>{40B977D2-3903-41EF-8714-5AC59086702B}</a:tableStyleId>
              </a:tblPr>
              <a:tblGrid>
                <a:gridCol w="1216250"/>
              </a:tblGrid>
              <a:tr h="696900">
                <a:tc>
                  <a:txBody>
                    <a:bodyPr/>
                    <a:lstStyle/>
                    <a:p>
                      <a:pPr indent="0" lvl="0" marL="0" marR="0" rtl="0" algn="ctr">
                        <a:lnSpc>
                          <a:spcPct val="150000"/>
                        </a:lnSpc>
                        <a:spcBef>
                          <a:spcPts val="0"/>
                        </a:spcBef>
                        <a:spcAft>
                          <a:spcPts val="0"/>
                        </a:spcAft>
                        <a:buNone/>
                      </a:pPr>
                      <a:r>
                        <a:rPr lang="en-US" sz="1400"/>
                        <a:t>2025-2026 ուստարի </a:t>
                      </a:r>
                      <a:endParaRPr sz="1800"/>
                    </a:p>
                  </a:txBody>
                  <a:tcPr marT="0" marB="0" marR="0" marL="0" anchor="ctr"/>
                </a:tc>
              </a:tr>
              <a:tr h="1052400">
                <a:tc>
                  <a:txBody>
                    <a:bodyPr/>
                    <a:lstStyle/>
                    <a:p>
                      <a:pPr indent="0" lvl="0" marL="0" marR="0" rtl="0" algn="ctr">
                        <a:lnSpc>
                          <a:spcPct val="150000"/>
                        </a:lnSpc>
                        <a:spcBef>
                          <a:spcPts val="0"/>
                        </a:spcBef>
                        <a:spcAft>
                          <a:spcPts val="0"/>
                        </a:spcAft>
                        <a:buNone/>
                      </a:pPr>
                      <a:r>
                        <a:rPr lang="en-US" sz="1400"/>
                        <a:t>10-ից 12-րդ. </a:t>
                      </a:r>
                      <a:endParaRPr sz="1800"/>
                    </a:p>
                    <a:p>
                      <a:pPr indent="0" lvl="0" marL="0" marR="0" rtl="0" algn="ctr">
                        <a:lnSpc>
                          <a:spcPct val="150000"/>
                        </a:lnSpc>
                        <a:spcBef>
                          <a:spcPts val="0"/>
                        </a:spcBef>
                        <a:spcAft>
                          <a:spcPts val="0"/>
                        </a:spcAft>
                        <a:buNone/>
                      </a:pPr>
                      <a:r>
                        <a:rPr lang="en-US" sz="1400"/>
                        <a:t>դաս. </a:t>
                      </a:r>
                      <a:endParaRPr sz="1800"/>
                    </a:p>
                  </a:txBody>
                  <a:tcPr marT="0" marB="0" marR="0" marL="0" anchor="ctr"/>
                </a:tc>
              </a:tr>
              <a:tr h="1388175">
                <a:tc>
                  <a:txBody>
                    <a:bodyPr/>
                    <a:lstStyle/>
                    <a:p>
                      <a:pPr indent="0" lvl="0" marL="0" marR="0" rtl="0" algn="ctr">
                        <a:spcBef>
                          <a:spcPts val="0"/>
                        </a:spcBef>
                        <a:spcAft>
                          <a:spcPts val="0"/>
                        </a:spcAft>
                        <a:buNone/>
                      </a:pPr>
                      <a:r>
                        <a:rPr lang="en-US" sz="1200">
                          <a:solidFill>
                            <a:schemeClr val="dk1"/>
                          </a:solidFill>
                        </a:rPr>
                        <a:t>16 աշ.</a:t>
                      </a:r>
                      <a:endParaRPr sz="1200">
                        <a:solidFill>
                          <a:schemeClr val="dk1"/>
                        </a:solidFill>
                      </a:endParaRPr>
                    </a:p>
                    <a:p>
                      <a:pPr indent="0" lvl="0" marL="0" marR="0" rtl="0" algn="ctr">
                        <a:spcBef>
                          <a:spcPts val="0"/>
                        </a:spcBef>
                        <a:spcAft>
                          <a:spcPts val="0"/>
                        </a:spcAft>
                        <a:buClr>
                          <a:schemeClr val="dk1"/>
                        </a:buClr>
                        <a:buSzPts val="1200"/>
                        <a:buFont typeface="Century Gothic"/>
                        <a:buNone/>
                      </a:pPr>
                      <a:r>
                        <a:rPr lang="en-US" sz="1200">
                          <a:solidFill>
                            <a:schemeClr val="dk1"/>
                          </a:solidFill>
                        </a:rPr>
                        <a:t>3,9%</a:t>
                      </a:r>
                      <a:endParaRPr sz="1200">
                        <a:solidFill>
                          <a:schemeClr val="dk1"/>
                        </a:solidFill>
                      </a:endParaRPr>
                    </a:p>
                  </a:txBody>
                  <a:tcPr marT="0" marB="0" marR="0" marL="0" anchor="ctr">
                    <a:solidFill>
                      <a:srgbClr val="E9EEDA"/>
                    </a:solidFill>
                  </a:tcPr>
                </a:tc>
              </a:tr>
              <a:tr h="1172150">
                <a:tc>
                  <a:txBody>
                    <a:bodyPr/>
                    <a:lstStyle/>
                    <a:p>
                      <a:pPr indent="0" lvl="0" marL="0" marR="0" rtl="0" algn="ctr">
                        <a:spcBef>
                          <a:spcPts val="0"/>
                        </a:spcBef>
                        <a:spcAft>
                          <a:spcPts val="0"/>
                        </a:spcAft>
                        <a:buNone/>
                      </a:pPr>
                      <a:r>
                        <a:rPr lang="en-US" sz="1200">
                          <a:solidFill>
                            <a:schemeClr val="dk1"/>
                          </a:solidFill>
                        </a:rPr>
                        <a:t>6 աշ.</a:t>
                      </a:r>
                      <a:endParaRPr sz="1200">
                        <a:solidFill>
                          <a:schemeClr val="dk1"/>
                        </a:solidFill>
                      </a:endParaRPr>
                    </a:p>
                    <a:p>
                      <a:pPr indent="0" lvl="0" marL="0" marR="0" rtl="0" algn="ctr">
                        <a:spcBef>
                          <a:spcPts val="0"/>
                        </a:spcBef>
                        <a:spcAft>
                          <a:spcPts val="0"/>
                        </a:spcAft>
                        <a:buClr>
                          <a:schemeClr val="dk1"/>
                        </a:buClr>
                        <a:buSzPts val="1200"/>
                        <a:buFont typeface="Century Gothic"/>
                        <a:buNone/>
                      </a:pPr>
                      <a:r>
                        <a:rPr lang="en-US" sz="1200">
                          <a:solidFill>
                            <a:schemeClr val="dk1"/>
                          </a:solidFill>
                        </a:rPr>
                        <a:t>1,4%</a:t>
                      </a:r>
                      <a:endParaRPr sz="1200">
                        <a:solidFill>
                          <a:schemeClr val="dk1"/>
                        </a:solidFill>
                      </a:endParaRPr>
                    </a:p>
                  </a:txBody>
                  <a:tcPr marT="0" marB="0" marR="0" marL="0" anchor="ctr">
                    <a:solidFill>
                      <a:srgbClr val="E9EEDA"/>
                    </a:solidFill>
                  </a:tcPr>
                </a:tc>
              </a:tr>
              <a:tr h="802025">
                <a:tc>
                  <a:txBody>
                    <a:bodyPr/>
                    <a:lstStyle/>
                    <a:p>
                      <a:pPr indent="0" lvl="0" marL="0" marR="0" rtl="0" algn="ctr">
                        <a:spcBef>
                          <a:spcPts val="0"/>
                        </a:spcBef>
                        <a:spcAft>
                          <a:spcPts val="0"/>
                        </a:spcAft>
                        <a:buNone/>
                      </a:pPr>
                      <a:r>
                        <a:rPr lang="en-US" sz="1200">
                          <a:solidFill>
                            <a:schemeClr val="dk1"/>
                          </a:solidFill>
                        </a:rPr>
                        <a:t>10 աշ.</a:t>
                      </a:r>
                      <a:endParaRPr sz="1200">
                        <a:solidFill>
                          <a:schemeClr val="dk1"/>
                        </a:solidFill>
                      </a:endParaRPr>
                    </a:p>
                    <a:p>
                      <a:pPr indent="0" lvl="0" marL="0" marR="0" rtl="0" algn="ctr">
                        <a:spcBef>
                          <a:spcPts val="0"/>
                        </a:spcBef>
                        <a:spcAft>
                          <a:spcPts val="0"/>
                        </a:spcAft>
                        <a:buClr>
                          <a:schemeClr val="dk1"/>
                        </a:buClr>
                        <a:buSzPts val="1200"/>
                        <a:buFont typeface="Century Gothic"/>
                        <a:buNone/>
                      </a:pPr>
                      <a:r>
                        <a:rPr lang="en-US" sz="1200">
                          <a:solidFill>
                            <a:schemeClr val="dk1"/>
                          </a:solidFill>
                        </a:rPr>
                        <a:t>2,4%</a:t>
                      </a:r>
                      <a:endParaRPr sz="1200">
                        <a:solidFill>
                          <a:schemeClr val="dk1"/>
                        </a:solidFill>
                      </a:endParaRPr>
                    </a:p>
                  </a:txBody>
                  <a:tcPr marT="0" marB="0" marR="0" marL="0" anchor="ctr">
                    <a:solidFill>
                      <a:srgbClr val="E9EEDA"/>
                    </a:solidFill>
                  </a:tcPr>
                </a:tc>
              </a:tr>
              <a:tr h="694100">
                <a:tc>
                  <a:txBody>
                    <a:bodyPr/>
                    <a:lstStyle/>
                    <a:p>
                      <a:pPr indent="0" lvl="0" marL="0" marR="0" rtl="0" algn="ctr">
                        <a:spcBef>
                          <a:spcPts val="0"/>
                        </a:spcBef>
                        <a:spcAft>
                          <a:spcPts val="0"/>
                        </a:spcAft>
                        <a:buNone/>
                      </a:pPr>
                      <a:r>
                        <a:rPr lang="en-US" sz="1200"/>
                        <a:t>-</a:t>
                      </a:r>
                      <a:endParaRPr sz="1200"/>
                    </a:p>
                  </a:txBody>
                  <a:tcPr marT="0" marB="0" marR="0" marL="0" anchor="ctr">
                    <a:solidFill>
                      <a:srgbClr val="E9EEDA"/>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p54"/>
          <p:cNvPicPr preferRelativeResize="0"/>
          <p:nvPr/>
        </p:nvPicPr>
        <p:blipFill rotWithShape="1">
          <a:blip r:embed="rId3">
            <a:alphaModFix/>
          </a:blip>
          <a:srcRect b="0" l="0" r="0" t="0"/>
          <a:stretch/>
        </p:blipFill>
        <p:spPr>
          <a:xfrm>
            <a:off x="201613" y="177800"/>
            <a:ext cx="9172892" cy="885345"/>
          </a:xfrm>
          <a:prstGeom prst="rect">
            <a:avLst/>
          </a:prstGeom>
          <a:noFill/>
          <a:ln>
            <a:noFill/>
          </a:ln>
        </p:spPr>
      </p:pic>
      <p:graphicFrame>
        <p:nvGraphicFramePr>
          <p:cNvPr id="442" name="Google Shape;442;p54"/>
          <p:cNvGraphicFramePr/>
          <p:nvPr/>
        </p:nvGraphicFramePr>
        <p:xfrm>
          <a:off x="1073247" y="1190203"/>
          <a:ext cx="3000000" cy="3000000"/>
        </p:xfrm>
        <a:graphic>
          <a:graphicData uri="http://schemas.openxmlformats.org/drawingml/2006/table">
            <a:tbl>
              <a:tblPr>
                <a:noFill/>
                <a:tableStyleId>{40B977D2-3903-41EF-8714-5AC59086702B}</a:tableStyleId>
              </a:tblPr>
              <a:tblGrid>
                <a:gridCol w="5428225"/>
                <a:gridCol w="1135225"/>
                <a:gridCol w="1135225"/>
                <a:gridCol w="1135225"/>
              </a:tblGrid>
              <a:tr h="685300">
                <a:tc>
                  <a:txBody>
                    <a:bodyPr/>
                    <a:lstStyle/>
                    <a:p>
                      <a:pPr indent="0" lvl="0" marL="0" marR="0" rtl="0" algn="ctr">
                        <a:lnSpc>
                          <a:spcPct val="150000"/>
                        </a:lnSpc>
                        <a:spcBef>
                          <a:spcPts val="0"/>
                        </a:spcBef>
                        <a:spcAft>
                          <a:spcPts val="0"/>
                        </a:spcAft>
                        <a:buNone/>
                      </a:pPr>
                      <a:r>
                        <a:rPr lang="en-US" sz="1200"/>
                        <a:t>Ցուցանիշ </a:t>
                      </a:r>
                      <a:endParaRPr sz="1800"/>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2023-2024 </a:t>
                      </a:r>
                      <a:endParaRPr sz="1800"/>
                    </a:p>
                    <a:p>
                      <a:pPr indent="0" lvl="0" marL="0" marR="0" rtl="0" algn="ctr">
                        <a:lnSpc>
                          <a:spcPct val="150000"/>
                        </a:lnSpc>
                        <a:spcBef>
                          <a:spcPts val="0"/>
                        </a:spcBef>
                        <a:spcAft>
                          <a:spcPts val="0"/>
                        </a:spcAft>
                        <a:buClr>
                          <a:schemeClr val="dk1"/>
                        </a:buClr>
                        <a:buSzPts val="1200"/>
                        <a:buFont typeface="Century Gothic"/>
                        <a:buNone/>
                      </a:pPr>
                      <a:r>
                        <a:rPr lang="en-US" sz="1200"/>
                        <a:t> ուստարի </a:t>
                      </a:r>
                      <a:endParaRPr sz="1800"/>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2024-2025 </a:t>
                      </a:r>
                      <a:endParaRPr sz="1800"/>
                    </a:p>
                    <a:p>
                      <a:pPr indent="0" lvl="0" marL="0" marR="0" rtl="0" algn="ctr">
                        <a:lnSpc>
                          <a:spcPct val="150000"/>
                        </a:lnSpc>
                        <a:spcBef>
                          <a:spcPts val="0"/>
                        </a:spcBef>
                        <a:spcAft>
                          <a:spcPts val="0"/>
                        </a:spcAft>
                        <a:buClr>
                          <a:schemeClr val="dk1"/>
                        </a:buClr>
                        <a:buSzPts val="1200"/>
                        <a:buFont typeface="Century Gothic"/>
                        <a:buNone/>
                      </a:pPr>
                      <a:r>
                        <a:rPr lang="en-US" sz="1200"/>
                        <a:t> ուստարի </a:t>
                      </a:r>
                      <a:endParaRPr sz="1800"/>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2025-2026 </a:t>
                      </a:r>
                      <a:endParaRPr sz="1800"/>
                    </a:p>
                    <a:p>
                      <a:pPr indent="0" lvl="0" marL="0" marR="0" rtl="0" algn="ctr">
                        <a:lnSpc>
                          <a:spcPct val="150000"/>
                        </a:lnSpc>
                        <a:spcBef>
                          <a:spcPts val="0"/>
                        </a:spcBef>
                        <a:spcAft>
                          <a:spcPts val="0"/>
                        </a:spcAft>
                        <a:buClr>
                          <a:schemeClr val="dk1"/>
                        </a:buClr>
                        <a:buSzPts val="1200"/>
                        <a:buFont typeface="Century Gothic"/>
                        <a:buNone/>
                      </a:pPr>
                      <a:r>
                        <a:rPr lang="en-US" sz="1200"/>
                        <a:t> ուստարի </a:t>
                      </a:r>
                      <a:endParaRPr sz="1800"/>
                    </a:p>
                  </a:txBody>
                  <a:tcPr marT="0" marB="0" marR="0" marL="0" anchor="ctr"/>
                </a:tc>
              </a:tr>
              <a:tr h="654650">
                <a:tc>
                  <a:txBody>
                    <a:bodyPr/>
                    <a:lstStyle/>
                    <a:p>
                      <a:pPr indent="0" lvl="0" marL="0" marR="0" rtl="0" algn="l">
                        <a:lnSpc>
                          <a:spcPct val="150000"/>
                        </a:lnSpc>
                        <a:spcBef>
                          <a:spcPts val="0"/>
                        </a:spcBef>
                        <a:spcAft>
                          <a:spcPts val="0"/>
                        </a:spcAft>
                        <a:buNone/>
                      </a:pPr>
                      <a:r>
                        <a:rPr lang="en-US" sz="1200"/>
                        <a:t>Մարզային առարկայական օլիմպիադաների մասնակիցների թիվը և տոկոսը՝ հաստատության սովորողների ընդհանուր թվի համեմատ </a:t>
                      </a:r>
                      <a:endParaRPr sz="1800"/>
                    </a:p>
                  </a:txBody>
                  <a:tcPr marT="0" marB="0" marR="0" marL="0" anchor="ctr"/>
                </a:tc>
                <a:tc>
                  <a:txBody>
                    <a:bodyPr/>
                    <a:lstStyle/>
                    <a:p>
                      <a:pPr indent="0" lvl="0" marL="0" marR="0" rtl="0" algn="ctr">
                        <a:spcBef>
                          <a:spcPts val="0"/>
                        </a:spcBef>
                        <a:spcAft>
                          <a:spcPts val="0"/>
                        </a:spcAft>
                        <a:buNone/>
                      </a:pPr>
                      <a:r>
                        <a:rPr lang="en-US" sz="1200"/>
                        <a:t>7 աշ. </a:t>
                      </a:r>
                      <a:endParaRPr/>
                    </a:p>
                    <a:p>
                      <a:pPr indent="0" lvl="0" marL="0" marR="0" rtl="0" algn="ctr">
                        <a:spcBef>
                          <a:spcPts val="0"/>
                        </a:spcBef>
                        <a:spcAft>
                          <a:spcPts val="0"/>
                        </a:spcAft>
                        <a:buNone/>
                      </a:pPr>
                      <a:r>
                        <a:rPr lang="en-US" sz="1200"/>
                        <a:t>0,5%</a:t>
                      </a:r>
                      <a:endParaRPr sz="1200"/>
                    </a:p>
                  </a:txBody>
                  <a:tcPr marT="0" marB="0" marR="0" marL="0" anchor="ctr"/>
                </a:tc>
                <a:tc>
                  <a:txBody>
                    <a:bodyPr/>
                    <a:lstStyle/>
                    <a:p>
                      <a:pPr indent="0" lvl="0" marL="0" marR="0" rtl="0" algn="ctr">
                        <a:spcBef>
                          <a:spcPts val="0"/>
                        </a:spcBef>
                        <a:spcAft>
                          <a:spcPts val="0"/>
                        </a:spcAft>
                        <a:buNone/>
                      </a:pPr>
                      <a:r>
                        <a:rPr lang="en-US" sz="1200"/>
                        <a:t>3 աշ. </a:t>
                      </a:r>
                      <a:endParaRPr/>
                    </a:p>
                    <a:p>
                      <a:pPr indent="0" lvl="0" marL="0" marR="0" rtl="0" algn="ctr">
                        <a:spcBef>
                          <a:spcPts val="0"/>
                        </a:spcBef>
                        <a:spcAft>
                          <a:spcPts val="0"/>
                        </a:spcAft>
                        <a:buNone/>
                      </a:pPr>
                      <a:r>
                        <a:rPr lang="en-US" sz="1200"/>
                        <a:t>0,7%</a:t>
                      </a:r>
                      <a:endParaRPr sz="1200"/>
                    </a:p>
                  </a:txBody>
                  <a:tcPr marT="0" marB="0" marR="0" marL="0" anchor="ctr"/>
                </a:tc>
                <a:tc>
                  <a:txBody>
                    <a:bodyPr/>
                    <a:lstStyle/>
                    <a:p>
                      <a:pPr indent="0" lvl="0" marL="0" marR="0" rtl="0" algn="ctr">
                        <a:spcBef>
                          <a:spcPts val="0"/>
                        </a:spcBef>
                        <a:spcAft>
                          <a:spcPts val="0"/>
                        </a:spcAft>
                        <a:buNone/>
                      </a:pPr>
                      <a:r>
                        <a:rPr lang="en-US" sz="1200"/>
                        <a:t>14 աշ. </a:t>
                      </a:r>
                      <a:endParaRPr/>
                    </a:p>
                    <a:p>
                      <a:pPr indent="0" lvl="0" marL="0" marR="0" rtl="0" algn="ctr">
                        <a:spcBef>
                          <a:spcPts val="0"/>
                        </a:spcBef>
                        <a:spcAft>
                          <a:spcPts val="0"/>
                        </a:spcAft>
                        <a:buNone/>
                      </a:pPr>
                      <a:r>
                        <a:rPr lang="en-US" sz="1200"/>
                        <a:t>3,4%</a:t>
                      </a:r>
                      <a:endParaRPr sz="1200"/>
                    </a:p>
                  </a:txBody>
                  <a:tcPr marT="0" marB="0" marR="0" marL="0" anchor="ctr"/>
                </a:tc>
              </a:tr>
              <a:tr h="513975">
                <a:tc>
                  <a:txBody>
                    <a:bodyPr/>
                    <a:lstStyle/>
                    <a:p>
                      <a:pPr indent="0" lvl="0" marL="0" marR="0" rtl="0" algn="l">
                        <a:lnSpc>
                          <a:spcPct val="150000"/>
                        </a:lnSpc>
                        <a:spcBef>
                          <a:spcPts val="0"/>
                        </a:spcBef>
                        <a:spcAft>
                          <a:spcPts val="0"/>
                        </a:spcAft>
                        <a:buNone/>
                      </a:pPr>
                      <a:r>
                        <a:rPr lang="en-US" sz="1200"/>
                        <a:t>Մարզային առարկայական օլիմպիադաներին մրցանակներ ստացած սովորողների թիվը և տոկոսը </a:t>
                      </a:r>
                      <a:endParaRPr sz="1800"/>
                    </a:p>
                  </a:txBody>
                  <a:tcPr marT="0" marB="0" marR="0" marL="0" anchor="ctr"/>
                </a:tc>
                <a:tc>
                  <a:txBody>
                    <a:bodyPr/>
                    <a:lstStyle/>
                    <a:p>
                      <a:pPr indent="0" lvl="0" marL="0" marR="0" rtl="0" algn="ctr">
                        <a:spcBef>
                          <a:spcPts val="0"/>
                        </a:spcBef>
                        <a:spcAft>
                          <a:spcPts val="0"/>
                        </a:spcAft>
                        <a:buClr>
                          <a:schemeClr val="dk1"/>
                        </a:buClr>
                        <a:buSzPts val="1200"/>
                        <a:buFont typeface="Century Gothic"/>
                        <a:buNone/>
                      </a:pPr>
                      <a:r>
                        <a:rPr lang="en-US" sz="1200"/>
                        <a:t>1 աշ.</a:t>
                      </a:r>
                      <a:endParaRPr/>
                    </a:p>
                    <a:p>
                      <a:pPr indent="0" lvl="0" marL="0" marR="0" rtl="0" algn="ctr">
                        <a:spcBef>
                          <a:spcPts val="0"/>
                        </a:spcBef>
                        <a:spcAft>
                          <a:spcPts val="0"/>
                        </a:spcAft>
                        <a:buClr>
                          <a:schemeClr val="dk1"/>
                        </a:buClr>
                        <a:buSzPts val="1200"/>
                        <a:buFont typeface="Century Gothic"/>
                        <a:buNone/>
                      </a:pPr>
                      <a:r>
                        <a:rPr lang="en-US" sz="1200"/>
                        <a:t>0,2%</a:t>
                      </a:r>
                      <a:endParaRPr sz="1200"/>
                    </a:p>
                  </a:txBody>
                  <a:tcPr marT="0" marB="0" marR="0" marL="0" anchor="ctr"/>
                </a:tc>
                <a:tc>
                  <a:txBody>
                    <a:bodyPr/>
                    <a:lstStyle/>
                    <a:p>
                      <a:pPr indent="0" lvl="0" marL="0" marR="0" rtl="0" algn="ctr">
                        <a:spcBef>
                          <a:spcPts val="0"/>
                        </a:spcBef>
                        <a:spcAft>
                          <a:spcPts val="0"/>
                        </a:spcAft>
                        <a:buNone/>
                      </a:pPr>
                      <a:r>
                        <a:rPr lang="en-US" sz="1200"/>
                        <a:t>-</a:t>
                      </a:r>
                      <a:endParaRPr sz="1200"/>
                    </a:p>
                  </a:txBody>
                  <a:tcPr marT="0" marB="0" marR="0" marL="0" anchor="ctr"/>
                </a:tc>
                <a:tc>
                  <a:txBody>
                    <a:bodyPr/>
                    <a:lstStyle/>
                    <a:p>
                      <a:pPr indent="0" lvl="0" marL="0" marR="0" rtl="0" algn="ctr">
                        <a:spcBef>
                          <a:spcPts val="0"/>
                        </a:spcBef>
                        <a:spcAft>
                          <a:spcPts val="0"/>
                        </a:spcAft>
                        <a:buNone/>
                      </a:pPr>
                      <a:r>
                        <a:rPr lang="en-US" sz="1200"/>
                        <a:t>-</a:t>
                      </a:r>
                      <a:endParaRPr sz="1200"/>
                    </a:p>
                  </a:txBody>
                  <a:tcPr marT="0" marB="0" marR="0" marL="0" anchor="ctr"/>
                </a:tc>
              </a:tr>
              <a:tr h="685300">
                <a:tc>
                  <a:txBody>
                    <a:bodyPr/>
                    <a:lstStyle/>
                    <a:p>
                      <a:pPr indent="0" lvl="0" marL="0" marR="0" rtl="0" algn="l">
                        <a:lnSpc>
                          <a:spcPct val="150000"/>
                        </a:lnSpc>
                        <a:spcBef>
                          <a:spcPts val="0"/>
                        </a:spcBef>
                        <a:spcAft>
                          <a:spcPts val="0"/>
                        </a:spcAft>
                        <a:buNone/>
                      </a:pPr>
                      <a:r>
                        <a:rPr lang="en-US" sz="1200"/>
                        <a:t>Հանրապետական առարկայական օլիմպիադաների մասնակիցների թիվը և տոկոսը՝ հաստատության սովորողների ընդհանուր թվի համեմատ </a:t>
                      </a:r>
                      <a:endParaRPr sz="1800"/>
                    </a:p>
                  </a:txBody>
                  <a:tcPr marT="0" marB="0" marR="0" marL="0" anchor="ctr"/>
                </a:tc>
                <a:tc>
                  <a:txBody>
                    <a:bodyPr/>
                    <a:lstStyle/>
                    <a:p>
                      <a:pPr indent="0" lvl="0" marL="0" marR="0" rtl="0" algn="ctr">
                        <a:spcBef>
                          <a:spcPts val="0"/>
                        </a:spcBef>
                        <a:spcAft>
                          <a:spcPts val="0"/>
                        </a:spcAft>
                        <a:buClr>
                          <a:schemeClr val="dk1"/>
                        </a:buClr>
                        <a:buSzPts val="1200"/>
                        <a:buFont typeface="Century Gothic"/>
                        <a:buNone/>
                      </a:pPr>
                      <a:r>
                        <a:rPr lang="en-US" sz="1200"/>
                        <a:t>1 աշ.</a:t>
                      </a:r>
                      <a:endParaRPr/>
                    </a:p>
                    <a:p>
                      <a:pPr indent="0" lvl="0" marL="0" marR="0" rtl="0" algn="ctr">
                        <a:spcBef>
                          <a:spcPts val="0"/>
                        </a:spcBef>
                        <a:spcAft>
                          <a:spcPts val="0"/>
                        </a:spcAft>
                        <a:buClr>
                          <a:schemeClr val="dk1"/>
                        </a:buClr>
                        <a:buSzPts val="1200"/>
                        <a:buFont typeface="Century Gothic"/>
                        <a:buNone/>
                      </a:pPr>
                      <a:r>
                        <a:rPr lang="en-US" sz="1200"/>
                        <a:t>0,2%</a:t>
                      </a:r>
                      <a:endParaRPr sz="1200"/>
                    </a:p>
                  </a:txBody>
                  <a:tcPr marT="0" marB="0" marR="0" marL="0" anchor="ctr"/>
                </a:tc>
                <a:tc>
                  <a:txBody>
                    <a:bodyPr/>
                    <a:lstStyle/>
                    <a:p>
                      <a:pPr indent="0" lvl="0" marL="0" marR="0" rtl="0" algn="ctr">
                        <a:spcBef>
                          <a:spcPts val="0"/>
                        </a:spcBef>
                        <a:spcAft>
                          <a:spcPts val="0"/>
                        </a:spcAft>
                        <a:buClr>
                          <a:schemeClr val="dk1"/>
                        </a:buClr>
                        <a:buSzPts val="1200"/>
                        <a:buFont typeface="Century Gothic"/>
                        <a:buNone/>
                      </a:pPr>
                      <a:r>
                        <a:rPr lang="en-US" sz="1200"/>
                        <a:t>1 աշ.</a:t>
                      </a:r>
                      <a:endParaRPr/>
                    </a:p>
                    <a:p>
                      <a:pPr indent="0" lvl="0" marL="0" marR="0" rtl="0" algn="ctr">
                        <a:spcBef>
                          <a:spcPts val="0"/>
                        </a:spcBef>
                        <a:spcAft>
                          <a:spcPts val="0"/>
                        </a:spcAft>
                        <a:buClr>
                          <a:schemeClr val="dk1"/>
                        </a:buClr>
                        <a:buSzPts val="1200"/>
                        <a:buFont typeface="Century Gothic"/>
                        <a:buNone/>
                      </a:pPr>
                      <a:r>
                        <a:rPr lang="en-US" sz="1200"/>
                        <a:t>0,2%</a:t>
                      </a:r>
                      <a:endParaRPr sz="1200"/>
                    </a:p>
                  </a:txBody>
                  <a:tcPr marT="0" marB="0" marR="0" marL="0" anchor="ctr"/>
                </a:tc>
                <a:tc>
                  <a:txBody>
                    <a:bodyPr/>
                    <a:lstStyle/>
                    <a:p>
                      <a:pPr indent="0" lvl="0" marL="0" marR="0" rtl="0" algn="ctr">
                        <a:spcBef>
                          <a:spcPts val="0"/>
                        </a:spcBef>
                        <a:spcAft>
                          <a:spcPts val="0"/>
                        </a:spcAft>
                        <a:buClr>
                          <a:schemeClr val="dk1"/>
                        </a:buClr>
                        <a:buSzPts val="1200"/>
                        <a:buFont typeface="Century Gothic"/>
                        <a:buNone/>
                      </a:pPr>
                      <a:r>
                        <a:rPr lang="en-US" sz="1200"/>
                        <a:t>5 աշ.</a:t>
                      </a:r>
                      <a:endParaRPr/>
                    </a:p>
                    <a:p>
                      <a:pPr indent="0" lvl="0" marL="0" marR="0" rtl="0" algn="ctr">
                        <a:spcBef>
                          <a:spcPts val="0"/>
                        </a:spcBef>
                        <a:spcAft>
                          <a:spcPts val="0"/>
                        </a:spcAft>
                        <a:buClr>
                          <a:schemeClr val="dk1"/>
                        </a:buClr>
                        <a:buSzPts val="1200"/>
                        <a:buFont typeface="Century Gothic"/>
                        <a:buNone/>
                      </a:pPr>
                      <a:r>
                        <a:rPr lang="en-US" sz="1200"/>
                        <a:t>1,2%</a:t>
                      </a:r>
                      <a:endParaRPr sz="1200"/>
                    </a:p>
                  </a:txBody>
                  <a:tcPr marT="0" marB="0" marR="0" marL="0" anchor="ctr"/>
                </a:tc>
              </a:tr>
              <a:tr h="532725">
                <a:tc>
                  <a:txBody>
                    <a:bodyPr/>
                    <a:lstStyle/>
                    <a:p>
                      <a:pPr indent="0" lvl="0" marL="0" marR="0" rtl="0" algn="l">
                        <a:lnSpc>
                          <a:spcPct val="150000"/>
                        </a:lnSpc>
                        <a:spcBef>
                          <a:spcPts val="0"/>
                        </a:spcBef>
                        <a:spcAft>
                          <a:spcPts val="0"/>
                        </a:spcAft>
                        <a:buNone/>
                      </a:pPr>
                      <a:r>
                        <a:rPr lang="en-US" sz="1200"/>
                        <a:t>Հանրապետական առարկայական օլիմպիադաներին մրցանակներ ստացած սովորողների թիվը և տոկոսը </a:t>
                      </a:r>
                      <a:endParaRPr sz="1800"/>
                    </a:p>
                  </a:txBody>
                  <a:tcPr marT="0" marB="0" marR="0" marL="0" anchor="ctr"/>
                </a:tc>
                <a:tc>
                  <a:txBody>
                    <a:bodyPr/>
                    <a:lstStyle/>
                    <a:p>
                      <a:pPr indent="0" lvl="0" marL="0" marR="0" rtl="0" algn="ctr">
                        <a:spcBef>
                          <a:spcPts val="0"/>
                        </a:spcBef>
                        <a:spcAft>
                          <a:spcPts val="0"/>
                        </a:spcAft>
                        <a:buNone/>
                      </a:pPr>
                      <a:r>
                        <a:t/>
                      </a:r>
                      <a:endParaRPr sz="1200"/>
                    </a:p>
                  </a:txBody>
                  <a:tcPr marT="0" marB="0" marR="0" marL="0" anchor="ctr"/>
                </a:tc>
                <a:tc>
                  <a:txBody>
                    <a:bodyPr/>
                    <a:lstStyle/>
                    <a:p>
                      <a:pPr indent="0" lvl="0" marL="0" marR="0" rtl="0" algn="ctr">
                        <a:spcBef>
                          <a:spcPts val="0"/>
                        </a:spcBef>
                        <a:spcAft>
                          <a:spcPts val="0"/>
                        </a:spcAft>
                        <a:buNone/>
                      </a:pPr>
                      <a:r>
                        <a:rPr lang="en-US" sz="1200"/>
                        <a:t>-</a:t>
                      </a:r>
                      <a:endParaRPr sz="1200"/>
                    </a:p>
                  </a:txBody>
                  <a:tcPr marT="0" marB="0" marR="0" marL="0" anchor="ctr"/>
                </a:tc>
                <a:tc>
                  <a:txBody>
                    <a:bodyPr/>
                    <a:lstStyle/>
                    <a:p>
                      <a:pPr indent="0" lvl="0" marL="0" marR="0" rtl="0" algn="l">
                        <a:lnSpc>
                          <a:spcPct val="107000"/>
                        </a:lnSpc>
                        <a:spcBef>
                          <a:spcPts val="0"/>
                        </a:spcBef>
                        <a:spcAft>
                          <a:spcPts val="0"/>
                        </a:spcAft>
                        <a:buClr>
                          <a:schemeClr val="dk1"/>
                        </a:buClr>
                        <a:buSzPts val="1100"/>
                        <a:buFont typeface="Merriweather"/>
                        <a:buNone/>
                      </a:pPr>
                      <a:r>
                        <a:rPr b="0" lang="en-US" sz="1100">
                          <a:latin typeface="Merriweather"/>
                          <a:ea typeface="Merriweather"/>
                          <a:cs typeface="Merriweather"/>
                          <a:sym typeface="Merriweather"/>
                        </a:rPr>
                        <a:t>         2 աշ․</a:t>
                      </a:r>
                      <a:endParaRPr/>
                    </a:p>
                    <a:p>
                      <a:pPr indent="0" lvl="0" marL="0" marR="0" rtl="0" algn="l">
                        <a:lnSpc>
                          <a:spcPct val="107000"/>
                        </a:lnSpc>
                        <a:spcBef>
                          <a:spcPts val="0"/>
                        </a:spcBef>
                        <a:spcAft>
                          <a:spcPts val="0"/>
                        </a:spcAft>
                        <a:buClr>
                          <a:schemeClr val="dk1"/>
                        </a:buClr>
                        <a:buSzPts val="1100"/>
                        <a:buFont typeface="Merriweather"/>
                        <a:buNone/>
                      </a:pPr>
                      <a:r>
                        <a:rPr b="0" lang="en-US" sz="1100">
                          <a:latin typeface="Merriweather"/>
                          <a:ea typeface="Merriweather"/>
                          <a:cs typeface="Merriweather"/>
                          <a:sym typeface="Merriweather"/>
                        </a:rPr>
                        <a:t>          0,4</a:t>
                      </a:r>
                      <a:r>
                        <a:rPr lang="en-US" sz="1100"/>
                        <a:t>%</a:t>
                      </a:r>
                      <a:endParaRPr b="0" sz="1100">
                        <a:latin typeface="Calibri"/>
                        <a:ea typeface="Calibri"/>
                        <a:cs typeface="Calibri"/>
                        <a:sym typeface="Calibri"/>
                      </a:endParaRPr>
                    </a:p>
                  </a:txBody>
                  <a:tcPr marT="0" marB="0" marR="68575" marL="68575"/>
                </a:tc>
              </a:tr>
              <a:tr h="685300">
                <a:tc>
                  <a:txBody>
                    <a:bodyPr/>
                    <a:lstStyle/>
                    <a:p>
                      <a:pPr indent="0" lvl="0" marL="0" marR="0" rtl="0" algn="l">
                        <a:lnSpc>
                          <a:spcPct val="150000"/>
                        </a:lnSpc>
                        <a:spcBef>
                          <a:spcPts val="0"/>
                        </a:spcBef>
                        <a:spcAft>
                          <a:spcPts val="0"/>
                        </a:spcAft>
                        <a:buNone/>
                      </a:pPr>
                      <a:r>
                        <a:rPr lang="en-US" sz="1200"/>
                        <a:t>Միջազգային առարկայական օլիմպիադաների մասնակիցների թիվը և տոկոսը՝ հաստատության սովորողների ընդհանուր թվի համեմատ </a:t>
                      </a:r>
                      <a:endParaRPr sz="1800"/>
                    </a:p>
                  </a:txBody>
                  <a:tcPr marT="0" marB="0" marR="0" marL="0" anchor="ctr"/>
                </a:tc>
                <a:tc>
                  <a:txBody>
                    <a:bodyPr/>
                    <a:lstStyle/>
                    <a:p>
                      <a:pPr indent="0" lvl="0" marL="0" marR="0" rtl="0" algn="ctr">
                        <a:spcBef>
                          <a:spcPts val="0"/>
                        </a:spcBef>
                        <a:spcAft>
                          <a:spcPts val="0"/>
                        </a:spcAft>
                        <a:buNone/>
                      </a:pPr>
                      <a:r>
                        <a:rPr lang="en-US" sz="1800"/>
                        <a:t>-</a:t>
                      </a:r>
                      <a:endParaRPr/>
                    </a:p>
                  </a:txBody>
                  <a:tcPr marT="0" marB="0" marR="0" marL="0" anchor="ctr"/>
                </a:tc>
                <a:tc>
                  <a:txBody>
                    <a:bodyPr/>
                    <a:lstStyle/>
                    <a:p>
                      <a:pPr indent="0" lvl="0" marL="0" marR="0" rtl="0" algn="ctr">
                        <a:spcBef>
                          <a:spcPts val="0"/>
                        </a:spcBef>
                        <a:spcAft>
                          <a:spcPts val="0"/>
                        </a:spcAft>
                        <a:buNone/>
                      </a:pPr>
                      <a:r>
                        <a:rPr lang="en-US" sz="1800"/>
                        <a:t>-</a:t>
                      </a:r>
                      <a:endParaRPr/>
                    </a:p>
                  </a:txBody>
                  <a:tcPr marT="0" marB="0" marR="0" marL="0" anchor="ctr"/>
                </a:tc>
                <a:tc>
                  <a:txBody>
                    <a:bodyPr/>
                    <a:lstStyle/>
                    <a:p>
                      <a:pPr indent="0" lvl="0" marL="0" marR="0" rtl="0" algn="l">
                        <a:lnSpc>
                          <a:spcPct val="107000"/>
                        </a:lnSpc>
                        <a:spcBef>
                          <a:spcPts val="0"/>
                        </a:spcBef>
                        <a:spcAft>
                          <a:spcPts val="0"/>
                        </a:spcAft>
                        <a:buNone/>
                      </a:pPr>
                      <a:r>
                        <a:rPr lang="en-US" sz="1100">
                          <a:latin typeface="Calibri"/>
                          <a:ea typeface="Calibri"/>
                          <a:cs typeface="Calibri"/>
                          <a:sym typeface="Calibri"/>
                        </a:rPr>
                        <a:t>           1 աշ․</a:t>
                      </a:r>
                      <a:endParaRPr/>
                    </a:p>
                    <a:p>
                      <a:pPr indent="0" lvl="0" marL="0" marR="0" rtl="0" algn="l">
                        <a:lnSpc>
                          <a:spcPct val="107000"/>
                        </a:lnSpc>
                        <a:spcBef>
                          <a:spcPts val="0"/>
                        </a:spcBef>
                        <a:spcAft>
                          <a:spcPts val="0"/>
                        </a:spcAft>
                        <a:buNone/>
                      </a:pPr>
                      <a:r>
                        <a:rPr lang="en-US" sz="1100">
                          <a:latin typeface="Calibri"/>
                          <a:ea typeface="Calibri"/>
                          <a:cs typeface="Calibri"/>
                          <a:sym typeface="Calibri"/>
                        </a:rPr>
                        <a:t>           0․2 </a:t>
                      </a:r>
                      <a:r>
                        <a:rPr lang="en-US" sz="1100"/>
                        <a:t>%</a:t>
                      </a:r>
                      <a:endParaRPr sz="1100">
                        <a:latin typeface="Calibri"/>
                        <a:ea typeface="Calibri"/>
                        <a:cs typeface="Calibri"/>
                        <a:sym typeface="Calibri"/>
                      </a:endParaRPr>
                    </a:p>
                  </a:txBody>
                  <a:tcPr marT="0" marB="0" marR="68575" marL="68575"/>
                </a:tc>
              </a:tr>
              <a:tr h="342650">
                <a:tc>
                  <a:txBody>
                    <a:bodyPr/>
                    <a:lstStyle/>
                    <a:p>
                      <a:pPr indent="0" lvl="0" marL="0" marR="0" rtl="0" algn="l">
                        <a:spcBef>
                          <a:spcPts val="0"/>
                        </a:spcBef>
                        <a:spcAft>
                          <a:spcPts val="0"/>
                        </a:spcAft>
                        <a:buNone/>
                      </a:pPr>
                      <a:r>
                        <a:rPr lang="en-US" sz="1200"/>
                        <a:t>Միջազգային օլիմպիադաներում մրցանակներ ստացած սովորողների թիվը և տոկոսը </a:t>
                      </a:r>
                      <a:endParaRPr sz="1800"/>
                    </a:p>
                  </a:txBody>
                  <a:tcPr marT="0" marB="0" marR="0" marL="0" anchor="ctr"/>
                </a:tc>
                <a:tc>
                  <a:txBody>
                    <a:bodyPr/>
                    <a:lstStyle/>
                    <a:p>
                      <a:pPr indent="0" lvl="0" marL="0" marR="0" rtl="0" algn="ctr">
                        <a:spcBef>
                          <a:spcPts val="0"/>
                        </a:spcBef>
                        <a:spcAft>
                          <a:spcPts val="0"/>
                        </a:spcAft>
                        <a:buNone/>
                      </a:pPr>
                      <a:r>
                        <a:rPr lang="en-US" sz="1800"/>
                        <a:t>-</a:t>
                      </a:r>
                      <a:endParaRPr/>
                    </a:p>
                  </a:txBody>
                  <a:tcPr marT="0" marB="0" marR="0" marL="0" anchor="ctr"/>
                </a:tc>
                <a:tc>
                  <a:txBody>
                    <a:bodyPr/>
                    <a:lstStyle/>
                    <a:p>
                      <a:pPr indent="0" lvl="0" marL="0" marR="0" rtl="0" algn="ctr">
                        <a:spcBef>
                          <a:spcPts val="0"/>
                        </a:spcBef>
                        <a:spcAft>
                          <a:spcPts val="0"/>
                        </a:spcAft>
                        <a:buNone/>
                      </a:pPr>
                      <a:r>
                        <a:rPr lang="en-US" sz="1800"/>
                        <a:t>-</a:t>
                      </a:r>
                      <a:endParaRPr/>
                    </a:p>
                  </a:txBody>
                  <a:tcPr marT="0" marB="0" marR="0" marL="0" anchor="ctr"/>
                </a:tc>
                <a:tc>
                  <a:txBody>
                    <a:bodyPr/>
                    <a:lstStyle/>
                    <a:p>
                      <a:pPr indent="0" lvl="0" marL="0" marR="0" rtl="0" algn="ctr">
                        <a:spcBef>
                          <a:spcPts val="0"/>
                        </a:spcBef>
                        <a:spcAft>
                          <a:spcPts val="0"/>
                        </a:spcAft>
                        <a:buNone/>
                      </a:pPr>
                      <a:r>
                        <a:rPr lang="en-US" sz="1800"/>
                        <a:t>-</a:t>
                      </a:r>
                      <a:endParaRPr sz="1800"/>
                    </a:p>
                  </a:txBody>
                  <a:tcPr marT="0" marB="0" marR="0" marL="0" anchor="ctr"/>
                </a:tc>
              </a:tr>
              <a:tr h="685300">
                <a:tc>
                  <a:txBody>
                    <a:bodyPr/>
                    <a:lstStyle/>
                    <a:p>
                      <a:pPr indent="0" lvl="0" marL="0" marR="0" rtl="0" algn="l">
                        <a:spcBef>
                          <a:spcPts val="0"/>
                        </a:spcBef>
                        <a:spcAft>
                          <a:spcPts val="0"/>
                        </a:spcAft>
                        <a:buNone/>
                      </a:pPr>
                      <a:r>
                        <a:rPr lang="en-US" sz="1200"/>
                        <a:t>Մարզային և հանրապետական մարզական ու մշակույթի ոլորտում ստեղծագործական ու կատարողական մրցույթների մասնակիցների թիվը և տոկոսը՝ հաստատության սովորողների ընդհանուր թվի համեմատ </a:t>
                      </a:r>
                      <a:endParaRPr sz="1800"/>
                    </a:p>
                  </a:txBody>
                  <a:tcPr marT="0" marB="0" marR="0" marL="0" anchor="ctr"/>
                </a:tc>
                <a:tc>
                  <a:txBody>
                    <a:bodyPr/>
                    <a:lstStyle/>
                    <a:p>
                      <a:pPr indent="0" lvl="0" marL="0" marR="0" rtl="0" algn="ctr">
                        <a:spcBef>
                          <a:spcPts val="0"/>
                        </a:spcBef>
                        <a:spcAft>
                          <a:spcPts val="0"/>
                        </a:spcAft>
                        <a:buNone/>
                      </a:pPr>
                      <a:r>
                        <a:rPr lang="en-US" sz="1200"/>
                        <a:t>100 աշ.</a:t>
                      </a:r>
                      <a:endParaRPr sz="1200"/>
                    </a:p>
                    <a:p>
                      <a:pPr indent="0" lvl="0" marL="0" marR="0" rtl="0" algn="ctr">
                        <a:spcBef>
                          <a:spcPts val="0"/>
                        </a:spcBef>
                        <a:spcAft>
                          <a:spcPts val="0"/>
                        </a:spcAft>
                        <a:buClr>
                          <a:schemeClr val="dk1"/>
                        </a:buClr>
                        <a:buSzPts val="1200"/>
                        <a:buFont typeface="Century Gothic"/>
                        <a:buNone/>
                      </a:pPr>
                      <a:r>
                        <a:rPr lang="en-US" sz="1200"/>
                        <a:t>24%</a:t>
                      </a:r>
                      <a:endParaRPr sz="1200"/>
                    </a:p>
                  </a:txBody>
                  <a:tcPr marT="0" marB="0" marR="0" marL="0" anchor="ctr"/>
                </a:tc>
                <a:tc>
                  <a:txBody>
                    <a:bodyPr/>
                    <a:lstStyle/>
                    <a:p>
                      <a:pPr indent="0" lvl="0" marL="0" marR="0" rtl="0" algn="ctr">
                        <a:spcBef>
                          <a:spcPts val="0"/>
                        </a:spcBef>
                        <a:spcAft>
                          <a:spcPts val="0"/>
                        </a:spcAft>
                        <a:buNone/>
                      </a:pPr>
                      <a:r>
                        <a:rPr lang="en-US" sz="1200"/>
                        <a:t>114 աշ.</a:t>
                      </a:r>
                      <a:endParaRPr sz="1200"/>
                    </a:p>
                    <a:p>
                      <a:pPr indent="0" lvl="0" marL="0" marR="0" rtl="0" algn="ctr">
                        <a:spcBef>
                          <a:spcPts val="0"/>
                        </a:spcBef>
                        <a:spcAft>
                          <a:spcPts val="0"/>
                        </a:spcAft>
                        <a:buClr>
                          <a:schemeClr val="dk1"/>
                        </a:buClr>
                        <a:buSzPts val="1200"/>
                        <a:buFont typeface="Century Gothic"/>
                        <a:buNone/>
                      </a:pPr>
                      <a:r>
                        <a:rPr lang="en-US" sz="1200"/>
                        <a:t>35%</a:t>
                      </a:r>
                      <a:endParaRPr sz="1200"/>
                    </a:p>
                  </a:txBody>
                  <a:tcPr marT="0" marB="0" marR="0" marL="0" anchor="ctr"/>
                </a:tc>
                <a:tc>
                  <a:txBody>
                    <a:bodyPr/>
                    <a:lstStyle/>
                    <a:p>
                      <a:pPr indent="0" lvl="0" marL="0" marR="0" rtl="0" algn="ctr">
                        <a:spcBef>
                          <a:spcPts val="0"/>
                        </a:spcBef>
                        <a:spcAft>
                          <a:spcPts val="0"/>
                        </a:spcAft>
                        <a:buNone/>
                      </a:pPr>
                      <a:r>
                        <a:rPr lang="en-US" sz="1200"/>
                        <a:t>86 աշ.</a:t>
                      </a:r>
                      <a:endParaRPr sz="1200"/>
                    </a:p>
                    <a:p>
                      <a:pPr indent="0" lvl="0" marL="0" marR="0" rtl="0" algn="ctr">
                        <a:spcBef>
                          <a:spcPts val="0"/>
                        </a:spcBef>
                        <a:spcAft>
                          <a:spcPts val="0"/>
                        </a:spcAft>
                        <a:buClr>
                          <a:schemeClr val="dk1"/>
                        </a:buClr>
                        <a:buSzPts val="1200"/>
                        <a:buFont typeface="Century Gothic"/>
                        <a:buNone/>
                      </a:pPr>
                      <a:r>
                        <a:rPr lang="en-US" sz="1200"/>
                        <a:t>21%</a:t>
                      </a:r>
                      <a:endParaRPr sz="1200"/>
                    </a:p>
                  </a:txBody>
                  <a:tcPr marT="0" marB="0" marR="0" marL="0" anchor="ctr"/>
                </a:tc>
              </a:tr>
              <a:tr h="571000">
                <a:tc>
                  <a:txBody>
                    <a:bodyPr/>
                    <a:lstStyle/>
                    <a:p>
                      <a:pPr indent="0" lvl="0" marL="0" marR="0" rtl="0" algn="l">
                        <a:spcBef>
                          <a:spcPts val="0"/>
                        </a:spcBef>
                        <a:spcAft>
                          <a:spcPts val="0"/>
                        </a:spcAft>
                        <a:buNone/>
                      </a:pPr>
                      <a:r>
                        <a:rPr lang="en-US" sz="1200"/>
                        <a:t>Միջազգային մարզական ու մշակույթի ոլորտում ստեղծագործական ու կատարողական մրցույթներին մրցանակների ստացած սովորղների թիվը և տոկոսը </a:t>
                      </a:r>
                      <a:endParaRPr sz="1800"/>
                    </a:p>
                  </a:txBody>
                  <a:tcPr marT="0" marB="0" marR="0" marL="0" anchor="ctr"/>
                </a:tc>
                <a:tc>
                  <a:txBody>
                    <a:bodyPr/>
                    <a:lstStyle/>
                    <a:p>
                      <a:pPr indent="0" lvl="0" marL="0" marR="0" rtl="0" algn="ctr">
                        <a:lnSpc>
                          <a:spcPct val="100000"/>
                        </a:lnSpc>
                        <a:spcBef>
                          <a:spcPts val="0"/>
                        </a:spcBef>
                        <a:spcAft>
                          <a:spcPts val="0"/>
                        </a:spcAft>
                        <a:buClr>
                          <a:schemeClr val="dk1"/>
                        </a:buClr>
                        <a:buSzPts val="1800"/>
                        <a:buFont typeface="Century Gothic"/>
                        <a:buNone/>
                      </a:pPr>
                      <a:r>
                        <a:rPr lang="en-US" sz="1800"/>
                        <a:t>-</a:t>
                      </a:r>
                      <a:endParaRPr/>
                    </a:p>
                  </a:txBody>
                  <a:tcPr marT="0" marB="0" marR="0" marL="0" anchor="ctr"/>
                </a:tc>
                <a:tc>
                  <a:txBody>
                    <a:bodyPr/>
                    <a:lstStyle/>
                    <a:p>
                      <a:pPr indent="0" lvl="0" marL="0" marR="0" rtl="0" algn="ctr">
                        <a:lnSpc>
                          <a:spcPct val="100000"/>
                        </a:lnSpc>
                        <a:spcBef>
                          <a:spcPts val="0"/>
                        </a:spcBef>
                        <a:spcAft>
                          <a:spcPts val="0"/>
                        </a:spcAft>
                        <a:buClr>
                          <a:schemeClr val="dk1"/>
                        </a:buClr>
                        <a:buSzPts val="1800"/>
                        <a:buFont typeface="Century Gothic"/>
                        <a:buNone/>
                      </a:pPr>
                      <a:r>
                        <a:rPr lang="en-US" sz="1800"/>
                        <a:t>-</a:t>
                      </a:r>
                      <a:endParaRPr/>
                    </a:p>
                  </a:txBody>
                  <a:tcPr marT="0" marB="0" marR="0" marL="0" anchor="ctr"/>
                </a:tc>
                <a:tc>
                  <a:txBody>
                    <a:bodyPr/>
                    <a:lstStyle/>
                    <a:p>
                      <a:pPr indent="0" lvl="0" marL="0" marR="0" rtl="0" algn="ctr">
                        <a:lnSpc>
                          <a:spcPct val="100000"/>
                        </a:lnSpc>
                        <a:spcBef>
                          <a:spcPts val="0"/>
                        </a:spcBef>
                        <a:spcAft>
                          <a:spcPts val="0"/>
                        </a:spcAft>
                        <a:buClr>
                          <a:schemeClr val="dk1"/>
                        </a:buClr>
                        <a:buSzPts val="1200"/>
                        <a:buFont typeface="Century Gothic"/>
                        <a:buNone/>
                      </a:pPr>
                      <a:r>
                        <a:rPr lang="en-US" sz="1200"/>
                        <a:t>4 աշ․</a:t>
                      </a:r>
                      <a:endParaRPr/>
                    </a:p>
                    <a:p>
                      <a:pPr indent="0" lvl="0" marL="0" marR="0" rtl="0" algn="ctr">
                        <a:lnSpc>
                          <a:spcPct val="100000"/>
                        </a:lnSpc>
                        <a:spcBef>
                          <a:spcPts val="0"/>
                        </a:spcBef>
                        <a:spcAft>
                          <a:spcPts val="0"/>
                        </a:spcAft>
                        <a:buClr>
                          <a:schemeClr val="dk1"/>
                        </a:buClr>
                        <a:buSzPts val="1200"/>
                        <a:buFont typeface="Century Gothic"/>
                        <a:buNone/>
                      </a:pPr>
                      <a:r>
                        <a:rPr lang="en-US" sz="1200"/>
                        <a:t>0,9%</a:t>
                      </a:r>
                      <a:endParaRPr/>
                    </a:p>
                    <a:p>
                      <a:pPr indent="0" lvl="0" marL="0" marR="0" rtl="0" algn="ctr">
                        <a:lnSpc>
                          <a:spcPct val="100000"/>
                        </a:lnSpc>
                        <a:spcBef>
                          <a:spcPts val="0"/>
                        </a:spcBef>
                        <a:spcAft>
                          <a:spcPts val="0"/>
                        </a:spcAft>
                        <a:buClr>
                          <a:schemeClr val="dk1"/>
                        </a:buClr>
                        <a:buSzPts val="1800"/>
                        <a:buFont typeface="Century Gothic"/>
                        <a:buNone/>
                      </a:pPr>
                      <a:r>
                        <a:t/>
                      </a:r>
                      <a:endParaRPr sz="1800"/>
                    </a:p>
                  </a:txBody>
                  <a:tcPr marT="0" marB="0" marR="0" marL="0" anchor="ct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55"/>
          <p:cNvPicPr preferRelativeResize="0"/>
          <p:nvPr/>
        </p:nvPicPr>
        <p:blipFill rotWithShape="1">
          <a:blip r:embed="rId3">
            <a:alphaModFix/>
          </a:blip>
          <a:srcRect b="0" l="0" r="0" t="0"/>
          <a:stretch/>
        </p:blipFill>
        <p:spPr>
          <a:xfrm>
            <a:off x="152398" y="0"/>
            <a:ext cx="9349914" cy="386224"/>
          </a:xfrm>
          <a:prstGeom prst="rect">
            <a:avLst/>
          </a:prstGeom>
          <a:noFill/>
          <a:ln>
            <a:noFill/>
          </a:ln>
        </p:spPr>
      </p:pic>
      <p:graphicFrame>
        <p:nvGraphicFramePr>
          <p:cNvPr id="449" name="Google Shape;449;p55"/>
          <p:cNvGraphicFramePr/>
          <p:nvPr/>
        </p:nvGraphicFramePr>
        <p:xfrm>
          <a:off x="192752" y="409734"/>
          <a:ext cx="3000000" cy="3000000"/>
        </p:xfrm>
        <a:graphic>
          <a:graphicData uri="http://schemas.openxmlformats.org/drawingml/2006/table">
            <a:tbl>
              <a:tblPr>
                <a:noFill/>
                <a:tableStyleId>{40B977D2-3903-41EF-8714-5AC59086702B}</a:tableStyleId>
              </a:tblPr>
              <a:tblGrid>
                <a:gridCol w="7459800"/>
                <a:gridCol w="958800"/>
              </a:tblGrid>
              <a:tr h="239975">
                <a:tc>
                  <a:txBody>
                    <a:bodyPr/>
                    <a:lstStyle/>
                    <a:p>
                      <a:pPr indent="0" lvl="0" marL="0" marR="0" rtl="0" algn="l">
                        <a:spcBef>
                          <a:spcPts val="0"/>
                        </a:spcBef>
                        <a:spcAft>
                          <a:spcPts val="0"/>
                        </a:spcAft>
                        <a:buNone/>
                      </a:pPr>
                      <a:r>
                        <a:rPr lang="en-US" sz="1100"/>
                        <a:t>Ցուցանիշ </a:t>
                      </a:r>
                      <a:endParaRPr sz="1800"/>
                    </a:p>
                  </a:txBody>
                  <a:tcPr marT="0" marB="0" marR="0" marL="0" anchor="ctr"/>
                </a:tc>
                <a:tc>
                  <a:txBody>
                    <a:bodyPr/>
                    <a:lstStyle/>
                    <a:p>
                      <a:pPr indent="0" lvl="0" marL="0" marR="0" rtl="0" algn="ctr">
                        <a:spcBef>
                          <a:spcPts val="0"/>
                        </a:spcBef>
                        <a:spcAft>
                          <a:spcPts val="0"/>
                        </a:spcAft>
                        <a:buNone/>
                      </a:pPr>
                      <a:r>
                        <a:rPr lang="en-US" sz="1100"/>
                        <a:t>2022-2023</a:t>
                      </a:r>
                      <a:endParaRPr sz="1100"/>
                    </a:p>
                    <a:p>
                      <a:pPr indent="0" lvl="0" marL="0" marR="0" rtl="0" algn="ctr">
                        <a:spcBef>
                          <a:spcPts val="0"/>
                        </a:spcBef>
                        <a:spcAft>
                          <a:spcPts val="0"/>
                        </a:spcAft>
                        <a:buNone/>
                      </a:pPr>
                      <a:r>
                        <a:rPr lang="en-US" sz="1100"/>
                        <a:t>ուստարի </a:t>
                      </a:r>
                      <a:endParaRPr/>
                    </a:p>
                  </a:txBody>
                  <a:tcPr marT="0" marB="0" marR="0" marL="0" anchor="ctr"/>
                </a:tc>
              </a:tr>
              <a:tr h="325425">
                <a:tc>
                  <a:txBody>
                    <a:bodyPr/>
                    <a:lstStyle/>
                    <a:p>
                      <a:pPr indent="0" lvl="0" marL="0" marR="0" rtl="0" algn="l">
                        <a:spcBef>
                          <a:spcPts val="0"/>
                        </a:spcBef>
                        <a:spcAft>
                          <a:spcPts val="0"/>
                        </a:spcAft>
                        <a:buNone/>
                      </a:pPr>
                      <a:r>
                        <a:rPr lang="en-US" sz="1100"/>
                        <a:t>Բարձրագույն մանկավարժական որակավորում ունեցող ուսուցիչների թիվը և տոկոսը </a:t>
                      </a:r>
                      <a:endParaRPr sz="1800"/>
                    </a:p>
                  </a:txBody>
                  <a:tcPr marT="0" marB="0" marR="0" marL="0" anchor="ctr"/>
                </a:tc>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 </a:t>
                      </a:r>
                      <a:endParaRPr/>
                    </a:p>
                  </a:txBody>
                  <a:tcPr marT="0" marB="0" marR="0" marL="0" anchor="ctr"/>
                </a:tc>
              </a:tr>
              <a:tr h="325425">
                <a:tc>
                  <a:txBody>
                    <a:bodyPr/>
                    <a:lstStyle/>
                    <a:p>
                      <a:pPr indent="0" lvl="0" marL="0" marR="0" rtl="0" algn="l">
                        <a:spcBef>
                          <a:spcPts val="0"/>
                        </a:spcBef>
                        <a:spcAft>
                          <a:spcPts val="0"/>
                        </a:spcAft>
                        <a:buNone/>
                      </a:pPr>
                      <a:r>
                        <a:rPr lang="en-US" sz="1100"/>
                        <a:t>Ըստ մասնագիտության դասավանդող ուսուցիչների թիվը և տոկոսը </a:t>
                      </a:r>
                      <a:endParaRPr sz="1100">
                        <a:latin typeface="Trebuchet MS"/>
                        <a:ea typeface="Trebuchet MS"/>
                        <a:cs typeface="Trebuchet MS"/>
                        <a:sym typeface="Trebuchet MS"/>
                      </a:endParaRPr>
                    </a:p>
                  </a:txBody>
                  <a:tcPr marT="0" marB="0" marR="0" marL="0" anchor="ctr"/>
                </a:tc>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 </a:t>
                      </a:r>
                      <a:endParaRPr/>
                    </a:p>
                  </a:txBody>
                  <a:tcPr marT="0" marB="0" marR="0" marL="0" anchor="ctr"/>
                </a:tc>
              </a:tr>
              <a:tr h="325425">
                <a:tc>
                  <a:txBody>
                    <a:bodyPr/>
                    <a:lstStyle/>
                    <a:p>
                      <a:pPr indent="0" lvl="0" marL="0" marR="0" rtl="0" algn="l">
                        <a:spcBef>
                          <a:spcPts val="0"/>
                        </a:spcBef>
                        <a:spcAft>
                          <a:spcPts val="0"/>
                        </a:spcAft>
                        <a:buNone/>
                      </a:pPr>
                      <a:r>
                        <a:rPr lang="en-US" sz="1100"/>
                        <a:t>Տարակարգ ունեցող ուսուցիչների թիվը և տոկոսը </a:t>
                      </a:r>
                      <a:endParaRPr sz="1800"/>
                    </a:p>
                  </a:txBody>
                  <a:tcPr marT="0" marB="0" marR="0" marL="0" anchor="ctr"/>
                </a:tc>
                <a:tc>
                  <a:txBody>
                    <a:bodyPr/>
                    <a:lstStyle/>
                    <a:p>
                      <a:pPr indent="0" lvl="0" marL="0" marR="0" rtl="0" algn="ctr">
                        <a:spcBef>
                          <a:spcPts val="0"/>
                        </a:spcBef>
                        <a:spcAft>
                          <a:spcPts val="0"/>
                        </a:spcAft>
                        <a:buNone/>
                      </a:pPr>
                      <a:r>
                        <a:rPr lang="en-US" sz="1100"/>
                        <a:t>2</a:t>
                      </a:r>
                      <a:endParaRPr/>
                    </a:p>
                    <a:p>
                      <a:pPr indent="0" lvl="0" marL="0" marR="0" rtl="0" algn="ctr">
                        <a:spcBef>
                          <a:spcPts val="0"/>
                        </a:spcBef>
                        <a:spcAft>
                          <a:spcPts val="0"/>
                        </a:spcAft>
                        <a:buNone/>
                      </a:pPr>
                      <a:r>
                        <a:rPr lang="en-US" sz="1100"/>
                        <a:t>6% </a:t>
                      </a:r>
                      <a:endParaRPr/>
                    </a:p>
                  </a:txBody>
                  <a:tcPr marT="0" marB="0" marR="0" marL="0" anchor="ctr"/>
                </a:tc>
              </a:tr>
              <a:tr h="287075">
                <a:tc>
                  <a:txBody>
                    <a:bodyPr/>
                    <a:lstStyle/>
                    <a:p>
                      <a:pPr indent="0" lvl="0" marL="0" marR="0" rtl="0" algn="l">
                        <a:spcBef>
                          <a:spcPts val="0"/>
                        </a:spcBef>
                        <a:spcAft>
                          <a:spcPts val="0"/>
                        </a:spcAft>
                        <a:buNone/>
                      </a:pPr>
                      <a:r>
                        <a:rPr lang="en-US" sz="1200"/>
                        <a:t>Կամավոր</a:t>
                      </a:r>
                      <a:r>
                        <a:rPr lang="en-US" sz="1200"/>
                        <a:t> ատեստավորված ուսուցիչների թիվը</a:t>
                      </a:r>
                      <a:endParaRPr sz="1200"/>
                    </a:p>
                  </a:txBody>
                  <a:tcPr marT="0" marB="0" marR="0" marL="0" anchor="ctr"/>
                </a:tc>
                <a:tc>
                  <a:txBody>
                    <a:bodyPr/>
                    <a:lstStyle/>
                    <a:p>
                      <a:pPr indent="0" lvl="0" marL="0" marR="0" rtl="0" algn="ctr">
                        <a:spcBef>
                          <a:spcPts val="0"/>
                        </a:spcBef>
                        <a:spcAft>
                          <a:spcPts val="0"/>
                        </a:spcAft>
                        <a:buNone/>
                      </a:pPr>
                      <a:r>
                        <a:rPr lang="en-US" sz="1100"/>
                        <a:t>1</a:t>
                      </a:r>
                      <a:endParaRPr/>
                    </a:p>
                    <a:p>
                      <a:pPr indent="0" lvl="0" marL="0" marR="0" rtl="0" algn="ctr">
                        <a:spcBef>
                          <a:spcPts val="0"/>
                        </a:spcBef>
                        <a:spcAft>
                          <a:spcPts val="0"/>
                        </a:spcAft>
                        <a:buNone/>
                      </a:pPr>
                      <a:r>
                        <a:rPr lang="en-US" sz="1100"/>
                        <a:t>3%</a:t>
                      </a:r>
                      <a:endParaRPr/>
                    </a:p>
                  </a:txBody>
                  <a:tcPr marT="0" marB="0" marR="0" marL="0" anchor="ctr"/>
                </a:tc>
              </a:tr>
              <a:tr h="266250">
                <a:tc>
                  <a:txBody>
                    <a:bodyPr/>
                    <a:lstStyle/>
                    <a:p>
                      <a:pPr indent="0" lvl="0" marL="0" marR="0" rtl="0" algn="l">
                        <a:spcBef>
                          <a:spcPts val="0"/>
                        </a:spcBef>
                        <a:spcAft>
                          <a:spcPts val="0"/>
                        </a:spcAft>
                        <a:buNone/>
                      </a:pPr>
                      <a:r>
                        <a:rPr lang="en-US" sz="1100"/>
                        <a:t>Գիտական կոչում ունեցող ուսուցիչների թիվը և տոկոսը </a:t>
                      </a:r>
                      <a:endParaRPr sz="1800"/>
                    </a:p>
                  </a:txBody>
                  <a:tcPr marT="0" marB="0" marR="0" marL="0" anchor="ctr"/>
                </a:tc>
                <a:tc>
                  <a:txBody>
                    <a:bodyPr/>
                    <a:lstStyle/>
                    <a:p>
                      <a:pPr indent="0" lvl="0" marL="0" marR="0" rtl="0" algn="ctr">
                        <a:spcBef>
                          <a:spcPts val="0"/>
                        </a:spcBef>
                        <a:spcAft>
                          <a:spcPts val="0"/>
                        </a:spcAft>
                        <a:buNone/>
                      </a:pPr>
                      <a:r>
                        <a:rPr lang="en-US" sz="1100"/>
                        <a:t>0</a:t>
                      </a:r>
                      <a:endParaRPr sz="1100"/>
                    </a:p>
                  </a:txBody>
                  <a:tcPr marT="0" marB="0" marR="0" marL="0" anchor="ctr"/>
                </a:tc>
              </a:tr>
              <a:tr h="482225">
                <a:tc>
                  <a:txBody>
                    <a:bodyPr/>
                    <a:lstStyle/>
                    <a:p>
                      <a:pPr indent="0" lvl="0" marL="0" marR="0" rtl="0" algn="l">
                        <a:spcBef>
                          <a:spcPts val="0"/>
                        </a:spcBef>
                        <a:spcAft>
                          <a:spcPts val="0"/>
                        </a:spcAft>
                        <a:buNone/>
                      </a:pPr>
                      <a:r>
                        <a:rPr lang="en-US" sz="1100"/>
                        <a:t>Նախարարության կողմից երաշխավորված կամ այլ կազմակերպություններում վերջին 3 տարում վերապատրաստում անցած ուսուցիչների թիվը և տոկոսը </a:t>
                      </a:r>
                      <a:endParaRPr sz="1800"/>
                    </a:p>
                  </a:txBody>
                  <a:tcPr marT="0" marB="0" marR="0" marL="0" anchor="ctr"/>
                </a:tc>
                <a:tc>
                  <a:txBody>
                    <a:bodyPr/>
                    <a:lstStyle/>
                    <a:p>
                      <a:pPr indent="0" lvl="0" marL="0" marR="0" rtl="0" algn="ctr">
                        <a:spcBef>
                          <a:spcPts val="0"/>
                        </a:spcBef>
                        <a:spcAft>
                          <a:spcPts val="0"/>
                        </a:spcAft>
                        <a:buNone/>
                      </a:pPr>
                      <a:r>
                        <a:t/>
                      </a:r>
                      <a:endParaRPr sz="1100"/>
                    </a:p>
                  </a:txBody>
                  <a:tcPr marT="0" marB="0" marR="0" marL="0" anchor="ctr"/>
                </a:tc>
              </a:tr>
              <a:tr h="325425">
                <a:tc>
                  <a:txBody>
                    <a:bodyPr/>
                    <a:lstStyle/>
                    <a:p>
                      <a:pPr indent="0" lvl="0" marL="0" marR="0" rtl="0" algn="l">
                        <a:spcBef>
                          <a:spcPts val="0"/>
                        </a:spcBef>
                        <a:spcAft>
                          <a:spcPts val="0"/>
                        </a:spcAft>
                        <a:buNone/>
                      </a:pPr>
                      <a:r>
                        <a:rPr lang="en-US" sz="1100"/>
                        <a:t>Որպես ուսուցիչ վերապատրաստող (դասախոս) վերապատրաստված և վերապատրաստման դասընթացներ վարող ուսուցիչների թիվը և տոկոսը </a:t>
                      </a:r>
                      <a:endParaRPr sz="1800"/>
                    </a:p>
                  </a:txBody>
                  <a:tcPr marT="0" marB="0" marR="0" marL="0" anchor="ctr"/>
                </a:tc>
                <a:tc>
                  <a:txBody>
                    <a:bodyPr/>
                    <a:lstStyle/>
                    <a:p>
                      <a:pPr indent="0" lvl="0" marL="0" marR="0" rtl="0" algn="ctr">
                        <a:spcBef>
                          <a:spcPts val="0"/>
                        </a:spcBef>
                        <a:spcAft>
                          <a:spcPts val="0"/>
                        </a:spcAft>
                        <a:buNone/>
                      </a:pPr>
                      <a:r>
                        <a:t/>
                      </a:r>
                      <a:endParaRPr sz="1100"/>
                    </a:p>
                  </a:txBody>
                  <a:tcPr marT="0" marB="0" marR="0" marL="0" anchor="ctr"/>
                </a:tc>
              </a:tr>
              <a:tr h="266250">
                <a:tc>
                  <a:txBody>
                    <a:bodyPr/>
                    <a:lstStyle/>
                    <a:p>
                      <a:pPr indent="0" lvl="0" marL="0" marR="0" rtl="0" algn="l">
                        <a:spcBef>
                          <a:spcPts val="0"/>
                        </a:spcBef>
                        <a:spcAft>
                          <a:spcPts val="0"/>
                        </a:spcAft>
                        <a:buNone/>
                      </a:pPr>
                      <a:r>
                        <a:rPr lang="en-US" sz="1100"/>
                        <a:t>Ուսուցիչների միջին տարիքը </a:t>
                      </a:r>
                      <a:endParaRPr sz="1800"/>
                    </a:p>
                  </a:txBody>
                  <a:tcPr marT="0" marB="0" marR="0" marL="0" anchor="ctr"/>
                </a:tc>
                <a:tc>
                  <a:txBody>
                    <a:bodyPr/>
                    <a:lstStyle/>
                    <a:p>
                      <a:pPr indent="0" lvl="0" marL="0" marR="0" rtl="0" algn="ctr">
                        <a:spcBef>
                          <a:spcPts val="0"/>
                        </a:spcBef>
                        <a:spcAft>
                          <a:spcPts val="0"/>
                        </a:spcAft>
                        <a:buNone/>
                      </a:pPr>
                      <a:r>
                        <a:rPr lang="en-US" sz="1100"/>
                        <a:t>55</a:t>
                      </a:r>
                      <a:endParaRPr sz="1100"/>
                    </a:p>
                  </a:txBody>
                  <a:tcPr marT="0" marB="0" marR="0" marL="0" anchor="ctr"/>
                </a:tc>
              </a:tr>
              <a:tr h="541925">
                <a:tc>
                  <a:txBody>
                    <a:bodyPr/>
                    <a:lstStyle/>
                    <a:p>
                      <a:pPr indent="0" lvl="0" marL="0" marR="0" rtl="0" algn="l">
                        <a:spcBef>
                          <a:spcPts val="0"/>
                        </a:spcBef>
                        <a:spcAft>
                          <a:spcPts val="0"/>
                        </a:spcAft>
                        <a:buNone/>
                      </a:pPr>
                      <a:r>
                        <a:rPr lang="en-US" sz="1100"/>
                        <a:t>Միջազգային ու հանրապետական պարբերականներում (ամսագրերում) հոդվածներ, մասնագիտական հրապարակումներ, ինչպես նաև դասագրքեր, մեթոդական ձեռնարկներ, գիտամանկավարժական, հեղինակային և այլ աշխատություններ ունեցող ուսուցիչների թիվը և տոկոսը. </a:t>
                      </a:r>
                      <a:endParaRPr sz="1800"/>
                    </a:p>
                  </a:txBody>
                  <a:tcPr marT="0" marB="0" marR="0" marL="0" anchor="ctr"/>
                </a:tc>
                <a:tc>
                  <a:txBody>
                    <a:bodyPr/>
                    <a:lstStyle/>
                    <a:p>
                      <a:pPr indent="0" lvl="0" marL="0" marR="0" rtl="0" algn="ctr">
                        <a:spcBef>
                          <a:spcPts val="0"/>
                        </a:spcBef>
                        <a:spcAft>
                          <a:spcPts val="0"/>
                        </a:spcAft>
                        <a:buNone/>
                      </a:pPr>
                      <a:r>
                        <a:t/>
                      </a:r>
                      <a:endParaRPr sz="1100"/>
                    </a:p>
                  </a:txBody>
                  <a:tcPr marT="0" marB="0" marR="0" marL="0" anchor="ctr"/>
                </a:tc>
              </a:tr>
              <a:tr h="325425">
                <a:tc>
                  <a:txBody>
                    <a:bodyPr/>
                    <a:lstStyle/>
                    <a:p>
                      <a:pPr indent="0" lvl="0" marL="0" marR="0" rtl="0" algn="l">
                        <a:spcBef>
                          <a:spcPts val="0"/>
                        </a:spcBef>
                        <a:spcAft>
                          <a:spcPts val="0"/>
                        </a:spcAft>
                        <a:buNone/>
                      </a:pPr>
                      <a:r>
                        <a:rPr lang="en-US" sz="1100"/>
                        <a:t>Դասավանդման աշակերտակենտրոն, մասնակցային, ինտերակտիվ մեթոդներին տիրապետող և դրանք կիրառող ուսուցիչների թիվը և տոկոսը </a:t>
                      </a:r>
                      <a:endParaRPr sz="1800"/>
                    </a:p>
                  </a:txBody>
                  <a:tcPr marT="0" marB="0" marR="0" marL="0" anchor="ctr"/>
                </a:tc>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 </a:t>
                      </a:r>
                      <a:endParaRPr/>
                    </a:p>
                  </a:txBody>
                  <a:tcPr marT="0" marB="0" marR="0" marL="0" anchor="ctr"/>
                </a:tc>
              </a:tr>
              <a:tr h="430375">
                <a:tc>
                  <a:txBody>
                    <a:bodyPr/>
                    <a:lstStyle/>
                    <a:p>
                      <a:pPr indent="0" lvl="0" marL="0" marR="0" rtl="0" algn="l">
                        <a:spcBef>
                          <a:spcPts val="0"/>
                        </a:spcBef>
                        <a:spcAft>
                          <a:spcPts val="0"/>
                        </a:spcAft>
                        <a:buNone/>
                      </a:pPr>
                      <a:r>
                        <a:rPr lang="en-US" sz="1100"/>
                        <a:t>Ուսումնական գործընթացում տեղեկատվական հաղորդակցման տեխնոլոգիաներ, այդ թվում՝ ինտերնետ, կիրառող ուսուցիչների թիվը և տոկոսը </a:t>
                      </a:r>
                      <a:endParaRPr sz="1800"/>
                    </a:p>
                  </a:txBody>
                  <a:tcPr marT="0" marB="0" marR="0" marL="0" anchor="ctr"/>
                </a:tc>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 </a:t>
                      </a:r>
                      <a:endParaRPr/>
                    </a:p>
                  </a:txBody>
                  <a:tcPr marT="0" marB="0" marR="0" marL="0" anchor="ctr"/>
                </a:tc>
              </a:tr>
              <a:tr h="325425">
                <a:tc>
                  <a:txBody>
                    <a:bodyPr/>
                    <a:lstStyle/>
                    <a:p>
                      <a:pPr indent="0" lvl="0" marL="0" marR="0" rtl="0" algn="l">
                        <a:spcBef>
                          <a:spcPts val="0"/>
                        </a:spcBef>
                        <a:spcAft>
                          <a:spcPts val="0"/>
                        </a:spcAft>
                        <a:buNone/>
                      </a:pPr>
                      <a:r>
                        <a:rPr lang="en-US" sz="1100"/>
                        <a:t>Սովորողներին համակարգիչների կիրառմամբ տնային աշխատանքներ հանձնարարող ուսուցիչների թիվը </a:t>
                      </a:r>
                      <a:endParaRPr sz="1800"/>
                    </a:p>
                  </a:txBody>
                  <a:tcPr marT="0" marB="0" marR="0" marL="0" anchor="ctr"/>
                </a:tc>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a:t>
                      </a:r>
                      <a:endParaRPr/>
                    </a:p>
                  </a:txBody>
                  <a:tcPr marT="0" marB="0" marR="0" marL="0" anchor="ctr"/>
                </a:tc>
              </a:tr>
              <a:tr h="266250">
                <a:tc>
                  <a:txBody>
                    <a:bodyPr/>
                    <a:lstStyle/>
                    <a:p>
                      <a:pPr indent="0" lvl="0" marL="0" marR="0" rtl="0" algn="l">
                        <a:spcBef>
                          <a:spcPts val="0"/>
                        </a:spcBef>
                        <a:spcAft>
                          <a:spcPts val="0"/>
                        </a:spcAft>
                        <a:buNone/>
                      </a:pPr>
                      <a:r>
                        <a:rPr lang="en-US" sz="1100"/>
                        <a:t>Ուսուցիչների բացակայությունների ընդհանուր թիվը </a:t>
                      </a:r>
                      <a:endParaRPr sz="1800"/>
                    </a:p>
                  </a:txBody>
                  <a:tcPr marT="0" marB="0" marR="0" marL="0" anchor="ctr"/>
                </a:tc>
                <a:tc>
                  <a:txBody>
                    <a:bodyPr/>
                    <a:lstStyle/>
                    <a:p>
                      <a:pPr indent="0" lvl="0" marL="0" marR="0" rtl="0" algn="ctr">
                        <a:spcBef>
                          <a:spcPts val="0"/>
                        </a:spcBef>
                        <a:spcAft>
                          <a:spcPts val="0"/>
                        </a:spcAft>
                        <a:buNone/>
                      </a:pPr>
                      <a:r>
                        <a:rPr lang="en-US" sz="1100"/>
                        <a:t>60 օր</a:t>
                      </a:r>
                      <a:endParaRPr sz="1100"/>
                    </a:p>
                  </a:txBody>
                  <a:tcPr marT="0" marB="0" marR="0" marL="0" anchor="ctr"/>
                </a:tc>
              </a:tr>
              <a:tr h="266250">
                <a:tc>
                  <a:txBody>
                    <a:bodyPr/>
                    <a:lstStyle/>
                    <a:p>
                      <a:pPr indent="0" lvl="0" marL="0" marR="0" rtl="0" algn="l">
                        <a:spcBef>
                          <a:spcPts val="0"/>
                        </a:spcBef>
                        <a:spcAft>
                          <a:spcPts val="0"/>
                        </a:spcAft>
                        <a:buNone/>
                      </a:pPr>
                      <a:r>
                        <a:rPr lang="en-US" sz="1100"/>
                        <a:t>ՈՒստարվա ընթացքում հաստատությունում անցկացվող ցուցադրական բաց դասերի թիվը </a:t>
                      </a:r>
                      <a:endParaRPr sz="1800"/>
                    </a:p>
                  </a:txBody>
                  <a:tcPr marT="0" marB="0" marR="0" marL="0" anchor="ctr"/>
                </a:tc>
                <a:tc>
                  <a:txBody>
                    <a:bodyPr/>
                    <a:lstStyle/>
                    <a:p>
                      <a:pPr indent="0" lvl="0" marL="0" marR="0" rtl="0" algn="ctr">
                        <a:spcBef>
                          <a:spcPts val="0"/>
                        </a:spcBef>
                        <a:spcAft>
                          <a:spcPts val="0"/>
                        </a:spcAft>
                        <a:buNone/>
                      </a:pPr>
                      <a:r>
                        <a:rPr lang="en-US" sz="1100"/>
                        <a:t>54</a:t>
                      </a:r>
                      <a:endParaRPr sz="1100"/>
                    </a:p>
                  </a:txBody>
                  <a:tcPr marT="0" marB="0" marR="0" marL="0" anchor="ctr"/>
                </a:tc>
              </a:tr>
              <a:tr h="266250">
                <a:tc>
                  <a:txBody>
                    <a:bodyPr/>
                    <a:lstStyle/>
                    <a:p>
                      <a:pPr indent="0" lvl="0" marL="0" marR="0" rtl="0" algn="l">
                        <a:spcBef>
                          <a:spcPts val="0"/>
                        </a:spcBef>
                        <a:spcAft>
                          <a:spcPts val="0"/>
                        </a:spcAft>
                        <a:buNone/>
                      </a:pPr>
                      <a:r>
                        <a:rPr lang="en-US" sz="1100"/>
                        <a:t>ՈՒսումնական տարվա ընթացքում ուսուցիչների փոխադարձ դասալսումների թիվը </a:t>
                      </a:r>
                      <a:endParaRPr sz="1800"/>
                    </a:p>
                  </a:txBody>
                  <a:tcPr marT="0" marB="0" marR="0" marL="0" anchor="ctr"/>
                </a:tc>
                <a:tc>
                  <a:txBody>
                    <a:bodyPr/>
                    <a:lstStyle/>
                    <a:p>
                      <a:pPr indent="0" lvl="0" marL="0" marR="0" rtl="0" algn="ctr">
                        <a:spcBef>
                          <a:spcPts val="0"/>
                        </a:spcBef>
                        <a:spcAft>
                          <a:spcPts val="0"/>
                        </a:spcAft>
                        <a:buNone/>
                      </a:pPr>
                      <a:r>
                        <a:rPr lang="en-US" sz="1100"/>
                        <a:t>250</a:t>
                      </a:r>
                      <a:endParaRPr sz="1100"/>
                    </a:p>
                  </a:txBody>
                  <a:tcPr marT="0" marB="0" marR="0" marL="0" anchor="ctr"/>
                </a:tc>
              </a:tr>
              <a:tr h="266250">
                <a:tc>
                  <a:txBody>
                    <a:bodyPr/>
                    <a:lstStyle/>
                    <a:p>
                      <a:pPr indent="0" lvl="0" marL="0" marR="0" rtl="0" algn="l">
                        <a:spcBef>
                          <a:spcPts val="0"/>
                        </a:spcBef>
                        <a:spcAft>
                          <a:spcPts val="0"/>
                        </a:spcAft>
                        <a:buNone/>
                      </a:pPr>
                      <a:r>
                        <a:rPr lang="en-US" sz="1100"/>
                        <a:t>ՈՒսումնական տարվա ընթացքում հաստատությունից դուրս անցկացվող գործնական պարապմունքների թիվը, </a:t>
                      </a:r>
                      <a:endParaRPr sz="1800"/>
                    </a:p>
                  </a:txBody>
                  <a:tcPr marT="0" marB="0" marR="0" marL="0" anchor="ctr"/>
                </a:tc>
                <a:tc>
                  <a:txBody>
                    <a:bodyPr/>
                    <a:lstStyle/>
                    <a:p>
                      <a:pPr indent="0" lvl="0" marL="0" marR="0" rtl="0" algn="ctr">
                        <a:spcBef>
                          <a:spcPts val="0"/>
                        </a:spcBef>
                        <a:spcAft>
                          <a:spcPts val="0"/>
                        </a:spcAft>
                        <a:buNone/>
                      </a:pPr>
                      <a:r>
                        <a:rPr lang="en-US" sz="1100"/>
                        <a:t>50</a:t>
                      </a:r>
                      <a:endParaRPr sz="1100"/>
                    </a:p>
                  </a:txBody>
                  <a:tcPr marT="0" marB="0" marR="0" marL="0" anchor="ctr"/>
                </a:tc>
              </a:tr>
              <a:tr h="325425">
                <a:tc>
                  <a:txBody>
                    <a:bodyPr/>
                    <a:lstStyle/>
                    <a:p>
                      <a:pPr indent="0" lvl="0" marL="0" marR="0" rtl="0" algn="l">
                        <a:spcBef>
                          <a:spcPts val="0"/>
                        </a:spcBef>
                        <a:spcAft>
                          <a:spcPts val="0"/>
                        </a:spcAft>
                        <a:buNone/>
                      </a:pPr>
                      <a:r>
                        <a:rPr lang="en-US" sz="1100"/>
                        <a:t>Նախարարության, ինչպես նաև նախարարության և Մայր Աթոռ Սուրբ Էջմիածնի հետ համատեղ անցկացվող մրցույթներին մասնակցած ուսուցիչների թիվը և տոկոսը: </a:t>
                      </a:r>
                      <a:endParaRPr sz="1800"/>
                    </a:p>
                  </a:txBody>
                  <a:tcPr marT="0" marB="0" marR="0" marL="0" anchor="ctr"/>
                </a:tc>
                <a:tc>
                  <a:txBody>
                    <a:bodyPr/>
                    <a:lstStyle/>
                    <a:p>
                      <a:pPr indent="0" lvl="0" marL="0" marR="0" rtl="0" algn="ctr">
                        <a:spcBef>
                          <a:spcPts val="0"/>
                        </a:spcBef>
                        <a:spcAft>
                          <a:spcPts val="0"/>
                        </a:spcAft>
                        <a:buNone/>
                      </a:pPr>
                      <a:r>
                        <a:rPr lang="en-US" sz="1100"/>
                        <a:t>-</a:t>
                      </a:r>
                      <a:endParaRPr sz="1100"/>
                    </a:p>
                  </a:txBody>
                  <a:tcPr marT="0" marB="0" marR="0" marL="0" anchor="ctr"/>
                </a:tc>
              </a:tr>
              <a:tr h="325425">
                <a:tc>
                  <a:txBody>
                    <a:bodyPr/>
                    <a:lstStyle/>
                    <a:p>
                      <a:pPr indent="0" lvl="0" marL="0" marR="0" rtl="0" algn="l">
                        <a:spcBef>
                          <a:spcPts val="0"/>
                        </a:spcBef>
                        <a:spcAft>
                          <a:spcPts val="0"/>
                        </a:spcAft>
                        <a:buNone/>
                      </a:pPr>
                      <a:r>
                        <a:rPr lang="en-US" sz="1100"/>
                        <a:t>Նախարարության, ինչպես նաև  նախարարության և Մայր Աթոռ Սուրբ Էջմիածնի հետ համատեղ անցկացվող մրցույթներում մրցանակներ ստացած ուսուցիչների թիվը և տոկոսը </a:t>
                      </a:r>
                      <a:endParaRPr sz="1800"/>
                    </a:p>
                  </a:txBody>
                  <a:tcPr marT="0" marB="0" marR="0" marL="0" anchor="ctr"/>
                </a:tc>
                <a:tc>
                  <a:txBody>
                    <a:bodyPr/>
                    <a:lstStyle/>
                    <a:p>
                      <a:pPr indent="0" lvl="0" marL="0" marR="0" rtl="0" algn="ctr">
                        <a:spcBef>
                          <a:spcPts val="0"/>
                        </a:spcBef>
                        <a:spcAft>
                          <a:spcPts val="0"/>
                        </a:spcAft>
                        <a:buNone/>
                      </a:pPr>
                      <a:r>
                        <a:rPr lang="en-US" sz="1100"/>
                        <a:t>-</a:t>
                      </a:r>
                      <a:endParaRPr sz="1100"/>
                    </a:p>
                  </a:txBody>
                  <a:tcPr marT="0" marB="0" marR="0" marL="0" anchor="ctr"/>
                </a:tc>
              </a:tr>
            </a:tbl>
          </a:graphicData>
        </a:graphic>
      </p:graphicFrame>
      <p:graphicFrame>
        <p:nvGraphicFramePr>
          <p:cNvPr id="450" name="Google Shape;450;p55"/>
          <p:cNvGraphicFramePr/>
          <p:nvPr/>
        </p:nvGraphicFramePr>
        <p:xfrm>
          <a:off x="8611340" y="409734"/>
          <a:ext cx="3000000" cy="3000000"/>
        </p:xfrm>
        <a:graphic>
          <a:graphicData uri="http://schemas.openxmlformats.org/drawingml/2006/table">
            <a:tbl>
              <a:tblPr>
                <a:noFill/>
                <a:tableStyleId>{40B977D2-3903-41EF-8714-5AC59086702B}</a:tableStyleId>
              </a:tblPr>
              <a:tblGrid>
                <a:gridCol w="1165500"/>
              </a:tblGrid>
              <a:tr h="318225">
                <a:tc>
                  <a:txBody>
                    <a:bodyPr/>
                    <a:lstStyle/>
                    <a:p>
                      <a:pPr indent="0" lvl="0" marL="0" marR="0" rtl="0" algn="ctr">
                        <a:spcBef>
                          <a:spcPts val="0"/>
                        </a:spcBef>
                        <a:spcAft>
                          <a:spcPts val="0"/>
                        </a:spcAft>
                        <a:buNone/>
                      </a:pPr>
                      <a:r>
                        <a:rPr lang="en-US" sz="1100"/>
                        <a:t>2023-2024</a:t>
                      </a:r>
                      <a:endParaRPr sz="1100"/>
                    </a:p>
                    <a:p>
                      <a:pPr indent="0" lvl="0" marL="0" marR="0" rtl="0" algn="ctr">
                        <a:spcBef>
                          <a:spcPts val="0"/>
                        </a:spcBef>
                        <a:spcAft>
                          <a:spcPts val="0"/>
                        </a:spcAft>
                        <a:buNone/>
                      </a:pPr>
                      <a:r>
                        <a:rPr lang="en-US" sz="1100"/>
                        <a:t>ուստարի </a:t>
                      </a:r>
                      <a:endParaRPr/>
                    </a:p>
                  </a:txBody>
                  <a:tcPr marT="0" marB="0" marR="0" marL="0" anchor="ctr"/>
                </a:tc>
              </a:tr>
              <a:tr h="329175">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 </a:t>
                      </a:r>
                      <a:endParaRPr/>
                    </a:p>
                  </a:txBody>
                  <a:tcPr marT="0" marB="0" marR="0" marL="0" anchor="ctr"/>
                </a:tc>
              </a:tr>
              <a:tr h="320300">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 </a:t>
                      </a:r>
                      <a:endParaRPr/>
                    </a:p>
                  </a:txBody>
                  <a:tcPr marT="0" marB="0" marR="0" marL="0" anchor="ctr"/>
                </a:tc>
              </a:tr>
              <a:tr h="325425">
                <a:tc>
                  <a:txBody>
                    <a:bodyPr/>
                    <a:lstStyle/>
                    <a:p>
                      <a:pPr indent="0" lvl="0" marL="0" marR="0" rtl="0" algn="ctr">
                        <a:spcBef>
                          <a:spcPts val="0"/>
                        </a:spcBef>
                        <a:spcAft>
                          <a:spcPts val="0"/>
                        </a:spcAft>
                        <a:buNone/>
                      </a:pPr>
                      <a:r>
                        <a:rPr lang="en-US" sz="1100"/>
                        <a:t>2</a:t>
                      </a:r>
                      <a:endParaRPr sz="1100"/>
                    </a:p>
                  </a:txBody>
                  <a:tcPr marT="0" marB="0" marR="0" marL="0" anchor="ctr"/>
                </a:tc>
              </a:tr>
              <a:tr h="345275">
                <a:tc>
                  <a:txBody>
                    <a:bodyPr/>
                    <a:lstStyle/>
                    <a:p>
                      <a:pPr indent="0" lvl="0" marL="0" marR="0" rtl="0" algn="ctr">
                        <a:spcBef>
                          <a:spcPts val="0"/>
                        </a:spcBef>
                        <a:spcAft>
                          <a:spcPts val="0"/>
                        </a:spcAft>
                        <a:buNone/>
                      </a:pPr>
                      <a:r>
                        <a:rPr lang="en-US" sz="1100"/>
                        <a:t>5</a:t>
                      </a:r>
                      <a:endParaRPr sz="1100"/>
                    </a:p>
                  </a:txBody>
                  <a:tcPr marT="0" marB="0" marR="0" marL="0" anchor="ctr"/>
                </a:tc>
              </a:tr>
              <a:tr h="266250">
                <a:tc>
                  <a:txBody>
                    <a:bodyPr/>
                    <a:lstStyle/>
                    <a:p>
                      <a:pPr indent="0" lvl="0" marL="0" marR="0" rtl="0" algn="ctr">
                        <a:spcBef>
                          <a:spcPts val="0"/>
                        </a:spcBef>
                        <a:spcAft>
                          <a:spcPts val="0"/>
                        </a:spcAft>
                        <a:buNone/>
                      </a:pPr>
                      <a:r>
                        <a:rPr lang="en-US" sz="1100"/>
                        <a:t>0</a:t>
                      </a:r>
                      <a:endParaRPr sz="1100"/>
                    </a:p>
                  </a:txBody>
                  <a:tcPr marT="0" marB="0" marR="0" marL="0" anchor="ctr"/>
                </a:tc>
              </a:tr>
              <a:tr h="479475">
                <a:tc>
                  <a:txBody>
                    <a:bodyPr/>
                    <a:lstStyle/>
                    <a:p>
                      <a:pPr indent="0" lvl="0" marL="0" marR="0" rtl="0" algn="ctr">
                        <a:spcBef>
                          <a:spcPts val="0"/>
                        </a:spcBef>
                        <a:spcAft>
                          <a:spcPts val="0"/>
                        </a:spcAft>
                        <a:buNone/>
                      </a:pPr>
                      <a:r>
                        <a:rPr lang="en-US" sz="1100"/>
                        <a:t>20</a:t>
                      </a:r>
                      <a:endParaRPr sz="1100"/>
                    </a:p>
                  </a:txBody>
                  <a:tcPr marT="0" marB="0" marR="0" marL="0" anchor="ctr">
                    <a:solidFill>
                      <a:srgbClr val="E9EEDA"/>
                    </a:solidFill>
                  </a:tcPr>
                </a:tc>
              </a:tr>
              <a:tr h="334600">
                <a:tc>
                  <a:txBody>
                    <a:bodyPr/>
                    <a:lstStyle/>
                    <a:p>
                      <a:pPr indent="0" lvl="0" marL="0" marR="0" rtl="0" algn="ctr">
                        <a:spcBef>
                          <a:spcPts val="0"/>
                        </a:spcBef>
                        <a:spcAft>
                          <a:spcPts val="0"/>
                        </a:spcAft>
                        <a:buNone/>
                      </a:pPr>
                      <a:r>
                        <a:rPr lang="en-US" sz="1100"/>
                        <a:t>1</a:t>
                      </a:r>
                      <a:endParaRPr sz="1100"/>
                    </a:p>
                  </a:txBody>
                  <a:tcPr marT="0" marB="0" marR="0" marL="0" anchor="ctr">
                    <a:solidFill>
                      <a:srgbClr val="E9EEDA"/>
                    </a:solidFill>
                  </a:tcPr>
                </a:tc>
              </a:tr>
              <a:tr h="266250">
                <a:tc>
                  <a:txBody>
                    <a:bodyPr/>
                    <a:lstStyle/>
                    <a:p>
                      <a:pPr indent="0" lvl="0" marL="0" marR="0" rtl="0" algn="ctr">
                        <a:spcBef>
                          <a:spcPts val="0"/>
                        </a:spcBef>
                        <a:spcAft>
                          <a:spcPts val="0"/>
                        </a:spcAft>
                        <a:buNone/>
                      </a:pPr>
                      <a:r>
                        <a:rPr lang="en-US" sz="1100"/>
                        <a:t>55</a:t>
                      </a:r>
                      <a:endParaRPr sz="1100"/>
                    </a:p>
                  </a:txBody>
                  <a:tcPr marT="0" marB="0" marR="0" marL="0" anchor="ctr">
                    <a:solidFill>
                      <a:srgbClr val="E9EEDA"/>
                    </a:solidFill>
                  </a:tcPr>
                </a:tc>
              </a:tr>
              <a:tr h="541925">
                <a:tc>
                  <a:txBody>
                    <a:bodyPr/>
                    <a:lstStyle/>
                    <a:p>
                      <a:pPr indent="0" lvl="0" marL="0" marR="0" rtl="0" algn="ctr">
                        <a:spcBef>
                          <a:spcPts val="0"/>
                        </a:spcBef>
                        <a:spcAft>
                          <a:spcPts val="0"/>
                        </a:spcAft>
                        <a:buNone/>
                      </a:pPr>
                      <a:r>
                        <a:rPr lang="en-US" sz="1100"/>
                        <a:t>-</a:t>
                      </a:r>
                      <a:endParaRPr sz="1100"/>
                    </a:p>
                  </a:txBody>
                  <a:tcPr marT="0" marB="0" marR="0" marL="0" anchor="ctr">
                    <a:solidFill>
                      <a:srgbClr val="E9EEDA"/>
                    </a:solidFill>
                  </a:tcPr>
                </a:tc>
              </a:tr>
              <a:tr h="325425">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 </a:t>
                      </a:r>
                      <a:endParaRPr/>
                    </a:p>
                  </a:txBody>
                  <a:tcPr marT="0" marB="0" marR="0" marL="0" anchor="ctr">
                    <a:solidFill>
                      <a:srgbClr val="E9EEDA"/>
                    </a:solidFill>
                  </a:tcPr>
                </a:tc>
              </a:tr>
              <a:tr h="430375">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 </a:t>
                      </a:r>
                      <a:endParaRPr/>
                    </a:p>
                  </a:txBody>
                  <a:tcPr marT="0" marB="0" marR="0" marL="0" anchor="ctr"/>
                </a:tc>
              </a:tr>
              <a:tr h="325425">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a:t>
                      </a:r>
                      <a:endParaRPr/>
                    </a:p>
                  </a:txBody>
                  <a:tcPr marT="0" marB="0" marR="0" marL="0" anchor="ctr"/>
                </a:tc>
              </a:tr>
              <a:tr h="266250">
                <a:tc>
                  <a:txBody>
                    <a:bodyPr/>
                    <a:lstStyle/>
                    <a:p>
                      <a:pPr indent="0" lvl="0" marL="0" marR="0" rtl="0" algn="ctr">
                        <a:spcBef>
                          <a:spcPts val="0"/>
                        </a:spcBef>
                        <a:spcAft>
                          <a:spcPts val="0"/>
                        </a:spcAft>
                        <a:buNone/>
                      </a:pPr>
                      <a:r>
                        <a:rPr lang="en-US" sz="1100"/>
                        <a:t>50 օր</a:t>
                      </a:r>
                      <a:endParaRPr sz="1100"/>
                    </a:p>
                  </a:txBody>
                  <a:tcPr marT="0" marB="0" marR="0" marL="0" anchor="ctr"/>
                </a:tc>
              </a:tr>
              <a:tr h="266250">
                <a:tc>
                  <a:txBody>
                    <a:bodyPr/>
                    <a:lstStyle/>
                    <a:p>
                      <a:pPr indent="0" lvl="0" marL="0" marR="0" rtl="0" algn="ctr">
                        <a:spcBef>
                          <a:spcPts val="0"/>
                        </a:spcBef>
                        <a:spcAft>
                          <a:spcPts val="0"/>
                        </a:spcAft>
                        <a:buNone/>
                      </a:pPr>
                      <a:r>
                        <a:rPr lang="en-US" sz="1100"/>
                        <a:t>62</a:t>
                      </a:r>
                      <a:endParaRPr sz="1100"/>
                    </a:p>
                  </a:txBody>
                  <a:tcPr marT="0" marB="0" marR="0" marL="0" anchor="ctr"/>
                </a:tc>
              </a:tr>
              <a:tr h="266250">
                <a:tc>
                  <a:txBody>
                    <a:bodyPr/>
                    <a:lstStyle/>
                    <a:p>
                      <a:pPr indent="0" lvl="0" marL="0" marR="0" rtl="0" algn="ctr">
                        <a:spcBef>
                          <a:spcPts val="0"/>
                        </a:spcBef>
                        <a:spcAft>
                          <a:spcPts val="0"/>
                        </a:spcAft>
                        <a:buNone/>
                      </a:pPr>
                      <a:r>
                        <a:rPr lang="en-US" sz="1100"/>
                        <a:t>470</a:t>
                      </a:r>
                      <a:endParaRPr sz="1100"/>
                    </a:p>
                  </a:txBody>
                  <a:tcPr marT="0" marB="0" marR="0" marL="0" anchor="ctr"/>
                </a:tc>
              </a:tr>
              <a:tr h="266250">
                <a:tc>
                  <a:txBody>
                    <a:bodyPr/>
                    <a:lstStyle/>
                    <a:p>
                      <a:pPr indent="0" lvl="0" marL="0" marR="0" rtl="0" algn="ctr">
                        <a:spcBef>
                          <a:spcPts val="0"/>
                        </a:spcBef>
                        <a:spcAft>
                          <a:spcPts val="0"/>
                        </a:spcAft>
                        <a:buNone/>
                      </a:pPr>
                      <a:r>
                        <a:rPr lang="en-US" sz="1100"/>
                        <a:t>52</a:t>
                      </a:r>
                      <a:endParaRPr sz="1100"/>
                    </a:p>
                  </a:txBody>
                  <a:tcPr marT="0" marB="0" marR="0" marL="0" anchor="ctr"/>
                </a:tc>
              </a:tr>
              <a:tr h="325425">
                <a:tc>
                  <a:txBody>
                    <a:bodyPr/>
                    <a:lstStyle/>
                    <a:p>
                      <a:pPr indent="0" lvl="0" marL="0" marR="0" rtl="0" algn="ctr">
                        <a:spcBef>
                          <a:spcPts val="0"/>
                        </a:spcBef>
                        <a:spcAft>
                          <a:spcPts val="0"/>
                        </a:spcAft>
                        <a:buNone/>
                      </a:pPr>
                      <a:r>
                        <a:rPr lang="en-US" sz="1100"/>
                        <a:t>-</a:t>
                      </a:r>
                      <a:endParaRPr sz="1100"/>
                    </a:p>
                  </a:txBody>
                  <a:tcPr marT="0" marB="0" marR="0" marL="0" anchor="ctr"/>
                </a:tc>
              </a:tr>
              <a:tr h="325325">
                <a:tc>
                  <a:txBody>
                    <a:bodyPr/>
                    <a:lstStyle/>
                    <a:p>
                      <a:pPr indent="0" lvl="0" marL="0" marR="0" rtl="0" algn="ctr">
                        <a:spcBef>
                          <a:spcPts val="0"/>
                        </a:spcBef>
                        <a:spcAft>
                          <a:spcPts val="0"/>
                        </a:spcAft>
                        <a:buNone/>
                      </a:pPr>
                      <a:r>
                        <a:rPr lang="en-US" sz="1100"/>
                        <a:t>-</a:t>
                      </a:r>
                      <a:endParaRPr sz="1100"/>
                    </a:p>
                  </a:txBody>
                  <a:tcPr marT="0" marB="0" marR="0" marL="0" anchor="ctr"/>
                </a:tc>
              </a:tr>
            </a:tbl>
          </a:graphicData>
        </a:graphic>
      </p:graphicFrame>
      <p:graphicFrame>
        <p:nvGraphicFramePr>
          <p:cNvPr id="451" name="Google Shape;451;p55"/>
          <p:cNvGraphicFramePr/>
          <p:nvPr/>
        </p:nvGraphicFramePr>
        <p:xfrm>
          <a:off x="9776831" y="409733"/>
          <a:ext cx="3000000" cy="3000000"/>
        </p:xfrm>
        <a:graphic>
          <a:graphicData uri="http://schemas.openxmlformats.org/drawingml/2006/table">
            <a:tbl>
              <a:tblPr>
                <a:noFill/>
                <a:tableStyleId>{40B977D2-3903-41EF-8714-5AC59086702B}</a:tableStyleId>
              </a:tblPr>
              <a:tblGrid>
                <a:gridCol w="1165500"/>
              </a:tblGrid>
              <a:tr h="318225">
                <a:tc>
                  <a:txBody>
                    <a:bodyPr/>
                    <a:lstStyle/>
                    <a:p>
                      <a:pPr indent="0" lvl="0" marL="0" marR="0" rtl="0" algn="ctr">
                        <a:spcBef>
                          <a:spcPts val="0"/>
                        </a:spcBef>
                        <a:spcAft>
                          <a:spcPts val="0"/>
                        </a:spcAft>
                        <a:buNone/>
                      </a:pPr>
                      <a:r>
                        <a:rPr lang="en-US" sz="1100"/>
                        <a:t>2024-2025</a:t>
                      </a:r>
                      <a:endParaRPr sz="1100"/>
                    </a:p>
                    <a:p>
                      <a:pPr indent="0" lvl="0" marL="0" marR="0" rtl="0" algn="ctr">
                        <a:spcBef>
                          <a:spcPts val="0"/>
                        </a:spcBef>
                        <a:spcAft>
                          <a:spcPts val="0"/>
                        </a:spcAft>
                        <a:buNone/>
                      </a:pPr>
                      <a:r>
                        <a:rPr lang="en-US" sz="1100"/>
                        <a:t>ուստարի </a:t>
                      </a:r>
                      <a:endParaRPr/>
                    </a:p>
                  </a:txBody>
                  <a:tcPr marT="0" marB="0" marR="0" marL="0" anchor="ctr"/>
                </a:tc>
              </a:tr>
              <a:tr h="329175">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31</a:t>
                      </a:r>
                      <a:endParaRPr/>
                    </a:p>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100% </a:t>
                      </a:r>
                      <a:endParaRPr b="0" i="0" sz="1100" u="none" cap="none" strike="noStrike">
                        <a:solidFill>
                          <a:srgbClr val="000000"/>
                        </a:solidFill>
                        <a:latin typeface="Century Gothic"/>
                        <a:ea typeface="Century Gothic"/>
                        <a:cs typeface="Century Gothic"/>
                        <a:sym typeface="Century Gothic"/>
                      </a:endParaRPr>
                    </a:p>
                  </a:txBody>
                  <a:tcPr marT="0" marB="0" marR="0" marL="0" anchor="ctr"/>
                </a:tc>
              </a:tr>
              <a:tr h="320300">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31</a:t>
                      </a:r>
                      <a:endParaRPr/>
                    </a:p>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100% </a:t>
                      </a:r>
                      <a:endParaRPr b="0" i="0" sz="1100" u="none" cap="none" strike="noStrike">
                        <a:solidFill>
                          <a:srgbClr val="000000"/>
                        </a:solidFill>
                        <a:latin typeface="Century Gothic"/>
                        <a:ea typeface="Century Gothic"/>
                        <a:cs typeface="Century Gothic"/>
                        <a:sym typeface="Century Gothic"/>
                      </a:endParaRPr>
                    </a:p>
                  </a:txBody>
                  <a:tcPr marT="0" marB="0" marR="0" marL="0" anchor="ctr"/>
                </a:tc>
              </a:tr>
              <a:tr h="325425">
                <a:tc>
                  <a:txBody>
                    <a:bodyPr/>
                    <a:lstStyle/>
                    <a:p>
                      <a:pPr indent="0" lvl="0" marL="0" marR="0" rtl="0" algn="ctr">
                        <a:spcBef>
                          <a:spcPts val="0"/>
                        </a:spcBef>
                        <a:spcAft>
                          <a:spcPts val="0"/>
                        </a:spcAft>
                        <a:buNone/>
                      </a:pPr>
                      <a:r>
                        <a:rPr lang="en-US" sz="1100"/>
                        <a:t>2</a:t>
                      </a:r>
                      <a:endParaRPr sz="1100"/>
                    </a:p>
                  </a:txBody>
                  <a:tcPr marT="0" marB="0" marR="0" marL="0" anchor="ctr"/>
                </a:tc>
              </a:tr>
              <a:tr h="345275">
                <a:tc>
                  <a:txBody>
                    <a:bodyPr/>
                    <a:lstStyle/>
                    <a:p>
                      <a:pPr indent="0" lvl="0" marL="0" marR="0" rtl="0" algn="ctr">
                        <a:spcBef>
                          <a:spcPts val="0"/>
                        </a:spcBef>
                        <a:spcAft>
                          <a:spcPts val="0"/>
                        </a:spcAft>
                        <a:buNone/>
                      </a:pPr>
                      <a:r>
                        <a:rPr lang="en-US" sz="1100"/>
                        <a:t>5</a:t>
                      </a:r>
                      <a:endParaRPr sz="1100"/>
                    </a:p>
                  </a:txBody>
                  <a:tcPr marT="0" marB="0" marR="0" marL="0" anchor="ctr"/>
                </a:tc>
              </a:tr>
              <a:tr h="266250">
                <a:tc>
                  <a:txBody>
                    <a:bodyPr/>
                    <a:lstStyle/>
                    <a:p>
                      <a:pPr indent="0" lvl="0" marL="0" marR="0" rtl="0" algn="ctr">
                        <a:spcBef>
                          <a:spcPts val="0"/>
                        </a:spcBef>
                        <a:spcAft>
                          <a:spcPts val="0"/>
                        </a:spcAft>
                        <a:buNone/>
                      </a:pPr>
                      <a:r>
                        <a:rPr lang="en-US" sz="1100"/>
                        <a:t>0</a:t>
                      </a:r>
                      <a:endParaRPr sz="1100"/>
                    </a:p>
                  </a:txBody>
                  <a:tcPr marT="0" marB="0" marR="0" marL="0" anchor="ctr"/>
                </a:tc>
              </a:tr>
              <a:tr h="479475">
                <a:tc>
                  <a:txBody>
                    <a:bodyPr/>
                    <a:lstStyle/>
                    <a:p>
                      <a:pPr indent="0" lvl="0" marL="0" marR="0" rtl="0" algn="ctr">
                        <a:spcBef>
                          <a:spcPts val="0"/>
                        </a:spcBef>
                        <a:spcAft>
                          <a:spcPts val="0"/>
                        </a:spcAft>
                        <a:buNone/>
                      </a:pPr>
                      <a:r>
                        <a:rPr lang="en-US" sz="1100"/>
                        <a:t>30</a:t>
                      </a:r>
                      <a:endParaRPr sz="1100"/>
                    </a:p>
                  </a:txBody>
                  <a:tcPr marT="0" marB="0" marR="0" marL="0" anchor="ctr">
                    <a:solidFill>
                      <a:srgbClr val="E9EEDA"/>
                    </a:solidFill>
                  </a:tcPr>
                </a:tc>
              </a:tr>
              <a:tr h="334600">
                <a:tc>
                  <a:txBody>
                    <a:bodyPr/>
                    <a:lstStyle/>
                    <a:p>
                      <a:pPr indent="0" lvl="0" marL="0" marR="0" rtl="0" algn="ctr">
                        <a:spcBef>
                          <a:spcPts val="0"/>
                        </a:spcBef>
                        <a:spcAft>
                          <a:spcPts val="0"/>
                        </a:spcAft>
                        <a:buNone/>
                      </a:pPr>
                      <a:r>
                        <a:rPr lang="en-US" sz="1100"/>
                        <a:t>1</a:t>
                      </a:r>
                      <a:endParaRPr sz="1100"/>
                    </a:p>
                  </a:txBody>
                  <a:tcPr marT="0" marB="0" marR="0" marL="0" anchor="ctr">
                    <a:solidFill>
                      <a:srgbClr val="E9EEDA"/>
                    </a:solidFill>
                  </a:tcPr>
                </a:tc>
              </a:tr>
              <a:tr h="266250">
                <a:tc>
                  <a:txBody>
                    <a:bodyPr/>
                    <a:lstStyle/>
                    <a:p>
                      <a:pPr indent="0" lvl="0" marL="0" marR="0" rtl="0" algn="ctr">
                        <a:spcBef>
                          <a:spcPts val="0"/>
                        </a:spcBef>
                        <a:spcAft>
                          <a:spcPts val="0"/>
                        </a:spcAft>
                        <a:buNone/>
                      </a:pPr>
                      <a:r>
                        <a:rPr lang="en-US" sz="1100"/>
                        <a:t>55</a:t>
                      </a:r>
                      <a:endParaRPr sz="1100"/>
                    </a:p>
                  </a:txBody>
                  <a:tcPr marT="0" marB="0" marR="0" marL="0" anchor="ctr">
                    <a:solidFill>
                      <a:srgbClr val="E9EEDA"/>
                    </a:solidFill>
                  </a:tcPr>
                </a:tc>
              </a:tr>
              <a:tr h="541925">
                <a:tc>
                  <a:txBody>
                    <a:bodyPr/>
                    <a:lstStyle/>
                    <a:p>
                      <a:pPr indent="0" lvl="0" marL="0" marR="0" rtl="0" algn="ctr">
                        <a:spcBef>
                          <a:spcPts val="0"/>
                        </a:spcBef>
                        <a:spcAft>
                          <a:spcPts val="0"/>
                        </a:spcAft>
                        <a:buNone/>
                      </a:pPr>
                      <a:r>
                        <a:rPr lang="en-US" sz="1100"/>
                        <a:t>-</a:t>
                      </a:r>
                      <a:endParaRPr sz="1100"/>
                    </a:p>
                  </a:txBody>
                  <a:tcPr marT="0" marB="0" marR="0" marL="0" anchor="ctr">
                    <a:solidFill>
                      <a:srgbClr val="E9EEDA"/>
                    </a:solidFill>
                  </a:tcPr>
                </a:tc>
              </a:tr>
              <a:tr h="325425">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 </a:t>
                      </a:r>
                      <a:endParaRPr/>
                    </a:p>
                  </a:txBody>
                  <a:tcPr marT="0" marB="0" marR="0" marL="0" anchor="ctr">
                    <a:solidFill>
                      <a:srgbClr val="E9EEDA"/>
                    </a:solidFill>
                  </a:tcPr>
                </a:tc>
              </a:tr>
              <a:tr h="430375">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 </a:t>
                      </a:r>
                      <a:endParaRPr/>
                    </a:p>
                  </a:txBody>
                  <a:tcPr marT="0" marB="0" marR="0" marL="0" anchor="ctr"/>
                </a:tc>
              </a:tr>
              <a:tr h="325425">
                <a:tc>
                  <a:txBody>
                    <a:bodyPr/>
                    <a:lstStyle/>
                    <a:p>
                      <a:pPr indent="0" lvl="0" marL="0" marR="0" rtl="0" algn="ctr">
                        <a:spcBef>
                          <a:spcPts val="0"/>
                        </a:spcBef>
                        <a:spcAft>
                          <a:spcPts val="0"/>
                        </a:spcAft>
                        <a:buNone/>
                      </a:pPr>
                      <a:r>
                        <a:rPr lang="en-US" sz="1100"/>
                        <a:t>31</a:t>
                      </a:r>
                      <a:endParaRPr/>
                    </a:p>
                    <a:p>
                      <a:pPr indent="0" lvl="0" marL="0" marR="0" rtl="0" algn="ctr">
                        <a:spcBef>
                          <a:spcPts val="0"/>
                        </a:spcBef>
                        <a:spcAft>
                          <a:spcPts val="0"/>
                        </a:spcAft>
                        <a:buNone/>
                      </a:pPr>
                      <a:r>
                        <a:rPr lang="en-US" sz="1100"/>
                        <a:t>100%</a:t>
                      </a:r>
                      <a:endParaRPr/>
                    </a:p>
                  </a:txBody>
                  <a:tcPr marT="0" marB="0" marR="0" marL="0" anchor="ctr"/>
                </a:tc>
              </a:tr>
              <a:tr h="266250">
                <a:tc>
                  <a:txBody>
                    <a:bodyPr/>
                    <a:lstStyle/>
                    <a:p>
                      <a:pPr indent="0" lvl="0" marL="0" marR="0" rtl="0" algn="ctr">
                        <a:spcBef>
                          <a:spcPts val="0"/>
                        </a:spcBef>
                        <a:spcAft>
                          <a:spcPts val="0"/>
                        </a:spcAft>
                        <a:buNone/>
                      </a:pPr>
                      <a:r>
                        <a:rPr lang="en-US" sz="1100"/>
                        <a:t>46 օր</a:t>
                      </a:r>
                      <a:endParaRPr sz="1100"/>
                    </a:p>
                  </a:txBody>
                  <a:tcPr marT="0" marB="0" marR="0" marL="0" anchor="ctr"/>
                </a:tc>
              </a:tr>
              <a:tr h="266250">
                <a:tc>
                  <a:txBody>
                    <a:bodyPr/>
                    <a:lstStyle/>
                    <a:p>
                      <a:pPr indent="0" lvl="0" marL="0" marR="0" rtl="0" algn="ctr">
                        <a:spcBef>
                          <a:spcPts val="0"/>
                        </a:spcBef>
                        <a:spcAft>
                          <a:spcPts val="0"/>
                        </a:spcAft>
                        <a:buNone/>
                      </a:pPr>
                      <a:r>
                        <a:rPr lang="en-US" sz="1100"/>
                        <a:t>70</a:t>
                      </a:r>
                      <a:endParaRPr sz="1100"/>
                    </a:p>
                  </a:txBody>
                  <a:tcPr marT="0" marB="0" marR="0" marL="0" anchor="ctr"/>
                </a:tc>
              </a:tr>
              <a:tr h="266250">
                <a:tc>
                  <a:txBody>
                    <a:bodyPr/>
                    <a:lstStyle/>
                    <a:p>
                      <a:pPr indent="0" lvl="0" marL="0" marR="0" rtl="0" algn="ctr">
                        <a:spcBef>
                          <a:spcPts val="0"/>
                        </a:spcBef>
                        <a:spcAft>
                          <a:spcPts val="0"/>
                        </a:spcAft>
                        <a:buNone/>
                      </a:pPr>
                      <a:r>
                        <a:rPr lang="en-US" sz="1100"/>
                        <a:t>450</a:t>
                      </a:r>
                      <a:endParaRPr sz="1100"/>
                    </a:p>
                  </a:txBody>
                  <a:tcPr marT="0" marB="0" marR="0" marL="0" anchor="ctr"/>
                </a:tc>
              </a:tr>
              <a:tr h="266250">
                <a:tc>
                  <a:txBody>
                    <a:bodyPr/>
                    <a:lstStyle/>
                    <a:p>
                      <a:pPr indent="0" lvl="0" marL="0" marR="0" rtl="0" algn="ctr">
                        <a:spcBef>
                          <a:spcPts val="0"/>
                        </a:spcBef>
                        <a:spcAft>
                          <a:spcPts val="0"/>
                        </a:spcAft>
                        <a:buNone/>
                      </a:pPr>
                      <a:r>
                        <a:rPr lang="en-US" sz="1100"/>
                        <a:t>60</a:t>
                      </a:r>
                      <a:endParaRPr sz="1100"/>
                    </a:p>
                  </a:txBody>
                  <a:tcPr marT="0" marB="0" marR="0" marL="0" anchor="ctr"/>
                </a:tc>
              </a:tr>
              <a:tr h="325425">
                <a:tc>
                  <a:txBody>
                    <a:bodyPr/>
                    <a:lstStyle/>
                    <a:p>
                      <a:pPr indent="0" lvl="0" marL="0" marR="0" rtl="0" algn="ctr">
                        <a:spcBef>
                          <a:spcPts val="0"/>
                        </a:spcBef>
                        <a:spcAft>
                          <a:spcPts val="0"/>
                        </a:spcAft>
                        <a:buNone/>
                      </a:pPr>
                      <a:r>
                        <a:rPr lang="en-US" sz="1100"/>
                        <a:t>-</a:t>
                      </a:r>
                      <a:endParaRPr sz="1100"/>
                    </a:p>
                  </a:txBody>
                  <a:tcPr marT="0" marB="0" marR="0" marL="0" anchor="ctr"/>
                </a:tc>
              </a:tr>
              <a:tr h="325325">
                <a:tc>
                  <a:txBody>
                    <a:bodyPr/>
                    <a:lstStyle/>
                    <a:p>
                      <a:pPr indent="0" lvl="0" marL="0" marR="0" rtl="0" algn="ctr">
                        <a:spcBef>
                          <a:spcPts val="0"/>
                        </a:spcBef>
                        <a:spcAft>
                          <a:spcPts val="0"/>
                        </a:spcAft>
                        <a:buNone/>
                      </a:pPr>
                      <a:r>
                        <a:rPr lang="en-US" sz="1100"/>
                        <a:t>-</a:t>
                      </a:r>
                      <a:endParaRPr sz="1100"/>
                    </a:p>
                  </a:txBody>
                  <a:tcPr marT="0" marB="0" marR="0" marL="0" anchor="ctr"/>
                </a:tc>
              </a:tr>
            </a:tbl>
          </a:graphicData>
        </a:graphic>
      </p:graphicFrame>
      <p:graphicFrame>
        <p:nvGraphicFramePr>
          <p:cNvPr id="452" name="Google Shape;452;p55"/>
          <p:cNvGraphicFramePr/>
          <p:nvPr/>
        </p:nvGraphicFramePr>
        <p:xfrm>
          <a:off x="10942322" y="409173"/>
          <a:ext cx="3000000" cy="3000000"/>
        </p:xfrm>
        <a:graphic>
          <a:graphicData uri="http://schemas.openxmlformats.org/drawingml/2006/table">
            <a:tbl>
              <a:tblPr>
                <a:noFill/>
                <a:tableStyleId>{40B977D2-3903-41EF-8714-5AC59086702B}</a:tableStyleId>
              </a:tblPr>
              <a:tblGrid>
                <a:gridCol w="1165500"/>
              </a:tblGrid>
              <a:tr h="318225">
                <a:tc>
                  <a:txBody>
                    <a:bodyPr/>
                    <a:lstStyle/>
                    <a:p>
                      <a:pPr indent="0" lvl="0" marL="0" marR="0" rtl="0" algn="ctr">
                        <a:spcBef>
                          <a:spcPts val="0"/>
                        </a:spcBef>
                        <a:spcAft>
                          <a:spcPts val="0"/>
                        </a:spcAft>
                        <a:buNone/>
                      </a:pPr>
                      <a:r>
                        <a:rPr lang="en-US" sz="1100"/>
                        <a:t>2025-2026</a:t>
                      </a:r>
                      <a:endParaRPr sz="1100"/>
                    </a:p>
                    <a:p>
                      <a:pPr indent="0" lvl="0" marL="0" marR="0" rtl="0" algn="ctr">
                        <a:spcBef>
                          <a:spcPts val="0"/>
                        </a:spcBef>
                        <a:spcAft>
                          <a:spcPts val="0"/>
                        </a:spcAft>
                        <a:buNone/>
                      </a:pPr>
                      <a:r>
                        <a:rPr lang="en-US" sz="1100"/>
                        <a:t>ուստարի </a:t>
                      </a:r>
                      <a:endParaRPr/>
                    </a:p>
                  </a:txBody>
                  <a:tcPr marT="0" marB="0" marR="0" marL="0" anchor="ctr"/>
                </a:tc>
              </a:tr>
              <a:tr h="338625">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30</a:t>
                      </a:r>
                      <a:endParaRPr/>
                    </a:p>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100% </a:t>
                      </a:r>
                      <a:endParaRPr/>
                    </a:p>
                  </a:txBody>
                  <a:tcPr marT="0" marB="0" marR="0" marL="0" anchor="ctr"/>
                </a:tc>
              </a:tr>
              <a:tr h="319600">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30</a:t>
                      </a:r>
                      <a:endParaRPr/>
                    </a:p>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100% </a:t>
                      </a:r>
                      <a:endParaRPr/>
                    </a:p>
                  </a:txBody>
                  <a:tcPr marT="0" marB="0" marR="0" marL="0" anchor="ctr"/>
                </a:tc>
              </a:tr>
              <a:tr h="325425">
                <a:tc>
                  <a:txBody>
                    <a:bodyPr/>
                    <a:lstStyle/>
                    <a:p>
                      <a:pPr indent="0" lvl="0" marL="0" marR="0" rtl="0" algn="ctr">
                        <a:spcBef>
                          <a:spcPts val="0"/>
                        </a:spcBef>
                        <a:spcAft>
                          <a:spcPts val="0"/>
                        </a:spcAft>
                        <a:buNone/>
                      </a:pPr>
                      <a:r>
                        <a:rPr lang="en-US" sz="1100"/>
                        <a:t>2</a:t>
                      </a:r>
                      <a:endParaRPr sz="1100"/>
                    </a:p>
                  </a:txBody>
                  <a:tcPr marT="0" marB="0" marR="0" marL="0" anchor="ctr"/>
                </a:tc>
              </a:tr>
              <a:tr h="345275">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9</a:t>
                      </a:r>
                      <a:endParaRPr/>
                    </a:p>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30% </a:t>
                      </a:r>
                      <a:endParaRPr/>
                    </a:p>
                  </a:txBody>
                  <a:tcPr marT="0" marB="0" marR="0" marL="0" anchor="ctr"/>
                </a:tc>
              </a:tr>
              <a:tr h="266250">
                <a:tc>
                  <a:txBody>
                    <a:bodyPr/>
                    <a:lstStyle/>
                    <a:p>
                      <a:pPr indent="0" lvl="0" marL="0" marR="0" rtl="0" algn="ctr">
                        <a:spcBef>
                          <a:spcPts val="0"/>
                        </a:spcBef>
                        <a:spcAft>
                          <a:spcPts val="0"/>
                        </a:spcAft>
                        <a:buNone/>
                      </a:pPr>
                      <a:r>
                        <a:rPr lang="en-US" sz="1100"/>
                        <a:t>0</a:t>
                      </a:r>
                      <a:endParaRPr sz="1100"/>
                    </a:p>
                  </a:txBody>
                  <a:tcPr marT="0" marB="0" marR="0" marL="0" anchor="ctr"/>
                </a:tc>
              </a:tr>
              <a:tr h="479475">
                <a:tc>
                  <a:txBody>
                    <a:bodyPr/>
                    <a:lstStyle/>
                    <a:p>
                      <a:pPr indent="0" lvl="0" marL="0" marR="0" rtl="0" algn="ctr">
                        <a:spcBef>
                          <a:spcPts val="0"/>
                        </a:spcBef>
                        <a:spcAft>
                          <a:spcPts val="0"/>
                        </a:spcAft>
                        <a:buNone/>
                      </a:pPr>
                      <a:r>
                        <a:rPr lang="en-US" sz="1100"/>
                        <a:t>-</a:t>
                      </a:r>
                      <a:endParaRPr sz="1100"/>
                    </a:p>
                  </a:txBody>
                  <a:tcPr marT="0" marB="0" marR="0" marL="0" anchor="ctr">
                    <a:solidFill>
                      <a:srgbClr val="E9EEDA"/>
                    </a:solidFill>
                  </a:tcPr>
                </a:tc>
              </a:tr>
              <a:tr h="334600">
                <a:tc>
                  <a:txBody>
                    <a:bodyPr/>
                    <a:lstStyle/>
                    <a:p>
                      <a:pPr indent="0" lvl="0" marL="0" marR="0" rtl="0" algn="ctr">
                        <a:spcBef>
                          <a:spcPts val="0"/>
                        </a:spcBef>
                        <a:spcAft>
                          <a:spcPts val="0"/>
                        </a:spcAft>
                        <a:buNone/>
                      </a:pPr>
                      <a:r>
                        <a:rPr lang="en-US" sz="1100"/>
                        <a:t>1</a:t>
                      </a:r>
                      <a:endParaRPr sz="1100"/>
                    </a:p>
                  </a:txBody>
                  <a:tcPr marT="0" marB="0" marR="0" marL="0" anchor="ctr">
                    <a:solidFill>
                      <a:srgbClr val="E9EEDA"/>
                    </a:solidFill>
                  </a:tcPr>
                </a:tc>
              </a:tr>
              <a:tr h="266250">
                <a:tc>
                  <a:txBody>
                    <a:bodyPr/>
                    <a:lstStyle/>
                    <a:p>
                      <a:pPr indent="0" lvl="0" marL="0" marR="0" rtl="0" algn="ctr">
                        <a:spcBef>
                          <a:spcPts val="0"/>
                        </a:spcBef>
                        <a:spcAft>
                          <a:spcPts val="0"/>
                        </a:spcAft>
                        <a:buNone/>
                      </a:pPr>
                      <a:r>
                        <a:rPr lang="en-US" sz="1100"/>
                        <a:t>55</a:t>
                      </a:r>
                      <a:endParaRPr sz="1100"/>
                    </a:p>
                  </a:txBody>
                  <a:tcPr marT="0" marB="0" marR="0" marL="0" anchor="ctr">
                    <a:solidFill>
                      <a:srgbClr val="E9EEDA"/>
                    </a:solidFill>
                  </a:tcPr>
                </a:tc>
              </a:tr>
              <a:tr h="541925">
                <a:tc>
                  <a:txBody>
                    <a:bodyPr/>
                    <a:lstStyle/>
                    <a:p>
                      <a:pPr indent="0" lvl="0" marL="0" marR="0" rtl="0" algn="ctr">
                        <a:spcBef>
                          <a:spcPts val="0"/>
                        </a:spcBef>
                        <a:spcAft>
                          <a:spcPts val="0"/>
                        </a:spcAft>
                        <a:buNone/>
                      </a:pPr>
                      <a:r>
                        <a:rPr lang="en-US" sz="1100"/>
                        <a:t>-</a:t>
                      </a:r>
                      <a:endParaRPr sz="1100"/>
                    </a:p>
                  </a:txBody>
                  <a:tcPr marT="0" marB="0" marR="0" marL="0" anchor="ctr">
                    <a:solidFill>
                      <a:srgbClr val="E9EEDA"/>
                    </a:solidFill>
                  </a:tcPr>
                </a:tc>
              </a:tr>
              <a:tr h="325425">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30</a:t>
                      </a:r>
                      <a:endParaRPr/>
                    </a:p>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100% </a:t>
                      </a:r>
                      <a:endParaRPr/>
                    </a:p>
                  </a:txBody>
                  <a:tcPr marT="0" marB="0" marR="0" marL="0" anchor="ctr">
                    <a:solidFill>
                      <a:srgbClr val="E9EEDA"/>
                    </a:solidFill>
                  </a:tcPr>
                </a:tc>
              </a:tr>
              <a:tr h="430375">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30</a:t>
                      </a:r>
                      <a:endParaRPr/>
                    </a:p>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100% </a:t>
                      </a:r>
                      <a:endParaRPr/>
                    </a:p>
                  </a:txBody>
                  <a:tcPr marT="0" marB="0" marR="0" marL="0" anchor="ctr"/>
                </a:tc>
              </a:tr>
              <a:tr h="325425">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30</a:t>
                      </a:r>
                      <a:endParaRPr/>
                    </a:p>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100% </a:t>
                      </a:r>
                      <a:endParaRPr/>
                    </a:p>
                  </a:txBody>
                  <a:tcPr marT="0" marB="0" marR="0" marL="0" anchor="ctr"/>
                </a:tc>
              </a:tr>
              <a:tr h="266250">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Century Gothic"/>
                        <a:ea typeface="Century Gothic"/>
                        <a:cs typeface="Century Gothic"/>
                        <a:sym typeface="Century Gothic"/>
                      </a:endParaRPr>
                    </a:p>
                  </a:txBody>
                  <a:tcPr marT="0" marB="0" marR="0" marL="0" anchor="ctr"/>
                </a:tc>
              </a:tr>
              <a:tr h="266250">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Century Gothic"/>
                        <a:ea typeface="Century Gothic"/>
                        <a:cs typeface="Century Gothic"/>
                        <a:sym typeface="Century Gothic"/>
                      </a:endParaRPr>
                    </a:p>
                  </a:txBody>
                  <a:tcPr marT="0" marB="0" marR="0" marL="0" anchor="ctr"/>
                </a:tc>
              </a:tr>
              <a:tr h="266250">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Century Gothic"/>
                        <a:ea typeface="Century Gothic"/>
                        <a:cs typeface="Century Gothic"/>
                        <a:sym typeface="Century Gothic"/>
                      </a:endParaRPr>
                    </a:p>
                  </a:txBody>
                  <a:tcPr marT="0" marB="0" marR="0" marL="0" anchor="ctr"/>
                </a:tc>
              </a:tr>
              <a:tr h="266250">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Century Gothic"/>
                        <a:ea typeface="Century Gothic"/>
                        <a:cs typeface="Century Gothic"/>
                        <a:sym typeface="Century Gothic"/>
                      </a:endParaRPr>
                    </a:p>
                  </a:txBody>
                  <a:tcPr marT="0" marB="0" marR="0" marL="0" anchor="ctr"/>
                </a:tc>
              </a:tr>
              <a:tr h="325425">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Century Gothic"/>
                        <a:ea typeface="Century Gothic"/>
                        <a:cs typeface="Century Gothic"/>
                        <a:sym typeface="Century Gothic"/>
                      </a:endParaRPr>
                    </a:p>
                  </a:txBody>
                  <a:tcPr marT="0" marB="0" marR="0" marL="0" anchor="ctr"/>
                </a:tc>
              </a:tr>
              <a:tr h="325325">
                <a:tc>
                  <a:txBody>
                    <a:bodyPr/>
                    <a:lstStyle/>
                    <a:p>
                      <a:pPr indent="0" lvl="0" marL="0" marR="0" rtl="0" algn="ctr">
                        <a:lnSpc>
                          <a:spcPct val="100000"/>
                        </a:lnSpc>
                        <a:spcBef>
                          <a:spcPts val="0"/>
                        </a:spcBef>
                        <a:spcAft>
                          <a:spcPts val="0"/>
                        </a:spcAft>
                        <a:buClr>
                          <a:srgbClr val="000000"/>
                        </a:buClr>
                        <a:buSzPts val="1100"/>
                        <a:buFont typeface="Century Gothic"/>
                        <a:buNone/>
                      </a:pPr>
                      <a:r>
                        <a:rPr b="0" i="0" lang="en-US"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Century Gothic"/>
                        <a:ea typeface="Century Gothic"/>
                        <a:cs typeface="Century Gothic"/>
                        <a:sym typeface="Century Gothic"/>
                      </a:endParaRPr>
                    </a:p>
                  </a:txBody>
                  <a:tcPr marT="0" marB="0" marR="0" marL="0" anchor="ct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pic>
        <p:nvPicPr>
          <p:cNvPr id="458" name="Google Shape;458;p56"/>
          <p:cNvPicPr preferRelativeResize="0"/>
          <p:nvPr/>
        </p:nvPicPr>
        <p:blipFill rotWithShape="1">
          <a:blip r:embed="rId3">
            <a:alphaModFix/>
          </a:blip>
          <a:srcRect b="0" l="0" r="0" t="0"/>
          <a:stretch/>
        </p:blipFill>
        <p:spPr>
          <a:xfrm>
            <a:off x="1720092" y="338328"/>
            <a:ext cx="9088525" cy="1022760"/>
          </a:xfrm>
          <a:prstGeom prst="rect">
            <a:avLst/>
          </a:prstGeom>
          <a:noFill/>
          <a:ln>
            <a:noFill/>
          </a:ln>
        </p:spPr>
      </p:pic>
      <p:graphicFrame>
        <p:nvGraphicFramePr>
          <p:cNvPr id="459" name="Google Shape;459;p56"/>
          <p:cNvGraphicFramePr/>
          <p:nvPr/>
        </p:nvGraphicFramePr>
        <p:xfrm>
          <a:off x="1016338" y="1464639"/>
          <a:ext cx="3000000" cy="3000000"/>
        </p:xfrm>
        <a:graphic>
          <a:graphicData uri="http://schemas.openxmlformats.org/drawingml/2006/table">
            <a:tbl>
              <a:tblPr>
                <a:noFill/>
                <a:tableStyleId>{40B977D2-3903-41EF-8714-5AC59086702B}</a:tableStyleId>
              </a:tblPr>
              <a:tblGrid>
                <a:gridCol w="8896975"/>
                <a:gridCol w="1187025"/>
              </a:tblGrid>
              <a:tr h="345950">
                <a:tc>
                  <a:txBody>
                    <a:bodyPr/>
                    <a:lstStyle/>
                    <a:p>
                      <a:pPr indent="0" lvl="0" marL="0" marR="0" rtl="0" algn="ctr">
                        <a:lnSpc>
                          <a:spcPct val="150000"/>
                        </a:lnSpc>
                        <a:spcBef>
                          <a:spcPts val="0"/>
                        </a:spcBef>
                        <a:spcAft>
                          <a:spcPts val="0"/>
                        </a:spcAft>
                        <a:buNone/>
                      </a:pPr>
                      <a:r>
                        <a:rPr lang="en-US" sz="1400"/>
                        <a:t>Ցուցանիշ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Տվյալներ </a:t>
                      </a:r>
                      <a:endParaRPr sz="1800"/>
                    </a:p>
                  </a:txBody>
                  <a:tcPr marT="0" marB="0" marR="0" marL="0" anchor="ctr"/>
                </a:tc>
              </a:tr>
              <a:tr h="357475">
                <a:tc>
                  <a:txBody>
                    <a:bodyPr/>
                    <a:lstStyle/>
                    <a:p>
                      <a:pPr indent="0" lvl="0" marL="0" marR="0" rtl="0" algn="just">
                        <a:lnSpc>
                          <a:spcPct val="150000"/>
                        </a:lnSpc>
                        <a:spcBef>
                          <a:spcPts val="0"/>
                        </a:spcBef>
                        <a:spcAft>
                          <a:spcPts val="0"/>
                        </a:spcAft>
                        <a:buNone/>
                      </a:pPr>
                      <a:r>
                        <a:rPr lang="en-US" sz="1400"/>
                        <a:t>Գրադարանի տարածքը քմ-ով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76</a:t>
                      </a:r>
                      <a:endParaRPr sz="1800"/>
                    </a:p>
                  </a:txBody>
                  <a:tcPr marT="0" marB="0" marR="0" marL="0" anchor="ctr"/>
                </a:tc>
              </a:tr>
              <a:tr h="345950">
                <a:tc>
                  <a:txBody>
                    <a:bodyPr/>
                    <a:lstStyle/>
                    <a:p>
                      <a:pPr indent="0" lvl="0" marL="0" marR="0" rtl="0" algn="just">
                        <a:lnSpc>
                          <a:spcPct val="150000"/>
                        </a:lnSpc>
                        <a:spcBef>
                          <a:spcPts val="0"/>
                        </a:spcBef>
                        <a:spcAft>
                          <a:spcPts val="0"/>
                        </a:spcAft>
                        <a:buNone/>
                      </a:pPr>
                      <a:r>
                        <a:rPr lang="en-US" sz="1400"/>
                        <a:t>Գրադարանում համակարգիչների թիվը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1 </a:t>
                      </a:r>
                      <a:endParaRPr sz="1800"/>
                    </a:p>
                  </a:txBody>
                  <a:tcPr marT="0" marB="0" marR="0" marL="0" anchor="ctr"/>
                </a:tc>
              </a:tr>
              <a:tr h="357475">
                <a:tc>
                  <a:txBody>
                    <a:bodyPr/>
                    <a:lstStyle/>
                    <a:p>
                      <a:pPr indent="0" lvl="0" marL="0" marR="0" rtl="0" algn="just">
                        <a:lnSpc>
                          <a:spcPct val="150000"/>
                        </a:lnSpc>
                        <a:spcBef>
                          <a:spcPts val="0"/>
                        </a:spcBef>
                        <a:spcAft>
                          <a:spcPts val="0"/>
                        </a:spcAft>
                        <a:buNone/>
                      </a:pPr>
                      <a:r>
                        <a:rPr lang="en-US" sz="1400"/>
                        <a:t>Գրադարանում ինտերնետին միացված համակարգչների թիվը </a:t>
                      </a:r>
                      <a:endParaRPr sz="1800"/>
                    </a:p>
                  </a:txBody>
                  <a:tcPr marT="0" marB="0" marR="0" marL="0" anchor="ctr"/>
                </a:tc>
                <a:tc>
                  <a:txBody>
                    <a:bodyPr/>
                    <a:lstStyle/>
                    <a:p>
                      <a:pPr indent="0" lvl="0" marL="0" marR="0" rtl="0" algn="l">
                        <a:spcBef>
                          <a:spcPts val="0"/>
                        </a:spcBef>
                        <a:spcAft>
                          <a:spcPts val="0"/>
                        </a:spcAft>
                        <a:buClr>
                          <a:schemeClr val="dk1"/>
                        </a:buClr>
                        <a:buSzPts val="1400"/>
                        <a:buFont typeface="Constantia"/>
                        <a:buNone/>
                      </a:pPr>
                      <a:r>
                        <a:rPr lang="en-US" sz="1400">
                          <a:latin typeface="Constantia"/>
                          <a:ea typeface="Constantia"/>
                          <a:cs typeface="Constantia"/>
                          <a:sym typeface="Constantia"/>
                        </a:rPr>
                        <a:t>           1</a:t>
                      </a:r>
                      <a:endParaRPr/>
                    </a:p>
                  </a:txBody>
                  <a:tcPr marT="0" marB="0" marR="0" marL="0" anchor="ctr"/>
                </a:tc>
              </a:tr>
              <a:tr h="345950">
                <a:tc>
                  <a:txBody>
                    <a:bodyPr/>
                    <a:lstStyle/>
                    <a:p>
                      <a:pPr indent="0" lvl="0" marL="0" marR="0" rtl="0" algn="just">
                        <a:lnSpc>
                          <a:spcPct val="150000"/>
                        </a:lnSpc>
                        <a:spcBef>
                          <a:spcPts val="0"/>
                        </a:spcBef>
                        <a:spcAft>
                          <a:spcPts val="0"/>
                        </a:spcAft>
                        <a:buNone/>
                      </a:pPr>
                      <a:r>
                        <a:rPr lang="en-US" sz="1400"/>
                        <a:t>Գրադարարանում կամ ընթերցասրահում նստատեղերի թիվը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5</a:t>
                      </a:r>
                      <a:endParaRPr sz="1800"/>
                    </a:p>
                  </a:txBody>
                  <a:tcPr marT="0" marB="0" marR="0" marL="0" anchor="ctr"/>
                </a:tc>
              </a:tr>
              <a:tr h="738025">
                <a:tc>
                  <a:txBody>
                    <a:bodyPr/>
                    <a:lstStyle/>
                    <a:p>
                      <a:pPr indent="0" lvl="0" marL="0" marR="0" rtl="0" algn="just">
                        <a:lnSpc>
                          <a:spcPct val="150000"/>
                        </a:lnSpc>
                        <a:spcBef>
                          <a:spcPts val="0"/>
                        </a:spcBef>
                        <a:spcAft>
                          <a:spcPts val="0"/>
                        </a:spcAft>
                        <a:buNone/>
                      </a:pPr>
                      <a:r>
                        <a:rPr lang="en-US" sz="1400"/>
                        <a:t>Գրադարանային ֆոնդում առկա գրքերի (բացառությամբ ՀՀ ԿԳ նախարարության կողմից երաշխավորված հիմնական դասագրքերի) ընդհանուր թիվը, այդ թվում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2320</a:t>
                      </a:r>
                      <a:endParaRPr sz="1800"/>
                    </a:p>
                  </a:txBody>
                  <a:tcPr marT="0" marB="0" marR="0" marL="0" anchor="ctr"/>
                </a:tc>
              </a:tr>
              <a:tr h="345950">
                <a:tc>
                  <a:txBody>
                    <a:bodyPr/>
                    <a:lstStyle/>
                    <a:p>
                      <a:pPr indent="0" lvl="0" marL="0" marR="0" rtl="0" algn="just">
                        <a:lnSpc>
                          <a:spcPct val="150000"/>
                        </a:lnSpc>
                        <a:spcBef>
                          <a:spcPts val="0"/>
                        </a:spcBef>
                        <a:spcAft>
                          <a:spcPts val="0"/>
                        </a:spcAft>
                        <a:buNone/>
                      </a:pPr>
                      <a:r>
                        <a:rPr lang="en-US" sz="1400"/>
                        <a:t>-գեղարվեստական գրքերի թիվը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2320</a:t>
                      </a:r>
                      <a:endParaRPr sz="1800"/>
                    </a:p>
                  </a:txBody>
                  <a:tcPr marT="0" marB="0" marR="0" marL="0" anchor="ctr"/>
                </a:tc>
              </a:tr>
              <a:tr h="357475">
                <a:tc>
                  <a:txBody>
                    <a:bodyPr/>
                    <a:lstStyle/>
                    <a:p>
                      <a:pPr indent="0" lvl="0" marL="0" marR="0" rtl="0" algn="just">
                        <a:lnSpc>
                          <a:spcPct val="150000"/>
                        </a:lnSpc>
                        <a:spcBef>
                          <a:spcPts val="0"/>
                        </a:spcBef>
                        <a:spcAft>
                          <a:spcPts val="0"/>
                        </a:spcAft>
                        <a:buNone/>
                      </a:pPr>
                      <a:r>
                        <a:rPr lang="en-US" sz="1400"/>
                        <a:t>-տեղեկատվական գրքերի թիվը (բառարաններ, հանրագիտարաններ, ատլասներ և այլն)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200</a:t>
                      </a:r>
                      <a:endParaRPr sz="1800"/>
                    </a:p>
                  </a:txBody>
                  <a:tcPr marT="0" marB="0" marR="0" marL="0" anchor="ctr"/>
                </a:tc>
              </a:tr>
              <a:tr h="345950">
                <a:tc>
                  <a:txBody>
                    <a:bodyPr/>
                    <a:lstStyle/>
                    <a:p>
                      <a:pPr indent="0" lvl="0" marL="0" marR="0" rtl="0" algn="just">
                        <a:lnSpc>
                          <a:spcPct val="150000"/>
                        </a:lnSpc>
                        <a:spcBef>
                          <a:spcPts val="0"/>
                        </a:spcBef>
                        <a:spcAft>
                          <a:spcPts val="0"/>
                        </a:spcAft>
                        <a:buNone/>
                      </a:pPr>
                      <a:r>
                        <a:rPr lang="en-US" sz="1400"/>
                        <a:t>-ուսումնամեթոդական գրքերի թիվը </a:t>
                      </a:r>
                      <a:endParaRPr sz="1800"/>
                    </a:p>
                  </a:txBody>
                  <a:tcPr marT="0" marB="0" marR="0" marL="0" anchor="ctr"/>
                </a:tc>
                <a:tc>
                  <a:txBody>
                    <a:bodyPr/>
                    <a:lstStyle/>
                    <a:p>
                      <a:pPr indent="0" lvl="0" marL="0" marR="0" rtl="0" algn="ctr">
                        <a:lnSpc>
                          <a:spcPct val="150000"/>
                        </a:lnSpc>
                        <a:spcBef>
                          <a:spcPts val="0"/>
                        </a:spcBef>
                        <a:spcAft>
                          <a:spcPts val="0"/>
                        </a:spcAft>
                        <a:buClr>
                          <a:srgbClr val="000000"/>
                        </a:buClr>
                        <a:buSzPts val="1400"/>
                        <a:buFont typeface="Century Gothic"/>
                        <a:buNone/>
                      </a:pPr>
                      <a:r>
                        <a:rPr b="0" i="0" lang="en-US" sz="1400" u="none" cap="none" strike="noStrike">
                          <a:solidFill>
                            <a:srgbClr val="000000"/>
                          </a:solidFill>
                          <a:latin typeface="Century Gothic"/>
                          <a:ea typeface="Century Gothic"/>
                          <a:cs typeface="Century Gothic"/>
                          <a:sym typeface="Century Gothic"/>
                        </a:rPr>
                        <a:t>100</a:t>
                      </a:r>
                      <a:endParaRPr b="0" i="0" sz="1800" u="none" cap="none" strike="noStrike">
                        <a:solidFill>
                          <a:srgbClr val="000000"/>
                        </a:solidFill>
                        <a:latin typeface="Century Gothic"/>
                        <a:ea typeface="Century Gothic"/>
                        <a:cs typeface="Century Gothic"/>
                        <a:sym typeface="Century Gothic"/>
                      </a:endParaRPr>
                    </a:p>
                  </a:txBody>
                  <a:tcPr marT="0" marB="0" marR="0" marL="0" anchor="ctr"/>
                </a:tc>
              </a:tr>
              <a:tr h="357475">
                <a:tc>
                  <a:txBody>
                    <a:bodyPr/>
                    <a:lstStyle/>
                    <a:p>
                      <a:pPr indent="0" lvl="0" marL="0" marR="0" rtl="0" algn="just">
                        <a:lnSpc>
                          <a:spcPct val="150000"/>
                        </a:lnSpc>
                        <a:spcBef>
                          <a:spcPts val="0"/>
                        </a:spcBef>
                        <a:spcAft>
                          <a:spcPts val="0"/>
                        </a:spcAft>
                        <a:buNone/>
                      </a:pPr>
                      <a:r>
                        <a:rPr lang="en-US" sz="1400"/>
                        <a:t>-ամսագերի թիվը </a:t>
                      </a:r>
                      <a:endParaRPr sz="1800"/>
                    </a:p>
                  </a:txBody>
                  <a:tcPr marT="0" marB="0" marR="0" marL="0" anchor="ctr"/>
                </a:tc>
                <a:tc>
                  <a:txBody>
                    <a:bodyPr/>
                    <a:lstStyle/>
                    <a:p>
                      <a:pPr indent="0" lvl="0" marL="0" marR="0" rtl="0" algn="ctr">
                        <a:lnSpc>
                          <a:spcPct val="150000"/>
                        </a:lnSpc>
                        <a:spcBef>
                          <a:spcPts val="0"/>
                        </a:spcBef>
                        <a:spcAft>
                          <a:spcPts val="0"/>
                        </a:spcAft>
                        <a:buClr>
                          <a:srgbClr val="000000"/>
                        </a:buClr>
                        <a:buSzPts val="1400"/>
                        <a:buFont typeface="Century Gothic"/>
                        <a:buNone/>
                      </a:pPr>
                      <a:r>
                        <a:rPr b="0" i="0" lang="en-US" sz="1400" u="none" cap="none" strike="noStrike">
                          <a:solidFill>
                            <a:srgbClr val="000000"/>
                          </a:solidFill>
                          <a:latin typeface="Century Gothic"/>
                          <a:ea typeface="Century Gothic"/>
                          <a:cs typeface="Century Gothic"/>
                          <a:sym typeface="Century Gothic"/>
                        </a:rPr>
                        <a:t>20</a:t>
                      </a:r>
                      <a:endParaRPr b="0" i="0" sz="1800" u="none" cap="none" strike="noStrike">
                        <a:solidFill>
                          <a:srgbClr val="000000"/>
                        </a:solidFill>
                        <a:latin typeface="Century Gothic"/>
                        <a:ea typeface="Century Gothic"/>
                        <a:cs typeface="Century Gothic"/>
                        <a:sym typeface="Century Gothic"/>
                      </a:endParaRPr>
                    </a:p>
                  </a:txBody>
                  <a:tcPr marT="0" marB="0" marR="0" marL="0" anchor="ctr"/>
                </a:tc>
              </a:tr>
              <a:tr h="345950">
                <a:tc>
                  <a:txBody>
                    <a:bodyPr/>
                    <a:lstStyle/>
                    <a:p>
                      <a:pPr indent="0" lvl="0" marL="0" marR="0" rtl="0" algn="l">
                        <a:lnSpc>
                          <a:spcPct val="150000"/>
                        </a:lnSpc>
                        <a:spcBef>
                          <a:spcPts val="0"/>
                        </a:spcBef>
                        <a:spcAft>
                          <a:spcPts val="0"/>
                        </a:spcAft>
                        <a:buNone/>
                      </a:pPr>
                      <a:r>
                        <a:rPr lang="en-US" sz="1400"/>
                        <a:t>-այլ </a:t>
                      </a:r>
                      <a:endParaRPr sz="1800"/>
                    </a:p>
                  </a:txBody>
                  <a:tcPr marT="0" marB="0" marR="0" marL="0" anchor="ctr"/>
                </a:tc>
                <a:tc>
                  <a:txBody>
                    <a:bodyPr/>
                    <a:lstStyle/>
                    <a:p>
                      <a:pPr indent="0" lvl="0" marL="0" marR="0" rtl="0" algn="ctr">
                        <a:lnSpc>
                          <a:spcPct val="150000"/>
                        </a:lnSpc>
                        <a:spcBef>
                          <a:spcPts val="0"/>
                        </a:spcBef>
                        <a:spcAft>
                          <a:spcPts val="0"/>
                        </a:spcAft>
                        <a:buClr>
                          <a:srgbClr val="000000"/>
                        </a:buClr>
                        <a:buSzPts val="1400"/>
                        <a:buFont typeface="Century Gothic"/>
                        <a:buNone/>
                      </a:pPr>
                      <a:r>
                        <a:rPr b="0" i="0" lang="en-US" sz="1400" u="none" cap="none" strike="noStrike">
                          <a:solidFill>
                            <a:srgbClr val="000000"/>
                          </a:solidFill>
                          <a:latin typeface="Century Gothic"/>
                          <a:ea typeface="Century Gothic"/>
                          <a:cs typeface="Century Gothic"/>
                          <a:sym typeface="Century Gothic"/>
                        </a:rPr>
                        <a:t>30</a:t>
                      </a:r>
                      <a:endParaRPr b="0" i="0" sz="1800" u="none" cap="none" strike="noStrike">
                        <a:solidFill>
                          <a:srgbClr val="000000"/>
                        </a:solidFill>
                        <a:latin typeface="Century Gothic"/>
                        <a:ea typeface="Century Gothic"/>
                        <a:cs typeface="Century Gothic"/>
                        <a:sym typeface="Century Gothic"/>
                      </a:endParaRPr>
                    </a:p>
                  </a:txBody>
                  <a:tcPr marT="0" marB="0" marR="0" marL="0" anchor="ctr"/>
                </a:tc>
              </a:tr>
              <a:tr h="357475">
                <a:tc>
                  <a:txBody>
                    <a:bodyPr/>
                    <a:lstStyle/>
                    <a:p>
                      <a:pPr indent="0" lvl="0" marL="0" marR="0" rtl="0" algn="l">
                        <a:lnSpc>
                          <a:spcPct val="150000"/>
                        </a:lnSpc>
                        <a:spcBef>
                          <a:spcPts val="0"/>
                        </a:spcBef>
                        <a:spcAft>
                          <a:spcPts val="0"/>
                        </a:spcAft>
                        <a:buNone/>
                      </a:pPr>
                      <a:r>
                        <a:rPr lang="en-US" sz="1400"/>
                        <a:t>Վերջին անգամ գարդարանային ֆոնդի նոր գրականությամբ համալրվելու տարեթիվը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25</a:t>
                      </a:r>
                      <a:endParaRPr sz="1800"/>
                    </a:p>
                  </a:txBody>
                  <a:tcPr marT="0" marB="0" marR="0" marL="0" anchor="ctr"/>
                </a:tc>
              </a:tr>
              <a:tr h="357475">
                <a:tc>
                  <a:txBody>
                    <a:bodyPr/>
                    <a:lstStyle/>
                    <a:p>
                      <a:pPr indent="0" lvl="0" marL="0" marR="0" rtl="0" algn="l">
                        <a:lnSpc>
                          <a:spcPct val="150000"/>
                        </a:lnSpc>
                        <a:spcBef>
                          <a:spcPts val="0"/>
                        </a:spcBef>
                        <a:spcAft>
                          <a:spcPts val="0"/>
                        </a:spcAft>
                        <a:buNone/>
                      </a:pPr>
                      <a:r>
                        <a:rPr lang="en-US" sz="1400"/>
                        <a:t>Գրադարանից միջինում ամսեկան օգտվողների թիվը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100</a:t>
                      </a:r>
                      <a:endParaRPr sz="1400"/>
                    </a:p>
                  </a:txBody>
                  <a:tcPr marT="0" marB="0" marR="0" marL="0" anchor="ct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57"/>
          <p:cNvPicPr preferRelativeResize="0"/>
          <p:nvPr/>
        </p:nvPicPr>
        <p:blipFill rotWithShape="1">
          <a:blip r:embed="rId3">
            <a:alphaModFix/>
          </a:blip>
          <a:srcRect b="0" l="0" r="0" t="0"/>
          <a:stretch/>
        </p:blipFill>
        <p:spPr>
          <a:xfrm>
            <a:off x="1742550" y="214579"/>
            <a:ext cx="9088525" cy="1022760"/>
          </a:xfrm>
          <a:prstGeom prst="rect">
            <a:avLst/>
          </a:prstGeom>
          <a:noFill/>
          <a:ln>
            <a:noFill/>
          </a:ln>
        </p:spPr>
      </p:pic>
      <p:graphicFrame>
        <p:nvGraphicFramePr>
          <p:cNvPr id="466" name="Google Shape;466;p57"/>
          <p:cNvGraphicFramePr/>
          <p:nvPr/>
        </p:nvGraphicFramePr>
        <p:xfrm>
          <a:off x="1330656" y="1353402"/>
          <a:ext cx="3000000" cy="3000000"/>
        </p:xfrm>
        <a:graphic>
          <a:graphicData uri="http://schemas.openxmlformats.org/drawingml/2006/table">
            <a:tbl>
              <a:tblPr>
                <a:noFill/>
                <a:tableStyleId>{40B977D2-3903-41EF-8714-5AC59086702B}</a:tableStyleId>
              </a:tblPr>
              <a:tblGrid>
                <a:gridCol w="9193575"/>
                <a:gridCol w="978100"/>
              </a:tblGrid>
              <a:tr h="413975">
                <a:tc>
                  <a:txBody>
                    <a:bodyPr/>
                    <a:lstStyle/>
                    <a:p>
                      <a:pPr indent="0" lvl="0" marL="0" marR="0" rtl="0" algn="ctr">
                        <a:lnSpc>
                          <a:spcPct val="150000"/>
                        </a:lnSpc>
                        <a:spcBef>
                          <a:spcPts val="0"/>
                        </a:spcBef>
                        <a:spcAft>
                          <a:spcPts val="0"/>
                        </a:spcAft>
                        <a:buNone/>
                      </a:pPr>
                      <a:r>
                        <a:rPr lang="en-US" sz="1400"/>
                        <a:t>Ցուցանիշ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Տվյալներ </a:t>
                      </a:r>
                      <a:endParaRPr sz="1800"/>
                    </a:p>
                  </a:txBody>
                  <a:tcPr marT="0" marB="0" marR="0" marL="0" anchor="ctr"/>
                </a:tc>
              </a:tr>
              <a:tr h="297225">
                <a:tc gridSpan="2">
                  <a:txBody>
                    <a:bodyPr/>
                    <a:lstStyle/>
                    <a:p>
                      <a:pPr indent="0" lvl="0" marL="0" marR="0" rtl="0" algn="l">
                        <a:lnSpc>
                          <a:spcPct val="150000"/>
                        </a:lnSpc>
                        <a:spcBef>
                          <a:spcPts val="0"/>
                        </a:spcBef>
                        <a:spcAft>
                          <a:spcPts val="0"/>
                        </a:spcAft>
                        <a:buNone/>
                      </a:pPr>
                      <a:r>
                        <a:rPr lang="en-US" sz="1400"/>
                        <a:t>Պատասխանել այո կամ ոչ </a:t>
                      </a:r>
                      <a:endParaRPr sz="1800"/>
                    </a:p>
                  </a:txBody>
                  <a:tcPr marT="0" marB="0" marR="0" marL="0" anchor="ctr"/>
                </a:tc>
                <a:tc hMerge="1"/>
              </a:tr>
              <a:tr h="297225">
                <a:tc>
                  <a:txBody>
                    <a:bodyPr/>
                    <a:lstStyle/>
                    <a:p>
                      <a:pPr indent="0" lvl="0" marL="0" marR="0" rtl="0" algn="l">
                        <a:lnSpc>
                          <a:spcPct val="150000"/>
                        </a:lnSpc>
                        <a:spcBef>
                          <a:spcPts val="0"/>
                        </a:spcBef>
                        <a:spcAft>
                          <a:spcPts val="0"/>
                        </a:spcAft>
                        <a:buNone/>
                      </a:pPr>
                      <a:r>
                        <a:rPr lang="en-US" sz="1400"/>
                        <a:t>Վերանորոգվա՞ծ է արդյոք գրադարանը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Ոչ </a:t>
                      </a:r>
                      <a:endParaRPr sz="1800"/>
                    </a:p>
                  </a:txBody>
                  <a:tcPr marT="0" marB="0" marR="0" marL="0" anchor="ctr"/>
                </a:tc>
              </a:tr>
              <a:tr h="488275">
                <a:tc>
                  <a:txBody>
                    <a:bodyPr/>
                    <a:lstStyle/>
                    <a:p>
                      <a:pPr indent="0" lvl="0" marL="0" marR="0" rtl="0" algn="l">
                        <a:lnSpc>
                          <a:spcPct val="150000"/>
                        </a:lnSpc>
                        <a:spcBef>
                          <a:spcPts val="0"/>
                        </a:spcBef>
                        <a:spcAft>
                          <a:spcPts val="0"/>
                        </a:spcAft>
                        <a:buNone/>
                      </a:pPr>
                      <a:r>
                        <a:rPr lang="en-US" sz="1400"/>
                        <a:t>Անցկացվո՞ւմ են գրադարանում դասեր և ուսումնական պարապմունքներ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Այո </a:t>
                      </a:r>
                      <a:endParaRPr sz="1800"/>
                    </a:p>
                  </a:txBody>
                  <a:tcPr marT="0" marB="0" marR="0" marL="0" anchor="ctr"/>
                </a:tc>
              </a:tr>
              <a:tr h="297225">
                <a:tc>
                  <a:txBody>
                    <a:bodyPr/>
                    <a:lstStyle/>
                    <a:p>
                      <a:pPr indent="0" lvl="0" marL="0" marR="0" rtl="0" algn="l">
                        <a:lnSpc>
                          <a:spcPct val="150000"/>
                        </a:lnSpc>
                        <a:spcBef>
                          <a:spcPts val="0"/>
                        </a:spcBef>
                        <a:spcAft>
                          <a:spcPts val="0"/>
                        </a:spcAft>
                        <a:buNone/>
                      </a:pPr>
                      <a:r>
                        <a:rPr lang="en-US" sz="1400"/>
                        <a:t>Գրադարանավարն ունի՞ համապատասխան բարձրագույն կրթություն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Այո</a:t>
                      </a:r>
                      <a:endParaRPr sz="1800"/>
                    </a:p>
                  </a:txBody>
                  <a:tcPr marT="0" marB="0" marR="0" marL="0" anchor="ctr"/>
                </a:tc>
              </a:tr>
              <a:tr h="594425">
                <a:tc>
                  <a:txBody>
                    <a:bodyPr/>
                    <a:lstStyle/>
                    <a:p>
                      <a:pPr indent="0" lvl="0" marL="0" marR="0" rtl="0" algn="l">
                        <a:lnSpc>
                          <a:spcPct val="150000"/>
                        </a:lnSpc>
                        <a:spcBef>
                          <a:spcPts val="0"/>
                        </a:spcBef>
                        <a:spcAft>
                          <a:spcPts val="0"/>
                        </a:spcAft>
                        <a:buNone/>
                      </a:pPr>
                      <a:r>
                        <a:rPr lang="en-US" sz="1400"/>
                        <a:t>Վերջին 3 տարվա ընթացքում գրադարանվարն անցե՞լ է վերապատրաստում գրադարանային աշխատանքի ուղղությամբ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Այո</a:t>
                      </a:r>
                      <a:endParaRPr sz="1800"/>
                    </a:p>
                  </a:txBody>
                  <a:tcPr marT="0" marB="0" marR="0" marL="0" anchor="ctr"/>
                </a:tc>
              </a:tr>
              <a:tr h="721800">
                <a:tc>
                  <a:txBody>
                    <a:bodyPr/>
                    <a:lstStyle/>
                    <a:p>
                      <a:pPr indent="0" lvl="0" marL="0" marR="0" rtl="0" algn="l">
                        <a:lnSpc>
                          <a:spcPct val="150000"/>
                        </a:lnSpc>
                        <a:spcBef>
                          <a:spcPts val="0"/>
                        </a:spcBef>
                        <a:spcAft>
                          <a:spcPts val="0"/>
                        </a:spcAft>
                        <a:buNone/>
                      </a:pPr>
                      <a:r>
                        <a:rPr lang="en-US" sz="1400"/>
                        <a:t>Գրադարանը հանդիսանու՞մ է հանրապետության, այլ երկրների կամ կազմակերպությունների գրադարանների բաժանորդ և օգտվում է արդյոք նրանց ռեսուսներից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Ոչ </a:t>
                      </a:r>
                      <a:endParaRPr sz="1800"/>
                    </a:p>
                  </a:txBody>
                  <a:tcPr marT="0" marB="0" marR="0" marL="0" anchor="ctr"/>
                </a:tc>
              </a:tr>
              <a:tr h="297225">
                <a:tc>
                  <a:txBody>
                    <a:bodyPr/>
                    <a:lstStyle/>
                    <a:p>
                      <a:pPr indent="0" lvl="0" marL="0" marR="0" rtl="0" algn="l">
                        <a:lnSpc>
                          <a:spcPct val="150000"/>
                        </a:lnSpc>
                        <a:spcBef>
                          <a:spcPts val="0"/>
                        </a:spcBef>
                        <a:spcAft>
                          <a:spcPts val="0"/>
                        </a:spcAft>
                        <a:buNone/>
                      </a:pPr>
                      <a:r>
                        <a:rPr lang="en-US" sz="1400"/>
                        <a:t>Գարդարանն ունի՞ էլեկտրոնային ռեսուսներ, որքան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Ոչ </a:t>
                      </a:r>
                      <a:endParaRPr sz="1800"/>
                    </a:p>
                  </a:txBody>
                  <a:tcPr marT="0" marB="0" marR="0" marL="0" anchor="ctr"/>
                </a:tc>
              </a:tr>
              <a:tr h="721800">
                <a:tc>
                  <a:txBody>
                    <a:bodyPr/>
                    <a:lstStyle/>
                    <a:p>
                      <a:pPr indent="0" lvl="0" marL="0" marR="0" rtl="0" algn="l">
                        <a:lnSpc>
                          <a:spcPct val="150000"/>
                        </a:lnSpc>
                        <a:spcBef>
                          <a:spcPts val="0"/>
                        </a:spcBef>
                        <a:spcAft>
                          <a:spcPts val="0"/>
                        </a:spcAft>
                        <a:buNone/>
                      </a:pPr>
                      <a:r>
                        <a:rPr lang="en-US" sz="1400"/>
                        <a:t>Սովորողները կարո՞ղ են ինքնուրույն ու ազատ մոտենալ գրադրանի գրադարակներին և պահարաններին, ընտրել իրենց անհրաժեշտ գրականությունը և վերցնել այն ընթերցասրահում աշխատելու ժամանակ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Այո </a:t>
                      </a:r>
                      <a:endParaRPr sz="1800"/>
                    </a:p>
                  </a:txBody>
                  <a:tcPr marT="0" marB="0" marR="0" marL="0" anchor="ctr"/>
                </a:tc>
              </a:tr>
              <a:tr h="488275">
                <a:tc>
                  <a:txBody>
                    <a:bodyPr/>
                    <a:lstStyle/>
                    <a:p>
                      <a:pPr indent="0" lvl="0" marL="0" marR="0" rtl="0" algn="l">
                        <a:lnSpc>
                          <a:spcPct val="150000"/>
                        </a:lnSpc>
                        <a:spcBef>
                          <a:spcPts val="0"/>
                        </a:spcBef>
                        <a:spcAft>
                          <a:spcPts val="0"/>
                        </a:spcAft>
                        <a:buNone/>
                      </a:pPr>
                      <a:r>
                        <a:rPr lang="en-US" sz="1400"/>
                        <a:t>Գրադրանն ունի՞ գրադարանավարության հատուկ համակարգչային ծրագիր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Այո </a:t>
                      </a:r>
                      <a:endParaRPr sz="1400"/>
                    </a:p>
                  </a:txBody>
                  <a:tcPr marT="0" marB="0" marR="0" marL="0" anchor="ctr"/>
                </a:tc>
              </a:tr>
              <a:tr h="488275">
                <a:tc>
                  <a:txBody>
                    <a:bodyPr/>
                    <a:lstStyle/>
                    <a:p>
                      <a:pPr indent="0" lvl="0" marL="0" marR="0" rtl="0" algn="l">
                        <a:lnSpc>
                          <a:spcPct val="150000"/>
                        </a:lnSpc>
                        <a:spcBef>
                          <a:spcPts val="0"/>
                        </a:spcBef>
                        <a:spcAft>
                          <a:spcPts val="0"/>
                        </a:spcAft>
                        <a:buNone/>
                      </a:pPr>
                      <a:r>
                        <a:rPr lang="en-US" sz="1400"/>
                        <a:t>Գրադանավարը կարողանո՞ւմ է օգտվել գրադարանավարության հատուկ համակարգչային ծրագրից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Այո </a:t>
                      </a:r>
                      <a:endParaRPr sz="1800"/>
                    </a:p>
                  </a:txBody>
                  <a:tcPr marT="0" marB="0" marR="0" marL="0" anchor="ct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8"/>
          <p:cNvSpPr txBox="1"/>
          <p:nvPr/>
        </p:nvSpPr>
        <p:spPr>
          <a:xfrm>
            <a:off x="146050" y="0"/>
            <a:ext cx="974238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a:solidFill>
                  <a:schemeClr val="dk1"/>
                </a:solidFill>
                <a:latin typeface="Merriweather"/>
                <a:ea typeface="Merriweather"/>
                <a:cs typeface="Merriweather"/>
                <a:sym typeface="Merriweather"/>
              </a:rPr>
              <a:t>Աղյուսակ 25. Տվյալներ հաստատության ուսումնական    լաբորատորիաների, կաբինետների և</a:t>
            </a:r>
            <a:endParaRPr b="1" i="1" sz="1600">
              <a:solidFill>
                <a:schemeClr val="dk1"/>
              </a:solidFill>
              <a:latin typeface="Merriweather"/>
              <a:ea typeface="Merriweather"/>
              <a:cs typeface="Merriweather"/>
              <a:sym typeface="Merriweather"/>
            </a:endParaRPr>
          </a:p>
          <a:p>
            <a:pPr indent="0" lvl="0" marL="0" marR="0" rtl="0" algn="l">
              <a:spcBef>
                <a:spcPts val="0"/>
              </a:spcBef>
              <a:spcAft>
                <a:spcPts val="0"/>
              </a:spcAft>
              <a:buNone/>
            </a:pPr>
            <a:r>
              <a:rPr b="1" i="1" lang="en-US" sz="1600">
                <a:solidFill>
                  <a:schemeClr val="dk1"/>
                </a:solidFill>
                <a:latin typeface="Merriweather"/>
                <a:ea typeface="Merriweather"/>
                <a:cs typeface="Merriweather"/>
                <a:sym typeface="Merriweather"/>
              </a:rPr>
              <a:t>                           դահլիճների վերաբերյալ </a:t>
            </a:r>
            <a:endParaRPr b="1" i="1" sz="1600">
              <a:solidFill>
                <a:schemeClr val="dk1"/>
              </a:solidFill>
              <a:latin typeface="Merriweather"/>
              <a:ea typeface="Merriweather"/>
              <a:cs typeface="Merriweather"/>
              <a:sym typeface="Merriweather"/>
            </a:endParaRPr>
          </a:p>
        </p:txBody>
      </p:sp>
      <p:graphicFrame>
        <p:nvGraphicFramePr>
          <p:cNvPr id="473" name="Google Shape;473;p58"/>
          <p:cNvGraphicFramePr/>
          <p:nvPr/>
        </p:nvGraphicFramePr>
        <p:xfrm>
          <a:off x="1696496" y="720996"/>
          <a:ext cx="3000000" cy="3000000"/>
        </p:xfrm>
        <a:graphic>
          <a:graphicData uri="http://schemas.openxmlformats.org/drawingml/2006/table">
            <a:tbl>
              <a:tblPr>
                <a:noFill/>
                <a:tableStyleId>{40B977D2-3903-41EF-8714-5AC59086702B}</a:tableStyleId>
              </a:tblPr>
              <a:tblGrid>
                <a:gridCol w="1105650"/>
                <a:gridCol w="777725"/>
                <a:gridCol w="905150"/>
                <a:gridCol w="4382900"/>
                <a:gridCol w="1400625"/>
                <a:gridCol w="1448250"/>
              </a:tblGrid>
              <a:tr h="1240800">
                <a:tc>
                  <a:txBody>
                    <a:bodyPr/>
                    <a:lstStyle/>
                    <a:p>
                      <a:pPr indent="0" lvl="0" marL="0" marR="0" rtl="0" algn="l">
                        <a:lnSpc>
                          <a:spcPct val="150000"/>
                        </a:lnSpc>
                        <a:spcBef>
                          <a:spcPts val="0"/>
                        </a:spcBef>
                        <a:spcAft>
                          <a:spcPts val="0"/>
                        </a:spcAft>
                        <a:buNone/>
                      </a:pPr>
                      <a:r>
                        <a:rPr lang="en-US" sz="1200"/>
                        <a:t>Լաբորատորիաներ, կաբինետներ և դահլիճներ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Տարածքը (քմ)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Վերանորոգ-ման կարիքը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100"/>
                        <a:t>Առկա գույքը, լաբորատոր սարքավորումները,պարագաները (թվարկել հիմնականը և նշել քանակները) </a:t>
                      </a:r>
                      <a:endParaRPr/>
                    </a:p>
                  </a:txBody>
                  <a:tcPr marT="0" marB="0" marR="0" marL="0" anchor="ctr"/>
                </a:tc>
                <a:tc>
                  <a:txBody>
                    <a:bodyPr/>
                    <a:lstStyle/>
                    <a:p>
                      <a:pPr indent="0" lvl="0" marL="0" marR="0" rtl="0" algn="l">
                        <a:lnSpc>
                          <a:spcPct val="150000"/>
                        </a:lnSpc>
                        <a:spcBef>
                          <a:spcPts val="0"/>
                        </a:spcBef>
                        <a:spcAft>
                          <a:spcPts val="0"/>
                        </a:spcAft>
                        <a:buNone/>
                      </a:pPr>
                      <a:r>
                        <a:rPr lang="en-US" sz="1200"/>
                        <a:t>Ուսումնանյութա-կան, ուսումնադի-դակտիկ նյութերը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Լրացուցիչ, գույքի, սարքավորումների, պարագաների </a:t>
                      </a:r>
                      <a:endParaRPr sz="1800"/>
                    </a:p>
                    <a:p>
                      <a:pPr indent="0" lvl="0" marL="0" marR="0" rtl="0" algn="l">
                        <a:lnSpc>
                          <a:spcPct val="150000"/>
                        </a:lnSpc>
                        <a:spcBef>
                          <a:spcPts val="0"/>
                        </a:spcBef>
                        <a:spcAft>
                          <a:spcPts val="0"/>
                        </a:spcAft>
                        <a:buNone/>
                      </a:pPr>
                      <a:r>
                        <a:rPr lang="en-US" sz="1200"/>
                        <a:t>նյութերի կարիքը </a:t>
                      </a:r>
                      <a:endParaRPr sz="1800"/>
                    </a:p>
                  </a:txBody>
                  <a:tcPr marT="0" marB="0" marR="0" marL="0" anchor="ctr"/>
                </a:tc>
              </a:tr>
              <a:tr h="4549625">
                <a:tc>
                  <a:txBody>
                    <a:bodyPr/>
                    <a:lstStyle/>
                    <a:p>
                      <a:pPr indent="0" lvl="0" marL="0" marR="0" rtl="0" algn="ctr">
                        <a:lnSpc>
                          <a:spcPct val="150000"/>
                        </a:lnSpc>
                        <a:spcBef>
                          <a:spcPts val="0"/>
                        </a:spcBef>
                        <a:spcAft>
                          <a:spcPts val="0"/>
                        </a:spcAft>
                        <a:buNone/>
                      </a:pPr>
                      <a:r>
                        <a:rPr lang="en-US" sz="1200"/>
                        <a:t>Ֆիզիկայի լաբորատորիա, կաբինետ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latin typeface="Merriweather"/>
                          <a:ea typeface="Merriweather"/>
                          <a:cs typeface="Merriweather"/>
                          <a:sym typeface="Merriweather"/>
                        </a:rPr>
                        <a:t>40</a:t>
                      </a:r>
                      <a:endParaRPr/>
                    </a:p>
                  </a:txBody>
                  <a:tcPr marT="0" marB="0" marR="0" marL="0" anchor="ctr"/>
                </a:tc>
                <a:tc>
                  <a:txBody>
                    <a:bodyPr/>
                    <a:lstStyle/>
                    <a:p>
                      <a:pPr indent="0" lvl="0" marL="0" marR="0" rtl="0" algn="ctr">
                        <a:lnSpc>
                          <a:spcPct val="150000"/>
                        </a:lnSpc>
                        <a:spcBef>
                          <a:spcPts val="0"/>
                        </a:spcBef>
                        <a:spcAft>
                          <a:spcPts val="0"/>
                        </a:spcAft>
                        <a:buNone/>
                      </a:pPr>
                      <a:r>
                        <a:rPr lang="en-US" sz="1200"/>
                        <a:t>չկա</a:t>
                      </a:r>
                      <a:endParaRPr sz="1800"/>
                    </a:p>
                  </a:txBody>
                  <a:tcPr marT="0" marB="0" marR="0" marL="0" anchor="ctr"/>
                </a:tc>
                <a:tc>
                  <a:txBody>
                    <a:bodyPr/>
                    <a:lstStyle/>
                    <a:p>
                      <a:pPr indent="0" lvl="0" marL="0" marR="0" rtl="0" algn="l">
                        <a:spcBef>
                          <a:spcPts val="0"/>
                        </a:spcBef>
                        <a:spcAft>
                          <a:spcPts val="0"/>
                        </a:spcAft>
                        <a:buNone/>
                      </a:pPr>
                      <a:r>
                        <a:rPr lang="en-US" sz="1200">
                          <a:solidFill>
                            <a:schemeClr val="dk1"/>
                          </a:solidFill>
                          <a:latin typeface="Century Gothic"/>
                          <a:ea typeface="Century Gothic"/>
                          <a:cs typeface="Century Gothic"/>
                          <a:sym typeface="Century Gothic"/>
                        </a:rPr>
                        <a:t>Լծակավոր կշեռք 1,  Ներքին այրման շարժիչի մոդել 1,  Հիդրավլիկ մամլիչ 1,  Նյուտոնի խողովակ 1,  Վակուումային կամ ճնշումային պոմպ 1,  Ամպերմետր 4, Վոլտմետր 4, Զսպանակավոր դինամոմետր 1, Կալորիամետր 1, Օպտիկական էֆֆեկտների դիտասարք 1, Կենտրոնախույզ ուժի դիտման մեքենա 1, Մանրադիտակ 1, Պտտման սարք 1, Թեքահարթակ 1, Օդուղի 1, Օդի հոսքի գեներատոր 1, Ֆոտոչափումների սարք 2, Հաստատուն և փոփոխական լարման էլեկտրասնուցիչ սարք 1,  Դիմադրության չափման սարք 1, Էլեկտրաստատիկ սարքավորումների հավաքածու 1, Էլեկտրաէներգիայի և մագնիսականության փորձերի հավաքածու 1, Սնուցման բլոկ փորձերի համար 1, Էլեկտրափորձարկումների հավաքածու 1, Թվային մուլտիմետր 15, Հիմնական օպտիկական  փորձերի հավաքածու 1, Բևեռացման փորձերի հավաքածու 1, Միջամտող փորձերի հավաքածու 1, Վիմշուրստի սարք 1, Կունդտի խողովակ 1, Կոնդենսատոր 15, Սոլենոիդներ միջուկներով 10, Պայտաձև մագնիս 2, Ձողակարկին 5, Ուռուցիկ ոսպնյակներ 15, Կողմնացույց 10, Ռեոստատ 10, Դինամոմետր 15, Թվային կշեռք 15, Կիսահաղորդիչներ 10, Էլեկտրոսկոպ 2, Էլեկտրական ջեռուցիչ 10, Բարձր լարման էլեկտրական զարկերակային գեներատոր 1:</a:t>
                      </a:r>
                      <a:endParaRPr/>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just">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9"/>
          <p:cNvSpPr txBox="1"/>
          <p:nvPr/>
        </p:nvSpPr>
        <p:spPr>
          <a:xfrm>
            <a:off x="146050" y="0"/>
            <a:ext cx="974238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a:solidFill>
                  <a:schemeClr val="dk1"/>
                </a:solidFill>
                <a:latin typeface="Merriweather"/>
                <a:ea typeface="Merriweather"/>
                <a:cs typeface="Merriweather"/>
                <a:sym typeface="Merriweather"/>
              </a:rPr>
              <a:t>Աղյուսակ 25. Տվյալներ հաստատության ուսումնական      լաբորատորիաների, կաբինետների և</a:t>
            </a:r>
            <a:endParaRPr b="1" i="1" sz="1600">
              <a:solidFill>
                <a:schemeClr val="dk1"/>
              </a:solidFill>
              <a:latin typeface="Merriweather"/>
              <a:ea typeface="Merriweather"/>
              <a:cs typeface="Merriweather"/>
              <a:sym typeface="Merriweather"/>
            </a:endParaRPr>
          </a:p>
          <a:p>
            <a:pPr indent="0" lvl="0" marL="0" marR="0" rtl="0" algn="l">
              <a:spcBef>
                <a:spcPts val="0"/>
              </a:spcBef>
              <a:spcAft>
                <a:spcPts val="0"/>
              </a:spcAft>
              <a:buNone/>
            </a:pPr>
            <a:r>
              <a:rPr b="1" i="1" lang="en-US" sz="1600">
                <a:solidFill>
                  <a:schemeClr val="dk1"/>
                </a:solidFill>
                <a:latin typeface="Merriweather"/>
                <a:ea typeface="Merriweather"/>
                <a:cs typeface="Merriweather"/>
                <a:sym typeface="Merriweather"/>
              </a:rPr>
              <a:t>                           դահլիճների վերաբերյալ </a:t>
            </a:r>
            <a:endParaRPr b="1" i="1" sz="1600">
              <a:solidFill>
                <a:schemeClr val="dk1"/>
              </a:solidFill>
              <a:latin typeface="Merriweather"/>
              <a:ea typeface="Merriweather"/>
              <a:cs typeface="Merriweather"/>
              <a:sym typeface="Merriweather"/>
            </a:endParaRPr>
          </a:p>
        </p:txBody>
      </p:sp>
      <p:graphicFrame>
        <p:nvGraphicFramePr>
          <p:cNvPr id="480" name="Google Shape;480;p59"/>
          <p:cNvGraphicFramePr/>
          <p:nvPr/>
        </p:nvGraphicFramePr>
        <p:xfrm>
          <a:off x="1696496" y="706618"/>
          <a:ext cx="3000000" cy="3000000"/>
        </p:xfrm>
        <a:graphic>
          <a:graphicData uri="http://schemas.openxmlformats.org/drawingml/2006/table">
            <a:tbl>
              <a:tblPr>
                <a:noFill/>
                <a:tableStyleId>{40B977D2-3903-41EF-8714-5AC59086702B}</a:tableStyleId>
              </a:tblPr>
              <a:tblGrid>
                <a:gridCol w="1232725"/>
                <a:gridCol w="627325"/>
                <a:gridCol w="893950"/>
                <a:gridCol w="4328625"/>
                <a:gridCol w="1383275"/>
                <a:gridCol w="1430325"/>
              </a:tblGrid>
              <a:tr h="1348000">
                <a:tc>
                  <a:txBody>
                    <a:bodyPr/>
                    <a:lstStyle/>
                    <a:p>
                      <a:pPr indent="0" lvl="0" marL="0" marR="0" rtl="0" algn="l">
                        <a:lnSpc>
                          <a:spcPct val="150000"/>
                        </a:lnSpc>
                        <a:spcBef>
                          <a:spcPts val="0"/>
                        </a:spcBef>
                        <a:spcAft>
                          <a:spcPts val="0"/>
                        </a:spcAft>
                        <a:buNone/>
                      </a:pPr>
                      <a:r>
                        <a:rPr lang="en-US" sz="1200"/>
                        <a:t>Լաբորատորիաներ, կաբինետներ և դահլիճներ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Տարածքը (քմ)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Վերանորոգ-ման կարիքը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100"/>
                        <a:t>Առկա գույքը, լաբորատոր սարքավորումները,պարագաները (թվարկել հիմնականը և նշել քանակները) </a:t>
                      </a:r>
                      <a:endParaRPr/>
                    </a:p>
                  </a:txBody>
                  <a:tcPr marT="0" marB="0" marR="0" marL="0" anchor="ctr"/>
                </a:tc>
                <a:tc>
                  <a:txBody>
                    <a:bodyPr/>
                    <a:lstStyle/>
                    <a:p>
                      <a:pPr indent="0" lvl="0" marL="0" marR="0" rtl="0" algn="l">
                        <a:lnSpc>
                          <a:spcPct val="150000"/>
                        </a:lnSpc>
                        <a:spcBef>
                          <a:spcPts val="0"/>
                        </a:spcBef>
                        <a:spcAft>
                          <a:spcPts val="0"/>
                        </a:spcAft>
                        <a:buNone/>
                      </a:pPr>
                      <a:r>
                        <a:rPr lang="en-US" sz="1200"/>
                        <a:t>Ուսումնանյութա-կան, ուսումնադի-դակտիկ նյութերը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Լրացուցիչ, գույքի, սարքավորումների, պարագաների </a:t>
                      </a:r>
                      <a:endParaRPr sz="1800"/>
                    </a:p>
                    <a:p>
                      <a:pPr indent="0" lvl="0" marL="0" marR="0" rtl="0" algn="l">
                        <a:lnSpc>
                          <a:spcPct val="150000"/>
                        </a:lnSpc>
                        <a:spcBef>
                          <a:spcPts val="0"/>
                        </a:spcBef>
                        <a:spcAft>
                          <a:spcPts val="0"/>
                        </a:spcAft>
                        <a:buNone/>
                      </a:pPr>
                      <a:r>
                        <a:rPr lang="en-US" sz="1200"/>
                        <a:t>նյութերի կարիքը </a:t>
                      </a:r>
                      <a:endParaRPr sz="1800"/>
                    </a:p>
                  </a:txBody>
                  <a:tcPr marT="0" marB="0" marR="0" marL="0" anchor="ctr"/>
                </a:tc>
              </a:tr>
              <a:tr h="4268675">
                <a:tc>
                  <a:txBody>
                    <a:bodyPr/>
                    <a:lstStyle/>
                    <a:p>
                      <a:pPr indent="0" lvl="0" marL="0" marR="0" rtl="0" algn="ctr">
                        <a:lnSpc>
                          <a:spcPct val="150000"/>
                        </a:lnSpc>
                        <a:spcBef>
                          <a:spcPts val="0"/>
                        </a:spcBef>
                        <a:spcAft>
                          <a:spcPts val="0"/>
                        </a:spcAft>
                        <a:buNone/>
                      </a:pPr>
                      <a:r>
                        <a:rPr lang="en-US" sz="1200"/>
                        <a:t>Քիմիայի լաբորատորիա, կաբինետ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latin typeface="Merriweather"/>
                          <a:ea typeface="Merriweather"/>
                          <a:cs typeface="Merriweather"/>
                          <a:sym typeface="Merriweather"/>
                        </a:rPr>
                        <a:t>50</a:t>
                      </a:r>
                      <a:endParaRPr/>
                    </a:p>
                  </a:txBody>
                  <a:tcPr marT="0" marB="0" marR="0" marL="0" anchor="ctr"/>
                </a:tc>
                <a:tc>
                  <a:txBody>
                    <a:bodyPr/>
                    <a:lstStyle/>
                    <a:p>
                      <a:pPr indent="0" lvl="0" marL="0" marR="0" rtl="0" algn="ctr">
                        <a:lnSpc>
                          <a:spcPct val="150000"/>
                        </a:lnSpc>
                        <a:spcBef>
                          <a:spcPts val="0"/>
                        </a:spcBef>
                        <a:spcAft>
                          <a:spcPts val="0"/>
                        </a:spcAft>
                        <a:buNone/>
                      </a:pPr>
                      <a:r>
                        <a:rPr lang="en-US" sz="1200"/>
                        <a:t>այո </a:t>
                      </a:r>
                      <a:endParaRPr sz="1800"/>
                    </a:p>
                  </a:txBody>
                  <a:tcPr marT="0" marB="0" marR="0" marL="0" anchor="ctr"/>
                </a:tc>
                <a:tc>
                  <a:txBody>
                    <a:bodyPr/>
                    <a:lstStyle/>
                    <a:p>
                      <a:pPr indent="0" lvl="0" marL="0" marR="0" rtl="0" algn="l">
                        <a:lnSpc>
                          <a:spcPct val="100000"/>
                        </a:lnSpc>
                        <a:spcBef>
                          <a:spcPts val="0"/>
                        </a:spcBef>
                        <a:spcAft>
                          <a:spcPts val="0"/>
                        </a:spcAft>
                        <a:buClr>
                          <a:schemeClr val="dk1"/>
                        </a:buClr>
                        <a:buSzPts val="1400"/>
                        <a:buFont typeface="Century Gothic"/>
                        <a:buNone/>
                      </a:pPr>
                      <a:r>
                        <a:rPr lang="en-US" sz="1400">
                          <a:solidFill>
                            <a:schemeClr val="dk1"/>
                          </a:solidFill>
                          <a:latin typeface="Century Gothic"/>
                          <a:ea typeface="Century Gothic"/>
                          <a:cs typeface="Century Gothic"/>
                          <a:sym typeface="Century Gothic"/>
                        </a:rPr>
                        <a:t>Ֆիլտրի թուղթ 50, թվային ջերմաչափ 1,ջերմաչափ 2, մետաղյա գդալ 4, շպատել</a:t>
                      </a:r>
                      <a:r>
                        <a:rPr lang="en-US" sz="1400">
                          <a:solidFill>
                            <a:schemeClr val="dk1"/>
                          </a:solidFill>
                          <a:latin typeface="Century Gothic"/>
                          <a:ea typeface="Century Gothic"/>
                          <a:cs typeface="Century Gothic"/>
                          <a:sym typeface="Century Gothic"/>
                        </a:rPr>
                        <a:t> 8, ռ</a:t>
                      </a:r>
                      <a:r>
                        <a:rPr lang="en-US" sz="1400">
                          <a:solidFill>
                            <a:schemeClr val="dk1"/>
                          </a:solidFill>
                          <a:latin typeface="Century Gothic"/>
                          <a:ea typeface="Century Gothic"/>
                          <a:cs typeface="Century Gothic"/>
                          <a:sym typeface="Century Gothic"/>
                        </a:rPr>
                        <a:t>ետինե խողովակ 2, Ակնոցներ ալկոհոլային նմանակման 5, Ունիվերսալ լակմուսային թուղթ 1, Ֆիլտրման նախատեսված ստենդ /հարմարանք/ 2, Օղակ մետաղյա լաբորատոր կալանին ամրացնելու 5, Կալան լաբորատոր մետաղյա 5, սկուտեղ 5, կոլբ կողային խողովակային միացումով 2, Դյուարի անոթ  2, կաթոցիկներ 4, կլոր փորձանոթ 4, կլորահատակ փորձանոթ  8, Էլեռմեյեռի կոլբ  8, չափիչ կոլբ 5, չափասրվակ մենզուրկա  2, երկգլխարկավոր կոլբ 1, կլոր կոլբ 1, կլոր թորձանոթ 2</a:t>
                      </a:r>
                      <a:r>
                        <a:rPr lang="en-US" sz="1400">
                          <a:solidFill>
                            <a:schemeClr val="dk1"/>
                          </a:solidFill>
                          <a:latin typeface="Century Gothic"/>
                          <a:ea typeface="Century Gothic"/>
                          <a:cs typeface="Century Gothic"/>
                          <a:sym typeface="Century Gothic"/>
                        </a:rPr>
                        <a:t> հատ, </a:t>
                      </a:r>
                      <a:r>
                        <a:rPr lang="en-US" sz="1400">
                          <a:solidFill>
                            <a:schemeClr val="dk1"/>
                          </a:solidFill>
                          <a:latin typeface="Century Gothic"/>
                          <a:ea typeface="Century Gothic"/>
                          <a:cs typeface="Century Gothic"/>
                          <a:sym typeface="Century Gothic"/>
                        </a:rPr>
                        <a:t>սեղմակ 5, թորման կամուրջ 1, տաքացուցիչ փորձանոթ 2, փորձանոթ տեղադրելու թաթ  մետաղյա</a:t>
                      </a:r>
                      <a:r>
                        <a:rPr lang="en-US" sz="1400">
                          <a:solidFill>
                            <a:schemeClr val="dk1"/>
                          </a:solidFill>
                          <a:latin typeface="Century Gothic"/>
                          <a:ea typeface="Century Gothic"/>
                          <a:cs typeface="Century Gothic"/>
                          <a:sym typeface="Century Gothic"/>
                        </a:rPr>
                        <a:t> կալանի համար </a:t>
                      </a:r>
                      <a:r>
                        <a:rPr lang="en-US" sz="1400">
                          <a:solidFill>
                            <a:schemeClr val="dk1"/>
                          </a:solidFill>
                          <a:latin typeface="Century Gothic"/>
                          <a:ea typeface="Century Gothic"/>
                          <a:cs typeface="Century Gothic"/>
                          <a:sym typeface="Century Gothic"/>
                        </a:rPr>
                        <a:t>5, բռնակով սեղմակ մետաղյա կալանի համար 7, չափիչ</a:t>
                      </a:r>
                      <a:r>
                        <a:rPr lang="en-US" sz="1400">
                          <a:solidFill>
                            <a:schemeClr val="dk1"/>
                          </a:solidFill>
                          <a:latin typeface="Century Gothic"/>
                          <a:ea typeface="Century Gothic"/>
                          <a:cs typeface="Century Gothic"/>
                          <a:sym typeface="Century Gothic"/>
                        </a:rPr>
                        <a:t> գլան 5, փորձանոթի խոզանակ 3, NS կոնաձև  խցափակիչ, 5 փորձանոթ 2, փորձանոթ կողային գազատար խողովակով 15, բաժանիչ ձագար 3, գոլորշիացման թաս 5,  մագնիսական խառնիչ 1, մոլեկուլների կոնստրուկցիաներ 1, փորձ անելու ձագար 2, թվային կշեռք 2, ավտոմատ, ջրի թորման սարք  1,  Բունսենի այրիչ 10, </a:t>
                      </a:r>
                      <a:endParaRPr sz="1400">
                        <a:solidFill>
                          <a:schemeClr val="dk1"/>
                        </a:solidFill>
                        <a:latin typeface="Century Gothic"/>
                        <a:ea typeface="Century Gothic"/>
                        <a:cs typeface="Century Gothic"/>
                        <a:sym typeface="Century Gothic"/>
                      </a:endParaRPr>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just">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0"/>
          <p:cNvSpPr txBox="1"/>
          <p:nvPr/>
        </p:nvSpPr>
        <p:spPr>
          <a:xfrm>
            <a:off x="146050" y="0"/>
            <a:ext cx="974238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a:solidFill>
                  <a:schemeClr val="dk1"/>
                </a:solidFill>
                <a:latin typeface="Merriweather"/>
                <a:ea typeface="Merriweather"/>
                <a:cs typeface="Merriweather"/>
                <a:sym typeface="Merriweather"/>
              </a:rPr>
              <a:t>Աղյուսակ 25. Տվյալներ հաստատության ուսումնական      լաբորատորիաների, կաբինետների և</a:t>
            </a:r>
            <a:endParaRPr b="1" i="1" sz="1600">
              <a:solidFill>
                <a:schemeClr val="dk1"/>
              </a:solidFill>
              <a:latin typeface="Merriweather"/>
              <a:ea typeface="Merriweather"/>
              <a:cs typeface="Merriweather"/>
              <a:sym typeface="Merriweather"/>
            </a:endParaRPr>
          </a:p>
          <a:p>
            <a:pPr indent="0" lvl="0" marL="0" marR="0" rtl="0" algn="l">
              <a:spcBef>
                <a:spcPts val="0"/>
              </a:spcBef>
              <a:spcAft>
                <a:spcPts val="0"/>
              </a:spcAft>
              <a:buNone/>
            </a:pPr>
            <a:r>
              <a:rPr b="1" i="1" lang="en-US" sz="1600">
                <a:solidFill>
                  <a:schemeClr val="dk1"/>
                </a:solidFill>
                <a:latin typeface="Merriweather"/>
                <a:ea typeface="Merriweather"/>
                <a:cs typeface="Merriweather"/>
                <a:sym typeface="Merriweather"/>
              </a:rPr>
              <a:t>                           դահլիճների վերաբերյալ </a:t>
            </a:r>
            <a:endParaRPr b="1" i="1" sz="1600">
              <a:solidFill>
                <a:schemeClr val="dk1"/>
              </a:solidFill>
              <a:latin typeface="Merriweather"/>
              <a:ea typeface="Merriweather"/>
              <a:cs typeface="Merriweather"/>
              <a:sym typeface="Merriweather"/>
            </a:endParaRPr>
          </a:p>
        </p:txBody>
      </p:sp>
      <p:graphicFrame>
        <p:nvGraphicFramePr>
          <p:cNvPr id="487" name="Google Shape;487;p60"/>
          <p:cNvGraphicFramePr/>
          <p:nvPr/>
        </p:nvGraphicFramePr>
        <p:xfrm>
          <a:off x="1696496" y="706619"/>
          <a:ext cx="3000000" cy="3000000"/>
        </p:xfrm>
        <a:graphic>
          <a:graphicData uri="http://schemas.openxmlformats.org/drawingml/2006/table">
            <a:tbl>
              <a:tblPr>
                <a:noFill/>
                <a:tableStyleId>{40B977D2-3903-41EF-8714-5AC59086702B}</a:tableStyleId>
              </a:tblPr>
              <a:tblGrid>
                <a:gridCol w="1248175"/>
                <a:gridCol w="635200"/>
                <a:gridCol w="905150"/>
                <a:gridCol w="4382900"/>
                <a:gridCol w="1400625"/>
                <a:gridCol w="1448250"/>
              </a:tblGrid>
              <a:tr h="432300">
                <a:tc>
                  <a:txBody>
                    <a:bodyPr/>
                    <a:lstStyle/>
                    <a:p>
                      <a:pPr indent="0" lvl="0" marL="0" marR="0" rtl="0" algn="l">
                        <a:lnSpc>
                          <a:spcPct val="150000"/>
                        </a:lnSpc>
                        <a:spcBef>
                          <a:spcPts val="0"/>
                        </a:spcBef>
                        <a:spcAft>
                          <a:spcPts val="0"/>
                        </a:spcAft>
                        <a:buNone/>
                      </a:pPr>
                      <a:r>
                        <a:rPr lang="en-US" sz="1200"/>
                        <a:t>Լաբորատորիաներ, կաբինետներ և դահլիճներ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Տարածքը (քմ)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Վերանորոգ-ման կարիքը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100"/>
                        <a:t>Առկա գույքը, լաբորատոր սարքավորումները,պարագաները (թվարկել հիմնականը և նշել քանակները) </a:t>
                      </a:r>
                      <a:endParaRPr/>
                    </a:p>
                  </a:txBody>
                  <a:tcPr marT="0" marB="0" marR="0" marL="0" anchor="ctr"/>
                </a:tc>
                <a:tc>
                  <a:txBody>
                    <a:bodyPr/>
                    <a:lstStyle/>
                    <a:p>
                      <a:pPr indent="0" lvl="0" marL="0" marR="0" rtl="0" algn="l">
                        <a:lnSpc>
                          <a:spcPct val="150000"/>
                        </a:lnSpc>
                        <a:spcBef>
                          <a:spcPts val="0"/>
                        </a:spcBef>
                        <a:spcAft>
                          <a:spcPts val="0"/>
                        </a:spcAft>
                        <a:buNone/>
                      </a:pPr>
                      <a:r>
                        <a:rPr lang="en-US" sz="1200"/>
                        <a:t>Ուսումնանյութա-կան, ուսումնադի-դակտիկ նյութերը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Լրացուցիչ, գույքի, սարքավորումների, պարագաների </a:t>
                      </a:r>
                      <a:endParaRPr sz="1800"/>
                    </a:p>
                    <a:p>
                      <a:pPr indent="0" lvl="0" marL="0" marR="0" rtl="0" algn="l">
                        <a:lnSpc>
                          <a:spcPct val="150000"/>
                        </a:lnSpc>
                        <a:spcBef>
                          <a:spcPts val="0"/>
                        </a:spcBef>
                        <a:spcAft>
                          <a:spcPts val="0"/>
                        </a:spcAft>
                        <a:buNone/>
                      </a:pPr>
                      <a:r>
                        <a:rPr lang="en-US" sz="1200"/>
                        <a:t>նյութերի կարիքը </a:t>
                      </a:r>
                      <a:endParaRPr sz="1800"/>
                    </a:p>
                  </a:txBody>
                  <a:tcPr marT="0" marB="0" marR="0" marL="0" anchor="ctr"/>
                </a:tc>
              </a:tr>
              <a:tr h="144150">
                <a:tc>
                  <a:txBody>
                    <a:bodyPr/>
                    <a:lstStyle/>
                    <a:p>
                      <a:pPr indent="0" lvl="0" marL="0" marR="0" rtl="0" algn="l">
                        <a:lnSpc>
                          <a:spcPct val="150000"/>
                        </a:lnSpc>
                        <a:spcBef>
                          <a:spcPts val="0"/>
                        </a:spcBef>
                        <a:spcAft>
                          <a:spcPts val="0"/>
                        </a:spcAft>
                        <a:buNone/>
                      </a:pPr>
                      <a:r>
                        <a:t/>
                      </a:r>
                      <a:endParaRPr sz="1400"/>
                    </a:p>
                  </a:txBody>
                  <a:tcPr marT="0" marB="0" marR="0" marL="0" anchor="ctr"/>
                </a:tc>
                <a:tc>
                  <a:txBody>
                    <a:bodyPr/>
                    <a:lstStyle/>
                    <a:p>
                      <a:pPr indent="0" lvl="0" marL="0" marR="0" rtl="0" algn="ctr">
                        <a:lnSpc>
                          <a:spcPct val="150000"/>
                        </a:lnSpc>
                        <a:spcBef>
                          <a:spcPts val="0"/>
                        </a:spcBef>
                        <a:spcAft>
                          <a:spcPts val="0"/>
                        </a:spcAft>
                        <a:buNone/>
                      </a:pPr>
                      <a:r>
                        <a:rPr lang="en-US" sz="1400">
                          <a:latin typeface="Merriweather"/>
                          <a:ea typeface="Merriweather"/>
                          <a:cs typeface="Merriweather"/>
                          <a:sym typeface="Merriweather"/>
                        </a:rPr>
                        <a:t>30</a:t>
                      </a:r>
                      <a:endParaRPr/>
                    </a:p>
                  </a:txBody>
                  <a:tcPr marT="0" marB="0" marR="0" marL="0" anchor="ctr"/>
                </a:tc>
                <a:tc>
                  <a:txBody>
                    <a:bodyPr/>
                    <a:lstStyle/>
                    <a:p>
                      <a:pPr indent="0" lvl="0" marL="0" marR="0" rtl="0" algn="ctr">
                        <a:lnSpc>
                          <a:spcPct val="150000"/>
                        </a:lnSpc>
                        <a:spcBef>
                          <a:spcPts val="0"/>
                        </a:spcBef>
                        <a:spcAft>
                          <a:spcPts val="0"/>
                        </a:spcAft>
                        <a:buNone/>
                      </a:pPr>
                      <a:r>
                        <a:rPr lang="en-US" sz="1400"/>
                        <a:t>այո </a:t>
                      </a:r>
                      <a:endParaRPr/>
                    </a:p>
                  </a:txBody>
                  <a:tcPr marT="0" marB="0" marR="0" marL="0" anchor="ctr"/>
                </a:tc>
                <a:tc>
                  <a:txBody>
                    <a:bodyPr/>
                    <a:lstStyle/>
                    <a:p>
                      <a:pPr indent="0" lvl="0" marL="0" marR="0" rtl="0" algn="l">
                        <a:lnSpc>
                          <a:spcPct val="150000"/>
                        </a:lnSpc>
                        <a:spcBef>
                          <a:spcPts val="0"/>
                        </a:spcBef>
                        <a:spcAft>
                          <a:spcPts val="0"/>
                        </a:spcAft>
                        <a:buNone/>
                      </a:pPr>
                      <a:r>
                        <a:rPr lang="en-US" sz="1400">
                          <a:latin typeface="Merriweather"/>
                          <a:ea typeface="Merriweather"/>
                          <a:cs typeface="Merriweather"/>
                          <a:sym typeface="Merriweather"/>
                        </a:rPr>
                        <a:t>Բինօկուլյար մանրադիտակ 10, ստերեո մանրադիտակ 5, ակնապակու ցանց 10, առարկայակիր ապակի 3, ծածկապակի 5, Պաստյորի պիպենտ 200, ջրի թորիչ 1,  սպիրտայրոց 10,  մանրէաբանական</a:t>
                      </a:r>
                      <a:r>
                        <a:rPr lang="en-US" sz="1400">
                          <a:latin typeface="Merriweather"/>
                          <a:ea typeface="Merriweather"/>
                          <a:cs typeface="Merriweather"/>
                          <a:sym typeface="Merriweather"/>
                        </a:rPr>
                        <a:t> ասեղ 40, Պետրիի թասիկներ 120, Բունսենի այրիչ 10, եռոտանի մետաղալարե ցանց 10, ապակե հրակայուն բաժակ 60, փորձանոթ  500, հավանգ և ծեծիչ 15, ապակե պիպետ 150, տանձիկ 40, PH շերտիկ 2, ջերմաչափեր 10, խոշորացույց ոսպնյակ 20, հերձման գործիքների ժողովածու 10, հերձման թաս 10, մանրադւտակային պատրաստուկ 18x10, թվային կշեռք 10, էպենդորֆի փորձանոթներ 1, ապակե անոթ  3</a:t>
                      </a:r>
                      <a:endParaRPr sz="1400">
                        <a:latin typeface="Merriweather"/>
                        <a:ea typeface="Merriweather"/>
                        <a:cs typeface="Merriweather"/>
                        <a:sym typeface="Merriweather"/>
                      </a:endParaRPr>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just">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1"/>
          <p:cNvSpPr txBox="1"/>
          <p:nvPr/>
        </p:nvSpPr>
        <p:spPr>
          <a:xfrm>
            <a:off x="209550" y="95250"/>
            <a:ext cx="954292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a:solidFill>
                  <a:schemeClr val="dk1"/>
                </a:solidFill>
                <a:latin typeface="Merriweather"/>
                <a:ea typeface="Merriweather"/>
                <a:cs typeface="Merriweather"/>
                <a:sym typeface="Merriweather"/>
              </a:rPr>
              <a:t>Աղյուսակ 25. Տվյալներ հաստատության ուսումնական      լաբորատորիաների, կաբինետների և</a:t>
            </a:r>
            <a:endParaRPr b="1" i="1" sz="1600">
              <a:solidFill>
                <a:schemeClr val="dk1"/>
              </a:solidFill>
              <a:latin typeface="Merriweather"/>
              <a:ea typeface="Merriweather"/>
              <a:cs typeface="Merriweather"/>
              <a:sym typeface="Merriweather"/>
            </a:endParaRPr>
          </a:p>
          <a:p>
            <a:pPr indent="0" lvl="0" marL="0" marR="0" rtl="0" algn="l">
              <a:spcBef>
                <a:spcPts val="0"/>
              </a:spcBef>
              <a:spcAft>
                <a:spcPts val="0"/>
              </a:spcAft>
              <a:buNone/>
            </a:pPr>
            <a:r>
              <a:rPr b="1" i="1" lang="en-US" sz="1600">
                <a:solidFill>
                  <a:schemeClr val="dk1"/>
                </a:solidFill>
                <a:latin typeface="Merriweather"/>
                <a:ea typeface="Merriweather"/>
                <a:cs typeface="Merriweather"/>
                <a:sym typeface="Merriweather"/>
              </a:rPr>
              <a:t>                          դահլիճների վերաբերյալ </a:t>
            </a:r>
            <a:endParaRPr b="1" i="1" sz="1600">
              <a:solidFill>
                <a:schemeClr val="dk1"/>
              </a:solidFill>
              <a:latin typeface="Merriweather"/>
              <a:ea typeface="Merriweather"/>
              <a:cs typeface="Merriweather"/>
              <a:sym typeface="Merriweather"/>
            </a:endParaRPr>
          </a:p>
        </p:txBody>
      </p:sp>
      <p:graphicFrame>
        <p:nvGraphicFramePr>
          <p:cNvPr id="494" name="Google Shape;494;p61"/>
          <p:cNvGraphicFramePr/>
          <p:nvPr/>
        </p:nvGraphicFramePr>
        <p:xfrm>
          <a:off x="1918051" y="847067"/>
          <a:ext cx="3000000" cy="3000000"/>
        </p:xfrm>
        <a:graphic>
          <a:graphicData uri="http://schemas.openxmlformats.org/drawingml/2006/table">
            <a:tbl>
              <a:tblPr>
                <a:noFill/>
                <a:tableStyleId>{40B977D2-3903-41EF-8714-5AC59086702B}</a:tableStyleId>
              </a:tblPr>
              <a:tblGrid>
                <a:gridCol w="1247775"/>
                <a:gridCol w="666750"/>
                <a:gridCol w="828675"/>
                <a:gridCol w="4429125"/>
                <a:gridCol w="1400175"/>
                <a:gridCol w="1447800"/>
              </a:tblGrid>
              <a:tr h="432300">
                <a:tc>
                  <a:txBody>
                    <a:bodyPr/>
                    <a:lstStyle/>
                    <a:p>
                      <a:pPr indent="0" lvl="0" marL="0" marR="0" rtl="0" algn="l">
                        <a:lnSpc>
                          <a:spcPct val="150000"/>
                        </a:lnSpc>
                        <a:spcBef>
                          <a:spcPts val="0"/>
                        </a:spcBef>
                        <a:spcAft>
                          <a:spcPts val="0"/>
                        </a:spcAft>
                        <a:buNone/>
                      </a:pPr>
                      <a:r>
                        <a:rPr lang="en-US" sz="1200"/>
                        <a:t>Լաբորատորիաներ, կաբինետներ և դահլիճներ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Տարածքը (քմ)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Վերանորոգ-ման կարիքը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Առկա գույքը, լաբորատոր սարքավորումները,պարագաները (թվարկել հիմնականը և նշել քանակները)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Ուսումնանյութա-կան, ուսումնադի-դակտիկ նյութերը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Լրացուցիչ, գույքի, սարքավորումների, պարագաների </a:t>
                      </a:r>
                      <a:endParaRPr sz="1800"/>
                    </a:p>
                    <a:p>
                      <a:pPr indent="0" lvl="0" marL="0" marR="0" rtl="0" algn="l">
                        <a:lnSpc>
                          <a:spcPct val="150000"/>
                        </a:lnSpc>
                        <a:spcBef>
                          <a:spcPts val="0"/>
                        </a:spcBef>
                        <a:spcAft>
                          <a:spcPts val="0"/>
                        </a:spcAft>
                        <a:buNone/>
                      </a:pPr>
                      <a:r>
                        <a:rPr lang="en-US" sz="1200"/>
                        <a:t>նյութերի կարիքը </a:t>
                      </a:r>
                      <a:endParaRPr sz="1800"/>
                    </a:p>
                  </a:txBody>
                  <a:tcPr marT="0" marB="0" marR="0" marL="0" anchor="ctr"/>
                </a:tc>
              </a:tr>
              <a:tr h="1008625">
                <a:tc>
                  <a:txBody>
                    <a:bodyPr/>
                    <a:lstStyle/>
                    <a:p>
                      <a:pPr indent="0" lvl="0" marL="0" marR="0" rtl="0" algn="ctr">
                        <a:lnSpc>
                          <a:spcPct val="150000"/>
                        </a:lnSpc>
                        <a:spcBef>
                          <a:spcPts val="0"/>
                        </a:spcBef>
                        <a:spcAft>
                          <a:spcPts val="0"/>
                        </a:spcAft>
                        <a:buNone/>
                      </a:pPr>
                      <a:r>
                        <a:rPr lang="en-US" sz="1200"/>
                        <a:t>Ռազմագիտության </a:t>
                      </a:r>
                      <a:endParaRPr sz="1800"/>
                    </a:p>
                    <a:p>
                      <a:pPr indent="0" lvl="0" marL="0" marR="0" rtl="0" algn="ctr">
                        <a:lnSpc>
                          <a:spcPct val="150000"/>
                        </a:lnSpc>
                        <a:spcBef>
                          <a:spcPts val="0"/>
                        </a:spcBef>
                        <a:spcAft>
                          <a:spcPts val="0"/>
                        </a:spcAft>
                        <a:buNone/>
                      </a:pPr>
                      <a:r>
                        <a:rPr lang="en-US" sz="1200"/>
                        <a:t>կաբինետ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latin typeface="Merriweather"/>
                          <a:ea typeface="Merriweather"/>
                          <a:cs typeface="Merriweather"/>
                          <a:sym typeface="Merriweather"/>
                        </a:rPr>
                        <a:t>52.8</a:t>
                      </a:r>
                      <a:endParaRPr/>
                    </a:p>
                  </a:txBody>
                  <a:tcPr marT="0" marB="0" marR="0" marL="0" anchor="ctr"/>
                </a:tc>
                <a:tc>
                  <a:txBody>
                    <a:bodyPr/>
                    <a:lstStyle/>
                    <a:p>
                      <a:pPr indent="0" lvl="0" marL="0" marR="0" rtl="0" algn="ctr">
                        <a:lnSpc>
                          <a:spcPct val="150000"/>
                        </a:lnSpc>
                        <a:spcBef>
                          <a:spcPts val="0"/>
                        </a:spcBef>
                        <a:spcAft>
                          <a:spcPts val="0"/>
                        </a:spcAft>
                        <a:buNone/>
                      </a:pPr>
                      <a:r>
                        <a:rPr lang="en-US" sz="1200"/>
                        <a:t>այո</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7,62 ինքնաձիգ 1, Ձեռքի հակատանկային նռնակներ 1, Օդամղիչ հրացան /3+1/ 1, 7,62 մմ ինքնաձիգի փամփշտակալ 6, 7,62 մմ –անոց ուսումնական փամփուշտներ 31, Հրամանատարական արկղ 1, Ինքնաձիքի ուղղիչ սարք 4, Քիմիական սարք 1, Հեռուստացույց 1, </a:t>
                      </a:r>
                      <a:endParaRPr sz="1800"/>
                    </a:p>
                    <a:p>
                      <a:pPr indent="0" lvl="0" marL="0" marR="0" rtl="0" algn="l">
                        <a:lnSpc>
                          <a:spcPct val="150000"/>
                        </a:lnSpc>
                        <a:spcBef>
                          <a:spcPts val="0"/>
                        </a:spcBef>
                        <a:spcAft>
                          <a:spcPts val="0"/>
                        </a:spcAft>
                        <a:buNone/>
                      </a:pPr>
                      <a:r>
                        <a:rPr lang="en-US" sz="1200"/>
                        <a:t>Դիվիդի 1 </a:t>
                      </a:r>
                      <a:endParaRPr sz="1800"/>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just">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r h="384175">
                <a:tc rowSpan="2">
                  <a:txBody>
                    <a:bodyPr/>
                    <a:lstStyle/>
                    <a:p>
                      <a:pPr indent="0" lvl="0" marL="0" marR="0" rtl="0" algn="ctr">
                        <a:lnSpc>
                          <a:spcPct val="150000"/>
                        </a:lnSpc>
                        <a:spcBef>
                          <a:spcPts val="0"/>
                        </a:spcBef>
                        <a:spcAft>
                          <a:spcPts val="0"/>
                        </a:spcAft>
                        <a:buNone/>
                      </a:pPr>
                      <a:r>
                        <a:rPr lang="en-US" sz="1200"/>
                        <a:t>Համակարգչային լաբորատորիա, կաբինետ </a:t>
                      </a:r>
                      <a:endParaRPr sz="1800"/>
                    </a:p>
                  </a:txBody>
                  <a:tcPr marT="0" marB="0" marR="0" marL="0" anchor="ctr"/>
                </a:tc>
                <a:tc rowSpan="2">
                  <a:txBody>
                    <a:bodyPr/>
                    <a:lstStyle/>
                    <a:p>
                      <a:pPr indent="0" lvl="0" marL="0" marR="0" rtl="0" algn="ctr">
                        <a:lnSpc>
                          <a:spcPct val="150000"/>
                        </a:lnSpc>
                        <a:spcBef>
                          <a:spcPts val="0"/>
                        </a:spcBef>
                        <a:spcAft>
                          <a:spcPts val="0"/>
                        </a:spcAft>
                        <a:buNone/>
                      </a:pPr>
                      <a:r>
                        <a:rPr lang="en-US" sz="1200">
                          <a:latin typeface="Merriweather"/>
                          <a:ea typeface="Merriweather"/>
                          <a:cs typeface="Merriweather"/>
                          <a:sym typeface="Merriweather"/>
                        </a:rPr>
                        <a:t>60</a:t>
                      </a:r>
                      <a:endParaRPr/>
                    </a:p>
                  </a:txBody>
                  <a:tcPr marT="0" marB="0" marR="0" marL="0" anchor="ctr"/>
                </a:tc>
                <a:tc rowSpan="2">
                  <a:txBody>
                    <a:bodyPr/>
                    <a:lstStyle/>
                    <a:p>
                      <a:pPr indent="0" lvl="0" marL="0" marR="0" rtl="0" algn="ctr">
                        <a:lnSpc>
                          <a:spcPct val="150000"/>
                        </a:lnSpc>
                        <a:spcBef>
                          <a:spcPts val="0"/>
                        </a:spcBef>
                        <a:spcAft>
                          <a:spcPts val="0"/>
                        </a:spcAft>
                        <a:buNone/>
                      </a:pPr>
                      <a:r>
                        <a:rPr lang="en-US" sz="1200"/>
                        <a:t>ոչ</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solidFill>
                            <a:schemeClr val="dk1"/>
                          </a:solidFill>
                        </a:rPr>
                        <a:t>Էլեկտրոնային գրատախտակ 1, Համակարգիչ 41/ կոմպլեկտ/, </a:t>
                      </a:r>
                      <a:endParaRPr sz="1800">
                        <a:solidFill>
                          <a:schemeClr val="dk1"/>
                        </a:solidFill>
                      </a:endParaRPr>
                    </a:p>
                    <a:p>
                      <a:pPr indent="0" lvl="0" marL="0" marR="0" rtl="0" algn="l">
                        <a:lnSpc>
                          <a:spcPct val="150000"/>
                        </a:lnSpc>
                        <a:spcBef>
                          <a:spcPts val="0"/>
                        </a:spcBef>
                        <a:spcAft>
                          <a:spcPts val="0"/>
                        </a:spcAft>
                        <a:buNone/>
                      </a:pPr>
                      <a:r>
                        <a:rPr lang="en-US" sz="1200">
                          <a:solidFill>
                            <a:schemeClr val="dk1"/>
                          </a:solidFill>
                        </a:rPr>
                        <a:t>Բազմաֆունկցիոնալ տպիչ 2, Դիվիդի 1,Պրոեկտոր 1 </a:t>
                      </a:r>
                      <a:endParaRPr sz="1800">
                        <a:solidFill>
                          <a:schemeClr val="dk1"/>
                        </a:solidFill>
                      </a:endParaRPr>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just">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r h="384175">
                <a:tc vMerge="1"/>
                <a:tc vMerge="1"/>
                <a:tc vMerge="1"/>
                <a:tc>
                  <a:txBody>
                    <a:bodyPr/>
                    <a:lstStyle/>
                    <a:p>
                      <a:pPr indent="0" lvl="0" marL="0" marR="0" rtl="0" algn="l">
                        <a:lnSpc>
                          <a:spcPct val="150000"/>
                        </a:lnSpc>
                        <a:spcBef>
                          <a:spcPts val="0"/>
                        </a:spcBef>
                        <a:spcAft>
                          <a:spcPts val="0"/>
                        </a:spcAft>
                        <a:buNone/>
                      </a:pPr>
                      <a:r>
                        <a:rPr lang="en-US" sz="1200">
                          <a:solidFill>
                            <a:schemeClr val="dk1"/>
                          </a:solidFill>
                        </a:rPr>
                        <a:t>Նոթբուք 22 հատ, Նոթբուքի երկաթյա պահարան 2, </a:t>
                      </a:r>
                      <a:endParaRPr sz="1800">
                        <a:solidFill>
                          <a:schemeClr val="dk1"/>
                        </a:solidFill>
                      </a:endParaRPr>
                    </a:p>
                    <a:p>
                      <a:pPr indent="0" lvl="0" marL="0" marR="0" rtl="0" algn="l">
                        <a:lnSpc>
                          <a:spcPct val="150000"/>
                        </a:lnSpc>
                        <a:spcBef>
                          <a:spcPts val="0"/>
                        </a:spcBef>
                        <a:spcAft>
                          <a:spcPts val="0"/>
                        </a:spcAft>
                        <a:buNone/>
                      </a:pPr>
                      <a:r>
                        <a:rPr lang="en-US" sz="1200">
                          <a:solidFill>
                            <a:schemeClr val="dk1"/>
                          </a:solidFill>
                        </a:rPr>
                        <a:t>Էլեկտրոնային գրատախտակ 1 </a:t>
                      </a:r>
                      <a:endParaRPr sz="1800">
                        <a:solidFill>
                          <a:schemeClr val="dk1"/>
                        </a:solidFill>
                      </a:endParaRPr>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just">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r h="144150">
                <a:tc>
                  <a:txBody>
                    <a:bodyPr/>
                    <a:lstStyle/>
                    <a:p>
                      <a:pPr indent="0" lvl="0" marL="0" marR="0" rtl="0" algn="ctr">
                        <a:lnSpc>
                          <a:spcPct val="150000"/>
                        </a:lnSpc>
                        <a:spcBef>
                          <a:spcPts val="0"/>
                        </a:spcBef>
                        <a:spcAft>
                          <a:spcPts val="0"/>
                        </a:spcAft>
                        <a:buNone/>
                      </a:pPr>
                      <a:r>
                        <a:rPr lang="en-US" sz="1200"/>
                        <a:t>Արհեստանոց (նշել ինչպիսի) </a:t>
                      </a:r>
                      <a:endParaRPr sz="1800"/>
                    </a:p>
                  </a:txBody>
                  <a:tcPr marT="0" marB="0" marR="0" marL="0" anchor="ctr"/>
                </a:tc>
                <a:tc>
                  <a:txBody>
                    <a:bodyPr/>
                    <a:lstStyle/>
                    <a:p>
                      <a:pPr indent="0" lvl="0" marL="0" marR="0" rtl="0" algn="ctr">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ctr">
                        <a:lnSpc>
                          <a:spcPct val="150000"/>
                        </a:lnSpc>
                        <a:spcBef>
                          <a:spcPts val="0"/>
                        </a:spcBef>
                        <a:spcAft>
                          <a:spcPts val="0"/>
                        </a:spcAft>
                        <a:buNone/>
                      </a:pPr>
                      <a:r>
                        <a:rPr lang="en-US" sz="1200"/>
                        <a:t>/արհեստագործական/ այո </a:t>
                      </a:r>
                      <a:endParaRPr sz="1800"/>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just">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r h="96000">
                <a:tc>
                  <a:txBody>
                    <a:bodyPr/>
                    <a:lstStyle/>
                    <a:p>
                      <a:pPr indent="0" lvl="0" marL="0" marR="0" rtl="0" algn="ctr">
                        <a:lnSpc>
                          <a:spcPct val="150000"/>
                        </a:lnSpc>
                        <a:spcBef>
                          <a:spcPts val="0"/>
                        </a:spcBef>
                        <a:spcAft>
                          <a:spcPts val="0"/>
                        </a:spcAft>
                        <a:buNone/>
                      </a:pPr>
                      <a:r>
                        <a:rPr lang="en-US" sz="1200"/>
                        <a:t>Միջոցառումների դահլիճ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latin typeface="Merriweather"/>
                          <a:ea typeface="Merriweather"/>
                          <a:cs typeface="Merriweather"/>
                          <a:sym typeface="Merriweather"/>
                        </a:rPr>
                        <a:t>100</a:t>
                      </a:r>
                      <a:endParaRPr/>
                    </a:p>
                  </a:txBody>
                  <a:tcPr marT="0" marB="0" marR="0" marL="0" anchor="ctr"/>
                </a:tc>
                <a:tc>
                  <a:txBody>
                    <a:bodyPr/>
                    <a:lstStyle/>
                    <a:p>
                      <a:pPr indent="0" lvl="0" marL="0" marR="0" rtl="0" algn="ctr">
                        <a:lnSpc>
                          <a:spcPct val="150000"/>
                        </a:lnSpc>
                        <a:spcBef>
                          <a:spcPts val="0"/>
                        </a:spcBef>
                        <a:spcAft>
                          <a:spcPts val="0"/>
                        </a:spcAft>
                        <a:buNone/>
                      </a:pPr>
                      <a:r>
                        <a:rPr lang="en-US" sz="1200"/>
                        <a:t>ոչ</a:t>
                      </a:r>
                      <a:endParaRPr sz="1800"/>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just">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r h="48000">
                <a:tc>
                  <a:txBody>
                    <a:bodyPr/>
                    <a:lstStyle/>
                    <a:p>
                      <a:pPr indent="0" lvl="0" marL="0" marR="0" rtl="0" algn="ctr">
                        <a:lnSpc>
                          <a:spcPct val="150000"/>
                        </a:lnSpc>
                        <a:spcBef>
                          <a:spcPts val="0"/>
                        </a:spcBef>
                        <a:spcAft>
                          <a:spcPts val="0"/>
                        </a:spcAft>
                        <a:buNone/>
                      </a:pPr>
                      <a:r>
                        <a:rPr lang="en-US" sz="1200"/>
                        <a:t>Մարզադահլիճ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latin typeface="Merriweather"/>
                          <a:ea typeface="Merriweather"/>
                          <a:cs typeface="Merriweather"/>
                          <a:sym typeface="Merriweather"/>
                        </a:rPr>
                        <a:t>300</a:t>
                      </a:r>
                      <a:endParaRPr/>
                    </a:p>
                  </a:txBody>
                  <a:tcPr marT="0" marB="0" marR="0" marL="0" anchor="ctr"/>
                </a:tc>
                <a:tc>
                  <a:txBody>
                    <a:bodyPr/>
                    <a:lstStyle/>
                    <a:p>
                      <a:pPr indent="0" lvl="0" marL="0" marR="0" rtl="0" algn="ctr">
                        <a:lnSpc>
                          <a:spcPct val="150000"/>
                        </a:lnSpc>
                        <a:spcBef>
                          <a:spcPts val="0"/>
                        </a:spcBef>
                        <a:spcAft>
                          <a:spcPts val="0"/>
                        </a:spcAft>
                        <a:buNone/>
                      </a:pPr>
                      <a:r>
                        <a:rPr lang="en-US" sz="1200"/>
                        <a:t>այո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latin typeface="Merriweather"/>
                          <a:ea typeface="Merriweather"/>
                          <a:cs typeface="Merriweather"/>
                          <a:sym typeface="Merriweather"/>
                        </a:rPr>
                        <a:t>Շախմատ 10, վայրկենաչափ 1, ուժաչափ 1, մարմնազական նստարան 2, կամրջակ 1, այծիկ 1</a:t>
                      </a:r>
                      <a:endParaRPr/>
                    </a:p>
                  </a:txBody>
                  <a:tcPr marT="0" marB="0" marR="0" marL="0" anchor="ctr"/>
                </a:tc>
                <a:tc>
                  <a:txBody>
                    <a:bodyPr/>
                    <a:lstStyle/>
                    <a:p>
                      <a:pPr indent="0" lvl="0" marL="0" marR="0" rtl="0" algn="l">
                        <a:lnSpc>
                          <a:spcPct val="150000"/>
                        </a:lnSpc>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just">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2"/>
          <p:cNvSpPr txBox="1"/>
          <p:nvPr/>
        </p:nvSpPr>
        <p:spPr>
          <a:xfrm>
            <a:off x="1641001" y="428246"/>
            <a:ext cx="9292767" cy="2000548"/>
          </a:xfrm>
          <a:prstGeom prst="rect">
            <a:avLst/>
          </a:prstGeom>
          <a:noFill/>
          <a:ln>
            <a:noFill/>
          </a:ln>
        </p:spPr>
        <p:txBody>
          <a:bodyPr anchorCtr="0" anchor="t" bIns="45700" lIns="91425" spcFirstLastPara="1" rIns="91425" wrap="square" tIns="45700">
            <a:spAutoFit/>
          </a:bodyPr>
          <a:lstStyle/>
          <a:p>
            <a:pPr indent="-171450" lvl="0" marL="171450" marR="0" rtl="0" algn="just">
              <a:spcBef>
                <a:spcPts val="0"/>
              </a:spcBef>
              <a:spcAft>
                <a:spcPts val="0"/>
              </a:spcAft>
              <a:buClr>
                <a:schemeClr val="dk1"/>
              </a:buClr>
              <a:buSzPts val="1800"/>
              <a:buFont typeface="Arial"/>
              <a:buChar char="•"/>
            </a:pPr>
            <a:r>
              <a:rPr i="1" lang="en-US" sz="1800">
                <a:solidFill>
                  <a:schemeClr val="dk1"/>
                </a:solidFill>
                <a:latin typeface="Merriweather"/>
                <a:ea typeface="Merriweather"/>
                <a:cs typeface="Merriweather"/>
                <a:sym typeface="Merriweather"/>
              </a:rPr>
              <a:t> Ուսումնական նյութերով ու անհրաժեշտ պարագաներով հագեցված են ֆիզիկայի, քիմիայի , կենսաբանության  աշխարհագրության,ինֆորմատիկայի  կաբինետները: </a:t>
            </a:r>
            <a:endParaRPr i="1" sz="1600">
              <a:solidFill>
                <a:schemeClr val="dk1"/>
              </a:solidFill>
              <a:latin typeface="Merriweather"/>
              <a:ea typeface="Merriweather"/>
              <a:cs typeface="Merriweather"/>
              <a:sym typeface="Merriweather"/>
            </a:endParaRPr>
          </a:p>
          <a:p>
            <a:pPr indent="-171450" lvl="0" marL="171450" marR="0" rtl="0" algn="just">
              <a:spcBef>
                <a:spcPts val="0"/>
              </a:spcBef>
              <a:spcAft>
                <a:spcPts val="0"/>
              </a:spcAft>
              <a:buClr>
                <a:schemeClr val="dk1"/>
              </a:buClr>
              <a:buSzPts val="1800"/>
              <a:buFont typeface="Arial"/>
              <a:buChar char="•"/>
            </a:pPr>
            <a:r>
              <a:rPr i="1" lang="en-US" sz="1800">
                <a:solidFill>
                  <a:schemeClr val="dk1"/>
                </a:solidFill>
                <a:latin typeface="Merriweather"/>
                <a:ea typeface="Merriweather"/>
                <a:cs typeface="Merriweather"/>
                <a:sym typeface="Merriweather"/>
              </a:rPr>
              <a:t>Մնացած առարկաների համար չկան հատկացված, կահավորված կաբինետներ:</a:t>
            </a:r>
            <a:endParaRPr/>
          </a:p>
          <a:p>
            <a:pPr indent="-171450" lvl="0" marL="171450" marR="0" rtl="0" algn="just">
              <a:spcBef>
                <a:spcPts val="0"/>
              </a:spcBef>
              <a:spcAft>
                <a:spcPts val="0"/>
              </a:spcAft>
              <a:buClr>
                <a:schemeClr val="dk1"/>
              </a:buClr>
              <a:buSzPts val="1800"/>
              <a:buFont typeface="Arial"/>
              <a:buChar char="•"/>
            </a:pPr>
            <a:r>
              <a:rPr i="1" lang="en-US" sz="1800">
                <a:solidFill>
                  <a:schemeClr val="dk1"/>
                </a:solidFill>
                <a:latin typeface="Merriweather"/>
                <a:ea typeface="Merriweather"/>
                <a:cs typeface="Merriweather"/>
                <a:sym typeface="Merriweather"/>
              </a:rPr>
              <a:t>Մարզադահլիճը, արհեստանոցներն ունեն ինչպես վերանորոգման, այնպես էլ կահավորման կար</a:t>
            </a:r>
            <a:endParaRPr/>
          </a:p>
          <a:p>
            <a:pPr indent="-285750" lvl="0" marL="285750" marR="0" rtl="0" algn="just">
              <a:spcBef>
                <a:spcPts val="0"/>
              </a:spcBef>
              <a:spcAft>
                <a:spcPts val="0"/>
              </a:spcAft>
              <a:buClr>
                <a:schemeClr val="dk1"/>
              </a:buClr>
              <a:buSzPts val="1600"/>
              <a:buFont typeface="Arial"/>
              <a:buChar char="•"/>
            </a:pPr>
            <a:r>
              <a:rPr i="1" lang="en-US" sz="1600">
                <a:solidFill>
                  <a:schemeClr val="dk1"/>
                </a:solidFill>
                <a:latin typeface="Merriweather"/>
                <a:ea typeface="Merriweather"/>
                <a:cs typeface="Merriweather"/>
                <a:sym typeface="Merriweather"/>
              </a:rPr>
              <a:t>Մարզադահլիճը հիմնանորոգման կարիք ունի:</a:t>
            </a:r>
            <a:endParaRPr i="1" sz="1600">
              <a:solidFill>
                <a:schemeClr val="dk1"/>
              </a:solidFill>
              <a:latin typeface="Merriweather"/>
              <a:ea typeface="Merriweather"/>
              <a:cs typeface="Merriweather"/>
              <a:sym typeface="Merriweather"/>
            </a:endParaRPr>
          </a:p>
          <a:p>
            <a:pPr indent="0" lvl="0" marL="0" marR="0" rtl="0" algn="l">
              <a:spcBef>
                <a:spcPts val="0"/>
              </a:spcBef>
              <a:spcAft>
                <a:spcPts val="0"/>
              </a:spcAft>
              <a:buNone/>
            </a:pPr>
            <a:r>
              <a:t/>
            </a:r>
            <a:endParaRPr i="1" sz="1800">
              <a:solidFill>
                <a:schemeClr val="dk1"/>
              </a:solidFill>
              <a:latin typeface="Merriweather"/>
              <a:ea typeface="Merriweather"/>
              <a:cs typeface="Merriweather"/>
              <a:sym typeface="Merriweather"/>
            </a:endParaRPr>
          </a:p>
        </p:txBody>
      </p:sp>
      <p:sp>
        <p:nvSpPr>
          <p:cNvPr id="501" name="Google Shape;501;p62"/>
          <p:cNvSpPr txBox="1"/>
          <p:nvPr/>
        </p:nvSpPr>
        <p:spPr>
          <a:xfrm>
            <a:off x="1641001" y="3754945"/>
            <a:ext cx="9619942"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1800">
                <a:solidFill>
                  <a:schemeClr val="dk1"/>
                </a:solidFill>
                <a:latin typeface="Merriweather"/>
                <a:ea typeface="Merriweather"/>
                <a:cs typeface="Merriweather"/>
                <a:sym typeface="Merriweather"/>
              </a:rPr>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3"/>
          <p:cNvSpPr txBox="1"/>
          <p:nvPr/>
        </p:nvSpPr>
        <p:spPr>
          <a:xfrm>
            <a:off x="161925" y="84138"/>
            <a:ext cx="953459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Merriweather"/>
                <a:ea typeface="Merriweather"/>
                <a:cs typeface="Merriweather"/>
                <a:sym typeface="Merriweather"/>
              </a:rPr>
              <a:t>Աղյուսակ 26. Ուսումնական  հաստատության ներքին արդյունավետության </a:t>
            </a:r>
            <a:endParaRPr b="1" i="1" sz="1800">
              <a:solidFill>
                <a:srgbClr val="000000"/>
              </a:solidFill>
              <a:latin typeface="Merriweather"/>
              <a:ea typeface="Merriweather"/>
              <a:cs typeface="Merriweather"/>
              <a:sym typeface="Merriweather"/>
            </a:endParaRPr>
          </a:p>
          <a:p>
            <a:pPr indent="0" lvl="0" marL="0" marR="0" rtl="0" algn="l">
              <a:spcBef>
                <a:spcPts val="0"/>
              </a:spcBef>
              <a:spcAft>
                <a:spcPts val="0"/>
              </a:spcAft>
              <a:buNone/>
            </a:pPr>
            <a:r>
              <a:rPr b="1" i="1" lang="en-US" sz="1800">
                <a:solidFill>
                  <a:schemeClr val="dk1"/>
                </a:solidFill>
                <a:latin typeface="Merriweather"/>
                <a:ea typeface="Merriweather"/>
                <a:cs typeface="Merriweather"/>
                <a:sym typeface="Merriweather"/>
              </a:rPr>
              <a:t>                       հիմնական ցուցանիշները՝ ընթացիկ և նախորդ 2 ուստարիների համար</a:t>
            </a:r>
            <a:endParaRPr b="1" i="1" sz="1800">
              <a:solidFill>
                <a:schemeClr val="dk1"/>
              </a:solidFill>
              <a:latin typeface="Merriweather"/>
              <a:ea typeface="Merriweather"/>
              <a:cs typeface="Merriweather"/>
              <a:sym typeface="Merriweather"/>
            </a:endParaRPr>
          </a:p>
        </p:txBody>
      </p:sp>
      <p:graphicFrame>
        <p:nvGraphicFramePr>
          <p:cNvPr id="508" name="Google Shape;508;p63"/>
          <p:cNvGraphicFramePr/>
          <p:nvPr/>
        </p:nvGraphicFramePr>
        <p:xfrm>
          <a:off x="1638794" y="893115"/>
          <a:ext cx="3000000" cy="3000000"/>
        </p:xfrm>
        <a:graphic>
          <a:graphicData uri="http://schemas.openxmlformats.org/drawingml/2006/table">
            <a:tbl>
              <a:tblPr>
                <a:noFill/>
                <a:tableStyleId>{40B977D2-3903-41EF-8714-5AC59086702B}</a:tableStyleId>
              </a:tblPr>
              <a:tblGrid>
                <a:gridCol w="3134625"/>
                <a:gridCol w="1163500"/>
                <a:gridCol w="1067700"/>
                <a:gridCol w="1278250"/>
                <a:gridCol w="1740025"/>
              </a:tblGrid>
              <a:tr h="948575">
                <a:tc>
                  <a:txBody>
                    <a:bodyPr/>
                    <a:lstStyle/>
                    <a:p>
                      <a:pPr indent="0" lvl="0" marL="0" marR="0" rtl="0" algn="l">
                        <a:lnSpc>
                          <a:spcPct val="150000"/>
                        </a:lnSpc>
                        <a:spcBef>
                          <a:spcPts val="0"/>
                        </a:spcBef>
                        <a:spcAft>
                          <a:spcPts val="0"/>
                        </a:spcAft>
                        <a:buNone/>
                      </a:pPr>
                      <a:r>
                        <a:rPr lang="en-US" sz="1400"/>
                        <a:t>Ցուցանիշներ </a:t>
                      </a:r>
                      <a:endParaRPr sz="1800"/>
                    </a:p>
                  </a:txBody>
                  <a:tcPr marT="0" marB="0" marR="0" marL="0" anchor="ctr"/>
                </a:tc>
                <a:tc>
                  <a:txBody>
                    <a:bodyPr/>
                    <a:lstStyle/>
                    <a:p>
                      <a:pPr indent="0" lvl="0" marL="0" marR="0" rtl="0" algn="l">
                        <a:spcBef>
                          <a:spcPts val="0"/>
                        </a:spcBef>
                        <a:spcAft>
                          <a:spcPts val="0"/>
                        </a:spcAft>
                        <a:buNone/>
                      </a:pPr>
                      <a:r>
                        <a:rPr lang="en-US" sz="1600"/>
                        <a:t>2023-2024</a:t>
                      </a:r>
                      <a:endParaRPr/>
                    </a:p>
                    <a:p>
                      <a:pPr indent="0" lvl="0" marL="0" marR="0" rtl="0" algn="l">
                        <a:spcBef>
                          <a:spcPts val="0"/>
                        </a:spcBef>
                        <a:spcAft>
                          <a:spcPts val="0"/>
                        </a:spcAft>
                        <a:buNone/>
                      </a:pPr>
                      <a:r>
                        <a:rPr lang="en-US" sz="1600"/>
                        <a:t>ուստարի</a:t>
                      </a:r>
                      <a:endParaRPr sz="1600"/>
                    </a:p>
                  </a:txBody>
                  <a:tcPr marT="0" marB="0" marR="0" marL="0" anchor="ctr"/>
                </a:tc>
                <a:tc>
                  <a:txBody>
                    <a:bodyPr/>
                    <a:lstStyle/>
                    <a:p>
                      <a:pPr indent="0" lvl="0" marL="0" marR="0" rtl="0" algn="ctr">
                        <a:spcBef>
                          <a:spcPts val="0"/>
                        </a:spcBef>
                        <a:spcAft>
                          <a:spcPts val="0"/>
                        </a:spcAft>
                        <a:buNone/>
                      </a:pPr>
                      <a:r>
                        <a:rPr lang="en-US" sz="1600"/>
                        <a:t>2024-2025</a:t>
                      </a:r>
                      <a:endParaRPr sz="1600"/>
                    </a:p>
                    <a:p>
                      <a:pPr indent="0" lvl="0" marL="0" marR="0" rtl="0" algn="ctr">
                        <a:spcBef>
                          <a:spcPts val="0"/>
                        </a:spcBef>
                        <a:spcAft>
                          <a:spcPts val="0"/>
                        </a:spcAft>
                        <a:buNone/>
                      </a:pPr>
                      <a:r>
                        <a:rPr lang="en-US" sz="1600"/>
                        <a:t>ուստարի</a:t>
                      </a:r>
                      <a:endParaRPr sz="1600"/>
                    </a:p>
                  </a:txBody>
                  <a:tcPr marT="0" marB="0" marR="0" marL="0" anchor="ctr"/>
                </a:tc>
                <a:tc>
                  <a:txBody>
                    <a:bodyPr/>
                    <a:lstStyle/>
                    <a:p>
                      <a:pPr indent="0" lvl="0" marL="0" marR="0" rtl="0" algn="ctr">
                        <a:spcBef>
                          <a:spcPts val="0"/>
                        </a:spcBef>
                        <a:spcAft>
                          <a:spcPts val="0"/>
                        </a:spcAft>
                        <a:buNone/>
                      </a:pPr>
                      <a:r>
                        <a:rPr lang="en-US" sz="1600"/>
                        <a:t>2025-2026</a:t>
                      </a:r>
                      <a:endParaRPr sz="1600"/>
                    </a:p>
                    <a:p>
                      <a:pPr indent="0" lvl="0" marL="0" marR="0" rtl="0" algn="ctr">
                        <a:spcBef>
                          <a:spcPts val="0"/>
                        </a:spcBef>
                        <a:spcAft>
                          <a:spcPts val="0"/>
                        </a:spcAft>
                        <a:buNone/>
                      </a:pPr>
                      <a:r>
                        <a:rPr lang="en-US" sz="1600"/>
                        <a:t>ուստարի</a:t>
                      </a:r>
                      <a:endParaRPr sz="1600"/>
                    </a:p>
                  </a:txBody>
                  <a:tcPr marT="0" marB="0" marR="0" marL="0" anchor="ctr"/>
                </a:tc>
                <a:tc>
                  <a:txBody>
                    <a:bodyPr/>
                    <a:lstStyle/>
                    <a:p>
                      <a:pPr indent="0" lvl="0" marL="0" marR="0" rtl="0" algn="l">
                        <a:lnSpc>
                          <a:spcPct val="150000"/>
                        </a:lnSpc>
                        <a:spcBef>
                          <a:spcPts val="0"/>
                        </a:spcBef>
                        <a:spcAft>
                          <a:spcPts val="0"/>
                        </a:spcAft>
                        <a:buNone/>
                      </a:pPr>
                      <a:r>
                        <a:rPr lang="en-US" sz="1400"/>
                        <a:t>Փոփոխությունների դինամիկան (աճ կամ նվազում) </a:t>
                      </a:r>
                      <a:endParaRPr sz="1800"/>
                    </a:p>
                  </a:txBody>
                  <a:tcPr marT="0" marB="0" marR="0" marL="0" anchor="ctr"/>
                </a:tc>
              </a:tr>
              <a:tr h="568325">
                <a:tc>
                  <a:txBody>
                    <a:bodyPr/>
                    <a:lstStyle/>
                    <a:p>
                      <a:pPr indent="0" lvl="0" marL="0" marR="0" rtl="0" algn="l">
                        <a:lnSpc>
                          <a:spcPct val="150000"/>
                        </a:lnSpc>
                        <a:spcBef>
                          <a:spcPts val="0"/>
                        </a:spcBef>
                        <a:spcAft>
                          <a:spcPts val="0"/>
                        </a:spcAft>
                        <a:buNone/>
                      </a:pPr>
                      <a:r>
                        <a:rPr lang="en-US" sz="1400"/>
                        <a:t>Սովորող/ուսուցիչ հարաբերությունը </a:t>
                      </a:r>
                      <a:endParaRPr sz="1800"/>
                    </a:p>
                  </a:txBody>
                  <a:tcPr marT="0" marB="0" marR="0" marL="0" anchor="ctr"/>
                </a:tc>
                <a:tc>
                  <a:txBody>
                    <a:bodyPr/>
                    <a:lstStyle/>
                    <a:p>
                      <a:pPr indent="0" lvl="0" marL="0" marR="0" rtl="0" algn="ctr">
                        <a:spcBef>
                          <a:spcPts val="0"/>
                        </a:spcBef>
                        <a:spcAft>
                          <a:spcPts val="0"/>
                        </a:spcAft>
                        <a:buNone/>
                      </a:pPr>
                      <a:r>
                        <a:rPr lang="en-US" sz="1400"/>
                        <a:t>14,9</a:t>
                      </a:r>
                      <a:endParaRPr sz="1400"/>
                    </a:p>
                  </a:txBody>
                  <a:tcPr marT="45725" marB="45725" marR="91450" marL="91450" anchor="ctr"/>
                </a:tc>
                <a:tc>
                  <a:txBody>
                    <a:bodyPr/>
                    <a:lstStyle/>
                    <a:p>
                      <a:pPr indent="0" lvl="0" marL="0" marR="0" rtl="0" algn="ctr">
                        <a:spcBef>
                          <a:spcPts val="0"/>
                        </a:spcBef>
                        <a:spcAft>
                          <a:spcPts val="0"/>
                        </a:spcAft>
                        <a:buNone/>
                      </a:pPr>
                      <a:r>
                        <a:rPr lang="en-US" sz="1400"/>
                        <a:t>15,85</a:t>
                      </a:r>
                      <a:endParaRPr sz="1400"/>
                    </a:p>
                  </a:txBody>
                  <a:tcPr marT="45725" marB="45725" marR="91450" marL="91450" anchor="ctr"/>
                </a:tc>
                <a:tc>
                  <a:txBody>
                    <a:bodyPr/>
                    <a:lstStyle/>
                    <a:p>
                      <a:pPr indent="0" lvl="0" marL="0" marR="0" rtl="0" algn="ctr">
                        <a:spcBef>
                          <a:spcPts val="0"/>
                        </a:spcBef>
                        <a:spcAft>
                          <a:spcPts val="0"/>
                        </a:spcAft>
                        <a:buNone/>
                      </a:pPr>
                      <a:r>
                        <a:rPr lang="en-US" sz="1400"/>
                        <a:t>13,9</a:t>
                      </a:r>
                      <a:endParaRPr sz="1400"/>
                    </a:p>
                  </a:txBody>
                  <a:tcPr marT="45725" marB="45725" marR="91450" marL="91450" anchor="ctr"/>
                </a:tc>
                <a:tc>
                  <a:txBody>
                    <a:bodyPr/>
                    <a:lstStyle/>
                    <a:p>
                      <a:pPr indent="0" lvl="0" marL="0" marR="0" rtl="0" algn="ctr">
                        <a:lnSpc>
                          <a:spcPct val="150000"/>
                        </a:lnSpc>
                        <a:spcBef>
                          <a:spcPts val="0"/>
                        </a:spcBef>
                        <a:spcAft>
                          <a:spcPts val="0"/>
                        </a:spcAft>
                        <a:buClr>
                          <a:schemeClr val="dk1"/>
                        </a:buClr>
                        <a:buSzPts val="1400"/>
                        <a:buFont typeface="Merriweather"/>
                        <a:buNone/>
                      </a:pPr>
                      <a:r>
                        <a:rPr lang="en-US" sz="1400">
                          <a:latin typeface="Merriweather"/>
                          <a:ea typeface="Merriweather"/>
                          <a:cs typeface="Merriweather"/>
                          <a:sym typeface="Merriweather"/>
                        </a:rPr>
                        <a:t>նվազում</a:t>
                      </a:r>
                      <a:endParaRPr sz="1400">
                        <a:latin typeface="Merriweather"/>
                        <a:ea typeface="Merriweather"/>
                        <a:cs typeface="Merriweather"/>
                        <a:sym typeface="Merriweather"/>
                      </a:endParaRPr>
                    </a:p>
                    <a:p>
                      <a:pPr indent="0" lvl="0" marL="0" marR="0" rtl="0" algn="ctr">
                        <a:lnSpc>
                          <a:spcPct val="150000"/>
                        </a:lnSpc>
                        <a:spcBef>
                          <a:spcPts val="0"/>
                        </a:spcBef>
                        <a:spcAft>
                          <a:spcPts val="0"/>
                        </a:spcAft>
                        <a:buClr>
                          <a:schemeClr val="dk1"/>
                        </a:buClr>
                        <a:buSzPts val="1400"/>
                        <a:buFont typeface="Century Gothic"/>
                        <a:buNone/>
                      </a:pPr>
                      <a:r>
                        <a:t/>
                      </a:r>
                      <a:endParaRPr sz="1400"/>
                    </a:p>
                  </a:txBody>
                  <a:tcPr marT="0" marB="0" marR="0" marL="0" anchor="ctr"/>
                </a:tc>
              </a:tr>
              <a:tr h="568325">
                <a:tc>
                  <a:txBody>
                    <a:bodyPr/>
                    <a:lstStyle/>
                    <a:p>
                      <a:pPr indent="0" lvl="0" marL="0" marR="0" rtl="0" algn="l">
                        <a:lnSpc>
                          <a:spcPct val="150000"/>
                        </a:lnSpc>
                        <a:spcBef>
                          <a:spcPts val="0"/>
                        </a:spcBef>
                        <a:spcAft>
                          <a:spcPts val="0"/>
                        </a:spcAft>
                        <a:buNone/>
                      </a:pPr>
                      <a:r>
                        <a:rPr lang="en-US" sz="1400"/>
                        <a:t>Սովորող/ սպասարկող անձնակազմ հարաբերությունը </a:t>
                      </a:r>
                      <a:endParaRPr sz="1800"/>
                    </a:p>
                  </a:txBody>
                  <a:tcPr marT="0" marB="0" marR="0" marL="0" anchor="ctr"/>
                </a:tc>
                <a:tc>
                  <a:txBody>
                    <a:bodyPr/>
                    <a:lstStyle/>
                    <a:p>
                      <a:pPr indent="0" lvl="0" marL="0" marR="0" rtl="0" algn="ctr">
                        <a:spcBef>
                          <a:spcPts val="0"/>
                        </a:spcBef>
                        <a:spcAft>
                          <a:spcPts val="0"/>
                        </a:spcAft>
                        <a:buNone/>
                      </a:pPr>
                      <a:r>
                        <a:rPr lang="en-US" sz="1400"/>
                        <a:t>28,8</a:t>
                      </a:r>
                      <a:endParaRPr sz="1400"/>
                    </a:p>
                  </a:txBody>
                  <a:tcPr marT="45725" marB="45725" marR="91450" marL="91450" anchor="ctr"/>
                </a:tc>
                <a:tc>
                  <a:txBody>
                    <a:bodyPr/>
                    <a:lstStyle/>
                    <a:p>
                      <a:pPr indent="0" lvl="0" marL="0" marR="0" rtl="0" algn="ctr">
                        <a:spcBef>
                          <a:spcPts val="0"/>
                        </a:spcBef>
                        <a:spcAft>
                          <a:spcPts val="0"/>
                        </a:spcAft>
                        <a:buNone/>
                      </a:pPr>
                      <a:r>
                        <a:rPr lang="en-US" sz="1400"/>
                        <a:t>35,6</a:t>
                      </a:r>
                      <a:endParaRPr sz="1400"/>
                    </a:p>
                  </a:txBody>
                  <a:tcPr marT="45725" marB="45725" marR="91450" marL="91450" anchor="ctr"/>
                </a:tc>
                <a:tc>
                  <a:txBody>
                    <a:bodyPr/>
                    <a:lstStyle/>
                    <a:p>
                      <a:pPr indent="0" lvl="0" marL="0" marR="0" rtl="0" algn="ctr">
                        <a:spcBef>
                          <a:spcPts val="0"/>
                        </a:spcBef>
                        <a:spcAft>
                          <a:spcPts val="0"/>
                        </a:spcAft>
                        <a:buNone/>
                      </a:pPr>
                      <a:r>
                        <a:rPr lang="en-US" sz="1400"/>
                        <a:t>27,6</a:t>
                      </a:r>
                      <a:endParaRPr sz="1400"/>
                    </a:p>
                  </a:txBody>
                  <a:tcPr marT="45725" marB="45725" marR="91450" marL="91450" anchor="ctr"/>
                </a:tc>
                <a:tc>
                  <a:txBody>
                    <a:bodyPr/>
                    <a:lstStyle/>
                    <a:p>
                      <a:pPr indent="0" lvl="0" marL="0" marR="0" rtl="0" algn="ctr">
                        <a:lnSpc>
                          <a:spcPct val="150000"/>
                        </a:lnSpc>
                        <a:spcBef>
                          <a:spcPts val="0"/>
                        </a:spcBef>
                        <a:spcAft>
                          <a:spcPts val="0"/>
                        </a:spcAft>
                        <a:buClr>
                          <a:schemeClr val="dk1"/>
                        </a:buClr>
                        <a:buSzPts val="1400"/>
                        <a:buFont typeface="Century Gothic"/>
                        <a:buNone/>
                      </a:pPr>
                      <a:r>
                        <a:rPr lang="en-US" sz="1400"/>
                        <a:t>նվազում</a:t>
                      </a:r>
                      <a:endParaRPr sz="1400"/>
                    </a:p>
                  </a:txBody>
                  <a:tcPr marT="0" marB="0" marR="0" marL="0" anchor="ctr"/>
                </a:tc>
              </a:tr>
              <a:tr h="568325">
                <a:tc>
                  <a:txBody>
                    <a:bodyPr/>
                    <a:lstStyle/>
                    <a:p>
                      <a:pPr indent="0" lvl="0" marL="0" marR="0" rtl="0" algn="l">
                        <a:lnSpc>
                          <a:spcPct val="150000"/>
                        </a:lnSpc>
                        <a:spcBef>
                          <a:spcPts val="0"/>
                        </a:spcBef>
                        <a:spcAft>
                          <a:spcPts val="0"/>
                        </a:spcAft>
                        <a:buNone/>
                      </a:pPr>
                      <a:r>
                        <a:rPr lang="en-US" sz="1400"/>
                        <a:t>Դասարանների միջին խտությունը </a:t>
                      </a:r>
                      <a:endParaRPr sz="1800"/>
                    </a:p>
                  </a:txBody>
                  <a:tcPr marT="0" marB="0" marR="0" marL="0" anchor="ctr"/>
                </a:tc>
                <a:tc>
                  <a:txBody>
                    <a:bodyPr/>
                    <a:lstStyle/>
                    <a:p>
                      <a:pPr indent="0" lvl="0" marL="0" marR="0" rtl="0" algn="ctr">
                        <a:spcBef>
                          <a:spcPts val="0"/>
                        </a:spcBef>
                        <a:spcAft>
                          <a:spcPts val="0"/>
                        </a:spcAft>
                        <a:buNone/>
                      </a:pPr>
                      <a:r>
                        <a:rPr lang="en-US" sz="1400"/>
                        <a:t>22,4</a:t>
                      </a:r>
                      <a:endParaRPr sz="1400"/>
                    </a:p>
                  </a:txBody>
                  <a:tcPr marT="45725" marB="45725" marR="91450" marL="91450" anchor="ctr"/>
                </a:tc>
                <a:tc>
                  <a:txBody>
                    <a:bodyPr/>
                    <a:lstStyle/>
                    <a:p>
                      <a:pPr indent="0" lvl="0" marL="0" marR="0" rtl="0" algn="ctr">
                        <a:spcBef>
                          <a:spcPts val="0"/>
                        </a:spcBef>
                        <a:spcAft>
                          <a:spcPts val="0"/>
                        </a:spcAft>
                        <a:buNone/>
                      </a:pPr>
                      <a:r>
                        <a:rPr lang="en-US" sz="1400"/>
                        <a:t>28,3</a:t>
                      </a:r>
                      <a:endParaRPr sz="1400"/>
                    </a:p>
                  </a:txBody>
                  <a:tcPr marT="45725" marB="45725" marR="91450" marL="91450" anchor="ctr"/>
                </a:tc>
                <a:tc>
                  <a:txBody>
                    <a:bodyPr/>
                    <a:lstStyle/>
                    <a:p>
                      <a:pPr indent="0" lvl="0" marL="0" marR="0" rtl="0" algn="ctr">
                        <a:spcBef>
                          <a:spcPts val="0"/>
                        </a:spcBef>
                        <a:spcAft>
                          <a:spcPts val="0"/>
                        </a:spcAft>
                        <a:buNone/>
                      </a:pPr>
                      <a:r>
                        <a:rPr lang="en-US" sz="1400"/>
                        <a:t>23</a:t>
                      </a:r>
                      <a:endParaRPr sz="1400"/>
                    </a:p>
                  </a:txBody>
                  <a:tcPr marT="45725" marB="45725" marR="91450" marL="91450" anchor="ctr"/>
                </a:tc>
                <a:tc>
                  <a:txBody>
                    <a:bodyPr/>
                    <a:lstStyle/>
                    <a:p>
                      <a:pPr indent="0" lvl="0" marL="0" marR="0" rtl="0" algn="ctr">
                        <a:lnSpc>
                          <a:spcPct val="150000"/>
                        </a:lnSpc>
                        <a:spcBef>
                          <a:spcPts val="0"/>
                        </a:spcBef>
                        <a:spcAft>
                          <a:spcPts val="0"/>
                        </a:spcAft>
                        <a:buClr>
                          <a:schemeClr val="dk1"/>
                        </a:buClr>
                        <a:buSzPts val="1400"/>
                        <a:buFont typeface="Century Gothic"/>
                        <a:buNone/>
                      </a:pPr>
                      <a:r>
                        <a:rPr lang="en-US" sz="1400"/>
                        <a:t>նվազում</a:t>
                      </a:r>
                      <a:endParaRPr sz="1400"/>
                    </a:p>
                  </a:txBody>
                  <a:tcPr marT="0" marB="0" marR="0" marL="0" anchor="ctr"/>
                </a:tc>
              </a:tr>
              <a:tr h="852425">
                <a:tc>
                  <a:txBody>
                    <a:bodyPr/>
                    <a:lstStyle/>
                    <a:p>
                      <a:pPr indent="0" lvl="0" marL="0" marR="0" rtl="0" algn="l">
                        <a:lnSpc>
                          <a:spcPct val="150000"/>
                        </a:lnSpc>
                        <a:spcBef>
                          <a:spcPts val="0"/>
                        </a:spcBef>
                        <a:spcAft>
                          <a:spcPts val="0"/>
                        </a:spcAft>
                        <a:buNone/>
                      </a:pPr>
                      <a:r>
                        <a:rPr lang="en-US" sz="1400"/>
                        <a:t>Մեկ սովորողի հաշվով հաստատության տարեկան նախահաշիվը </a:t>
                      </a:r>
                      <a:endParaRPr sz="1800"/>
                    </a:p>
                  </a:txBody>
                  <a:tcPr marT="0" marB="0" marR="0" marL="0" anchor="ctr"/>
                </a:tc>
                <a:tc>
                  <a:txBody>
                    <a:bodyPr/>
                    <a:lstStyle/>
                    <a:p>
                      <a:pPr indent="0" lvl="0" marL="0" marR="0" rtl="0" algn="ctr">
                        <a:spcBef>
                          <a:spcPts val="0"/>
                        </a:spcBef>
                        <a:spcAft>
                          <a:spcPts val="0"/>
                        </a:spcAft>
                        <a:buNone/>
                      </a:pPr>
                      <a:r>
                        <a:rPr lang="en-US" sz="1400"/>
                        <a:t>290,9</a:t>
                      </a:r>
                      <a:endParaRPr sz="1400"/>
                    </a:p>
                  </a:txBody>
                  <a:tcPr marT="45725" marB="45725" marR="91450" marL="91450" anchor="ctr"/>
                </a:tc>
                <a:tc>
                  <a:txBody>
                    <a:bodyPr/>
                    <a:lstStyle/>
                    <a:p>
                      <a:pPr indent="0" lvl="0" marL="0" marR="0" rtl="0" algn="ctr">
                        <a:spcBef>
                          <a:spcPts val="0"/>
                        </a:spcBef>
                        <a:spcAft>
                          <a:spcPts val="0"/>
                        </a:spcAft>
                        <a:buNone/>
                      </a:pPr>
                      <a:r>
                        <a:rPr lang="en-US" sz="1400"/>
                        <a:t>272,6</a:t>
                      </a:r>
                      <a:endParaRPr sz="1400"/>
                    </a:p>
                  </a:txBody>
                  <a:tcPr marT="45725" marB="45725" marR="91450" marL="91450" anchor="ctr"/>
                </a:tc>
                <a:tc>
                  <a:txBody>
                    <a:bodyPr/>
                    <a:lstStyle/>
                    <a:p>
                      <a:pPr indent="0" lvl="0" marL="0" marR="0" rtl="0" algn="ctr">
                        <a:spcBef>
                          <a:spcPts val="0"/>
                        </a:spcBef>
                        <a:spcAft>
                          <a:spcPts val="0"/>
                        </a:spcAft>
                        <a:buNone/>
                      </a:pPr>
                      <a:r>
                        <a:rPr lang="en-US" sz="1400"/>
                        <a:t>293,6</a:t>
                      </a:r>
                      <a:endParaRPr sz="1400"/>
                    </a:p>
                  </a:txBody>
                  <a:tcPr marT="45725" marB="45725" marR="91450" marL="91450" anchor="ctr"/>
                </a:tc>
                <a:tc>
                  <a:txBody>
                    <a:bodyPr/>
                    <a:lstStyle/>
                    <a:p>
                      <a:pPr indent="0" lvl="0" marL="0" marR="0" rtl="0" algn="ctr">
                        <a:lnSpc>
                          <a:spcPct val="150000"/>
                        </a:lnSpc>
                        <a:spcBef>
                          <a:spcPts val="0"/>
                        </a:spcBef>
                        <a:spcAft>
                          <a:spcPts val="0"/>
                        </a:spcAft>
                        <a:buNone/>
                      </a:pPr>
                      <a:r>
                        <a:rPr lang="en-US" sz="1400">
                          <a:latin typeface="Merriweather"/>
                          <a:ea typeface="Merriweather"/>
                          <a:cs typeface="Merriweather"/>
                          <a:sym typeface="Merriweather"/>
                        </a:rPr>
                        <a:t>աճ</a:t>
                      </a:r>
                      <a:endParaRPr sz="1400">
                        <a:latin typeface="Merriweather"/>
                        <a:ea typeface="Merriweather"/>
                        <a:cs typeface="Merriweather"/>
                        <a:sym typeface="Merriweather"/>
                      </a:endParaRPr>
                    </a:p>
                  </a:txBody>
                  <a:tcPr marT="0" marB="0" marR="0" marL="0" anchor="ctr"/>
                </a:tc>
              </a:tr>
              <a:tr h="568325">
                <a:tc>
                  <a:txBody>
                    <a:bodyPr/>
                    <a:lstStyle/>
                    <a:p>
                      <a:pPr indent="0" lvl="0" marL="0" marR="0" rtl="0" algn="l">
                        <a:lnSpc>
                          <a:spcPct val="150000"/>
                        </a:lnSpc>
                        <a:spcBef>
                          <a:spcPts val="0"/>
                        </a:spcBef>
                        <a:spcAft>
                          <a:spcPts val="0"/>
                        </a:spcAft>
                        <a:buNone/>
                      </a:pPr>
                      <a:r>
                        <a:rPr lang="en-US" sz="1400"/>
                        <a:t>Սպասարկող անձնակազմի միջին աշխատավարձը/հազ. դր./ </a:t>
                      </a:r>
                      <a:endParaRPr sz="1800"/>
                    </a:p>
                  </a:txBody>
                  <a:tcPr marT="0" marB="0" marR="0" marL="0" anchor="ctr"/>
                </a:tc>
                <a:tc>
                  <a:txBody>
                    <a:bodyPr/>
                    <a:lstStyle/>
                    <a:p>
                      <a:pPr indent="0" lvl="0" marL="0" marR="0" rtl="0" algn="ctr">
                        <a:spcBef>
                          <a:spcPts val="0"/>
                        </a:spcBef>
                        <a:spcAft>
                          <a:spcPts val="0"/>
                        </a:spcAft>
                        <a:buNone/>
                      </a:pPr>
                      <a:r>
                        <a:rPr lang="en-US" sz="1400"/>
                        <a:t>127</a:t>
                      </a:r>
                      <a:endParaRPr sz="1400"/>
                    </a:p>
                  </a:txBody>
                  <a:tcPr marT="45725" marB="45725" marR="91450" marL="91450" anchor="ctr"/>
                </a:tc>
                <a:tc>
                  <a:txBody>
                    <a:bodyPr/>
                    <a:lstStyle/>
                    <a:p>
                      <a:pPr indent="0" lvl="0" marL="0" marR="0" rtl="0" algn="ctr">
                        <a:spcBef>
                          <a:spcPts val="0"/>
                        </a:spcBef>
                        <a:spcAft>
                          <a:spcPts val="0"/>
                        </a:spcAft>
                        <a:buNone/>
                      </a:pPr>
                      <a:r>
                        <a:rPr lang="en-US" sz="1400"/>
                        <a:t>139,2</a:t>
                      </a:r>
                      <a:endParaRPr sz="1400"/>
                    </a:p>
                  </a:txBody>
                  <a:tcPr marT="45725" marB="45725" marR="91450" marL="91450" anchor="ctr"/>
                </a:tc>
                <a:tc>
                  <a:txBody>
                    <a:bodyPr/>
                    <a:lstStyle/>
                    <a:p>
                      <a:pPr indent="0" lvl="0" marL="0" marR="0" rtl="0" algn="ctr">
                        <a:spcBef>
                          <a:spcPts val="0"/>
                        </a:spcBef>
                        <a:spcAft>
                          <a:spcPts val="0"/>
                        </a:spcAft>
                        <a:buNone/>
                      </a:pPr>
                      <a:r>
                        <a:rPr lang="en-US" sz="1400"/>
                        <a:t>134,8</a:t>
                      </a:r>
                      <a:endParaRPr sz="1400"/>
                    </a:p>
                  </a:txBody>
                  <a:tcPr marT="45725" marB="45725" marR="91450" marL="91450" anchor="ctr"/>
                </a:tc>
                <a:tc>
                  <a:txBody>
                    <a:bodyPr/>
                    <a:lstStyle/>
                    <a:p>
                      <a:pPr indent="0" lvl="0" marL="0" marR="0" rtl="0" algn="ctr">
                        <a:lnSpc>
                          <a:spcPct val="150000"/>
                        </a:lnSpc>
                        <a:spcBef>
                          <a:spcPts val="0"/>
                        </a:spcBef>
                        <a:spcAft>
                          <a:spcPts val="0"/>
                        </a:spcAft>
                        <a:buClr>
                          <a:schemeClr val="dk1"/>
                        </a:buClr>
                        <a:buSzPts val="1400"/>
                        <a:buFont typeface="Trebuchet MS"/>
                        <a:buNone/>
                      </a:pPr>
                      <a:r>
                        <a:rPr b="0" i="0" lang="en-US" sz="1400" u="none" strike="noStrike">
                          <a:latin typeface="Trebuchet MS"/>
                          <a:ea typeface="Trebuchet MS"/>
                          <a:cs typeface="Trebuchet MS"/>
                          <a:sym typeface="Trebuchet MS"/>
                        </a:rPr>
                        <a:t>նվազում</a:t>
                      </a:r>
                      <a:endParaRPr sz="1400"/>
                    </a:p>
                  </a:txBody>
                  <a:tcPr marT="0" marB="0" marR="0" marL="0" anchor="ctr"/>
                </a:tc>
              </a:tr>
              <a:tr h="568325">
                <a:tc>
                  <a:txBody>
                    <a:bodyPr/>
                    <a:lstStyle/>
                    <a:p>
                      <a:pPr indent="0" lvl="0" marL="0" marR="0" rtl="0" algn="l">
                        <a:lnSpc>
                          <a:spcPct val="150000"/>
                        </a:lnSpc>
                        <a:spcBef>
                          <a:spcPts val="0"/>
                        </a:spcBef>
                        <a:spcAft>
                          <a:spcPts val="0"/>
                        </a:spcAft>
                        <a:buNone/>
                      </a:pPr>
                      <a:r>
                        <a:rPr lang="en-US" sz="1400"/>
                        <a:t>Ուսուցչների միջին աշխատավարձը /հազ. դր./</a:t>
                      </a:r>
                      <a:endParaRPr sz="1800"/>
                    </a:p>
                  </a:txBody>
                  <a:tcPr marT="0" marB="0" marR="0" marL="0" anchor="ctr"/>
                </a:tc>
                <a:tc>
                  <a:txBody>
                    <a:bodyPr/>
                    <a:lstStyle/>
                    <a:p>
                      <a:pPr indent="0" lvl="0" marL="0" marR="0" rtl="0" algn="ctr">
                        <a:spcBef>
                          <a:spcPts val="0"/>
                        </a:spcBef>
                        <a:spcAft>
                          <a:spcPts val="0"/>
                        </a:spcAft>
                        <a:buNone/>
                      </a:pPr>
                      <a:r>
                        <a:rPr lang="en-US" sz="1400"/>
                        <a:t>190,0</a:t>
                      </a:r>
                      <a:endParaRPr sz="1400"/>
                    </a:p>
                  </a:txBody>
                  <a:tcPr marT="45725" marB="45725" marR="91450" marL="91450" anchor="ctr"/>
                </a:tc>
                <a:tc>
                  <a:txBody>
                    <a:bodyPr/>
                    <a:lstStyle/>
                    <a:p>
                      <a:pPr indent="0" lvl="0" marL="0" marR="0" rtl="0" algn="ctr">
                        <a:spcBef>
                          <a:spcPts val="0"/>
                        </a:spcBef>
                        <a:spcAft>
                          <a:spcPts val="0"/>
                        </a:spcAft>
                        <a:buNone/>
                      </a:pPr>
                      <a:r>
                        <a:rPr lang="en-US" sz="1400"/>
                        <a:t>180,5</a:t>
                      </a:r>
                      <a:endParaRPr sz="1400"/>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entury Gothic"/>
                        <a:buNone/>
                      </a:pPr>
                      <a:r>
                        <a:rPr lang="en-US" sz="1400"/>
                        <a:t>217,0</a:t>
                      </a:r>
                      <a:endParaRPr/>
                    </a:p>
                    <a:p>
                      <a:pPr indent="0" lvl="0" marL="0" marR="0" rtl="0" algn="ctr">
                        <a:spcBef>
                          <a:spcPts val="0"/>
                        </a:spcBef>
                        <a:spcAft>
                          <a:spcPts val="0"/>
                        </a:spcAft>
                        <a:buNone/>
                      </a:pPr>
                      <a:r>
                        <a:t/>
                      </a:r>
                      <a:endParaRPr sz="1400"/>
                    </a:p>
                  </a:txBody>
                  <a:tcPr marT="45725" marB="45725" marR="91450" marL="91450" anchor="ctr"/>
                </a:tc>
                <a:tc>
                  <a:txBody>
                    <a:bodyPr/>
                    <a:lstStyle/>
                    <a:p>
                      <a:pPr indent="0" lvl="0" marL="0" marR="0" rtl="0" algn="ctr">
                        <a:lnSpc>
                          <a:spcPct val="150000"/>
                        </a:lnSpc>
                        <a:spcBef>
                          <a:spcPts val="0"/>
                        </a:spcBef>
                        <a:spcAft>
                          <a:spcPts val="0"/>
                        </a:spcAft>
                        <a:buNone/>
                      </a:pPr>
                      <a:r>
                        <a:rPr lang="en-US" sz="1400"/>
                        <a:t>աճ</a:t>
                      </a:r>
                      <a:endParaRPr sz="1400"/>
                    </a:p>
                  </a:txBody>
                  <a:tcPr marT="0" marB="0" marR="0" marL="0" anchor="ctr"/>
                </a:tc>
              </a:tr>
              <a:tr h="568325">
                <a:tc>
                  <a:txBody>
                    <a:bodyPr/>
                    <a:lstStyle/>
                    <a:p>
                      <a:pPr indent="0" lvl="0" marL="0" marR="0" rtl="0" algn="l">
                        <a:lnSpc>
                          <a:spcPct val="150000"/>
                        </a:lnSpc>
                        <a:spcBef>
                          <a:spcPts val="0"/>
                        </a:spcBef>
                        <a:spcAft>
                          <a:spcPts val="0"/>
                        </a:spcAft>
                        <a:buNone/>
                      </a:pPr>
                      <a:r>
                        <a:rPr lang="en-US" sz="1400"/>
                        <a:t>Վարչական աշխատողների միջին աշախատավարձը/հազ. դր./ </a:t>
                      </a:r>
                      <a:endParaRPr sz="1800"/>
                    </a:p>
                  </a:txBody>
                  <a:tcPr marT="0" marB="0" marR="0" marL="0" anchor="ctr"/>
                </a:tc>
                <a:tc>
                  <a:txBody>
                    <a:bodyPr/>
                    <a:lstStyle/>
                    <a:p>
                      <a:pPr indent="0" lvl="0" marL="0" marR="0" rtl="0" algn="ctr">
                        <a:spcBef>
                          <a:spcPts val="0"/>
                        </a:spcBef>
                        <a:spcAft>
                          <a:spcPts val="0"/>
                        </a:spcAft>
                        <a:buNone/>
                      </a:pPr>
                      <a:r>
                        <a:rPr lang="en-US" sz="1400"/>
                        <a:t>210,0</a:t>
                      </a:r>
                      <a:endParaRPr sz="1400"/>
                    </a:p>
                  </a:txBody>
                  <a:tcPr marT="45725" marB="45725" marR="91450" marL="91450" anchor="ctr"/>
                </a:tc>
                <a:tc>
                  <a:txBody>
                    <a:bodyPr/>
                    <a:lstStyle/>
                    <a:p>
                      <a:pPr indent="0" lvl="0" marL="0" marR="0" rtl="0" algn="ctr">
                        <a:spcBef>
                          <a:spcPts val="0"/>
                        </a:spcBef>
                        <a:spcAft>
                          <a:spcPts val="0"/>
                        </a:spcAft>
                        <a:buNone/>
                      </a:pPr>
                      <a:r>
                        <a:rPr lang="en-US" sz="1400"/>
                        <a:t>295,9</a:t>
                      </a:r>
                      <a:endParaRPr sz="1400"/>
                    </a:p>
                  </a:txBody>
                  <a:tcPr marT="45725" marB="45725" marR="91450" marL="91450" anchor="ctr"/>
                </a:tc>
                <a:tc>
                  <a:txBody>
                    <a:bodyPr/>
                    <a:lstStyle/>
                    <a:p>
                      <a:pPr indent="0" lvl="0" marL="0" marR="0" rtl="0" algn="ctr">
                        <a:spcBef>
                          <a:spcPts val="0"/>
                        </a:spcBef>
                        <a:spcAft>
                          <a:spcPts val="0"/>
                        </a:spcAft>
                        <a:buNone/>
                      </a:pPr>
                      <a:r>
                        <a:rPr lang="en-US" sz="1400"/>
                        <a:t>263,1</a:t>
                      </a:r>
                      <a:endParaRPr sz="1400"/>
                    </a:p>
                  </a:txBody>
                  <a:tcPr marT="45725" marB="45725" marR="91450" marL="91450" anchor="ctr"/>
                </a:tc>
                <a:tc>
                  <a:txBody>
                    <a:bodyPr/>
                    <a:lstStyle/>
                    <a:p>
                      <a:pPr indent="0" lvl="0" marL="0" marR="0" rtl="0" algn="ctr">
                        <a:lnSpc>
                          <a:spcPct val="150000"/>
                        </a:lnSpc>
                        <a:spcBef>
                          <a:spcPts val="0"/>
                        </a:spcBef>
                        <a:spcAft>
                          <a:spcPts val="0"/>
                        </a:spcAft>
                        <a:buClr>
                          <a:schemeClr val="dk1"/>
                        </a:buClr>
                        <a:buSzPts val="1400"/>
                        <a:buFont typeface="Trebuchet MS"/>
                        <a:buNone/>
                      </a:pPr>
                      <a:r>
                        <a:rPr b="0" i="0" lang="en-US" sz="1400" u="none" strike="noStrike">
                          <a:latin typeface="Trebuchet MS"/>
                          <a:ea typeface="Trebuchet MS"/>
                          <a:cs typeface="Trebuchet MS"/>
                          <a:sym typeface="Trebuchet MS"/>
                        </a:rPr>
                        <a:t>նվազում</a:t>
                      </a:r>
                      <a:endParaRPr sz="1400"/>
                    </a:p>
                  </a:txBody>
                  <a:tcPr marT="0" marB="0" marR="0" marL="0" anchor="ct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4"/>
          <p:cNvSpPr txBox="1"/>
          <p:nvPr/>
        </p:nvSpPr>
        <p:spPr>
          <a:xfrm>
            <a:off x="304800" y="112713"/>
            <a:ext cx="9164742"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1800">
                <a:solidFill>
                  <a:schemeClr val="dk1"/>
                </a:solidFill>
                <a:latin typeface="Merriweather"/>
                <a:ea typeface="Merriweather"/>
                <a:cs typeface="Merriweather"/>
                <a:sym typeface="Merriweather"/>
              </a:rPr>
              <a:t>Աղյուսակ 27. Տվյալներ հաստատության բյուջետային միջոցների վերաբերյալ </a:t>
            </a:r>
            <a:endParaRPr b="1" i="1" sz="1800">
              <a:solidFill>
                <a:schemeClr val="dk1"/>
              </a:solidFill>
              <a:latin typeface="Merriweather"/>
              <a:ea typeface="Merriweather"/>
              <a:cs typeface="Merriweather"/>
              <a:sym typeface="Merriweather"/>
            </a:endParaRPr>
          </a:p>
        </p:txBody>
      </p:sp>
      <p:graphicFrame>
        <p:nvGraphicFramePr>
          <p:cNvPr id="515" name="Google Shape;515;p64"/>
          <p:cNvGraphicFramePr/>
          <p:nvPr/>
        </p:nvGraphicFramePr>
        <p:xfrm>
          <a:off x="1706872" y="941035"/>
          <a:ext cx="3000000" cy="3000000"/>
        </p:xfrm>
        <a:graphic>
          <a:graphicData uri="http://schemas.openxmlformats.org/drawingml/2006/table">
            <a:tbl>
              <a:tblPr>
                <a:noFill/>
                <a:tableStyleId>{40B977D2-3903-41EF-8714-5AC59086702B}</a:tableStyleId>
              </a:tblPr>
              <a:tblGrid>
                <a:gridCol w="4512225"/>
                <a:gridCol w="1167275"/>
                <a:gridCol w="1293050"/>
                <a:gridCol w="1293050"/>
              </a:tblGrid>
              <a:tr h="337225">
                <a:tc>
                  <a:txBody>
                    <a:bodyPr/>
                    <a:lstStyle/>
                    <a:p>
                      <a:pPr indent="0" lvl="0" marL="0" marR="0" rtl="0" algn="just">
                        <a:lnSpc>
                          <a:spcPct val="150000"/>
                        </a:lnSpc>
                        <a:spcBef>
                          <a:spcPts val="0"/>
                        </a:spcBef>
                        <a:spcAft>
                          <a:spcPts val="0"/>
                        </a:spcAft>
                        <a:buNone/>
                      </a:pPr>
                      <a:r>
                        <a:t/>
                      </a:r>
                      <a:endParaRPr sz="1400">
                        <a:latin typeface="Calibri"/>
                        <a:ea typeface="Calibri"/>
                        <a:cs typeface="Calibri"/>
                        <a:sym typeface="Calibri"/>
                      </a:endParaRPr>
                    </a:p>
                  </a:txBody>
                  <a:tcPr marT="0" marB="0" marR="0" marL="0" anchor="ctr"/>
                </a:tc>
                <a:tc>
                  <a:txBody>
                    <a:bodyPr/>
                    <a:lstStyle/>
                    <a:p>
                      <a:pPr indent="0" lvl="0" marL="0" marR="0" rtl="0" algn="ctr">
                        <a:lnSpc>
                          <a:spcPct val="150000"/>
                        </a:lnSpc>
                        <a:spcBef>
                          <a:spcPts val="0"/>
                        </a:spcBef>
                        <a:spcAft>
                          <a:spcPts val="0"/>
                        </a:spcAft>
                        <a:buClr>
                          <a:schemeClr val="dk1"/>
                        </a:buClr>
                        <a:buSzPts val="1400"/>
                        <a:buFont typeface="Century Gothic"/>
                        <a:buNone/>
                      </a:pPr>
                      <a:r>
                        <a:rPr lang="en-US" sz="1400"/>
                        <a:t>2023թ․</a:t>
                      </a:r>
                      <a:endParaRPr/>
                    </a:p>
                  </a:txBody>
                  <a:tcPr marT="0" marB="0" marR="0" marL="0" anchor="ctr"/>
                </a:tc>
                <a:tc>
                  <a:txBody>
                    <a:bodyPr/>
                    <a:lstStyle/>
                    <a:p>
                      <a:pPr indent="0" lvl="0" marL="0" marR="0" rtl="0" algn="ctr">
                        <a:spcBef>
                          <a:spcPts val="0"/>
                        </a:spcBef>
                        <a:spcAft>
                          <a:spcPts val="0"/>
                        </a:spcAft>
                        <a:buNone/>
                      </a:pPr>
                      <a:r>
                        <a:rPr lang="en-US" sz="1400"/>
                        <a:t>2024 թ.</a:t>
                      </a:r>
                      <a:endParaRPr sz="1400"/>
                    </a:p>
                  </a:txBody>
                  <a:tcPr marT="0" marB="0" marR="0" marL="0" anchor="ctr"/>
                </a:tc>
                <a:tc>
                  <a:txBody>
                    <a:bodyPr/>
                    <a:lstStyle/>
                    <a:p>
                      <a:pPr indent="0" lvl="0" marL="0" marR="0" rtl="0" algn="ctr">
                        <a:spcBef>
                          <a:spcPts val="0"/>
                        </a:spcBef>
                        <a:spcAft>
                          <a:spcPts val="0"/>
                        </a:spcAft>
                        <a:buNone/>
                      </a:pPr>
                      <a:r>
                        <a:rPr lang="en-US" sz="1400"/>
                        <a:t>2025 թ.</a:t>
                      </a:r>
                      <a:endParaRPr sz="1400"/>
                    </a:p>
                  </a:txBody>
                  <a:tcPr marT="0" marB="0" marR="0" marL="0" anchor="ctr"/>
                </a:tc>
              </a:tr>
              <a:tr h="826200">
                <a:tc>
                  <a:txBody>
                    <a:bodyPr/>
                    <a:lstStyle/>
                    <a:p>
                      <a:pPr indent="0" lvl="0" marL="0" marR="0" rtl="0" algn="l">
                        <a:lnSpc>
                          <a:spcPct val="150000"/>
                        </a:lnSpc>
                        <a:spcBef>
                          <a:spcPts val="0"/>
                        </a:spcBef>
                        <a:spcAft>
                          <a:spcPts val="0"/>
                        </a:spcAft>
                        <a:buNone/>
                      </a:pPr>
                      <a:r>
                        <a:rPr lang="en-US" sz="1400"/>
                        <a:t>Հաստատության տարեկան նախահաշվում արտաբյուջետային միջոցների չափը </a:t>
                      </a:r>
                      <a:endParaRPr sz="1800"/>
                    </a:p>
                  </a:txBody>
                  <a:tcPr marT="0" marB="0" marR="0" marL="0" anchor="ctr"/>
                </a:tc>
                <a:tc>
                  <a:txBody>
                    <a:bodyPr/>
                    <a:lstStyle/>
                    <a:p>
                      <a:pPr indent="0" lvl="0" marL="0" marR="0" rtl="0" algn="ctr">
                        <a:spcBef>
                          <a:spcPts val="0"/>
                        </a:spcBef>
                        <a:spcAft>
                          <a:spcPts val="0"/>
                        </a:spcAft>
                        <a:buClr>
                          <a:srgbClr val="000000"/>
                        </a:buClr>
                        <a:buSzPts val="1400"/>
                        <a:buFont typeface="Century Gothic"/>
                        <a:buNone/>
                      </a:pPr>
                      <a:r>
                        <a:rPr b="0" i="0" lang="en-US" sz="1400">
                          <a:solidFill>
                            <a:srgbClr val="000000"/>
                          </a:solidFill>
                        </a:rPr>
                        <a:t>42.6%</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Trebuchet MS"/>
                        <a:buNone/>
                      </a:pPr>
                      <a:r>
                        <a:rPr b="0" i="0" lang="en-US" sz="1800">
                          <a:solidFill>
                            <a:srgbClr val="000000"/>
                          </a:solidFill>
                          <a:latin typeface="Trebuchet MS"/>
                          <a:ea typeface="Trebuchet MS"/>
                          <a:cs typeface="Trebuchet MS"/>
                          <a:sym typeface="Trebuchet MS"/>
                        </a:rPr>
                        <a:t>-</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Trebuchet MS"/>
                        <a:buNone/>
                      </a:pPr>
                      <a:r>
                        <a:rPr b="0" i="0" lang="en-US" sz="1800">
                          <a:solidFill>
                            <a:srgbClr val="000000"/>
                          </a:solidFill>
                          <a:latin typeface="Trebuchet MS"/>
                          <a:ea typeface="Trebuchet MS"/>
                          <a:cs typeface="Trebuchet MS"/>
                          <a:sym typeface="Trebuchet MS"/>
                        </a:rPr>
                        <a:t>-</a:t>
                      </a:r>
                      <a:endParaRPr/>
                    </a:p>
                  </a:txBody>
                  <a:tcPr marT="45725" marB="45725" marR="91450" marL="91450" anchor="ctr"/>
                </a:tc>
              </a:tr>
              <a:tr h="674450">
                <a:tc>
                  <a:txBody>
                    <a:bodyPr/>
                    <a:lstStyle/>
                    <a:p>
                      <a:pPr indent="0" lvl="0" marL="0" marR="0" rtl="0" algn="l">
                        <a:lnSpc>
                          <a:spcPct val="150000"/>
                        </a:lnSpc>
                        <a:spcBef>
                          <a:spcPts val="0"/>
                        </a:spcBef>
                        <a:spcAft>
                          <a:spcPts val="0"/>
                        </a:spcAft>
                        <a:buNone/>
                      </a:pPr>
                      <a:r>
                        <a:rPr lang="en-US" sz="1400"/>
                        <a:t>Ծնողների կողմից դրամական ներդրումների տարեկան չափը /հազ. դր./</a:t>
                      </a:r>
                      <a:endParaRPr sz="1800"/>
                    </a:p>
                  </a:txBody>
                  <a:tcPr marT="0" marB="0" marR="0" marL="0" anchor="ctr"/>
                </a:tc>
                <a:tc>
                  <a:txBody>
                    <a:bodyPr/>
                    <a:lstStyle/>
                    <a:p>
                      <a:pPr indent="0" lvl="0" marL="0" marR="0" rtl="0" algn="ctr">
                        <a:spcBef>
                          <a:spcPts val="0"/>
                        </a:spcBef>
                        <a:spcAft>
                          <a:spcPts val="0"/>
                        </a:spcAft>
                        <a:buClr>
                          <a:srgbClr val="000000"/>
                        </a:buClr>
                        <a:buSzPts val="1400"/>
                        <a:buFont typeface="Trebuchet MS"/>
                        <a:buNone/>
                      </a:pPr>
                      <a:r>
                        <a:rPr b="0" i="0" lang="en-US" sz="1400">
                          <a:solidFill>
                            <a:srgbClr val="000000"/>
                          </a:solidFill>
                          <a:latin typeface="Trebuchet MS"/>
                          <a:ea typeface="Trebuchet MS"/>
                          <a:cs typeface="Trebuchet MS"/>
                          <a:sym typeface="Trebuchet MS"/>
                        </a:rPr>
                        <a:t>-</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Trebuchet MS"/>
                        <a:buNone/>
                      </a:pPr>
                      <a:r>
                        <a:rPr b="0" i="0" lang="en-US" sz="1800">
                          <a:solidFill>
                            <a:srgbClr val="000000"/>
                          </a:solidFill>
                          <a:latin typeface="Trebuchet MS"/>
                          <a:ea typeface="Trebuchet MS"/>
                          <a:cs typeface="Trebuchet MS"/>
                          <a:sym typeface="Trebuchet MS"/>
                        </a:rPr>
                        <a:t>-</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Trebuchet MS"/>
                        <a:buNone/>
                      </a:pPr>
                      <a:r>
                        <a:rPr b="0" i="0" lang="en-US" sz="1800">
                          <a:solidFill>
                            <a:srgbClr val="000000"/>
                          </a:solidFill>
                          <a:latin typeface="Trebuchet MS"/>
                          <a:ea typeface="Trebuchet MS"/>
                          <a:cs typeface="Trebuchet MS"/>
                          <a:sym typeface="Trebuchet MS"/>
                        </a:rPr>
                        <a:t>-</a:t>
                      </a:r>
                      <a:endParaRPr/>
                    </a:p>
                  </a:txBody>
                  <a:tcPr marT="45725" marB="45725" marR="91450" marL="91450" anchor="ctr"/>
                </a:tc>
              </a:tr>
              <a:tr h="674450">
                <a:tc>
                  <a:txBody>
                    <a:bodyPr/>
                    <a:lstStyle/>
                    <a:p>
                      <a:pPr indent="0" lvl="0" marL="0" marR="0" rtl="0" algn="l">
                        <a:lnSpc>
                          <a:spcPct val="150000"/>
                        </a:lnSpc>
                        <a:spcBef>
                          <a:spcPts val="0"/>
                        </a:spcBef>
                        <a:spcAft>
                          <a:spcPts val="0"/>
                        </a:spcAft>
                        <a:buNone/>
                      </a:pPr>
                      <a:r>
                        <a:rPr lang="en-US" sz="1400"/>
                        <a:t>Հովանավորչական և դրամաշնորհային միջոցների տարեկան չափը /հազ. դր/</a:t>
                      </a:r>
                      <a:endParaRPr sz="1800"/>
                    </a:p>
                  </a:txBody>
                  <a:tcPr marT="0" marB="0" marR="0" marL="0" anchor="ctr"/>
                </a:tc>
                <a:tc>
                  <a:txBody>
                    <a:bodyPr/>
                    <a:lstStyle/>
                    <a:p>
                      <a:pPr indent="0" lvl="0" marL="0" marR="0" rtl="0" algn="ctr">
                        <a:spcBef>
                          <a:spcPts val="0"/>
                        </a:spcBef>
                        <a:spcAft>
                          <a:spcPts val="0"/>
                        </a:spcAft>
                        <a:buClr>
                          <a:srgbClr val="000000"/>
                        </a:buClr>
                        <a:buSzPts val="1400"/>
                        <a:buFont typeface="Century Gothic"/>
                        <a:buNone/>
                      </a:pPr>
                      <a:r>
                        <a:rPr b="0" i="0" lang="en-US" sz="1400">
                          <a:solidFill>
                            <a:srgbClr val="000000"/>
                          </a:solidFill>
                        </a:rPr>
                        <a:t>1.96%</a:t>
                      </a:r>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entury Gothic"/>
                        <a:buNone/>
                      </a:pPr>
                      <a:r>
                        <a:rPr lang="en-US" sz="1400"/>
                        <a:t>4,6</a:t>
                      </a:r>
                      <a:r>
                        <a:rPr b="0" i="0" lang="en-US" sz="1400">
                          <a:solidFill>
                            <a:srgbClr val="000000"/>
                          </a:solidFill>
                        </a:rPr>
                        <a:t>%</a:t>
                      </a:r>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entury Gothic"/>
                        <a:buNone/>
                      </a:pPr>
                      <a:r>
                        <a:rPr lang="en-US" sz="1400"/>
                        <a:t>10,5</a:t>
                      </a:r>
                      <a:r>
                        <a:rPr b="0" i="0" lang="en-US" sz="1400">
                          <a:solidFill>
                            <a:srgbClr val="000000"/>
                          </a:solidFill>
                        </a:rPr>
                        <a:t>%</a:t>
                      </a:r>
                      <a:endParaRPr/>
                    </a:p>
                  </a:txBody>
                  <a:tcPr marT="45725" marB="45725" marR="91450" marL="91450" anchor="ctr"/>
                </a:tc>
              </a:tr>
              <a:tr h="826200">
                <a:tc>
                  <a:txBody>
                    <a:bodyPr/>
                    <a:lstStyle/>
                    <a:p>
                      <a:pPr indent="0" lvl="0" marL="0" marR="0" rtl="0" algn="l">
                        <a:lnSpc>
                          <a:spcPct val="150000"/>
                        </a:lnSpc>
                        <a:spcBef>
                          <a:spcPts val="0"/>
                        </a:spcBef>
                        <a:spcAft>
                          <a:spcPts val="0"/>
                        </a:spcAft>
                        <a:buNone/>
                      </a:pPr>
                      <a:r>
                        <a:rPr lang="en-US" sz="1400"/>
                        <a:t>Աշխատավարձերի վճարման գծով հաստատության տարեկան ծախսերի չափը </a:t>
                      </a:r>
                      <a:endParaRPr sz="1800"/>
                    </a:p>
                  </a:txBody>
                  <a:tcPr marT="0" marB="0" marR="0" marL="0" anchor="ctr"/>
                </a:tc>
                <a:tc>
                  <a:txBody>
                    <a:bodyPr/>
                    <a:lstStyle/>
                    <a:p>
                      <a:pPr indent="0" lvl="0" marL="0" marR="0" rtl="0" algn="ctr">
                        <a:spcBef>
                          <a:spcPts val="0"/>
                        </a:spcBef>
                        <a:spcAft>
                          <a:spcPts val="0"/>
                        </a:spcAft>
                        <a:buClr>
                          <a:srgbClr val="000000"/>
                        </a:buClr>
                        <a:buSzPts val="1400"/>
                        <a:buFont typeface="Century Gothic"/>
                        <a:buNone/>
                      </a:pPr>
                      <a:r>
                        <a:rPr b="0" i="0" lang="en-US" sz="1400">
                          <a:solidFill>
                            <a:srgbClr val="000000"/>
                          </a:solidFill>
                        </a:rPr>
                        <a:t>47.3%</a:t>
                      </a:r>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entury Gothic"/>
                        <a:buNone/>
                      </a:pPr>
                      <a:r>
                        <a:rPr lang="en-US" sz="1400"/>
                        <a:t>76,2</a:t>
                      </a:r>
                      <a:r>
                        <a:rPr b="0" i="0" lang="en-US" sz="1400">
                          <a:solidFill>
                            <a:srgbClr val="000000"/>
                          </a:solidFill>
                        </a:rPr>
                        <a:t>%</a:t>
                      </a:r>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entury Gothic"/>
                        <a:buNone/>
                      </a:pPr>
                      <a:r>
                        <a:rPr lang="en-US" sz="1400"/>
                        <a:t>93,5</a:t>
                      </a:r>
                      <a:r>
                        <a:rPr b="0" i="0" lang="en-US" sz="1400">
                          <a:solidFill>
                            <a:srgbClr val="000000"/>
                          </a:solidFill>
                        </a:rPr>
                        <a:t>%</a:t>
                      </a:r>
                      <a:endParaRPr/>
                    </a:p>
                  </a:txBody>
                  <a:tcPr marT="45725" marB="45725" marR="91450" marL="91450" anchor="ctr"/>
                </a:tc>
              </a:tr>
              <a:tr h="826200">
                <a:tc>
                  <a:txBody>
                    <a:bodyPr/>
                    <a:lstStyle/>
                    <a:p>
                      <a:pPr indent="0" lvl="0" marL="0" marR="0" rtl="0" algn="l">
                        <a:lnSpc>
                          <a:spcPct val="150000"/>
                        </a:lnSpc>
                        <a:spcBef>
                          <a:spcPts val="0"/>
                        </a:spcBef>
                        <a:spcAft>
                          <a:spcPts val="0"/>
                        </a:spcAft>
                        <a:buNone/>
                      </a:pPr>
                      <a:r>
                        <a:rPr lang="en-US" sz="1400"/>
                        <a:t>Կոմունալ վճարների գծով հաստատության տարեկան ծախսերի չափը </a:t>
                      </a:r>
                      <a:endParaRPr sz="1800"/>
                    </a:p>
                  </a:txBody>
                  <a:tcPr marT="0" marB="0" marR="0" marL="0" anchor="ctr"/>
                </a:tc>
                <a:tc>
                  <a:txBody>
                    <a:bodyPr/>
                    <a:lstStyle/>
                    <a:p>
                      <a:pPr indent="0" lvl="0" marL="0" marR="0" rtl="0" algn="ctr">
                        <a:spcBef>
                          <a:spcPts val="0"/>
                        </a:spcBef>
                        <a:spcAft>
                          <a:spcPts val="0"/>
                        </a:spcAft>
                        <a:buClr>
                          <a:srgbClr val="000000"/>
                        </a:buClr>
                        <a:buSzPts val="1400"/>
                        <a:buFont typeface="Century Gothic"/>
                        <a:buNone/>
                      </a:pPr>
                      <a:r>
                        <a:rPr b="0" i="0" lang="en-US" sz="1400">
                          <a:solidFill>
                            <a:srgbClr val="000000"/>
                          </a:solidFill>
                        </a:rPr>
                        <a:t>1.73%</a:t>
                      </a:r>
                      <a:endParaRPr/>
                    </a:p>
                  </a:txBody>
                  <a:tcPr marT="45725" marB="45725" marR="91450" marL="91450" anchor="ctr"/>
                </a:tc>
                <a:tc>
                  <a:txBody>
                    <a:bodyPr/>
                    <a:lstStyle/>
                    <a:p>
                      <a:pPr indent="0" lvl="0" marL="0" marR="0" rtl="0" algn="ctr">
                        <a:spcBef>
                          <a:spcPts val="0"/>
                        </a:spcBef>
                        <a:spcAft>
                          <a:spcPts val="0"/>
                        </a:spcAft>
                        <a:buClr>
                          <a:schemeClr val="dk1"/>
                        </a:buClr>
                        <a:buSzPts val="1400"/>
                        <a:buFont typeface="Century Gothic"/>
                        <a:buNone/>
                      </a:pPr>
                      <a:r>
                        <a:rPr lang="en-US" sz="1400"/>
                        <a:t>2</a:t>
                      </a:r>
                      <a:r>
                        <a:rPr b="0" i="0" lang="en-US" sz="1400">
                          <a:solidFill>
                            <a:srgbClr val="000000"/>
                          </a:solidFill>
                        </a:rPr>
                        <a:t>%</a:t>
                      </a:r>
                      <a:endParaRPr b="0" i="0" sz="1400">
                        <a:solidFill>
                          <a:srgbClr val="000000"/>
                        </a:solidFill>
                      </a:endParaRPr>
                    </a:p>
                  </a:txBody>
                  <a:tcPr marT="45725" marB="45725" marR="91450" marL="91450" anchor="ctr"/>
                </a:tc>
                <a:tc>
                  <a:txBody>
                    <a:bodyPr/>
                    <a:lstStyle/>
                    <a:p>
                      <a:pPr indent="0" lvl="0" marL="0" marR="0" rtl="0" algn="ctr">
                        <a:spcBef>
                          <a:spcPts val="0"/>
                        </a:spcBef>
                        <a:spcAft>
                          <a:spcPts val="0"/>
                        </a:spcAft>
                        <a:buClr>
                          <a:schemeClr val="dk1"/>
                        </a:buClr>
                        <a:buSzPts val="1400"/>
                        <a:buFont typeface="Century Gothic"/>
                        <a:buNone/>
                      </a:pPr>
                      <a:r>
                        <a:rPr lang="en-US" sz="1400"/>
                        <a:t>2</a:t>
                      </a:r>
                      <a:r>
                        <a:rPr b="0" i="0" lang="en-US" sz="1400">
                          <a:solidFill>
                            <a:srgbClr val="000000"/>
                          </a:solidFill>
                        </a:rPr>
                        <a:t>%</a:t>
                      </a:r>
                      <a:endParaRPr b="0" i="0" sz="1400">
                        <a:solidFill>
                          <a:srgbClr val="000000"/>
                        </a:solidFill>
                      </a:endParaRPr>
                    </a:p>
                  </a:txBody>
                  <a:tcPr marT="45725" marB="45725" marR="91450" marL="91450" anchor="ctr"/>
                </a:tc>
              </a:tr>
              <a:tr h="1101750">
                <a:tc>
                  <a:txBody>
                    <a:bodyPr/>
                    <a:lstStyle/>
                    <a:p>
                      <a:pPr indent="0" lvl="0" marL="0" marR="0" rtl="0" algn="l">
                        <a:lnSpc>
                          <a:spcPct val="150000"/>
                        </a:lnSpc>
                        <a:spcBef>
                          <a:spcPts val="0"/>
                        </a:spcBef>
                        <a:spcAft>
                          <a:spcPts val="0"/>
                        </a:spcAft>
                        <a:buNone/>
                      </a:pPr>
                      <a:r>
                        <a:rPr lang="en-US" sz="1400"/>
                        <a:t>Նոր գույքի, այդ թվում՝ սարքավորումների ձեռբերման գծով հաստատության տարեկան ծախսերի չափը </a:t>
                      </a:r>
                      <a:endParaRPr sz="1800"/>
                    </a:p>
                  </a:txBody>
                  <a:tcPr marT="0" marB="0" marR="0" marL="0" anchor="ctr"/>
                </a:tc>
                <a:tc>
                  <a:txBody>
                    <a:bodyPr/>
                    <a:lstStyle/>
                    <a:p>
                      <a:pPr indent="0" lvl="0" marL="0" marR="0" rtl="0" algn="ctr">
                        <a:spcBef>
                          <a:spcPts val="0"/>
                        </a:spcBef>
                        <a:spcAft>
                          <a:spcPts val="0"/>
                        </a:spcAft>
                        <a:buClr>
                          <a:srgbClr val="000000"/>
                        </a:buClr>
                        <a:buSzPts val="1400"/>
                        <a:buFont typeface="Century Gothic"/>
                        <a:buNone/>
                      </a:pPr>
                      <a:r>
                        <a:rPr b="0" i="0" lang="en-US" sz="1400">
                          <a:solidFill>
                            <a:srgbClr val="000000"/>
                          </a:solidFill>
                        </a:rPr>
                        <a:t>1,5%</a:t>
                      </a:r>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entury Gothic"/>
                        <a:buNone/>
                      </a:pPr>
                      <a:r>
                        <a:rPr lang="en-US" sz="1400"/>
                        <a:t>31,1</a:t>
                      </a:r>
                      <a:r>
                        <a:rPr b="0" i="0" lang="en-US" sz="1400">
                          <a:solidFill>
                            <a:srgbClr val="000000"/>
                          </a:solidFill>
                        </a:rPr>
                        <a:t>%</a:t>
                      </a:r>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400"/>
                        <a:buFont typeface="Century Gothic"/>
                        <a:buNone/>
                      </a:pPr>
                      <a:r>
                        <a:rPr b="0" i="0" lang="en-US" sz="1400">
                          <a:solidFill>
                            <a:schemeClr val="dk1"/>
                          </a:solidFill>
                        </a:rPr>
                        <a:t>0,39</a:t>
                      </a:r>
                      <a:r>
                        <a:rPr b="0" i="0" lang="en-US" sz="1400">
                          <a:solidFill>
                            <a:srgbClr val="000000"/>
                          </a:solidFill>
                        </a:rPr>
                        <a:t>%</a:t>
                      </a:r>
                      <a:endParaRPr/>
                    </a:p>
                  </a:txBody>
                  <a:tcPr marT="45725" marB="45725" marR="91450" marL="91450" anchor="ctr"/>
                </a:tc>
              </a:tr>
            </a:tbl>
          </a:graphicData>
        </a:graphic>
      </p:graphicFrame>
      <p:graphicFrame>
        <p:nvGraphicFramePr>
          <p:cNvPr id="516" name="Google Shape;516;p64"/>
          <p:cNvGraphicFramePr/>
          <p:nvPr/>
        </p:nvGraphicFramePr>
        <p:xfrm>
          <a:off x="9972514" y="941035"/>
          <a:ext cx="3000000" cy="3000000"/>
        </p:xfrm>
        <a:graphic>
          <a:graphicData uri="http://schemas.openxmlformats.org/drawingml/2006/table">
            <a:tbl>
              <a:tblPr>
                <a:noFill/>
                <a:tableStyleId>{40B977D2-3903-41EF-8714-5AC59086702B}</a:tableStyleId>
              </a:tblPr>
              <a:tblGrid>
                <a:gridCol w="1293050"/>
              </a:tblGrid>
              <a:tr h="337225">
                <a:tc>
                  <a:txBody>
                    <a:bodyPr/>
                    <a:lstStyle/>
                    <a:p>
                      <a:pPr indent="0" lvl="0" marL="0" marR="0" rtl="0" algn="ctr">
                        <a:spcBef>
                          <a:spcPts val="0"/>
                        </a:spcBef>
                        <a:spcAft>
                          <a:spcPts val="0"/>
                        </a:spcAft>
                        <a:buNone/>
                      </a:pPr>
                      <a:r>
                        <a:rPr lang="en-US" sz="1400"/>
                        <a:t>2026 թ.</a:t>
                      </a:r>
                      <a:endParaRPr sz="1400"/>
                    </a:p>
                  </a:txBody>
                  <a:tcPr marT="0" marB="0" marR="0" marL="0" anchor="ctr"/>
                </a:tc>
              </a:tr>
              <a:tr h="826200">
                <a:tc>
                  <a:txBody>
                    <a:bodyPr/>
                    <a:lstStyle/>
                    <a:p>
                      <a:pPr indent="0" lvl="0" marL="0" marR="0" rtl="0" algn="ctr">
                        <a:lnSpc>
                          <a:spcPct val="100000"/>
                        </a:lnSpc>
                        <a:spcBef>
                          <a:spcPts val="0"/>
                        </a:spcBef>
                        <a:spcAft>
                          <a:spcPts val="0"/>
                        </a:spcAft>
                        <a:buClr>
                          <a:srgbClr val="000000"/>
                        </a:buClr>
                        <a:buSzPts val="1400"/>
                        <a:buFont typeface="Trebuchet MS"/>
                        <a:buNone/>
                      </a:pPr>
                      <a:r>
                        <a:rPr b="0" i="0" lang="en-US" sz="1400">
                          <a:solidFill>
                            <a:srgbClr val="000000"/>
                          </a:solidFill>
                          <a:latin typeface="Trebuchet MS"/>
                          <a:ea typeface="Trebuchet MS"/>
                          <a:cs typeface="Trebuchet MS"/>
                          <a:sym typeface="Trebuchet MS"/>
                        </a:rPr>
                        <a:t>0,03</a:t>
                      </a:r>
                      <a:r>
                        <a:rPr b="0" i="0" lang="en-US" sz="1400">
                          <a:solidFill>
                            <a:srgbClr val="000000"/>
                          </a:solidFill>
                        </a:rPr>
                        <a:t>%</a:t>
                      </a:r>
                      <a:endParaRPr/>
                    </a:p>
                    <a:p>
                      <a:pPr indent="0" lvl="0" marL="0" marR="0" rtl="0" algn="l">
                        <a:lnSpc>
                          <a:spcPct val="100000"/>
                        </a:lnSpc>
                        <a:spcBef>
                          <a:spcPts val="0"/>
                        </a:spcBef>
                        <a:spcAft>
                          <a:spcPts val="0"/>
                        </a:spcAft>
                        <a:buClr>
                          <a:schemeClr val="dk1"/>
                        </a:buClr>
                        <a:buSzPts val="1800"/>
                        <a:buFont typeface="Century Gothic"/>
                        <a:buNone/>
                      </a:pPr>
                      <a:r>
                        <a:t/>
                      </a:r>
                      <a:endParaRPr b="0" i="0" sz="1800">
                        <a:solidFill>
                          <a:srgbClr val="000000"/>
                        </a:solidFill>
                        <a:latin typeface="Trebuchet MS"/>
                        <a:ea typeface="Trebuchet MS"/>
                        <a:cs typeface="Trebuchet MS"/>
                        <a:sym typeface="Trebuchet MS"/>
                      </a:endParaRPr>
                    </a:p>
                  </a:txBody>
                  <a:tcPr marT="45725" marB="45725" marR="91450" marL="91450" anchor="ctr"/>
                </a:tc>
              </a:tr>
              <a:tr h="674450">
                <a:tc>
                  <a:txBody>
                    <a:bodyPr/>
                    <a:lstStyle/>
                    <a:p>
                      <a:pPr indent="0" lvl="0" marL="0" marR="0" rtl="0" algn="l">
                        <a:lnSpc>
                          <a:spcPct val="100000"/>
                        </a:lnSpc>
                        <a:spcBef>
                          <a:spcPts val="0"/>
                        </a:spcBef>
                        <a:spcAft>
                          <a:spcPts val="0"/>
                        </a:spcAft>
                        <a:buClr>
                          <a:srgbClr val="000000"/>
                        </a:buClr>
                        <a:buSzPts val="1800"/>
                        <a:buFont typeface="Trebuchet MS"/>
                        <a:buNone/>
                      </a:pPr>
                      <a:r>
                        <a:rPr b="0" i="0" lang="en-US" sz="1800">
                          <a:solidFill>
                            <a:srgbClr val="000000"/>
                          </a:solidFill>
                          <a:latin typeface="Trebuchet MS"/>
                          <a:ea typeface="Trebuchet MS"/>
                          <a:cs typeface="Trebuchet MS"/>
                          <a:sym typeface="Trebuchet MS"/>
                        </a:rPr>
                        <a:t>-</a:t>
                      </a:r>
                      <a:endParaRPr/>
                    </a:p>
                  </a:txBody>
                  <a:tcPr marT="45725" marB="45725" marR="91450" marL="91450" anchor="ctr"/>
                </a:tc>
              </a:tr>
              <a:tr h="674450">
                <a:tc>
                  <a:txBody>
                    <a:bodyPr/>
                    <a:lstStyle/>
                    <a:p>
                      <a:pPr indent="0" lvl="0" marL="0" marR="0" rtl="0" algn="ctr">
                        <a:lnSpc>
                          <a:spcPct val="100000"/>
                        </a:lnSpc>
                        <a:spcBef>
                          <a:spcPts val="0"/>
                        </a:spcBef>
                        <a:spcAft>
                          <a:spcPts val="0"/>
                        </a:spcAft>
                        <a:buClr>
                          <a:schemeClr val="dk1"/>
                        </a:buClr>
                        <a:buSzPts val="1400"/>
                        <a:buFont typeface="Century Gothic"/>
                        <a:buNone/>
                      </a:pPr>
                      <a:r>
                        <a:rPr lang="en-US" sz="1400"/>
                        <a:t>10,4</a:t>
                      </a:r>
                      <a:r>
                        <a:rPr b="0" i="0" lang="en-US" sz="1400">
                          <a:solidFill>
                            <a:srgbClr val="000000"/>
                          </a:solidFill>
                        </a:rPr>
                        <a:t>%</a:t>
                      </a:r>
                      <a:endParaRPr/>
                    </a:p>
                  </a:txBody>
                  <a:tcPr marT="45725" marB="45725" marR="91450" marL="91450" anchor="ctr"/>
                </a:tc>
              </a:tr>
              <a:tr h="826200">
                <a:tc>
                  <a:txBody>
                    <a:bodyPr/>
                    <a:lstStyle/>
                    <a:p>
                      <a:pPr indent="0" lvl="0" marL="0" marR="0" rtl="0" algn="ctr">
                        <a:lnSpc>
                          <a:spcPct val="100000"/>
                        </a:lnSpc>
                        <a:spcBef>
                          <a:spcPts val="0"/>
                        </a:spcBef>
                        <a:spcAft>
                          <a:spcPts val="0"/>
                        </a:spcAft>
                        <a:buClr>
                          <a:schemeClr val="dk1"/>
                        </a:buClr>
                        <a:buSzPts val="1400"/>
                        <a:buFont typeface="Century Gothic"/>
                        <a:buNone/>
                      </a:pPr>
                      <a:r>
                        <a:rPr lang="en-US" sz="1400"/>
                        <a:t>90</a:t>
                      </a:r>
                      <a:r>
                        <a:rPr b="0" i="0" lang="en-US" sz="1400">
                          <a:solidFill>
                            <a:srgbClr val="000000"/>
                          </a:solidFill>
                        </a:rPr>
                        <a:t>%</a:t>
                      </a:r>
                      <a:endParaRPr/>
                    </a:p>
                  </a:txBody>
                  <a:tcPr marT="45725" marB="45725" marR="91450" marL="91450" anchor="ctr"/>
                </a:tc>
              </a:tr>
              <a:tr h="826200">
                <a:tc>
                  <a:txBody>
                    <a:bodyPr/>
                    <a:lstStyle/>
                    <a:p>
                      <a:pPr indent="0" lvl="0" marL="0" marR="0" rtl="0" algn="ctr">
                        <a:spcBef>
                          <a:spcPts val="0"/>
                        </a:spcBef>
                        <a:spcAft>
                          <a:spcPts val="0"/>
                        </a:spcAft>
                        <a:buClr>
                          <a:schemeClr val="dk1"/>
                        </a:buClr>
                        <a:buSzPts val="1400"/>
                        <a:buFont typeface="Century Gothic"/>
                        <a:buNone/>
                      </a:pPr>
                      <a:r>
                        <a:rPr lang="en-US" sz="1400"/>
                        <a:t>2,3</a:t>
                      </a:r>
                      <a:r>
                        <a:rPr b="0" i="0" lang="en-US" sz="1400">
                          <a:solidFill>
                            <a:srgbClr val="000000"/>
                          </a:solidFill>
                        </a:rPr>
                        <a:t>%</a:t>
                      </a:r>
                      <a:endParaRPr b="0" i="0" sz="1400">
                        <a:solidFill>
                          <a:srgbClr val="000000"/>
                        </a:solidFill>
                      </a:endParaRPr>
                    </a:p>
                  </a:txBody>
                  <a:tcPr marT="45725" marB="45725" marR="91450" marL="91450" anchor="ctr"/>
                </a:tc>
              </a:tr>
              <a:tr h="1101750">
                <a:tc>
                  <a:txBody>
                    <a:bodyPr/>
                    <a:lstStyle/>
                    <a:p>
                      <a:pPr indent="0" lvl="0" marL="0" marR="0" rtl="0" algn="ctr">
                        <a:lnSpc>
                          <a:spcPct val="100000"/>
                        </a:lnSpc>
                        <a:spcBef>
                          <a:spcPts val="0"/>
                        </a:spcBef>
                        <a:spcAft>
                          <a:spcPts val="0"/>
                        </a:spcAft>
                        <a:buClr>
                          <a:schemeClr val="dk1"/>
                        </a:buClr>
                        <a:buSzPts val="1400"/>
                        <a:buFont typeface="Century Gothic"/>
                        <a:buNone/>
                      </a:pPr>
                      <a:r>
                        <a:rPr b="0" i="0" lang="en-US" sz="1400">
                          <a:solidFill>
                            <a:schemeClr val="dk1"/>
                          </a:solidFill>
                        </a:rPr>
                        <a:t>0,56</a:t>
                      </a:r>
                      <a:r>
                        <a:rPr b="0" i="0" lang="en-US" sz="1400">
                          <a:solidFill>
                            <a:srgbClr val="000000"/>
                          </a:solidFill>
                        </a:rPr>
                        <a:t>%</a:t>
                      </a:r>
                      <a:endParaRPr/>
                    </a:p>
                  </a:txBody>
                  <a:tcPr marT="45725" marB="45725" marR="91450" marL="91450" anchor="ct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5"/>
          <p:cNvSpPr/>
          <p:nvPr/>
        </p:nvSpPr>
        <p:spPr>
          <a:xfrm>
            <a:off x="1673774" y="1344918"/>
            <a:ext cx="9238444" cy="175432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800">
                <a:solidFill>
                  <a:schemeClr val="dk1"/>
                </a:solidFill>
                <a:latin typeface="Century Gothic"/>
                <a:ea typeface="Century Gothic"/>
                <a:cs typeface="Century Gothic"/>
                <a:sym typeface="Century Gothic"/>
              </a:rPr>
              <a:t>Մեկ սովորողի հաշվով հաստատության տարեկան նախահաշվի նվազումը պայմանավորված է 2022 թվականի ֆինանսավորման նվազմամբ, որի արդյունքում ծախսը գերազանցել է հատկացված ֆինանսական միջոցներին: Առաջացած ճեղքվածքը փակվել է տարվա սկզբնական մնացորդի հաշվին: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66"/>
          <p:cNvPicPr preferRelativeResize="0"/>
          <p:nvPr/>
        </p:nvPicPr>
        <p:blipFill rotWithShape="1">
          <a:blip r:embed="rId3">
            <a:alphaModFix/>
          </a:blip>
          <a:srcRect b="3356" l="19264" r="18398" t="28859"/>
          <a:stretch/>
        </p:blipFill>
        <p:spPr>
          <a:xfrm>
            <a:off x="4365347" y="1500272"/>
            <a:ext cx="3276233" cy="1146976"/>
          </a:xfrm>
          <a:prstGeom prst="rect">
            <a:avLst/>
          </a:prstGeom>
          <a:noFill/>
          <a:ln>
            <a:noFill/>
          </a:ln>
        </p:spPr>
      </p:pic>
      <p:pic>
        <p:nvPicPr>
          <p:cNvPr id="528" name="Google Shape;528;p66"/>
          <p:cNvPicPr preferRelativeResize="0"/>
          <p:nvPr/>
        </p:nvPicPr>
        <p:blipFill rotWithShape="1">
          <a:blip r:embed="rId4">
            <a:alphaModFix/>
          </a:blip>
          <a:srcRect b="0" l="0" r="0" t="0"/>
          <a:stretch/>
        </p:blipFill>
        <p:spPr>
          <a:xfrm>
            <a:off x="2384977" y="3390344"/>
            <a:ext cx="7916448" cy="175256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7"/>
          <p:cNvSpPr txBox="1"/>
          <p:nvPr/>
        </p:nvSpPr>
        <p:spPr>
          <a:xfrm>
            <a:off x="1575609" y="1668767"/>
            <a:ext cx="9306992" cy="310854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Merriweather"/>
                <a:ea typeface="Merriweather"/>
                <a:cs typeface="Merriweather"/>
                <a:sym typeface="Merriweather"/>
              </a:rPr>
              <a:t>Ուսումնական հաստատության շենքը հարմարեցված է կրթության առանձնահատուկ պայմանների կարիք ունեցող (այսուհետ` ԿԱՊԿՈՒ) սովորողների անվտանգ տեղաշարժ ու ուսուցում ապահովող պայմաններին (թեք հարթակներ, լայն դռներ և այլն) :</a:t>
            </a:r>
            <a:endParaRPr/>
          </a:p>
          <a:p>
            <a:pPr indent="0" lvl="0" marL="0" marR="0" rtl="0" algn="just">
              <a:spcBef>
                <a:spcPts val="0"/>
              </a:spcBef>
              <a:spcAft>
                <a:spcPts val="0"/>
              </a:spcAft>
              <a:buNone/>
            </a:pPr>
            <a:r>
              <a:t/>
            </a:r>
            <a:endParaRPr b="1" sz="2800">
              <a:solidFill>
                <a:srgbClr val="000000"/>
              </a:solidFill>
              <a:latin typeface="Merriweather"/>
              <a:ea typeface="Merriweather"/>
              <a:cs typeface="Merriweather"/>
              <a:sym typeface="Merriweather"/>
            </a:endParaRPr>
          </a:p>
          <a:p>
            <a:pPr indent="0" lvl="0" marL="0" marR="0" rtl="0" algn="just">
              <a:spcBef>
                <a:spcPts val="0"/>
              </a:spcBef>
              <a:spcAft>
                <a:spcPts val="0"/>
              </a:spcAft>
              <a:buNone/>
            </a:pPr>
            <a:r>
              <a:rPr b="1" lang="en-US" sz="2800">
                <a:solidFill>
                  <a:srgbClr val="000000"/>
                </a:solidFill>
                <a:latin typeface="Merriweather"/>
                <a:ea typeface="Merriweather"/>
                <a:cs typeface="Merriweather"/>
                <a:sym typeface="Merriweather"/>
              </a:rPr>
              <a:t> ԿԱՊԿ ունեցող սովորողների թիվը մեկ է։</a:t>
            </a:r>
            <a:endParaRPr b="1" sz="2800">
              <a:solidFill>
                <a:srgbClr val="000000"/>
              </a:solidFill>
              <a:latin typeface="Merriweather"/>
              <a:ea typeface="Merriweather"/>
              <a:cs typeface="Merriweather"/>
              <a:sym typeface="Merriweathe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8"/>
          <p:cNvSpPr/>
          <p:nvPr/>
        </p:nvSpPr>
        <p:spPr>
          <a:xfrm>
            <a:off x="0" y="0"/>
            <a:ext cx="12192000" cy="4572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100"/>
              <a:buFont typeface="Merriweather"/>
              <a:buNone/>
            </a:pPr>
            <a:r>
              <a:rPr b="1" i="1" lang="en-US" sz="1100" u="none" cap="none" strike="noStrike">
                <a:solidFill>
                  <a:schemeClr val="dk1"/>
                </a:solidFill>
                <a:latin typeface="Merriweather"/>
                <a:ea typeface="Merriweather"/>
                <a:cs typeface="Merriweather"/>
                <a:sym typeface="Merriweather"/>
              </a:rPr>
              <a:t>Աղյուսակ 28. Հաստատությունում ներառական կրթության իրականացմանը վերաբերվող չափանիշներ</a:t>
            </a:r>
            <a:endParaRPr b="0" i="0" sz="1800" u="none" cap="none" strike="noStrike">
              <a:solidFill>
                <a:schemeClr val="dk1"/>
              </a:solidFill>
              <a:latin typeface="Arial"/>
              <a:ea typeface="Arial"/>
              <a:cs typeface="Arial"/>
              <a:sym typeface="Arial"/>
            </a:endParaRPr>
          </a:p>
        </p:txBody>
      </p:sp>
      <p:graphicFrame>
        <p:nvGraphicFramePr>
          <p:cNvPr id="540" name="Google Shape;540;p68"/>
          <p:cNvGraphicFramePr/>
          <p:nvPr/>
        </p:nvGraphicFramePr>
        <p:xfrm>
          <a:off x="264695" y="394814"/>
          <a:ext cx="3000000" cy="3000000"/>
        </p:xfrm>
        <a:graphic>
          <a:graphicData uri="http://schemas.openxmlformats.org/drawingml/2006/table">
            <a:tbl>
              <a:tblPr>
                <a:noFill/>
                <a:tableStyleId>{6A89F46A-32DD-4337-B89F-853120939335}</a:tableStyleId>
              </a:tblPr>
              <a:tblGrid>
                <a:gridCol w="4266600"/>
                <a:gridCol w="631975"/>
                <a:gridCol w="473700"/>
                <a:gridCol w="5648675"/>
              </a:tblGrid>
              <a:tr h="87550">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Չափանիշ</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Այո</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Ոչ</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Մենաբանություն</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2625">
                <a:tc>
                  <a:txBody>
                    <a:bodyPr/>
                    <a:lstStyle/>
                    <a:p>
                      <a:pPr indent="0" lvl="0" marL="0" marR="0" rtl="0" algn="just">
                        <a:lnSpc>
                          <a:spcPct val="115000"/>
                        </a:lnSpc>
                        <a:spcBef>
                          <a:spcPts val="0"/>
                        </a:spcBef>
                        <a:spcAft>
                          <a:spcPts val="0"/>
                        </a:spcAft>
                        <a:buNone/>
                      </a:pPr>
                      <a:r>
                        <a:rPr lang="en-US" sz="1000">
                          <a:latin typeface="Calibri"/>
                          <a:ea typeface="Calibri"/>
                          <a:cs typeface="Calibri"/>
                          <a:sym typeface="Calibri"/>
                        </a:rPr>
                        <a:t>Ներառական կրթության զարգացումը որպես նպատակ ամրագրված է դպրոցի զարգացման ծրագրում</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a:t>
                      </a: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25225">
                <a:tc>
                  <a:txBody>
                    <a:bodyPr/>
                    <a:lstStyle/>
                    <a:p>
                      <a:pPr indent="0" lvl="0" marL="0" marR="0" rtl="0" algn="just">
                        <a:lnSpc>
                          <a:spcPct val="115000"/>
                        </a:lnSpc>
                        <a:spcBef>
                          <a:spcPts val="0"/>
                        </a:spcBef>
                        <a:spcAft>
                          <a:spcPts val="0"/>
                        </a:spcAft>
                        <a:buNone/>
                      </a:pPr>
                      <a:r>
                        <a:rPr lang="en-US" sz="1000">
                          <a:latin typeface="Calibri"/>
                          <a:ea typeface="Calibri"/>
                          <a:cs typeface="Calibri"/>
                          <a:sym typeface="Calibri"/>
                        </a:rPr>
                        <a:t>Ուսումնական հաստատության զարգաց­ման ծրագրում պլանավորված են ներա­ռա­կան կրթ. ապահովմանն ուղղված համապատասխան միջոցառում­ներ, այդ թվում՝ ուսուցիչների վերապատրաստումներ</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a:t>
                      </a: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0150">
                <a:tc>
                  <a:txBody>
                    <a:bodyPr/>
                    <a:lstStyle/>
                    <a:p>
                      <a:pPr indent="0" lvl="0" marL="0" marR="0" rtl="0" algn="just">
                        <a:lnSpc>
                          <a:spcPct val="115000"/>
                        </a:lnSpc>
                        <a:spcBef>
                          <a:spcPts val="0"/>
                        </a:spcBef>
                        <a:spcAft>
                          <a:spcPts val="0"/>
                        </a:spcAft>
                        <a:buNone/>
                      </a:pPr>
                      <a:r>
                        <a:rPr lang="en-US" sz="1000">
                          <a:latin typeface="Calibri"/>
                          <a:ea typeface="Calibri"/>
                          <a:cs typeface="Calibri"/>
                          <a:sym typeface="Calibri"/>
                        </a:rPr>
                        <a:t>Ուսումնական հաստատության տնօրենն ունի ներառական կրթության գործընթացի համակարգման լիազորություններով օժտված տեղակալ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Merriweather"/>
                        <a:ea typeface="Merriweather"/>
                        <a:cs typeface="Merriweather"/>
                        <a:sym typeface="Merriweathe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i="1" lang="en-US" sz="1000">
                          <a:latin typeface="Merriweather"/>
                          <a:ea typeface="Merriweather"/>
                          <a:cs typeface="Merriweather"/>
                          <a:sym typeface="Merriweather"/>
                        </a:rPr>
                        <a:t>-</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0150">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Ուսումնական հաստատության վեբ կայքում գործում է ներառական կրթության բաժին` ընտանիքի և համայնքիհետ հետադարձ կապի հնարավորությամբ</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Merriweather"/>
                        <a:ea typeface="Merriweather"/>
                        <a:cs typeface="Merriweather"/>
                        <a:sym typeface="Merriweathe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i="1" lang="en-US" sz="1000">
                          <a:latin typeface="Merriweather"/>
                          <a:ea typeface="Merriweather"/>
                          <a:cs typeface="Merriweather"/>
                          <a:sym typeface="Merriweather"/>
                        </a:rPr>
                        <a:t>-</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7700">
                <a:tc>
                  <a:txBody>
                    <a:bodyPr/>
                    <a:lstStyle/>
                    <a:p>
                      <a:pPr indent="0" lvl="0" marL="0" marR="0" rtl="0" algn="l">
                        <a:lnSpc>
                          <a:spcPct val="115000"/>
                        </a:lnSpc>
                        <a:spcBef>
                          <a:spcPts val="0"/>
                        </a:spcBef>
                        <a:spcAft>
                          <a:spcPts val="0"/>
                        </a:spcAft>
                        <a:buNone/>
                      </a:pPr>
                      <a:r>
                        <a:rPr lang="en-US" sz="1000">
                          <a:latin typeface="Calibri"/>
                          <a:ea typeface="Calibri"/>
                          <a:cs typeface="Calibri"/>
                          <a:sym typeface="Calibri"/>
                        </a:rPr>
                        <a:t>Ուսումնական հաստատությունն իրականացնում է երեխաների հավասար իրավունքներին, հանդուրժողականությանը նվիրված և նման այլ ուս.  ծրագրեր: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i="0" lang="en-US" sz="1000">
                          <a:latin typeface="Merriweather"/>
                          <a:ea typeface="Merriweather"/>
                          <a:cs typeface="Merriweather"/>
                          <a:sym typeface="Merriweather"/>
                        </a:rPr>
                        <a:t>+</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Հայկական Կարմիր խաչի ընկերության կողմից կազմակերպված համատեղ կրթական ծրագիր` նվիրված հանդուրժողականությանը &lt;&lt;Հոգեբանական առաջին օգնություն&gt;&gt;  թեմայով, «Հանդուրժողականության</a:t>
                      </a:r>
                      <a:r>
                        <a:rPr lang="en-US" sz="1000">
                          <a:latin typeface="Merriweather"/>
                          <a:ea typeface="Merriweather"/>
                          <a:cs typeface="Merriweather"/>
                          <a:sym typeface="Merriweather"/>
                        </a:rPr>
                        <a:t>» թեմայով սեմինար-քննարկումներ:</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0150">
                <a:tc>
                  <a:txBody>
                    <a:bodyPr/>
                    <a:lstStyle/>
                    <a:p>
                      <a:pPr indent="0" lvl="0" marL="0" marR="0" rtl="0" algn="l">
                        <a:lnSpc>
                          <a:spcPct val="115000"/>
                        </a:lnSpc>
                        <a:spcBef>
                          <a:spcPts val="0"/>
                        </a:spcBef>
                        <a:spcAft>
                          <a:spcPts val="0"/>
                        </a:spcAft>
                        <a:buNone/>
                      </a:pPr>
                      <a:r>
                        <a:rPr lang="en-US" sz="1000">
                          <a:latin typeface="Calibri"/>
                          <a:ea typeface="Calibri"/>
                          <a:cs typeface="Calibri"/>
                          <a:sym typeface="Calibri"/>
                        </a:rPr>
                        <a:t>Վերջին 5 տարում տնօրինությունը մասնակցել է ներառական հաստատությունների կառավարման թեմայով վերապրաստման</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a:t>
                      </a: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12775">
                <a:tc>
                  <a:txBody>
                    <a:bodyPr/>
                    <a:lstStyle/>
                    <a:p>
                      <a:pPr indent="0" lvl="0" marL="0" marR="0" rtl="0" algn="l">
                        <a:lnSpc>
                          <a:spcPct val="115000"/>
                        </a:lnSpc>
                        <a:spcBef>
                          <a:spcPts val="0"/>
                        </a:spcBef>
                        <a:spcAft>
                          <a:spcPts val="0"/>
                        </a:spcAft>
                        <a:buNone/>
                      </a:pPr>
                      <a:r>
                        <a:rPr lang="en-US" sz="1000">
                          <a:latin typeface="Merriweather"/>
                          <a:ea typeface="Merriweather"/>
                          <a:cs typeface="Merriweather"/>
                          <a:sym typeface="Merriweather"/>
                        </a:rPr>
                        <a:t>Ուսումնական հաստատությունն ունի ներառական կրթության թեմաներով վերապատրաստված և վերապատրաստող ուսուցիչներ: Վերջին 5 տարում ներառական կրթության թեմաներով վերապատրաստում անցած ուսուցիչների թիվը:</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a:t>
                      </a: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0150">
                <a:tc>
                  <a:txBody>
                    <a:bodyPr/>
                    <a:lstStyle/>
                    <a:p>
                      <a:pPr indent="0" lvl="0" marL="0" marR="0" rtl="0" algn="l">
                        <a:lnSpc>
                          <a:spcPct val="115000"/>
                        </a:lnSpc>
                        <a:spcBef>
                          <a:spcPts val="0"/>
                        </a:spcBef>
                        <a:spcAft>
                          <a:spcPts val="0"/>
                        </a:spcAft>
                        <a:buNone/>
                      </a:pPr>
                      <a:r>
                        <a:rPr lang="en-US" sz="1000">
                          <a:latin typeface="Calibri"/>
                          <a:ea typeface="Calibri"/>
                          <a:cs typeface="Calibri"/>
                          <a:sym typeface="Calibri"/>
                        </a:rPr>
                        <a:t>Ուսումնական հաստատությունում ամենուրեք տեղաշարժման տարբեր խնդիրներ ունեցող անձնաց համար ապահովված է ֆիզիկական մատչելիություն</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a:t>
                      </a: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000">
                          <a:latin typeface="Calibri"/>
                          <a:ea typeface="Calibri"/>
                          <a:cs typeface="Calibri"/>
                          <a:sym typeface="Calibri"/>
                        </a:rPr>
                        <a:t>Հարմարեցված</a:t>
                      </a:r>
                      <a:r>
                        <a:rPr lang="en-US" sz="1000">
                          <a:latin typeface="Calibri"/>
                          <a:ea typeface="Calibri"/>
                          <a:cs typeface="Calibri"/>
                          <a:sym typeface="Calibri"/>
                        </a:rPr>
                        <a:t> է միայն առաջին հարկը</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21750">
                <a:tc>
                  <a:txBody>
                    <a:bodyPr/>
                    <a:lstStyle/>
                    <a:p>
                      <a:pPr indent="0" lvl="0" marL="0" marR="0" rtl="0" algn="l">
                        <a:lnSpc>
                          <a:spcPct val="115000"/>
                        </a:lnSpc>
                        <a:spcBef>
                          <a:spcPts val="0"/>
                        </a:spcBef>
                        <a:spcAft>
                          <a:spcPts val="0"/>
                        </a:spcAft>
                        <a:buNone/>
                      </a:pPr>
                      <a:r>
                        <a:rPr lang="en-US" sz="1000">
                          <a:latin typeface="Calibri"/>
                          <a:ea typeface="Calibri"/>
                          <a:cs typeface="Calibri"/>
                          <a:sym typeface="Calibri"/>
                        </a:rPr>
                        <a:t>Հաստատությունն ունի ԿԱՊԿ ունեցող սովորողների հոգեբանաման-կավարժական աջակցության թիմ</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Merriweather"/>
                        <a:ea typeface="Merriweather"/>
                        <a:cs typeface="Merriweather"/>
                        <a:sym typeface="Merriweathe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i="1" lang="en-US" sz="1000">
                          <a:latin typeface="Merriweather"/>
                          <a:ea typeface="Merriweather"/>
                          <a:cs typeface="Merriweather"/>
                          <a:sym typeface="Merriweather"/>
                        </a:rPr>
                        <a:t>-</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0150">
                <a:tc>
                  <a:txBody>
                    <a:bodyPr/>
                    <a:lstStyle/>
                    <a:p>
                      <a:pPr indent="0" lvl="0" marL="0" marR="0" rtl="0" algn="l">
                        <a:lnSpc>
                          <a:spcPct val="115000"/>
                        </a:lnSpc>
                        <a:spcBef>
                          <a:spcPts val="0"/>
                        </a:spcBef>
                        <a:spcAft>
                          <a:spcPts val="0"/>
                        </a:spcAft>
                        <a:buNone/>
                      </a:pPr>
                      <a:r>
                        <a:rPr lang="en-US" sz="1000">
                          <a:latin typeface="Merriweather"/>
                          <a:ea typeface="Merriweather"/>
                          <a:cs typeface="Merriweather"/>
                          <a:sym typeface="Merriweather"/>
                        </a:rPr>
                        <a:t>ԿԱՊԿ ունեցող սովորողներն ապահովված են դասագրքերով, գրենական պիտույքներով, հարմարանքներով, այլ պարագաներով</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a:t>
                      </a:r>
                      <a:endParaRPr sz="1000">
                        <a:latin typeface="Merriweather"/>
                        <a:ea typeface="Merriweather"/>
                        <a:cs typeface="Merriweather"/>
                        <a:sym typeface="Merriweathe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000">
                        <a:latin typeface="Merriweather"/>
                        <a:ea typeface="Merriweather"/>
                        <a:cs typeface="Merriweather"/>
                        <a:sym typeface="Merriweathe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25225">
                <a:tc>
                  <a:txBody>
                    <a:bodyPr/>
                    <a:lstStyle/>
                    <a:p>
                      <a:pPr indent="0" lvl="0" marL="0" marR="0" rtl="0" algn="l">
                        <a:lnSpc>
                          <a:spcPct val="115000"/>
                        </a:lnSpc>
                        <a:spcBef>
                          <a:spcPts val="0"/>
                        </a:spcBef>
                        <a:spcAft>
                          <a:spcPts val="0"/>
                        </a:spcAft>
                        <a:buNone/>
                      </a:pPr>
                      <a:r>
                        <a:rPr lang="en-US" sz="1000">
                          <a:latin typeface="Merriweather"/>
                          <a:ea typeface="Merriweather"/>
                          <a:cs typeface="Merriweather"/>
                          <a:sym typeface="Merriweather"/>
                        </a:rPr>
                        <a:t>Հաստատությունում առկա են ուսումնամեթոդական նութեր և սարքավորումներ՝ լսողության և տեսողության գործառույթի բացակայություն կամ սահմանափակում ունեցող աշակերտների համար</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Merriweather"/>
                        <a:ea typeface="Merriweather"/>
                        <a:cs typeface="Merriweather"/>
                        <a:sym typeface="Merriweathe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i="1" lang="en-US" sz="1000">
                          <a:latin typeface="Merriweather"/>
                          <a:ea typeface="Merriweather"/>
                          <a:cs typeface="Merriweather"/>
                          <a:sym typeface="Merriweather"/>
                        </a:rPr>
                        <a:t>-</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7700">
                <a:tc>
                  <a:txBody>
                    <a:bodyPr/>
                    <a:lstStyle/>
                    <a:p>
                      <a:pPr indent="0" lvl="0" marL="0" marR="0" rtl="0" algn="l">
                        <a:lnSpc>
                          <a:spcPct val="115000"/>
                        </a:lnSpc>
                        <a:spcBef>
                          <a:spcPts val="0"/>
                        </a:spcBef>
                        <a:spcAft>
                          <a:spcPts val="0"/>
                        </a:spcAft>
                        <a:buNone/>
                      </a:pPr>
                      <a:r>
                        <a:rPr lang="en-US" sz="1000">
                          <a:latin typeface="Merriweather"/>
                          <a:ea typeface="Merriweather"/>
                          <a:cs typeface="Merriweather"/>
                          <a:sym typeface="Merriweather"/>
                        </a:rPr>
                        <a:t>Ուսումնական հաստատության դասասենյակների դասավորվածությունն այնպիսին է, որ ԿԱՊԿունեցող սովորողները մեկուսացված չեն</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000">
                          <a:latin typeface="Merriweather"/>
                          <a:ea typeface="Merriweather"/>
                          <a:cs typeface="Merriweather"/>
                          <a:sym typeface="Merriweather"/>
                        </a:rPr>
                        <a:t>+</a:t>
                      </a:r>
                      <a:endParaRPr sz="1000">
                        <a:latin typeface="Merriweather"/>
                        <a:ea typeface="Merriweather"/>
                        <a:cs typeface="Merriweather"/>
                        <a:sym typeface="Merriweathe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i="1" sz="1000">
                        <a:latin typeface="Merriweather"/>
                        <a:ea typeface="Merriweather"/>
                        <a:cs typeface="Merriweather"/>
                        <a:sym typeface="Merriweather"/>
                      </a:endParaRPr>
                    </a:p>
                    <a:p>
                      <a:pPr indent="0" lvl="0" marL="0" marR="0" rtl="0" algn="just">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2625">
                <a:tc>
                  <a:txBody>
                    <a:bodyPr/>
                    <a:lstStyle/>
                    <a:p>
                      <a:pPr indent="0" lvl="0" marL="0" marR="0" rtl="0" algn="l">
                        <a:lnSpc>
                          <a:spcPct val="115000"/>
                        </a:lnSpc>
                        <a:spcBef>
                          <a:spcPts val="0"/>
                        </a:spcBef>
                        <a:spcAft>
                          <a:spcPts val="0"/>
                        </a:spcAft>
                        <a:buNone/>
                      </a:pPr>
                      <a:r>
                        <a:rPr lang="en-US" sz="1000">
                          <a:latin typeface="Merriweather"/>
                          <a:ea typeface="Merriweather"/>
                          <a:cs typeface="Merriweather"/>
                          <a:sym typeface="Merriweather"/>
                        </a:rPr>
                        <a:t>Ուսումնական հաստատությունն ունի ռեսուրս-սենյակ՝ ԿԱՊԿ ունեցող սովորողների համար</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t/>
                      </a:r>
                      <a:endParaRPr sz="1000">
                        <a:latin typeface="Merriweather"/>
                        <a:ea typeface="Merriweather"/>
                        <a:cs typeface="Merriweather"/>
                        <a:sym typeface="Merriweather"/>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i="1" lang="en-US" sz="1000">
                          <a:latin typeface="Merriweather"/>
                          <a:ea typeface="Merriweather"/>
                          <a:cs typeface="Merriweather"/>
                          <a:sym typeface="Merriweather"/>
                        </a:rPr>
                        <a:t>-</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000">
                        <a:latin typeface="Calibri"/>
                        <a:ea typeface="Calibri"/>
                        <a:cs typeface="Calibri"/>
                        <a:sym typeface="Calibri"/>
                      </a:endParaRPr>
                    </a:p>
                  </a:txBody>
                  <a:tcPr marT="0" marB="0" marR="39475" marL="39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541" name="Google Shape;541;p68"/>
          <p:cNvSpPr/>
          <p:nvPr/>
        </p:nvSpPr>
        <p:spPr>
          <a:xfrm>
            <a:off x="0" y="0"/>
            <a:ext cx="12192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
        <p:nvSpPr>
          <p:cNvPr id="542" name="Google Shape;542;p68"/>
          <p:cNvSpPr/>
          <p:nvPr/>
        </p:nvSpPr>
        <p:spPr>
          <a:xfrm>
            <a:off x="0" y="0"/>
            <a:ext cx="4022725" cy="7938"/>
          </a:xfrm>
          <a:prstGeom prst="rect">
            <a:avLst/>
          </a:prstGeom>
          <a:solidFill>
            <a:srgbClr val="000000"/>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43" name="Google Shape;543;p68"/>
          <p:cNvSpPr/>
          <p:nvPr/>
        </p:nvSpPr>
        <p:spPr>
          <a:xfrm>
            <a:off x="0" y="7938"/>
            <a:ext cx="12192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9"/>
          <p:cNvSpPr/>
          <p:nvPr/>
        </p:nvSpPr>
        <p:spPr>
          <a:xfrm>
            <a:off x="168737" y="74711"/>
            <a:ext cx="11854527" cy="307777"/>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400"/>
              <a:buFont typeface="Merriweather"/>
              <a:buNone/>
            </a:pPr>
            <a:r>
              <a:rPr b="1" i="1" lang="en-US" sz="1400" u="none" cap="none" strike="noStrike">
                <a:solidFill>
                  <a:schemeClr val="dk1"/>
                </a:solidFill>
                <a:latin typeface="Merriweather"/>
                <a:ea typeface="Merriweather"/>
                <a:cs typeface="Merriweather"/>
                <a:sym typeface="Merriweather"/>
              </a:rPr>
              <a:t>Աղյուսակ 29. Տվյալներ հաստատությունում ներառական կրթության իրականացման և հավասարության ապահովման խնդիրների վերաբերյալ</a:t>
            </a:r>
            <a:endParaRPr b="0" i="0" sz="1400" u="none" cap="none" strike="noStrike">
              <a:solidFill>
                <a:schemeClr val="dk1"/>
              </a:solidFill>
              <a:latin typeface="Arial"/>
              <a:ea typeface="Arial"/>
              <a:cs typeface="Arial"/>
              <a:sym typeface="Arial"/>
            </a:endParaRPr>
          </a:p>
        </p:txBody>
      </p:sp>
      <p:graphicFrame>
        <p:nvGraphicFramePr>
          <p:cNvPr id="549" name="Google Shape;549;p69"/>
          <p:cNvGraphicFramePr/>
          <p:nvPr/>
        </p:nvGraphicFramePr>
        <p:xfrm>
          <a:off x="926432" y="733926"/>
          <a:ext cx="3000000" cy="3000000"/>
        </p:xfrm>
        <a:graphic>
          <a:graphicData uri="http://schemas.openxmlformats.org/drawingml/2006/table">
            <a:tbl>
              <a:tblPr>
                <a:noFill/>
                <a:tableStyleId>{6A89F46A-32DD-4337-B89F-853120939335}</a:tableStyleId>
              </a:tblPr>
              <a:tblGrid>
                <a:gridCol w="6582725"/>
                <a:gridCol w="1360900"/>
                <a:gridCol w="1223175"/>
                <a:gridCol w="1457075"/>
              </a:tblGrid>
              <a:tr h="593600">
                <a:tc>
                  <a:txBody>
                    <a:bodyPr/>
                    <a:lstStyle/>
                    <a:p>
                      <a:pPr indent="0" lvl="0" marL="0" marR="0" rtl="0" algn="just">
                        <a:spcBef>
                          <a:spcPts val="0"/>
                        </a:spcBef>
                        <a:spcAft>
                          <a:spcPts val="0"/>
                        </a:spcAft>
                        <a:buNone/>
                      </a:pPr>
                      <a:r>
                        <a:rPr b="1" lang="en-US" sz="1200">
                          <a:latin typeface="Merriweather"/>
                          <a:ea typeface="Merriweather"/>
                          <a:cs typeface="Merriweather"/>
                          <a:sym typeface="Merriweather"/>
                        </a:rPr>
                        <a:t>Ցուցանիշ</a:t>
                      </a:r>
                      <a:endParaRPr b="1"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1" lang="en-US" sz="1200">
                          <a:latin typeface="Merriweather"/>
                          <a:ea typeface="Merriweather"/>
                          <a:cs typeface="Merriweather"/>
                          <a:sym typeface="Merriweather"/>
                        </a:rPr>
                        <a:t>2023-2024 ուստարի</a:t>
                      </a:r>
                      <a:endParaRPr b="1"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200">
                          <a:latin typeface="Merriweather"/>
                          <a:ea typeface="Merriweather"/>
                          <a:cs typeface="Merriweather"/>
                          <a:sym typeface="Merriweather"/>
                        </a:rPr>
                        <a:t>2024-2025 ուստարի</a:t>
                      </a:r>
                      <a:endParaRPr b="1"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Merriweather"/>
                        <a:buNone/>
                      </a:pPr>
                      <a:r>
                        <a:rPr b="1" lang="en-US" sz="1200">
                          <a:latin typeface="Merriweather"/>
                          <a:ea typeface="Merriweather"/>
                          <a:cs typeface="Merriweather"/>
                          <a:sym typeface="Merriweather"/>
                        </a:rPr>
                        <a:t>2025-2026       ուստարի</a:t>
                      </a:r>
                      <a:endParaRPr b="1" sz="1200">
                        <a:latin typeface="Calibri"/>
                        <a:ea typeface="Calibri"/>
                        <a:cs typeface="Calibri"/>
                        <a:sym typeface="Calibri"/>
                      </a:endParaRPr>
                    </a:p>
                    <a:p>
                      <a:pPr indent="0" lvl="0" marL="0" marR="0" rtl="0" algn="l">
                        <a:spcBef>
                          <a:spcPts val="0"/>
                        </a:spcBef>
                        <a:spcAft>
                          <a:spcPts val="0"/>
                        </a:spcAft>
                        <a:buNone/>
                      </a:pPr>
                      <a:r>
                        <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3000">
                <a:tc>
                  <a:txBody>
                    <a:bodyPr/>
                    <a:lstStyle/>
                    <a:p>
                      <a:pPr indent="0" lvl="0" marL="0" marR="0" rtl="0" algn="l">
                        <a:lnSpc>
                          <a:spcPct val="115000"/>
                        </a:lnSpc>
                        <a:spcBef>
                          <a:spcPts val="0"/>
                        </a:spcBef>
                        <a:spcAft>
                          <a:spcPts val="0"/>
                        </a:spcAft>
                        <a:buNone/>
                      </a:pPr>
                      <a:r>
                        <a:rPr lang="en-US" sz="1200">
                          <a:latin typeface="Merriweather"/>
                          <a:ea typeface="Merriweather"/>
                          <a:cs typeface="Merriweather"/>
                          <a:sym typeface="Merriweather"/>
                        </a:rPr>
                        <a:t>Սեռերի հավասարության գործակիցը</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6025">
                <a:tc>
                  <a:txBody>
                    <a:bodyPr/>
                    <a:lstStyle/>
                    <a:p>
                      <a:pPr indent="0" lvl="0" marL="0" marR="0" rtl="0" algn="just">
                        <a:lnSpc>
                          <a:spcPct val="115000"/>
                        </a:lnSpc>
                        <a:spcBef>
                          <a:spcPts val="0"/>
                        </a:spcBef>
                        <a:spcAft>
                          <a:spcPts val="0"/>
                        </a:spcAft>
                        <a:buNone/>
                      </a:pPr>
                      <a:r>
                        <a:rPr lang="en-US" sz="1200">
                          <a:latin typeface="Merriweather"/>
                          <a:ea typeface="Merriweather"/>
                          <a:cs typeface="Merriweather"/>
                          <a:sym typeface="Merriweather"/>
                        </a:rPr>
                        <a:t>Աշակերտական խորհրդում սեռերի հավասարության գործակիցը</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9025">
                <a:tc>
                  <a:txBody>
                    <a:bodyPr/>
                    <a:lstStyle/>
                    <a:p>
                      <a:pPr indent="0" lvl="0" marL="0" marR="0" rtl="0" algn="l">
                        <a:lnSpc>
                          <a:spcPct val="115000"/>
                        </a:lnSpc>
                        <a:spcBef>
                          <a:spcPts val="0"/>
                        </a:spcBef>
                        <a:spcAft>
                          <a:spcPts val="0"/>
                        </a:spcAft>
                        <a:buNone/>
                      </a:pPr>
                      <a:r>
                        <a:rPr lang="en-US" sz="1200">
                          <a:latin typeface="Merriweather"/>
                          <a:ea typeface="Merriweather"/>
                          <a:cs typeface="Merriweather"/>
                          <a:sym typeface="Merriweather"/>
                        </a:rPr>
                        <a:t>Գերազանց տարեկան առաջադիմություն ունեցող տղաների թվի հարաբերությունը գերազանց տարեկան առաջադիմություն ունեցող աղջիկների թվին</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9025">
                <a:tc>
                  <a:txBody>
                    <a:bodyPr/>
                    <a:lstStyle/>
                    <a:p>
                      <a:pPr indent="0" lvl="0" marL="0" marR="0" rtl="0" algn="l">
                        <a:lnSpc>
                          <a:spcPct val="115000"/>
                        </a:lnSpc>
                        <a:spcBef>
                          <a:spcPts val="0"/>
                        </a:spcBef>
                        <a:spcAft>
                          <a:spcPts val="0"/>
                        </a:spcAft>
                        <a:buNone/>
                      </a:pPr>
                      <a:r>
                        <a:rPr lang="en-US" sz="1200">
                          <a:latin typeface="Merriweather"/>
                          <a:ea typeface="Merriweather"/>
                          <a:cs typeface="Merriweather"/>
                          <a:sym typeface="Merriweather"/>
                        </a:rPr>
                        <a:t>Տարեկան անբավարար գնահատական ունեցող տղաների թվի հարաբերությունը տարեկան անբավարար գնահատական ունեցող աղջիկների թվին</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a:t>
                      </a: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a:t>
                      </a: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            -</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9025">
                <a:tc>
                  <a:txBody>
                    <a:bodyPr/>
                    <a:lstStyle/>
                    <a:p>
                      <a:pPr indent="0" lvl="0" marL="0" marR="0" rtl="0" algn="l">
                        <a:lnSpc>
                          <a:spcPct val="115000"/>
                        </a:lnSpc>
                        <a:spcBef>
                          <a:spcPts val="0"/>
                        </a:spcBef>
                        <a:spcAft>
                          <a:spcPts val="0"/>
                        </a:spcAft>
                        <a:buNone/>
                      </a:pPr>
                      <a:r>
                        <a:rPr lang="en-US" sz="1200">
                          <a:latin typeface="Merriweather"/>
                          <a:ea typeface="Merriweather"/>
                          <a:cs typeface="Merriweather"/>
                          <a:sym typeface="Merriweather"/>
                        </a:rPr>
                        <a:t>Տղաների տարեկան միջին բացակայությունների թվի հարաբերությունը աղջիկների տարեկան միջին բացակայությունների թվին (ժամերով)</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1․4</a:t>
                      </a: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1.8</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              1․5</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9025">
                <a:tc>
                  <a:txBody>
                    <a:bodyPr/>
                    <a:lstStyle/>
                    <a:p>
                      <a:pPr indent="0" lvl="0" marL="0" marR="0" rtl="0" algn="l">
                        <a:lnSpc>
                          <a:spcPct val="115000"/>
                        </a:lnSpc>
                        <a:spcBef>
                          <a:spcPts val="0"/>
                        </a:spcBef>
                        <a:spcAft>
                          <a:spcPts val="0"/>
                        </a:spcAft>
                        <a:buNone/>
                      </a:pPr>
                      <a:r>
                        <a:rPr lang="en-US" sz="1200">
                          <a:latin typeface="Merriweather"/>
                          <a:ea typeface="Merriweather"/>
                          <a:cs typeface="Merriweather"/>
                          <a:sym typeface="Merriweather"/>
                        </a:rPr>
                        <a:t>«Մաթեմատիկա», «Ֆիզիկա», «Քիմիա»և«Կենսաբանություն»առարկաներից տղաների և աղջիկների տարեկան միջին առաջադիմությունը</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0,8</a:t>
                      </a: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1.5</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               1․8</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6025">
                <a:tc>
                  <a:txBody>
                    <a:bodyPr/>
                    <a:lstStyle/>
                    <a:p>
                      <a:pPr indent="0" lvl="0" marL="0" marR="0" rtl="0" algn="l">
                        <a:lnSpc>
                          <a:spcPct val="115000"/>
                        </a:lnSpc>
                        <a:spcBef>
                          <a:spcPts val="0"/>
                        </a:spcBef>
                        <a:spcAft>
                          <a:spcPts val="0"/>
                        </a:spcAft>
                        <a:buNone/>
                      </a:pPr>
                      <a:r>
                        <a:rPr lang="en-US" sz="1200">
                          <a:latin typeface="Merriweather"/>
                          <a:ea typeface="Merriweather"/>
                          <a:cs typeface="Merriweather"/>
                          <a:sym typeface="Merriweather"/>
                        </a:rPr>
                        <a:t>Հաստատությունում սովորող ազգային փոքրամասնությունների երեխաների թիվը և տոկոսը</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4,5%</a:t>
                      </a: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4.8%</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entury Gothic"/>
                        <a:buNone/>
                      </a:pPr>
                      <a:r>
                        <a:rPr lang="en-US" sz="1200"/>
                        <a:t>              </a:t>
                      </a:r>
                      <a:r>
                        <a:rPr lang="en-US" sz="1200">
                          <a:latin typeface="Merriweather"/>
                          <a:ea typeface="Merriweather"/>
                          <a:cs typeface="Merriweather"/>
                          <a:sym typeface="Merriweather"/>
                        </a:rPr>
                        <a:t>4.7%</a:t>
                      </a:r>
                      <a:endParaRPr/>
                    </a:p>
                    <a:p>
                      <a:pPr indent="0" lvl="0" marL="0" marR="0" rtl="0" algn="l">
                        <a:spcBef>
                          <a:spcPts val="0"/>
                        </a:spcBef>
                        <a:spcAft>
                          <a:spcPts val="0"/>
                        </a:spcAft>
                        <a:buNone/>
                      </a:pPr>
                      <a:r>
                        <a:rPr lang="en-US" sz="1200"/>
                        <a:t>  </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6025">
                <a:tc>
                  <a:txBody>
                    <a:bodyPr/>
                    <a:lstStyle/>
                    <a:p>
                      <a:pPr indent="0" lvl="0" marL="0" marR="0" rtl="0" algn="l">
                        <a:lnSpc>
                          <a:spcPct val="115000"/>
                        </a:lnSpc>
                        <a:spcBef>
                          <a:spcPts val="0"/>
                        </a:spcBef>
                        <a:spcAft>
                          <a:spcPts val="0"/>
                        </a:spcAft>
                        <a:buNone/>
                      </a:pPr>
                      <a:r>
                        <a:rPr lang="en-US" sz="1200">
                          <a:latin typeface="Merriweather"/>
                          <a:ea typeface="Merriweather"/>
                          <a:cs typeface="Merriweather"/>
                          <a:sym typeface="Merriweather"/>
                        </a:rPr>
                        <a:t>Աշ. խորհրդի անդամ ազգային փոքրամասնությունների երեխաների թիվը</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a:t>
                      </a: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a:t>
                      </a: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                3</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7425">
                <a:tc>
                  <a:txBody>
                    <a:bodyPr/>
                    <a:lstStyle/>
                    <a:p>
                      <a:pPr indent="0" lvl="0" marL="0" marR="0" rtl="0" algn="l">
                        <a:spcBef>
                          <a:spcPts val="0"/>
                        </a:spcBef>
                        <a:spcAft>
                          <a:spcPts val="0"/>
                        </a:spcAft>
                        <a:buNone/>
                      </a:pPr>
                      <a:r>
                        <a:rPr lang="en-US" sz="1200">
                          <a:latin typeface="Merriweather"/>
                          <a:ea typeface="Merriweather"/>
                          <a:cs typeface="Merriweather"/>
                          <a:sym typeface="Merriweather"/>
                        </a:rPr>
                        <a:t>Հաստատությունում սովորող ազգային փոքրամասնությունների երեխաների միջին տարեկան առաջադիմությունը</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7</a:t>
                      </a: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7</a:t>
                      </a: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Merriweather"/>
                        <a:buNone/>
                      </a:pPr>
                      <a:r>
                        <a:rPr lang="en-US" sz="1200">
                          <a:latin typeface="Merriweather"/>
                          <a:ea typeface="Merriweather"/>
                          <a:cs typeface="Merriweather"/>
                          <a:sym typeface="Merriweather"/>
                        </a:rPr>
                        <a:t>                 7</a:t>
                      </a:r>
                      <a:endParaRPr/>
                    </a:p>
                    <a:p>
                      <a:pPr indent="0" lvl="0" marL="0" marR="0" rtl="0" algn="l">
                        <a:spcBef>
                          <a:spcPts val="0"/>
                        </a:spcBef>
                        <a:spcAft>
                          <a:spcPts val="0"/>
                        </a:spcAft>
                        <a:buNone/>
                      </a:pPr>
                      <a:r>
                        <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3000">
                <a:tc>
                  <a:txBody>
                    <a:bodyPr/>
                    <a:lstStyle/>
                    <a:p>
                      <a:pPr indent="0" lvl="0" marL="0" marR="0" rtl="0" algn="l">
                        <a:lnSpc>
                          <a:spcPct val="115000"/>
                        </a:lnSpc>
                        <a:spcBef>
                          <a:spcPts val="0"/>
                        </a:spcBef>
                        <a:spcAft>
                          <a:spcPts val="0"/>
                        </a:spcAft>
                        <a:buNone/>
                      </a:pPr>
                      <a:r>
                        <a:rPr lang="en-US" sz="1200">
                          <a:latin typeface="Merriweather"/>
                          <a:ea typeface="Merriweather"/>
                          <a:cs typeface="Merriweather"/>
                          <a:sym typeface="Merriweather"/>
                        </a:rPr>
                        <a:t>Անվճար դասագրքեր ստացող սովորողների թիվը և տոկոսը</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8,5%</a:t>
                      </a: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a:latin typeface="Merriweather"/>
                          <a:ea typeface="Merriweather"/>
                          <a:cs typeface="Merriweather"/>
                          <a:sym typeface="Merriweather"/>
                        </a:rPr>
                        <a:t>9%</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entury Gothic"/>
                        <a:buNone/>
                      </a:pPr>
                      <a:r>
                        <a:rPr lang="en-US" sz="1200"/>
                        <a:t>             10</a:t>
                      </a:r>
                      <a:r>
                        <a:rPr lang="en-US" sz="1200">
                          <a:latin typeface="Merriweather"/>
                          <a:ea typeface="Merriweather"/>
                          <a:cs typeface="Merriweather"/>
                          <a:sym typeface="Merriweather"/>
                        </a:rPr>
                        <a:t>%</a:t>
                      </a:r>
                      <a:endParaRPr/>
                    </a:p>
                    <a:p>
                      <a:pPr indent="0" lvl="0" marL="0" marR="0" rtl="0" algn="l">
                        <a:spcBef>
                          <a:spcPts val="0"/>
                        </a:spcBef>
                        <a:spcAft>
                          <a:spcPts val="0"/>
                        </a:spcAft>
                        <a:buNone/>
                      </a:pPr>
                      <a:r>
                        <a:rPr lang="en-US" sz="1200"/>
                        <a:t>            </a:t>
                      </a:r>
                      <a:endParaRPr sz="1200"/>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3000">
                <a:tc>
                  <a:txBody>
                    <a:bodyPr/>
                    <a:lstStyle/>
                    <a:p>
                      <a:pPr indent="0" lvl="0" marL="0" marR="0" rtl="0" algn="l">
                        <a:lnSpc>
                          <a:spcPct val="115000"/>
                        </a:lnSpc>
                        <a:spcBef>
                          <a:spcPts val="0"/>
                        </a:spcBef>
                        <a:spcAft>
                          <a:spcPts val="0"/>
                        </a:spcAft>
                        <a:buNone/>
                      </a:pPr>
                      <a:r>
                        <a:rPr lang="en-US" sz="1200">
                          <a:latin typeface="Merriweather"/>
                          <a:ea typeface="Merriweather"/>
                          <a:cs typeface="Merriweather"/>
                          <a:sym typeface="Merriweather"/>
                        </a:rPr>
                        <a:t>Անվճար սնունդ ստացող սովորողների թիվը և տոկոսը</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9025">
                <a:tc>
                  <a:txBody>
                    <a:bodyPr/>
                    <a:lstStyle/>
                    <a:p>
                      <a:pPr indent="0" lvl="0" marL="0" marR="0" rtl="0" algn="l">
                        <a:lnSpc>
                          <a:spcPct val="115000"/>
                        </a:lnSpc>
                        <a:spcBef>
                          <a:spcPts val="0"/>
                        </a:spcBef>
                        <a:spcAft>
                          <a:spcPts val="0"/>
                        </a:spcAft>
                        <a:buNone/>
                      </a:pPr>
                      <a:r>
                        <a:rPr lang="en-US" sz="1200">
                          <a:latin typeface="Merriweather"/>
                          <a:ea typeface="Merriweather"/>
                          <a:cs typeface="Merriweather"/>
                          <a:sym typeface="Merriweather"/>
                        </a:rPr>
                        <a:t>Սոց. անապահով ընտանիքներից սովորողների համար հաստատության իրականացրած սոցիալական աջակցության ծրագրերի թիվը տվյալ ուստարում</a:t>
                      </a:r>
                      <a:endParaRPr sz="12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2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3000">
                <a:tc>
                  <a:txBody>
                    <a:bodyPr/>
                    <a:lstStyle/>
                    <a:p>
                      <a:pPr indent="0" lvl="0" marL="0" marR="0" rtl="0" algn="l">
                        <a:lnSpc>
                          <a:spcPct val="115000"/>
                        </a:lnSpc>
                        <a:spcBef>
                          <a:spcPts val="0"/>
                        </a:spcBef>
                        <a:spcAft>
                          <a:spcPts val="0"/>
                        </a:spcAft>
                        <a:buNone/>
                      </a:pPr>
                      <a:r>
                        <a:t/>
                      </a:r>
                      <a:endParaRPr sz="1000">
                        <a:latin typeface="Calibri"/>
                        <a:ea typeface="Calibri"/>
                        <a:cs typeface="Calibri"/>
                        <a:sym typeface="Calibri"/>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9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9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900">
                        <a:latin typeface="Merriweather"/>
                        <a:ea typeface="Merriweather"/>
                        <a:cs typeface="Merriweather"/>
                        <a:sym typeface="Merriweather"/>
                      </a:endParaRPr>
                    </a:p>
                  </a:txBody>
                  <a:tcPr marT="0" marB="0" marR="65100" marL="65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id="555" name="Google Shape;555;p70"/>
          <p:cNvPicPr preferRelativeResize="0"/>
          <p:nvPr/>
        </p:nvPicPr>
        <p:blipFill rotWithShape="1">
          <a:blip r:embed="rId3">
            <a:alphaModFix/>
          </a:blip>
          <a:srcRect b="0" l="33333" r="36563" t="53107"/>
          <a:stretch/>
        </p:blipFill>
        <p:spPr>
          <a:xfrm>
            <a:off x="4879020" y="1314180"/>
            <a:ext cx="2328866" cy="943980"/>
          </a:xfrm>
          <a:prstGeom prst="rect">
            <a:avLst/>
          </a:prstGeom>
          <a:noFill/>
          <a:ln>
            <a:noFill/>
          </a:ln>
        </p:spPr>
      </p:pic>
      <p:pic>
        <p:nvPicPr>
          <p:cNvPr id="556" name="Google Shape;556;p70"/>
          <p:cNvPicPr preferRelativeResize="0"/>
          <p:nvPr/>
        </p:nvPicPr>
        <p:blipFill rotWithShape="1">
          <a:blip r:embed="rId4">
            <a:alphaModFix/>
          </a:blip>
          <a:srcRect b="49390" l="0" r="0" t="0"/>
          <a:stretch/>
        </p:blipFill>
        <p:spPr>
          <a:xfrm>
            <a:off x="2660792" y="2976207"/>
            <a:ext cx="8731917" cy="94492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1"/>
          <p:cNvSpPr txBox="1"/>
          <p:nvPr/>
        </p:nvSpPr>
        <p:spPr>
          <a:xfrm>
            <a:off x="184150" y="58738"/>
            <a:ext cx="1125079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Merriweather"/>
                <a:ea typeface="Merriweather"/>
                <a:cs typeface="Merriweather"/>
                <a:sym typeface="Merriweather"/>
              </a:rPr>
              <a:t>Աղյուսակ 30. Տվյալներ հաստատության գործունեությանը սովորողների</a:t>
            </a:r>
            <a:endParaRPr b="1" i="1" sz="1800">
              <a:solidFill>
                <a:schemeClr val="dk1"/>
              </a:solidFill>
              <a:latin typeface="Merriweather"/>
              <a:ea typeface="Merriweather"/>
              <a:cs typeface="Merriweather"/>
              <a:sym typeface="Merriweather"/>
            </a:endParaRPr>
          </a:p>
          <a:p>
            <a:pPr indent="0" lvl="0" marL="0" marR="0" rtl="0" algn="l">
              <a:spcBef>
                <a:spcPts val="0"/>
              </a:spcBef>
              <a:spcAft>
                <a:spcPts val="0"/>
              </a:spcAft>
              <a:buNone/>
            </a:pPr>
            <a:r>
              <a:rPr b="1" i="1" lang="en-US" sz="1800">
                <a:solidFill>
                  <a:schemeClr val="dk1"/>
                </a:solidFill>
                <a:latin typeface="Merriweather"/>
                <a:ea typeface="Merriweather"/>
                <a:cs typeface="Merriweather"/>
                <a:sym typeface="Merriweather"/>
              </a:rPr>
              <a:t>                          մասնակցության վերաբերյալ</a:t>
            </a:r>
            <a:endParaRPr b="1" i="1" sz="1800">
              <a:solidFill>
                <a:srgbClr val="000000"/>
              </a:solidFill>
              <a:latin typeface="Merriweather"/>
              <a:ea typeface="Merriweather"/>
              <a:cs typeface="Merriweather"/>
              <a:sym typeface="Merriweather"/>
            </a:endParaRPr>
          </a:p>
          <a:p>
            <a:pPr indent="0" lvl="0" marL="0" marR="0" rtl="0" algn="l">
              <a:spcBef>
                <a:spcPts val="0"/>
              </a:spcBef>
              <a:spcAft>
                <a:spcPts val="0"/>
              </a:spcAft>
              <a:buNone/>
            </a:pPr>
            <a:r>
              <a:t/>
            </a:r>
            <a:endParaRPr b="1" i="1" sz="1800">
              <a:solidFill>
                <a:schemeClr val="dk1"/>
              </a:solidFill>
              <a:latin typeface="Merriweather"/>
              <a:ea typeface="Merriweather"/>
              <a:cs typeface="Merriweather"/>
              <a:sym typeface="Merriweather"/>
            </a:endParaRPr>
          </a:p>
        </p:txBody>
      </p:sp>
      <p:graphicFrame>
        <p:nvGraphicFramePr>
          <p:cNvPr id="563" name="Google Shape;563;p71"/>
          <p:cNvGraphicFramePr/>
          <p:nvPr/>
        </p:nvGraphicFramePr>
        <p:xfrm>
          <a:off x="310719" y="824108"/>
          <a:ext cx="3000000" cy="3000000"/>
        </p:xfrm>
        <a:graphic>
          <a:graphicData uri="http://schemas.openxmlformats.org/drawingml/2006/table">
            <a:tbl>
              <a:tblPr>
                <a:noFill/>
                <a:tableStyleId>{40B977D2-3903-41EF-8714-5AC59086702B}</a:tableStyleId>
              </a:tblPr>
              <a:tblGrid>
                <a:gridCol w="3520250"/>
                <a:gridCol w="1027825"/>
                <a:gridCol w="1319675"/>
                <a:gridCol w="523425"/>
                <a:gridCol w="1617875"/>
                <a:gridCol w="1674975"/>
                <a:gridCol w="1522700"/>
              </a:tblGrid>
              <a:tr h="318650">
                <a:tc gridSpan="4">
                  <a:txBody>
                    <a:bodyPr/>
                    <a:lstStyle/>
                    <a:p>
                      <a:pPr indent="0" lvl="0" marL="0" marR="0" rtl="0" algn="ctr">
                        <a:lnSpc>
                          <a:spcPct val="115000"/>
                        </a:lnSpc>
                        <a:spcBef>
                          <a:spcPts val="0"/>
                        </a:spcBef>
                        <a:spcAft>
                          <a:spcPts val="0"/>
                        </a:spcAft>
                        <a:buNone/>
                      </a:pPr>
                      <a:r>
                        <a:rPr lang="en-US" sz="1200"/>
                        <a:t>Ցուցանիշ </a:t>
                      </a:r>
                      <a:endParaRPr sz="1800"/>
                    </a:p>
                  </a:txBody>
                  <a:tcPr marT="0" marB="0" marR="0" marL="0" anchor="ctr"/>
                </a:tc>
                <a:tc hMerge="1"/>
                <a:tc hMerge="1"/>
                <a:tc hMerge="1"/>
                <a:tc>
                  <a:txBody>
                    <a:bodyPr/>
                    <a:lstStyle/>
                    <a:p>
                      <a:pPr indent="0" lvl="0" marL="0" marR="0" rtl="0" algn="ctr">
                        <a:lnSpc>
                          <a:spcPct val="115000"/>
                        </a:lnSpc>
                        <a:spcBef>
                          <a:spcPts val="0"/>
                        </a:spcBef>
                        <a:spcAft>
                          <a:spcPts val="0"/>
                        </a:spcAft>
                        <a:buNone/>
                      </a:pPr>
                      <a:r>
                        <a:rPr lang="en-US" sz="1200"/>
                        <a:t>2023-2024ուստարի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200"/>
                        <a:t>2024-2025ուստարի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200"/>
                        <a:t>2025-2026ուստարի </a:t>
                      </a:r>
                      <a:endParaRPr sz="1800"/>
                    </a:p>
                  </a:txBody>
                  <a:tcPr marT="0" marB="0" marR="0" marL="0" anchor="ctr"/>
                </a:tc>
              </a:tr>
              <a:tr h="76825">
                <a:tc gridSpan="4">
                  <a:txBody>
                    <a:bodyPr/>
                    <a:lstStyle/>
                    <a:p>
                      <a:pPr indent="0" lvl="0" marL="0" marR="0" rtl="0" algn="l">
                        <a:lnSpc>
                          <a:spcPct val="115000"/>
                        </a:lnSpc>
                        <a:spcBef>
                          <a:spcPts val="0"/>
                        </a:spcBef>
                        <a:spcAft>
                          <a:spcPts val="0"/>
                        </a:spcAft>
                        <a:buNone/>
                      </a:pPr>
                      <a:r>
                        <a:rPr lang="en-US" sz="1200"/>
                        <a:t>Դեպքերի թիվը, երբ սովորողները մասնակցություն են ունեցել իրենց վերաբերող խնդրահարույց հարցերի շուրջ տնօրինության կողմից որոշումների կայացմանը </a:t>
                      </a:r>
                      <a:endParaRPr sz="1800"/>
                    </a:p>
                  </a:txBody>
                  <a:tcPr marT="0" marB="0" marR="0" marL="0" anchor="ctr"/>
                </a:tc>
                <a:tc hMerge="1"/>
                <a:tc hMerge="1"/>
                <a:tc hMerge="1"/>
                <a:tc>
                  <a:txBody>
                    <a:bodyPr/>
                    <a:lstStyle/>
                    <a:p>
                      <a:pPr indent="0" lvl="0" marL="0" marR="0" rtl="0" algn="ctr">
                        <a:spcBef>
                          <a:spcPts val="0"/>
                        </a:spcBef>
                        <a:spcAft>
                          <a:spcPts val="0"/>
                        </a:spcAft>
                        <a:buNone/>
                      </a:pPr>
                      <a:r>
                        <a:rPr lang="en-US" sz="1200"/>
                        <a:t>3</a:t>
                      </a:r>
                      <a:endParaRPr sz="1200"/>
                    </a:p>
                  </a:txBody>
                  <a:tcPr marT="0" marB="0" marR="0" marL="0" anchor="ctr"/>
                </a:tc>
                <a:tc>
                  <a:txBody>
                    <a:bodyPr/>
                    <a:lstStyle/>
                    <a:p>
                      <a:pPr indent="0" lvl="0" marL="0" marR="0" rtl="0" algn="ctr">
                        <a:spcBef>
                          <a:spcPts val="0"/>
                        </a:spcBef>
                        <a:spcAft>
                          <a:spcPts val="0"/>
                        </a:spcAft>
                        <a:buNone/>
                      </a:pPr>
                      <a:r>
                        <a:rPr lang="en-US" sz="1200"/>
                        <a:t>25</a:t>
                      </a:r>
                      <a:endParaRPr sz="1200"/>
                    </a:p>
                  </a:txBody>
                  <a:tcPr marT="0" marB="0" marR="0" marL="0" anchor="ctr"/>
                </a:tc>
                <a:tc>
                  <a:txBody>
                    <a:bodyPr/>
                    <a:lstStyle/>
                    <a:p>
                      <a:pPr indent="0" lvl="0" marL="0" marR="0" rtl="0" algn="ctr">
                        <a:spcBef>
                          <a:spcPts val="0"/>
                        </a:spcBef>
                        <a:spcAft>
                          <a:spcPts val="0"/>
                        </a:spcAft>
                        <a:buNone/>
                      </a:pPr>
                      <a:r>
                        <a:rPr lang="en-US" sz="1200"/>
                        <a:t>23</a:t>
                      </a:r>
                      <a:endParaRPr sz="1200"/>
                    </a:p>
                  </a:txBody>
                  <a:tcPr marT="0" marB="0" marR="0" marL="0" anchor="ctr"/>
                </a:tc>
              </a:tr>
              <a:tr h="39875">
                <a:tc gridSpan="4">
                  <a:txBody>
                    <a:bodyPr/>
                    <a:lstStyle/>
                    <a:p>
                      <a:pPr indent="0" lvl="0" marL="0" marR="0" rtl="0" algn="l">
                        <a:lnSpc>
                          <a:spcPct val="115000"/>
                        </a:lnSpc>
                        <a:spcBef>
                          <a:spcPts val="0"/>
                        </a:spcBef>
                        <a:spcAft>
                          <a:spcPts val="0"/>
                        </a:spcAft>
                        <a:buNone/>
                      </a:pPr>
                      <a:r>
                        <a:rPr lang="en-US" sz="1200"/>
                        <a:t>Սովորողների կողմից առաջարկված նոր նախաձեռնությունների թիվը </a:t>
                      </a:r>
                      <a:endParaRPr sz="1800"/>
                    </a:p>
                  </a:txBody>
                  <a:tcPr marT="0" marB="0" marR="0" marL="0" anchor="ctr"/>
                </a:tc>
                <a:tc hMerge="1"/>
                <a:tc hMerge="1"/>
                <a:tc hMerge="1"/>
                <a:tc>
                  <a:txBody>
                    <a:bodyPr/>
                    <a:lstStyle/>
                    <a:p>
                      <a:pPr indent="0" lvl="0" marL="0" marR="0" rtl="0" algn="ctr">
                        <a:spcBef>
                          <a:spcPts val="0"/>
                        </a:spcBef>
                        <a:spcAft>
                          <a:spcPts val="0"/>
                        </a:spcAft>
                        <a:buNone/>
                      </a:pPr>
                      <a:r>
                        <a:rPr lang="en-US" sz="1200"/>
                        <a:t>15</a:t>
                      </a:r>
                      <a:endParaRPr sz="1200"/>
                    </a:p>
                  </a:txBody>
                  <a:tcPr marT="0" marB="0" marR="0" marL="0" anchor="ctr"/>
                </a:tc>
                <a:tc>
                  <a:txBody>
                    <a:bodyPr/>
                    <a:lstStyle/>
                    <a:p>
                      <a:pPr indent="0" lvl="0" marL="0" marR="0" rtl="0" algn="ctr">
                        <a:spcBef>
                          <a:spcPts val="0"/>
                        </a:spcBef>
                        <a:spcAft>
                          <a:spcPts val="0"/>
                        </a:spcAft>
                        <a:buNone/>
                      </a:pPr>
                      <a:r>
                        <a:rPr lang="en-US" sz="1200"/>
                        <a:t>18</a:t>
                      </a:r>
                      <a:endParaRPr sz="1200"/>
                    </a:p>
                  </a:txBody>
                  <a:tcPr marT="0" marB="0" marR="0" marL="0" anchor="ctr"/>
                </a:tc>
                <a:tc>
                  <a:txBody>
                    <a:bodyPr/>
                    <a:lstStyle/>
                    <a:p>
                      <a:pPr indent="0" lvl="0" marL="0" marR="0" rtl="0" algn="ctr">
                        <a:spcBef>
                          <a:spcPts val="0"/>
                        </a:spcBef>
                        <a:spcAft>
                          <a:spcPts val="0"/>
                        </a:spcAft>
                        <a:buNone/>
                      </a:pPr>
                      <a:r>
                        <a:rPr lang="en-US" sz="1200"/>
                        <a:t>20</a:t>
                      </a:r>
                      <a:endParaRPr sz="1200"/>
                    </a:p>
                  </a:txBody>
                  <a:tcPr marT="0" marB="0" marR="0" marL="0" anchor="ctr"/>
                </a:tc>
              </a:tr>
              <a:tr h="39875">
                <a:tc gridSpan="4">
                  <a:txBody>
                    <a:bodyPr/>
                    <a:lstStyle/>
                    <a:p>
                      <a:pPr indent="0" lvl="0" marL="0" marR="0" rtl="0" algn="l">
                        <a:lnSpc>
                          <a:spcPct val="115000"/>
                        </a:lnSpc>
                        <a:spcBef>
                          <a:spcPts val="0"/>
                        </a:spcBef>
                        <a:spcAft>
                          <a:spcPts val="0"/>
                        </a:spcAft>
                        <a:buNone/>
                      </a:pPr>
                      <a:r>
                        <a:rPr lang="en-US" sz="1200"/>
                        <a:t>Սովորողների կողմից կազմակերպած միջոցառումների թիվը </a:t>
                      </a:r>
                      <a:endParaRPr sz="1800"/>
                    </a:p>
                  </a:txBody>
                  <a:tcPr marT="0" marB="0" marR="0" marL="0" anchor="ctr"/>
                </a:tc>
                <a:tc hMerge="1"/>
                <a:tc hMerge="1"/>
                <a:tc hMerge="1"/>
                <a:tc>
                  <a:txBody>
                    <a:bodyPr/>
                    <a:lstStyle/>
                    <a:p>
                      <a:pPr indent="0" lvl="0" marL="0" marR="0" rtl="0" algn="ctr">
                        <a:spcBef>
                          <a:spcPts val="0"/>
                        </a:spcBef>
                        <a:spcAft>
                          <a:spcPts val="0"/>
                        </a:spcAft>
                        <a:buNone/>
                      </a:pPr>
                      <a:r>
                        <a:rPr lang="en-US" sz="1200"/>
                        <a:t>8</a:t>
                      </a:r>
                      <a:endParaRPr sz="1200"/>
                    </a:p>
                  </a:txBody>
                  <a:tcPr marT="0" marB="0" marR="0" marL="0" anchor="ctr"/>
                </a:tc>
                <a:tc>
                  <a:txBody>
                    <a:bodyPr/>
                    <a:lstStyle/>
                    <a:p>
                      <a:pPr indent="0" lvl="0" marL="0" marR="0" rtl="0" algn="ctr">
                        <a:spcBef>
                          <a:spcPts val="0"/>
                        </a:spcBef>
                        <a:spcAft>
                          <a:spcPts val="0"/>
                        </a:spcAft>
                        <a:buNone/>
                      </a:pPr>
                      <a:r>
                        <a:rPr lang="en-US" sz="1200"/>
                        <a:t>20</a:t>
                      </a:r>
                      <a:endParaRPr sz="1200"/>
                    </a:p>
                  </a:txBody>
                  <a:tcPr marT="0" marB="0" marR="0" marL="0" anchor="ctr"/>
                </a:tc>
                <a:tc>
                  <a:txBody>
                    <a:bodyPr/>
                    <a:lstStyle/>
                    <a:p>
                      <a:pPr indent="0" lvl="0" marL="0" marR="0" rtl="0" algn="ctr">
                        <a:spcBef>
                          <a:spcPts val="0"/>
                        </a:spcBef>
                        <a:spcAft>
                          <a:spcPts val="0"/>
                        </a:spcAft>
                        <a:buNone/>
                      </a:pPr>
                      <a:r>
                        <a:rPr lang="en-US" sz="1200"/>
                        <a:t>15</a:t>
                      </a:r>
                      <a:endParaRPr sz="1200"/>
                    </a:p>
                  </a:txBody>
                  <a:tcPr marT="0" marB="0" marR="0" marL="0" anchor="ctr"/>
                </a:tc>
              </a:tr>
              <a:tr h="59700">
                <a:tc gridSpan="4">
                  <a:txBody>
                    <a:bodyPr/>
                    <a:lstStyle/>
                    <a:p>
                      <a:pPr indent="0" lvl="0" marL="0" marR="0" rtl="0" algn="l">
                        <a:lnSpc>
                          <a:spcPct val="115000"/>
                        </a:lnSpc>
                        <a:spcBef>
                          <a:spcPts val="0"/>
                        </a:spcBef>
                        <a:spcAft>
                          <a:spcPts val="0"/>
                        </a:spcAft>
                        <a:buNone/>
                      </a:pPr>
                      <a:r>
                        <a:rPr lang="en-US" sz="1200"/>
                        <a:t>Իրենց հուզող հարցերի վերաբերյալ սովորողների կողմից կազմակերպված համաժողովների, սեմինարների, կլոր-սեղանների, քննարկումների թիվը </a:t>
                      </a:r>
                      <a:endParaRPr sz="1800"/>
                    </a:p>
                  </a:txBody>
                  <a:tcPr marT="0" marB="0" marR="0" marL="0" anchor="ctr"/>
                </a:tc>
                <a:tc hMerge="1"/>
                <a:tc hMerge="1"/>
                <a:tc hMerge="1"/>
                <a:tc>
                  <a:txBody>
                    <a:bodyPr/>
                    <a:lstStyle/>
                    <a:p>
                      <a:pPr indent="0" lvl="0" marL="0" marR="0" rtl="0" algn="ctr">
                        <a:spcBef>
                          <a:spcPts val="0"/>
                        </a:spcBef>
                        <a:spcAft>
                          <a:spcPts val="0"/>
                        </a:spcAft>
                        <a:buNone/>
                      </a:pPr>
                      <a:r>
                        <a:rPr lang="en-US" sz="1200"/>
                        <a:t>6</a:t>
                      </a:r>
                      <a:endParaRPr sz="1200"/>
                    </a:p>
                  </a:txBody>
                  <a:tcPr marT="0" marB="0" marR="0" marL="0" anchor="ctr"/>
                </a:tc>
                <a:tc>
                  <a:txBody>
                    <a:bodyPr/>
                    <a:lstStyle/>
                    <a:p>
                      <a:pPr indent="0" lvl="0" marL="0" marR="0" rtl="0" algn="ctr">
                        <a:spcBef>
                          <a:spcPts val="0"/>
                        </a:spcBef>
                        <a:spcAft>
                          <a:spcPts val="0"/>
                        </a:spcAft>
                        <a:buNone/>
                      </a:pPr>
                      <a:r>
                        <a:rPr lang="en-US" sz="1200"/>
                        <a:t>10</a:t>
                      </a:r>
                      <a:endParaRPr sz="1200"/>
                    </a:p>
                  </a:txBody>
                  <a:tcPr marT="0" marB="0" marR="0" marL="0" anchor="ctr"/>
                </a:tc>
                <a:tc>
                  <a:txBody>
                    <a:bodyPr/>
                    <a:lstStyle/>
                    <a:p>
                      <a:pPr indent="0" lvl="0" marL="0" marR="0" rtl="0" algn="ctr">
                        <a:spcBef>
                          <a:spcPts val="0"/>
                        </a:spcBef>
                        <a:spcAft>
                          <a:spcPts val="0"/>
                        </a:spcAft>
                        <a:buNone/>
                      </a:pPr>
                      <a:r>
                        <a:rPr lang="en-US" sz="1200"/>
                        <a:t>13</a:t>
                      </a:r>
                      <a:endParaRPr sz="1200"/>
                    </a:p>
                  </a:txBody>
                  <a:tcPr marT="0" marB="0" marR="0" marL="0" anchor="ctr"/>
                </a:tc>
              </a:tr>
              <a:tr h="39875">
                <a:tc gridSpan="7">
                  <a:txBody>
                    <a:bodyPr/>
                    <a:lstStyle/>
                    <a:p>
                      <a:pPr indent="0" lvl="0" marL="0" marR="0" rtl="0" algn="l">
                        <a:lnSpc>
                          <a:spcPct val="115000"/>
                        </a:lnSpc>
                        <a:spcBef>
                          <a:spcPts val="0"/>
                        </a:spcBef>
                        <a:spcAft>
                          <a:spcPts val="0"/>
                        </a:spcAft>
                        <a:buNone/>
                      </a:pPr>
                      <a:r>
                        <a:rPr lang="en-US" sz="1200"/>
                        <a:t>Նկարագրել, թե ինչպես է տնօրինությունը խթանում է սովորողների նախաձեռնությունները, օժանդակում դրանց իրագործմանը </a:t>
                      </a:r>
                      <a:endParaRPr sz="1800"/>
                    </a:p>
                  </a:txBody>
                  <a:tcPr marT="0" marB="0" marR="0" marL="0" anchor="ctr"/>
                </a:tc>
                <a:tc hMerge="1"/>
                <a:tc hMerge="1"/>
                <a:tc hMerge="1"/>
                <a:tc hMerge="1"/>
                <a:tc hMerge="1"/>
                <a:tc hMerge="1"/>
              </a:tr>
              <a:tr h="138950">
                <a:tc gridSpan="7">
                  <a:txBody>
                    <a:bodyPr/>
                    <a:lstStyle/>
                    <a:p>
                      <a:pPr indent="0" lvl="0" marL="0" marR="0" rtl="0" algn="l">
                        <a:lnSpc>
                          <a:spcPct val="115000"/>
                        </a:lnSpc>
                        <a:spcBef>
                          <a:spcPts val="0"/>
                        </a:spcBef>
                        <a:spcAft>
                          <a:spcPts val="0"/>
                        </a:spcAft>
                        <a:buNone/>
                      </a:pPr>
                      <a:r>
                        <a:rPr lang="en-US" sz="1200"/>
                        <a:t>Տրամադրում է անհրաժեշտ պայմաններ, միջոցներ, համակարգիչ-ինտերնետ և այլն: </a:t>
                      </a:r>
                      <a:endParaRPr sz="1800"/>
                    </a:p>
                    <a:p>
                      <a:pPr indent="0" lvl="0" marL="0" marR="0" rtl="0" algn="l">
                        <a:lnSpc>
                          <a:spcPct val="115000"/>
                        </a:lnSpc>
                        <a:spcBef>
                          <a:spcPts val="1000"/>
                        </a:spcBef>
                        <a:spcAft>
                          <a:spcPts val="0"/>
                        </a:spcAft>
                        <a:buNone/>
                      </a:pPr>
                      <a:r>
                        <a:rPr lang="en-US" sz="1200"/>
                        <a:t>Աջակցում է նախաձեռնությունների իրագործմանը: </a:t>
                      </a:r>
                      <a:endParaRPr sz="1800"/>
                    </a:p>
                  </a:txBody>
                  <a:tcPr marT="0" marB="0" marR="0" marL="0" anchor="ctr"/>
                </a:tc>
                <a:tc hMerge="1"/>
                <a:tc hMerge="1"/>
                <a:tc hMerge="1"/>
                <a:tc hMerge="1"/>
                <a:tc hMerge="1"/>
                <a:tc hMerge="1"/>
              </a:tr>
              <a:tr h="59700">
                <a:tc gridSpan="7">
                  <a:txBody>
                    <a:bodyPr/>
                    <a:lstStyle/>
                    <a:p>
                      <a:pPr indent="0" lvl="0" marL="0" marR="0" rtl="0" algn="l">
                        <a:lnSpc>
                          <a:spcPct val="115000"/>
                        </a:lnSpc>
                        <a:spcBef>
                          <a:spcPts val="0"/>
                        </a:spcBef>
                        <a:spcAft>
                          <a:spcPts val="0"/>
                        </a:spcAft>
                        <a:buNone/>
                      </a:pPr>
                      <a:r>
                        <a:rPr lang="en-US" sz="1200"/>
                        <a:t>Սովորողների մասնակցությունը իրենց վերաբերող խնդրահարույց հարցերի շուրջ տնօրինության կողմից ընդունած որոշումներին և դրանց կայացմանը մասնակցություն ունեցած սովորողների տոկոսը </a:t>
                      </a:r>
                      <a:endParaRPr sz="1800"/>
                    </a:p>
                  </a:txBody>
                  <a:tcPr marT="0" marB="0" marR="0" marL="0" anchor="ctr"/>
                </a:tc>
                <a:tc hMerge="1"/>
                <a:tc hMerge="1"/>
                <a:tc hMerge="1"/>
                <a:tc hMerge="1"/>
                <a:tc hMerge="1"/>
                <a:tc hMerge="1"/>
              </a:tr>
              <a:tr h="119500">
                <a:tc>
                  <a:txBody>
                    <a:bodyPr/>
                    <a:lstStyle/>
                    <a:p>
                      <a:pPr indent="0" lvl="0" marL="0" marR="0" rtl="0" algn="l">
                        <a:lnSpc>
                          <a:spcPct val="115000"/>
                        </a:lnSpc>
                        <a:spcBef>
                          <a:spcPts val="0"/>
                        </a:spcBef>
                        <a:spcAft>
                          <a:spcPts val="0"/>
                        </a:spcAft>
                        <a:buNone/>
                      </a:pPr>
                      <a:r>
                        <a:rPr lang="en-US" sz="1200"/>
                        <a:t>Նկարագրել վերջին 3 տարում քննարկված խնդրահարույց հարցերը և ընդունված որոշումները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Ամսաթիվ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Մասնակից սովորողների տոկոսը՝ սովորողների ընդհանուր թվի նկատմամբ </a:t>
                      </a:r>
                      <a:endParaRPr sz="1800"/>
                    </a:p>
                  </a:txBody>
                  <a:tcPr marT="0" marB="0" marR="0" marL="0" anchor="ctr"/>
                </a:tc>
                <a:tc gridSpan="4">
                  <a:txBody>
                    <a:bodyPr/>
                    <a:lstStyle/>
                    <a:p>
                      <a:pPr indent="0" lvl="0" marL="0" marR="0" rtl="0" algn="ctr">
                        <a:lnSpc>
                          <a:spcPct val="115000"/>
                        </a:lnSpc>
                        <a:spcBef>
                          <a:spcPts val="0"/>
                        </a:spcBef>
                        <a:spcAft>
                          <a:spcPts val="0"/>
                        </a:spcAft>
                        <a:buNone/>
                      </a:pPr>
                      <a:r>
                        <a:rPr lang="en-US" sz="1600">
                          <a:solidFill>
                            <a:schemeClr val="dk1"/>
                          </a:solidFill>
                        </a:rPr>
                        <a:t>Մեկնաբանություն</a:t>
                      </a:r>
                      <a:endParaRPr sz="1600">
                        <a:solidFill>
                          <a:schemeClr val="dk1"/>
                        </a:solidFill>
                      </a:endParaRPr>
                    </a:p>
                  </a:txBody>
                  <a:tcPr marT="0" marB="0" marR="0" marL="0" anchor="ctr"/>
                </a:tc>
                <a:tc hMerge="1"/>
                <a:tc hMerge="1"/>
                <a:tc hMerge="1"/>
              </a:tr>
              <a:tr h="258825">
                <a:tc>
                  <a:txBody>
                    <a:bodyPr/>
                    <a:lstStyle/>
                    <a:p>
                      <a:pPr indent="-54610" lvl="0" marL="54610" marR="0" rtl="0" algn="l">
                        <a:lnSpc>
                          <a:spcPct val="115000"/>
                        </a:lnSpc>
                        <a:spcBef>
                          <a:spcPts val="0"/>
                        </a:spcBef>
                        <a:spcAft>
                          <a:spcPts val="0"/>
                        </a:spcAft>
                        <a:buNone/>
                      </a:pPr>
                      <a:r>
                        <a:rPr lang="en-US" sz="1200"/>
                        <a:t>1.Հաստատության ներքին կարգապահական կանոնների հաստատում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10.09.2025թ.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              92 % </a:t>
                      </a:r>
                      <a:endParaRPr sz="1800"/>
                    </a:p>
                  </a:txBody>
                  <a:tcPr marT="0" marB="0" marR="0" marL="0" anchor="ctr"/>
                </a:tc>
                <a:tc gridSpan="4">
                  <a:txBody>
                    <a:bodyPr/>
                    <a:lstStyle/>
                    <a:p>
                      <a:pPr indent="0" lvl="0" marL="0" marR="0" rtl="0" algn="l">
                        <a:lnSpc>
                          <a:spcPct val="115000"/>
                        </a:lnSpc>
                        <a:spcBef>
                          <a:spcPts val="0"/>
                        </a:spcBef>
                        <a:spcAft>
                          <a:spcPts val="0"/>
                        </a:spcAft>
                        <a:buNone/>
                      </a:pPr>
                      <a:r>
                        <a:rPr lang="en-US" sz="1200"/>
                        <a:t>Աշակերտները հանդես են եկել առաջարկություններով, որոնց մի մասը հաշվի է առնվել հաստատության ներքին կարգապահական կանոնները հաստատելիս: </a:t>
                      </a:r>
                      <a:endParaRPr sz="1800"/>
                    </a:p>
                  </a:txBody>
                  <a:tcPr marT="0" marB="0" marR="0" marL="0" anchor="ctr"/>
                </a:tc>
                <a:tc hMerge="1"/>
                <a:tc hMerge="1"/>
                <a:tc hMerge="1"/>
              </a:tr>
              <a:tr h="358400">
                <a:tc>
                  <a:txBody>
                    <a:bodyPr/>
                    <a:lstStyle/>
                    <a:p>
                      <a:pPr indent="-54610" lvl="0" marL="54610" marR="0" rtl="0" algn="l">
                        <a:lnSpc>
                          <a:spcPct val="115000"/>
                        </a:lnSpc>
                        <a:spcBef>
                          <a:spcPts val="0"/>
                        </a:spcBef>
                        <a:spcAft>
                          <a:spcPts val="0"/>
                        </a:spcAft>
                        <a:buNone/>
                      </a:pPr>
                      <a:r>
                        <a:rPr lang="en-US" sz="1200"/>
                        <a:t>2. «Աշակերտական կերպար»-ի քննարկում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21.10.2025թ.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200"/>
                        <a:t>      90% </a:t>
                      </a:r>
                      <a:endParaRPr sz="1800"/>
                    </a:p>
                  </a:txBody>
                  <a:tcPr marT="0" marB="0" marR="0" marL="0" anchor="ctr"/>
                </a:tc>
                <a:tc gridSpan="4">
                  <a:txBody>
                    <a:bodyPr/>
                    <a:lstStyle/>
                    <a:p>
                      <a:pPr indent="0" lvl="0" marL="0" marR="0" rtl="0" algn="l">
                        <a:lnSpc>
                          <a:spcPct val="115000"/>
                        </a:lnSpc>
                        <a:spcBef>
                          <a:spcPts val="0"/>
                        </a:spcBef>
                        <a:spcAft>
                          <a:spcPts val="0"/>
                        </a:spcAft>
                        <a:buNone/>
                      </a:pPr>
                      <a:r>
                        <a:rPr lang="en-US" sz="1200"/>
                        <a:t>Աշակերտները հանդես են եկել առաջարկություններով և քննարկման արդյունքում որոշել են չընտրել միասնական համազգեստ, այլ կրել սպիտակ վերնաշապիկներ և սև տաբատ ու կիսաշրջազգեստ: </a:t>
                      </a:r>
                      <a:endParaRPr sz="1800"/>
                    </a:p>
                  </a:txBody>
                  <a:tcPr marT="0" marB="0" marR="0" marL="0" anchor="ctr"/>
                </a:tc>
                <a:tc hMerge="1"/>
                <a:tc hMerge="1"/>
                <a:tc hMerge="1"/>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graphicFrame>
        <p:nvGraphicFramePr>
          <p:cNvPr id="569" name="Google Shape;569;p72"/>
          <p:cNvGraphicFramePr/>
          <p:nvPr/>
        </p:nvGraphicFramePr>
        <p:xfrm>
          <a:off x="470517" y="67226"/>
          <a:ext cx="3000000" cy="3000000"/>
        </p:xfrm>
        <a:graphic>
          <a:graphicData uri="http://schemas.openxmlformats.org/drawingml/2006/table">
            <a:tbl>
              <a:tblPr>
                <a:noFill/>
                <a:tableStyleId>{40B977D2-3903-41EF-8714-5AC59086702B}</a:tableStyleId>
              </a:tblPr>
              <a:tblGrid>
                <a:gridCol w="4129550"/>
                <a:gridCol w="1619025"/>
                <a:gridCol w="2838425"/>
                <a:gridCol w="2527850"/>
              </a:tblGrid>
              <a:tr h="436950">
                <a:tc gridSpan="4">
                  <a:txBody>
                    <a:bodyPr/>
                    <a:lstStyle/>
                    <a:p>
                      <a:pPr indent="0" lvl="0" marL="0" marR="0" rtl="0" algn="l">
                        <a:lnSpc>
                          <a:spcPct val="114999"/>
                        </a:lnSpc>
                        <a:spcBef>
                          <a:spcPts val="0"/>
                        </a:spcBef>
                        <a:spcAft>
                          <a:spcPts val="0"/>
                        </a:spcAft>
                        <a:buNone/>
                      </a:pPr>
                      <a:r>
                        <a:rPr b="1" lang="en-US" sz="1050"/>
                        <a:t>Սովորողների կողմից առաջարկված նոր նախաձեռնությունները և նախաձեռնություններին մասնակցություն ունեցած սովորողների տոկոսը</a:t>
                      </a:r>
                      <a:r>
                        <a:rPr lang="en-US" sz="1050"/>
                        <a:t> </a:t>
                      </a:r>
                      <a:endParaRPr/>
                    </a:p>
                  </a:txBody>
                  <a:tcPr marT="0" marB="0" marR="0" marL="0" anchor="ctr"/>
                </a:tc>
                <a:tc hMerge="1"/>
                <a:tc hMerge="1"/>
                <a:tc hMerge="1"/>
              </a:tr>
              <a:tr h="370275">
                <a:tc>
                  <a:txBody>
                    <a:bodyPr/>
                    <a:lstStyle/>
                    <a:p>
                      <a:pPr indent="0" lvl="0" marL="17780" marR="0" rtl="0" algn="l">
                        <a:lnSpc>
                          <a:spcPct val="115000"/>
                        </a:lnSpc>
                        <a:spcBef>
                          <a:spcPts val="0"/>
                        </a:spcBef>
                        <a:spcAft>
                          <a:spcPts val="0"/>
                        </a:spcAft>
                        <a:buNone/>
                      </a:pPr>
                      <a:r>
                        <a:rPr lang="en-US" sz="800"/>
                        <a:t>Նկարագրել վերջին 3 տարում սովորողների կողմից առաջարկված նոր նախաձեռնությունները </a:t>
                      </a:r>
                      <a:endParaRPr/>
                    </a:p>
                  </a:txBody>
                  <a:tcPr marT="0" marB="0" marR="0" marL="0" anchor="ctr"/>
                </a:tc>
                <a:tc>
                  <a:txBody>
                    <a:bodyPr/>
                    <a:lstStyle/>
                    <a:p>
                      <a:pPr indent="0" lvl="0" marL="0" marR="0" rtl="0" algn="l">
                        <a:lnSpc>
                          <a:spcPct val="115000"/>
                        </a:lnSpc>
                        <a:spcBef>
                          <a:spcPts val="0"/>
                        </a:spcBef>
                        <a:spcAft>
                          <a:spcPts val="0"/>
                        </a:spcAft>
                        <a:buNone/>
                      </a:pPr>
                      <a:r>
                        <a:rPr lang="en-US" sz="800"/>
                        <a:t> Ամսաթիվ </a:t>
                      </a:r>
                      <a:endParaRPr/>
                    </a:p>
                  </a:txBody>
                  <a:tcPr marT="0" marB="0" marR="0" marL="0" anchor="ctr"/>
                </a:tc>
                <a:tc>
                  <a:txBody>
                    <a:bodyPr/>
                    <a:lstStyle/>
                    <a:p>
                      <a:pPr indent="0" lvl="0" marL="0" marR="0" rtl="0" algn="l">
                        <a:lnSpc>
                          <a:spcPct val="115000"/>
                        </a:lnSpc>
                        <a:spcBef>
                          <a:spcPts val="0"/>
                        </a:spcBef>
                        <a:spcAft>
                          <a:spcPts val="0"/>
                        </a:spcAft>
                        <a:buNone/>
                      </a:pPr>
                      <a:r>
                        <a:rPr lang="en-US" sz="800"/>
                        <a:t>Մասնակից սովորողների տոկոսը՝ սովորողների ընդհանուր թվի նկատմամբ </a:t>
                      </a:r>
                      <a:endParaRPr/>
                    </a:p>
                  </a:txBody>
                  <a:tcPr marT="0" marB="0" marR="0" marL="0" anchor="ctr"/>
                </a:tc>
                <a:tc>
                  <a:txBody>
                    <a:bodyPr/>
                    <a:lstStyle/>
                    <a:p>
                      <a:pPr indent="0" lvl="0" marL="0" marR="0" rtl="0" algn="l">
                        <a:lnSpc>
                          <a:spcPct val="115000"/>
                        </a:lnSpc>
                        <a:spcBef>
                          <a:spcPts val="0"/>
                        </a:spcBef>
                        <a:spcAft>
                          <a:spcPts val="0"/>
                        </a:spcAft>
                        <a:buNone/>
                      </a:pPr>
                      <a:r>
                        <a:rPr lang="en-US" sz="800"/>
                        <a:t>Մեկնաբանություն </a:t>
                      </a:r>
                      <a:endParaRPr/>
                    </a:p>
                  </a:txBody>
                  <a:tcPr marT="0" marB="0" marR="0" marL="0" anchor="ctr"/>
                </a:tc>
              </a:tr>
              <a:tr h="186425">
                <a:tc>
                  <a:txBody>
                    <a:bodyPr/>
                    <a:lstStyle/>
                    <a:p>
                      <a:pPr indent="0" lvl="0" marL="0" marR="0" rtl="0" algn="l">
                        <a:lnSpc>
                          <a:spcPct val="135000"/>
                        </a:lnSpc>
                        <a:spcBef>
                          <a:spcPts val="0"/>
                        </a:spcBef>
                        <a:spcAft>
                          <a:spcPts val="0"/>
                        </a:spcAft>
                        <a:buNone/>
                      </a:pPr>
                      <a:r>
                        <a:rPr lang="en-US" sz="800"/>
                        <a:t>1. ՀՀ անկախությանը նվիրված միջոցառում: </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սեպտեմբեր </a:t>
                      </a:r>
                      <a:endParaRPr sz="800"/>
                    </a:p>
                  </a:txBody>
                  <a:tcPr marT="0" marB="0" marR="0" marL="0" anchor="ctr"/>
                </a:tc>
                <a:tc>
                  <a:txBody>
                    <a:bodyPr/>
                    <a:lstStyle/>
                    <a:p>
                      <a:pPr indent="0" lvl="0" marL="0" marR="0" rtl="0" algn="ctr">
                        <a:lnSpc>
                          <a:spcPct val="135000"/>
                        </a:lnSpc>
                        <a:spcBef>
                          <a:spcPts val="0"/>
                        </a:spcBef>
                        <a:spcAft>
                          <a:spcPts val="0"/>
                        </a:spcAft>
                        <a:buNone/>
                      </a:pPr>
                      <a:r>
                        <a:rPr lang="en-US" sz="800"/>
                        <a:t>25% </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Համադպրոցական</a:t>
                      </a:r>
                      <a:endParaRPr sz="800"/>
                    </a:p>
                  </a:txBody>
                  <a:tcPr marT="0" marB="0" marR="0" marL="0" anchor="ctr"/>
                </a:tc>
              </a:tr>
              <a:tr h="358950">
                <a:tc>
                  <a:txBody>
                    <a:bodyPr/>
                    <a:lstStyle/>
                    <a:p>
                      <a:pPr indent="0" lvl="0" marL="0" marR="0" rtl="0" algn="l">
                        <a:lnSpc>
                          <a:spcPct val="135000"/>
                        </a:lnSpc>
                        <a:spcBef>
                          <a:spcPts val="0"/>
                        </a:spcBef>
                        <a:spcAft>
                          <a:spcPts val="0"/>
                        </a:spcAft>
                        <a:buNone/>
                      </a:pPr>
                      <a:r>
                        <a:rPr lang="en-US" sz="800"/>
                        <a:t>2. Ամենամյա միջոցառում`Ուսուցչի օրվան նվիրված շնորհավորական բացիկների պատրաստում: </a:t>
                      </a:r>
                      <a:endParaRPr/>
                    </a:p>
                  </a:txBody>
                  <a:tcPr marT="0" marB="0" marR="0" marL="0" anchor="ctr"/>
                </a:tc>
                <a:tc>
                  <a:txBody>
                    <a:bodyPr/>
                    <a:lstStyle/>
                    <a:p>
                      <a:pPr indent="0" lvl="0" marL="0" marR="0" rtl="0" algn="l">
                        <a:lnSpc>
                          <a:spcPct val="135000"/>
                        </a:lnSpc>
                        <a:spcBef>
                          <a:spcPts val="0"/>
                        </a:spcBef>
                        <a:spcAft>
                          <a:spcPts val="0"/>
                        </a:spcAft>
                        <a:buNone/>
                      </a:pPr>
                      <a:r>
                        <a:rPr lang="en-US" sz="800"/>
                        <a:t>ամենամյա </a:t>
                      </a:r>
                      <a:endParaRPr/>
                    </a:p>
                  </a:txBody>
                  <a:tcPr marT="0" marB="0" marR="0" marL="0" anchor="ctr"/>
                </a:tc>
                <a:tc>
                  <a:txBody>
                    <a:bodyPr/>
                    <a:lstStyle/>
                    <a:p>
                      <a:pPr indent="0" lvl="0" marL="0" marR="0" rtl="0" algn="ctr">
                        <a:lnSpc>
                          <a:spcPct val="135000"/>
                        </a:lnSpc>
                        <a:spcBef>
                          <a:spcPts val="0"/>
                        </a:spcBef>
                        <a:spcAft>
                          <a:spcPts val="0"/>
                        </a:spcAft>
                        <a:buNone/>
                      </a:pPr>
                      <a:r>
                        <a:rPr lang="en-US" sz="800"/>
                        <a:t>80 % </a:t>
                      </a:r>
                      <a:endParaRPr/>
                    </a:p>
                  </a:txBody>
                  <a:tcPr marT="0" marB="0" marR="0" marL="0" anchor="ctr"/>
                </a:tc>
                <a:tc>
                  <a:txBody>
                    <a:bodyPr/>
                    <a:lstStyle/>
                    <a:p>
                      <a:pPr indent="0" lvl="0" marL="0" marR="0" rtl="0" algn="l">
                        <a:lnSpc>
                          <a:spcPct val="135000"/>
                        </a:lnSpc>
                        <a:spcBef>
                          <a:spcPts val="0"/>
                        </a:spcBef>
                        <a:spcAft>
                          <a:spcPts val="0"/>
                        </a:spcAft>
                        <a:buNone/>
                      </a:pPr>
                      <a:r>
                        <a:rPr lang="en-US" sz="800"/>
                        <a:t>Պատրաստել և նվիրել են բացիկներ ուսուցիչներին: </a:t>
                      </a:r>
                      <a:endParaRPr/>
                    </a:p>
                  </a:txBody>
                  <a:tcPr marT="0" marB="0" marR="0" marL="0" anchor="ctr"/>
                </a:tc>
              </a:tr>
              <a:tr h="241950">
                <a:tc>
                  <a:txBody>
                    <a:bodyPr/>
                    <a:lstStyle/>
                    <a:p>
                      <a:pPr indent="0" lvl="0" marL="0" marR="0" rtl="0" algn="l">
                        <a:spcBef>
                          <a:spcPts val="0"/>
                        </a:spcBef>
                        <a:spcAft>
                          <a:spcPts val="0"/>
                        </a:spcAft>
                        <a:buNone/>
                      </a:pPr>
                      <a:r>
                        <a:rPr lang="en-US" sz="800"/>
                        <a:t>3. Մասնակցություն «Պարենի համաշխարհային օրվան» նվիրված միջոցառմանը</a:t>
                      </a:r>
                      <a:endParaRPr sz="800"/>
                    </a:p>
                  </a:txBody>
                  <a:tcPr marT="0" marB="0" marR="0" marL="0" anchor="ctr"/>
                </a:tc>
                <a:tc>
                  <a:txBody>
                    <a:bodyPr/>
                    <a:lstStyle/>
                    <a:p>
                      <a:pPr indent="0" lvl="0" marL="0" marR="0" rtl="0" algn="l">
                        <a:lnSpc>
                          <a:spcPct val="100000"/>
                        </a:lnSpc>
                        <a:spcBef>
                          <a:spcPts val="0"/>
                        </a:spcBef>
                        <a:spcAft>
                          <a:spcPts val="0"/>
                        </a:spcAft>
                        <a:buClr>
                          <a:schemeClr val="dk1"/>
                        </a:buClr>
                        <a:buSzPts val="800"/>
                        <a:buFont typeface="Century Gothic"/>
                        <a:buNone/>
                      </a:pPr>
                      <a:r>
                        <a:rPr lang="en-US" sz="800"/>
                        <a:t>հոկտեմբեր </a:t>
                      </a:r>
                      <a:endParaRPr/>
                    </a:p>
                    <a:p>
                      <a:pPr indent="0" lvl="0" marL="0" marR="0" rtl="0" algn="l">
                        <a:spcBef>
                          <a:spcPts val="0"/>
                        </a:spcBef>
                        <a:spcAft>
                          <a:spcPts val="0"/>
                        </a:spcAft>
                        <a:buNone/>
                      </a:pPr>
                      <a:r>
                        <a:t/>
                      </a:r>
                      <a:endParaRPr sz="800"/>
                    </a:p>
                  </a:txBody>
                  <a:tcPr marT="0" marB="0" marR="0" marL="0" anchor="ctr"/>
                </a:tc>
                <a:tc>
                  <a:txBody>
                    <a:bodyPr/>
                    <a:lstStyle/>
                    <a:p>
                      <a:pPr indent="0" lvl="0" marL="0" marR="0" rtl="0" algn="ctr">
                        <a:lnSpc>
                          <a:spcPct val="135000"/>
                        </a:lnSpc>
                        <a:spcBef>
                          <a:spcPts val="0"/>
                        </a:spcBef>
                        <a:spcAft>
                          <a:spcPts val="0"/>
                        </a:spcAft>
                        <a:buClr>
                          <a:schemeClr val="dk1"/>
                        </a:buClr>
                        <a:buSzPts val="800"/>
                        <a:buFont typeface="Century Gothic"/>
                        <a:buNone/>
                      </a:pPr>
                      <a:r>
                        <a:t/>
                      </a:r>
                      <a:endParaRPr b="0" i="0" sz="800" u="none" cap="none" strike="noStrike">
                        <a:solidFill>
                          <a:srgbClr val="000000"/>
                        </a:solidFill>
                      </a:endParaRPr>
                    </a:p>
                    <a:p>
                      <a:pPr indent="0" lvl="0" marL="0" marR="0" rtl="0" algn="ctr">
                        <a:lnSpc>
                          <a:spcPct val="135000"/>
                        </a:lnSpc>
                        <a:spcBef>
                          <a:spcPts val="1000"/>
                        </a:spcBef>
                        <a:spcAft>
                          <a:spcPts val="0"/>
                        </a:spcAft>
                        <a:buClr>
                          <a:srgbClr val="000000"/>
                        </a:buClr>
                        <a:buSzPts val="800"/>
                        <a:buFont typeface="Century Gothic"/>
                        <a:buNone/>
                      </a:pPr>
                      <a:r>
                        <a:rPr b="0" i="0" lang="en-US" sz="800" u="none" cap="none" strike="noStrike">
                          <a:solidFill>
                            <a:srgbClr val="000000"/>
                          </a:solidFill>
                        </a:rPr>
                        <a:t>25 </a:t>
                      </a:r>
                      <a:r>
                        <a:rPr b="0" i="0" lang="en-US" sz="800" u="none" cap="none" strike="noStrike">
                          <a:solidFill>
                            <a:srgbClr val="000000"/>
                          </a:solidFill>
                          <a:latin typeface="Century Gothic"/>
                          <a:ea typeface="Century Gothic"/>
                          <a:cs typeface="Century Gothic"/>
                          <a:sym typeface="Century Gothic"/>
                        </a:rPr>
                        <a:t>% </a:t>
                      </a:r>
                      <a:endParaRPr/>
                    </a:p>
                  </a:txBody>
                  <a:tcPr marT="0" marB="0" marR="0" marL="0" anchor="ctr"/>
                </a:tc>
                <a:tc>
                  <a:txBody>
                    <a:bodyPr/>
                    <a:lstStyle/>
                    <a:p>
                      <a:pPr indent="0" lvl="0" marL="0" marR="0" rtl="0" algn="l">
                        <a:spcBef>
                          <a:spcPts val="0"/>
                        </a:spcBef>
                        <a:spcAft>
                          <a:spcPts val="0"/>
                        </a:spcAft>
                        <a:buNone/>
                      </a:pPr>
                      <a:r>
                        <a:rPr lang="en-US" sz="800"/>
                        <a:t>Համադպրոցական</a:t>
                      </a:r>
                      <a:endParaRPr sz="800"/>
                    </a:p>
                  </a:txBody>
                  <a:tcPr marT="0" marB="0" marR="0" marL="0" anchor="ctr"/>
                </a:tc>
              </a:tr>
              <a:tr h="594800">
                <a:tc>
                  <a:txBody>
                    <a:bodyPr/>
                    <a:lstStyle/>
                    <a:p>
                      <a:pPr indent="0" lvl="0" marL="0" marR="0" rtl="0" algn="l">
                        <a:lnSpc>
                          <a:spcPct val="100000"/>
                        </a:lnSpc>
                        <a:spcBef>
                          <a:spcPts val="0"/>
                        </a:spcBef>
                        <a:spcAft>
                          <a:spcPts val="0"/>
                        </a:spcAft>
                        <a:buClr>
                          <a:schemeClr val="dk1"/>
                        </a:buClr>
                        <a:buSzPts val="800"/>
                        <a:buFont typeface="Century Gothic"/>
                        <a:buNone/>
                      </a:pPr>
                      <a:r>
                        <a:rPr lang="en-US" sz="800"/>
                        <a:t>4․ </a:t>
                      </a:r>
                      <a:r>
                        <a:rPr lang="en-US" sz="800"/>
                        <a:t>Կենտրոն վարչական շրջանի կողմից «Ղեկավարի գավաթ» ֆուտբոլային մրցաշարին մասնակցություն</a:t>
                      </a:r>
                      <a:endParaRPr sz="800"/>
                    </a:p>
                  </a:txBody>
                  <a:tcPr marT="0" marB="0" marR="0" marL="0" anchor="ctr"/>
                </a:tc>
                <a:tc>
                  <a:txBody>
                    <a:bodyPr/>
                    <a:lstStyle/>
                    <a:p>
                      <a:pPr indent="0" lvl="0" marL="0" marR="0" rtl="0" algn="l">
                        <a:lnSpc>
                          <a:spcPct val="100000"/>
                        </a:lnSpc>
                        <a:spcBef>
                          <a:spcPts val="0"/>
                        </a:spcBef>
                        <a:spcAft>
                          <a:spcPts val="0"/>
                        </a:spcAft>
                        <a:buClr>
                          <a:schemeClr val="dk1"/>
                        </a:buClr>
                        <a:buSzPts val="800"/>
                        <a:buFont typeface="Century Gothic"/>
                        <a:buNone/>
                      </a:pPr>
                      <a:r>
                        <a:rPr lang="en-US" sz="800"/>
                        <a:t> հոկտեմբեր </a:t>
                      </a:r>
                      <a:endParaRPr/>
                    </a:p>
                    <a:p>
                      <a:pPr indent="0" lvl="0" marL="0" marR="0" rtl="0" algn="l">
                        <a:spcBef>
                          <a:spcPts val="0"/>
                        </a:spcBef>
                        <a:spcAft>
                          <a:spcPts val="0"/>
                        </a:spcAft>
                        <a:buNone/>
                      </a:pPr>
                      <a:r>
                        <a:t/>
                      </a:r>
                      <a:endParaRPr sz="800"/>
                    </a:p>
                  </a:txBody>
                  <a:tcPr marT="0" marB="0" marR="0" marL="0" anchor="ctr"/>
                </a:tc>
                <a:tc>
                  <a:txBody>
                    <a:bodyPr/>
                    <a:lstStyle/>
                    <a:p>
                      <a:pPr indent="0" lvl="0" marL="0" marR="0" rtl="0" algn="ctr">
                        <a:lnSpc>
                          <a:spcPct val="100000"/>
                        </a:lnSpc>
                        <a:spcBef>
                          <a:spcPts val="0"/>
                        </a:spcBef>
                        <a:spcAft>
                          <a:spcPts val="0"/>
                        </a:spcAft>
                        <a:buClr>
                          <a:schemeClr val="dk1"/>
                        </a:buClr>
                        <a:buSzPts val="800"/>
                        <a:buFont typeface="Century Gothic"/>
                        <a:buNone/>
                      </a:pPr>
                      <a:r>
                        <a:rPr lang="en-US" sz="800"/>
                        <a:t>25 % </a:t>
                      </a:r>
                      <a:endParaRPr/>
                    </a:p>
                    <a:p>
                      <a:pPr indent="0" lvl="0" marL="0" marR="0" rtl="0" algn="l">
                        <a:spcBef>
                          <a:spcPts val="0"/>
                        </a:spcBef>
                        <a:spcAft>
                          <a:spcPts val="0"/>
                        </a:spcAft>
                        <a:buNone/>
                      </a:pPr>
                      <a:r>
                        <a:t/>
                      </a:r>
                      <a:endParaRPr sz="800"/>
                    </a:p>
                  </a:txBody>
                  <a:tcPr marT="0" marB="0" marR="0" marL="0" anchor="ctr"/>
                </a:tc>
                <a:tc>
                  <a:txBody>
                    <a:bodyPr/>
                    <a:lstStyle/>
                    <a:p>
                      <a:pPr indent="0" lvl="0" marL="0" marR="0" rtl="0" algn="l">
                        <a:lnSpc>
                          <a:spcPct val="100000"/>
                        </a:lnSpc>
                        <a:spcBef>
                          <a:spcPts val="0"/>
                        </a:spcBef>
                        <a:spcAft>
                          <a:spcPts val="0"/>
                        </a:spcAft>
                        <a:buClr>
                          <a:schemeClr val="dk1"/>
                        </a:buClr>
                        <a:buSzPts val="800"/>
                        <a:buFont typeface="Century Gothic"/>
                        <a:buNone/>
                      </a:pPr>
                      <a:r>
                        <a:rPr lang="en-US" sz="800"/>
                        <a:t>Համադպրոցական</a:t>
                      </a:r>
                      <a:endParaRPr/>
                    </a:p>
                    <a:p>
                      <a:pPr indent="0" lvl="0" marL="0" marR="0" rtl="0" algn="l">
                        <a:spcBef>
                          <a:spcPts val="0"/>
                        </a:spcBef>
                        <a:spcAft>
                          <a:spcPts val="0"/>
                        </a:spcAft>
                        <a:buNone/>
                      </a:pPr>
                      <a:r>
                        <a:t/>
                      </a:r>
                      <a:endParaRPr sz="800"/>
                    </a:p>
                  </a:txBody>
                  <a:tcPr marT="0" marB="0" marR="0" marL="0" anchor="ctr"/>
                </a:tc>
              </a:tr>
              <a:tr h="488275">
                <a:tc>
                  <a:txBody>
                    <a:bodyPr/>
                    <a:lstStyle/>
                    <a:p>
                      <a:pPr indent="0" lvl="0" marL="0" marR="0" rtl="0" algn="l">
                        <a:lnSpc>
                          <a:spcPct val="100000"/>
                        </a:lnSpc>
                        <a:spcBef>
                          <a:spcPts val="0"/>
                        </a:spcBef>
                        <a:spcAft>
                          <a:spcPts val="0"/>
                        </a:spcAft>
                        <a:buClr>
                          <a:schemeClr val="dk1"/>
                        </a:buClr>
                        <a:buSzPts val="800"/>
                        <a:buFont typeface="Century Gothic"/>
                        <a:buNone/>
                      </a:pPr>
                      <a:r>
                        <a:rPr lang="en-US" sz="800"/>
                        <a:t>5.Մասնակցություն “Իմ ձայնը՝ հանուն ապահով և անվտանգ դպրոցի» աշակերտական համաժողովին</a:t>
                      </a:r>
                      <a:endParaRPr/>
                    </a:p>
                  </a:txBody>
                  <a:tcPr marT="0" marB="0" marR="0" marL="0" anchor="ctr"/>
                </a:tc>
                <a:tc>
                  <a:txBody>
                    <a:bodyPr/>
                    <a:lstStyle/>
                    <a:p>
                      <a:pPr indent="0" lvl="0" marL="0" marR="0" rtl="0" algn="l">
                        <a:spcBef>
                          <a:spcPts val="0"/>
                        </a:spcBef>
                        <a:spcAft>
                          <a:spcPts val="0"/>
                        </a:spcAft>
                        <a:buNone/>
                      </a:pPr>
                      <a:r>
                        <a:rPr lang="en-US" sz="800"/>
                        <a:t>Նոյեմբեր </a:t>
                      </a:r>
                      <a:endParaRPr sz="800"/>
                    </a:p>
                  </a:txBody>
                  <a:tcPr marT="0" marB="0" marR="0" marL="0" anchor="ctr"/>
                </a:tc>
                <a:tc>
                  <a:txBody>
                    <a:bodyPr/>
                    <a:lstStyle/>
                    <a:p>
                      <a:pPr indent="0" lvl="0" marL="0" marR="0" rtl="0" algn="ctr">
                        <a:spcBef>
                          <a:spcPts val="0"/>
                        </a:spcBef>
                        <a:spcAft>
                          <a:spcPts val="0"/>
                        </a:spcAft>
                        <a:buNone/>
                      </a:pPr>
                      <a:r>
                        <a:rPr lang="en-US" sz="800"/>
                        <a:t>12% </a:t>
                      </a:r>
                      <a:endParaRPr sz="800"/>
                    </a:p>
                  </a:txBody>
                  <a:tcPr marT="0" marB="0" marR="0" marL="0" anchor="ctr"/>
                </a:tc>
                <a:tc>
                  <a:txBody>
                    <a:bodyPr/>
                    <a:lstStyle/>
                    <a:p>
                      <a:pPr indent="0" lvl="0" marL="0" marR="0" rtl="0" algn="l">
                        <a:lnSpc>
                          <a:spcPct val="100000"/>
                        </a:lnSpc>
                        <a:spcBef>
                          <a:spcPts val="0"/>
                        </a:spcBef>
                        <a:spcAft>
                          <a:spcPts val="0"/>
                        </a:spcAft>
                        <a:buClr>
                          <a:schemeClr val="dk1"/>
                        </a:buClr>
                        <a:buSzPts val="800"/>
                        <a:buFont typeface="Century Gothic"/>
                        <a:buNone/>
                      </a:pPr>
                      <a:r>
                        <a:rPr lang="en-US" sz="800"/>
                        <a:t>Համադպրոցական</a:t>
                      </a:r>
                      <a:endParaRPr/>
                    </a:p>
                    <a:p>
                      <a:pPr indent="0" lvl="0" marL="0" marR="0" rtl="0" algn="l">
                        <a:spcBef>
                          <a:spcPts val="0"/>
                        </a:spcBef>
                        <a:spcAft>
                          <a:spcPts val="0"/>
                        </a:spcAft>
                        <a:buNone/>
                      </a:pPr>
                      <a:r>
                        <a:t/>
                      </a:r>
                      <a:endParaRPr sz="800"/>
                    </a:p>
                  </a:txBody>
                  <a:tcPr marT="0" marB="0" marR="0" marL="0" anchor="ctr"/>
                </a:tc>
              </a:tr>
              <a:tr h="319600">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t>6․Երեխայի իրավունքների իրազեկման վերաբերյալ պաստառների  պատրաստման գործընթաց:</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դեկտեմբեր</a:t>
                      </a:r>
                      <a:endParaRPr sz="800"/>
                    </a:p>
                  </a:txBody>
                  <a:tcPr marT="0" marB="0" marR="0" marL="0" anchor="ctr"/>
                </a:tc>
                <a:tc>
                  <a:txBody>
                    <a:bodyPr/>
                    <a:lstStyle/>
                    <a:p>
                      <a:pPr indent="0" lvl="0" marL="0" marR="0" rtl="0" algn="ctr">
                        <a:lnSpc>
                          <a:spcPct val="135000"/>
                        </a:lnSpc>
                        <a:spcBef>
                          <a:spcPts val="0"/>
                        </a:spcBef>
                        <a:spcAft>
                          <a:spcPts val="0"/>
                        </a:spcAft>
                        <a:buNone/>
                      </a:pPr>
                      <a:r>
                        <a:rPr lang="en-US" sz="800"/>
                        <a:t>50% </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Համադպրոցական</a:t>
                      </a:r>
                      <a:endParaRPr sz="800"/>
                    </a:p>
                  </a:txBody>
                  <a:tcPr marT="0" marB="0" marR="0" marL="0" anchor="ctr"/>
                </a:tc>
              </a:tr>
              <a:tr h="346225">
                <a:tc>
                  <a:txBody>
                    <a:bodyPr/>
                    <a:lstStyle/>
                    <a:p>
                      <a:pPr indent="0" lvl="0" marL="0" marR="0" rtl="0" algn="l">
                        <a:lnSpc>
                          <a:spcPct val="135000"/>
                        </a:lnSpc>
                        <a:spcBef>
                          <a:spcPts val="0"/>
                        </a:spcBef>
                        <a:spcAft>
                          <a:spcPts val="0"/>
                        </a:spcAft>
                        <a:buNone/>
                      </a:pPr>
                      <a:r>
                        <a:rPr lang="en-US" sz="800"/>
                        <a:t>7. Ամանորյա  համադպրոցական   </a:t>
                      </a:r>
                      <a:r>
                        <a:rPr lang="en-US" sz="800"/>
                        <a:t> միջոցառում</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 ամենամյա</a:t>
                      </a:r>
                      <a:endParaRPr sz="800"/>
                    </a:p>
                  </a:txBody>
                  <a:tcPr marT="0" marB="0" marR="0" marL="0" anchor="ctr"/>
                </a:tc>
                <a:tc>
                  <a:txBody>
                    <a:bodyPr/>
                    <a:lstStyle/>
                    <a:p>
                      <a:pPr indent="0" lvl="0" marL="0" marR="0" rtl="0" algn="ctr">
                        <a:lnSpc>
                          <a:spcPct val="135000"/>
                        </a:lnSpc>
                        <a:spcBef>
                          <a:spcPts val="0"/>
                        </a:spcBef>
                        <a:spcAft>
                          <a:spcPts val="0"/>
                        </a:spcAft>
                        <a:buClr>
                          <a:schemeClr val="dk1"/>
                        </a:buClr>
                        <a:buSzPts val="800"/>
                        <a:buFont typeface="Century Gothic"/>
                        <a:buNone/>
                      </a:pPr>
                      <a:r>
                        <a:rPr lang="en-US" sz="800"/>
                        <a:t>100% </a:t>
                      </a:r>
                      <a:endParaRPr/>
                    </a:p>
                  </a:txBody>
                  <a:tcPr marT="0" marB="0" marR="0" marL="0" anchor="ctr"/>
                </a:tc>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t> Համադպրոցական</a:t>
                      </a:r>
                      <a:endParaRPr/>
                    </a:p>
                  </a:txBody>
                  <a:tcPr marT="0" marB="0" marR="0" marL="0" anchor="ctr"/>
                </a:tc>
              </a:tr>
              <a:tr h="566400">
                <a:tc>
                  <a:txBody>
                    <a:bodyPr/>
                    <a:lstStyle/>
                    <a:p>
                      <a:pPr indent="0" lvl="0" marL="0" marR="0" rtl="0" algn="l">
                        <a:lnSpc>
                          <a:spcPct val="135000"/>
                        </a:lnSpc>
                        <a:spcBef>
                          <a:spcPts val="0"/>
                        </a:spcBef>
                        <a:spcAft>
                          <a:spcPts val="0"/>
                        </a:spcAft>
                        <a:buNone/>
                      </a:pPr>
                      <a:r>
                        <a:rPr lang="en-US" sz="800"/>
                        <a:t>8. </a:t>
                      </a:r>
                      <a:r>
                        <a:rPr lang="en-US" sz="800">
                          <a:latin typeface="Merriweather"/>
                          <a:ea typeface="Merriweather"/>
                          <a:cs typeface="Merriweather"/>
                          <a:sym typeface="Merriweather"/>
                        </a:rPr>
                        <a:t>Մշակութային տարվա շրջանակներում կազմակերպված «Տեառնընդառաջ»-ի տոնակատարություն: Համագործակցություն Երևանի Ա.Մարգարյանի անվան թիվ 29 , Խ.Դաշտենցի անվան թիվ 114 և </a:t>
                      </a:r>
                      <a:r>
                        <a:rPr lang="en-US" sz="800">
                          <a:latin typeface="Calibri"/>
                          <a:ea typeface="Calibri"/>
                          <a:cs typeface="Calibri"/>
                          <a:sym typeface="Calibri"/>
                        </a:rPr>
                        <a:t>Բենիամին ժամկոչյանի անվան վարժարանի հետ</a:t>
                      </a:r>
                      <a:r>
                        <a:rPr lang="en-US" sz="800">
                          <a:latin typeface="Merriweather"/>
                          <a:ea typeface="Merriweather"/>
                          <a:cs typeface="Merriweather"/>
                          <a:sym typeface="Merriweather"/>
                        </a:rPr>
                        <a:t>   դպրոցների հետ</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14.02. 2026 թ. </a:t>
                      </a:r>
                      <a:endParaRPr/>
                    </a:p>
                  </a:txBody>
                  <a:tcPr marT="0" marB="0" marR="0" marL="0" anchor="ctr"/>
                </a:tc>
                <a:tc>
                  <a:txBody>
                    <a:bodyPr/>
                    <a:lstStyle/>
                    <a:p>
                      <a:pPr indent="0" lvl="0" marL="0" marR="0" rtl="0" algn="ctr">
                        <a:lnSpc>
                          <a:spcPct val="135000"/>
                        </a:lnSpc>
                        <a:spcBef>
                          <a:spcPts val="0"/>
                        </a:spcBef>
                        <a:spcAft>
                          <a:spcPts val="0"/>
                        </a:spcAft>
                        <a:buNone/>
                      </a:pPr>
                      <a:r>
                        <a:rPr lang="en-US" sz="800"/>
                        <a:t>100 % </a:t>
                      </a:r>
                      <a:endParaRPr sz="800"/>
                    </a:p>
                  </a:txBody>
                  <a:tcPr marT="0" marB="0" marR="0" marL="0" anchor="ctr"/>
                </a:tc>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solidFill>
                            <a:schemeClr val="dk1"/>
                          </a:solidFill>
                          <a:latin typeface="Century Gothic"/>
                          <a:ea typeface="Century Gothic"/>
                          <a:cs typeface="Century Gothic"/>
                          <a:sym typeface="Century Gothic"/>
                        </a:rPr>
                        <a:t>Համադպրոցական</a:t>
                      </a:r>
                      <a:endParaRPr/>
                    </a:p>
                  </a:txBody>
                  <a:tcPr marT="0" marB="0" marR="0" marL="0" anchor="ctr"/>
                </a:tc>
              </a:tr>
              <a:tr h="420200">
                <a:tc>
                  <a:txBody>
                    <a:bodyPr/>
                    <a:lstStyle/>
                    <a:p>
                      <a:pPr indent="0" lvl="0" marL="0" marR="0" rtl="0" algn="l">
                        <a:lnSpc>
                          <a:spcPct val="135000"/>
                        </a:lnSpc>
                        <a:spcBef>
                          <a:spcPts val="0"/>
                        </a:spcBef>
                        <a:spcAft>
                          <a:spcPts val="0"/>
                        </a:spcAft>
                        <a:buNone/>
                      </a:pPr>
                      <a:r>
                        <a:rPr lang="en-US" sz="800"/>
                        <a:t>9․ «Թումանյանական օրեր»։ Գրքի տոնի և Մայրենիի տոնի խորհուրդը. աշակերտների նախաձեռնությամբ գրքերի նվիրատվություն դպրոցի գրադարանին</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12-23․02․2026թ․</a:t>
                      </a:r>
                      <a:endParaRPr sz="800"/>
                    </a:p>
                  </a:txBody>
                  <a:tcPr marT="0" marB="0" marR="0" marL="0" anchor="ctr"/>
                </a:tc>
                <a:tc>
                  <a:txBody>
                    <a:bodyPr/>
                    <a:lstStyle/>
                    <a:p>
                      <a:pPr indent="0" lvl="0" marL="0" marR="0" rtl="0" algn="ctr">
                        <a:lnSpc>
                          <a:spcPct val="135000"/>
                        </a:lnSpc>
                        <a:spcBef>
                          <a:spcPts val="0"/>
                        </a:spcBef>
                        <a:spcAft>
                          <a:spcPts val="0"/>
                        </a:spcAft>
                        <a:buClr>
                          <a:schemeClr val="dk1"/>
                        </a:buClr>
                        <a:buSzPts val="800"/>
                        <a:buFont typeface="Century Gothic"/>
                        <a:buNone/>
                      </a:pPr>
                      <a:r>
                        <a:rPr lang="en-US" sz="800"/>
                        <a:t>83 % </a:t>
                      </a:r>
                      <a:endParaRPr/>
                    </a:p>
                  </a:txBody>
                  <a:tcPr marT="0" marB="0" marR="0" marL="0" anchor="ctr"/>
                </a:tc>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solidFill>
                            <a:schemeClr val="dk1"/>
                          </a:solidFill>
                          <a:latin typeface="Century Gothic"/>
                          <a:ea typeface="Century Gothic"/>
                          <a:cs typeface="Century Gothic"/>
                          <a:sym typeface="Century Gothic"/>
                        </a:rPr>
                        <a:t>Համադպրոցական</a:t>
                      </a:r>
                      <a:endParaRPr/>
                    </a:p>
                  </a:txBody>
                  <a:tcPr marT="0" marB="0" marR="0" marL="0" anchor="ctr"/>
                </a:tc>
              </a:tr>
              <a:tr h="420200">
                <a:tc>
                  <a:txBody>
                    <a:bodyPr/>
                    <a:lstStyle/>
                    <a:p>
                      <a:pPr indent="0" lvl="0" marL="0" marR="0" rtl="0" algn="l">
                        <a:lnSpc>
                          <a:spcPct val="135000"/>
                        </a:lnSpc>
                        <a:spcBef>
                          <a:spcPts val="0"/>
                        </a:spcBef>
                        <a:spcAft>
                          <a:spcPts val="0"/>
                        </a:spcAft>
                        <a:buNone/>
                      </a:pPr>
                      <a:r>
                        <a:rPr lang="en-US" sz="800"/>
                        <a:t>10.«Շևչենկովյան օրեր» համադպրոցական միջոցառում (նկարների ցուցադրություն, թեմատիկ դասեր, միջոցառում, այց գրողի հուշարձանին)</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07-11․03․2026թ․</a:t>
                      </a:r>
                      <a:endParaRPr sz="800"/>
                    </a:p>
                  </a:txBody>
                  <a:tcPr marT="0" marB="0" marR="0" marL="0" anchor="ctr"/>
                </a:tc>
                <a:tc>
                  <a:txBody>
                    <a:bodyPr/>
                    <a:lstStyle/>
                    <a:p>
                      <a:pPr indent="0" lvl="0" marL="0" marR="0" rtl="0" algn="ctr">
                        <a:lnSpc>
                          <a:spcPct val="135000"/>
                        </a:lnSpc>
                        <a:spcBef>
                          <a:spcPts val="0"/>
                        </a:spcBef>
                        <a:spcAft>
                          <a:spcPts val="0"/>
                        </a:spcAft>
                        <a:buClr>
                          <a:schemeClr val="dk1"/>
                        </a:buClr>
                        <a:buSzPts val="800"/>
                        <a:buFont typeface="Century Gothic"/>
                        <a:buNone/>
                      </a:pPr>
                      <a:r>
                        <a:rPr lang="en-US" sz="800"/>
                        <a:t>65 % </a:t>
                      </a:r>
                      <a:endParaRPr/>
                    </a:p>
                  </a:txBody>
                  <a:tcPr marT="0" marB="0" marR="0" marL="0" anchor="ctr"/>
                </a:tc>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solidFill>
                            <a:schemeClr val="dk1"/>
                          </a:solidFill>
                          <a:latin typeface="Century Gothic"/>
                          <a:ea typeface="Century Gothic"/>
                          <a:cs typeface="Century Gothic"/>
                          <a:sym typeface="Century Gothic"/>
                        </a:rPr>
                        <a:t>Համադպրոցական</a:t>
                      </a:r>
                      <a:endParaRPr/>
                    </a:p>
                  </a:txBody>
                  <a:tcPr marT="0" marB="0" marR="0" marL="0" anchor="ctr"/>
                </a:tc>
              </a:tr>
              <a:tr h="208925">
                <a:tc>
                  <a:txBody>
                    <a:bodyPr/>
                    <a:lstStyle/>
                    <a:p>
                      <a:pPr indent="0" lvl="0" marL="0" marR="0" rtl="0" algn="l">
                        <a:lnSpc>
                          <a:spcPct val="135000"/>
                        </a:lnSpc>
                        <a:spcBef>
                          <a:spcPts val="0"/>
                        </a:spcBef>
                        <a:spcAft>
                          <a:spcPts val="0"/>
                        </a:spcAft>
                        <a:buNone/>
                      </a:pPr>
                      <a:r>
                        <a:rPr lang="en-US" sz="800"/>
                        <a:t>11.Ինքնավարության</a:t>
                      </a:r>
                      <a:r>
                        <a:rPr lang="en-US" sz="800"/>
                        <a:t> օր</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07․03․2026թ․</a:t>
                      </a:r>
                      <a:endParaRPr sz="800"/>
                    </a:p>
                  </a:txBody>
                  <a:tcPr marT="0" marB="0" marR="0" marL="0" anchor="ctr"/>
                </a:tc>
                <a:tc>
                  <a:txBody>
                    <a:bodyPr/>
                    <a:lstStyle/>
                    <a:p>
                      <a:pPr indent="0" lvl="0" marL="0" marR="0" rtl="0" algn="ctr">
                        <a:lnSpc>
                          <a:spcPct val="135000"/>
                        </a:lnSpc>
                        <a:spcBef>
                          <a:spcPts val="0"/>
                        </a:spcBef>
                        <a:spcAft>
                          <a:spcPts val="0"/>
                        </a:spcAft>
                        <a:buClr>
                          <a:schemeClr val="dk1"/>
                        </a:buClr>
                        <a:buSzPts val="800"/>
                        <a:buFont typeface="Century Gothic"/>
                        <a:buNone/>
                      </a:pPr>
                      <a:r>
                        <a:rPr lang="en-US" sz="800"/>
                        <a:t>90 % </a:t>
                      </a:r>
                      <a:endParaRPr/>
                    </a:p>
                  </a:txBody>
                  <a:tcPr marT="0" marB="0" marR="0" marL="0" anchor="ctr"/>
                </a:tc>
                <a:tc>
                  <a:txBody>
                    <a:bodyPr/>
                    <a:lstStyle/>
                    <a:p>
                      <a:pPr indent="0" lvl="0" marL="0" marR="0" rtl="0" algn="l">
                        <a:lnSpc>
                          <a:spcPct val="135000"/>
                        </a:lnSpc>
                        <a:spcBef>
                          <a:spcPts val="0"/>
                        </a:spcBef>
                        <a:spcAft>
                          <a:spcPts val="0"/>
                        </a:spcAft>
                        <a:buNone/>
                      </a:pPr>
                      <a:r>
                        <a:rPr lang="en-US" sz="800"/>
                        <a:t>ԱԽ նախաձեռնություն</a:t>
                      </a:r>
                      <a:endParaRPr sz="800"/>
                    </a:p>
                  </a:txBody>
                  <a:tcPr marT="0" marB="0" marR="0" marL="0" anchor="ctr"/>
                </a:tc>
              </a:tr>
              <a:tr h="441475">
                <a:tc>
                  <a:txBody>
                    <a:bodyPr/>
                    <a:lstStyle/>
                    <a:p>
                      <a:pPr indent="0" lvl="0" marL="0" marR="0" rtl="0" algn="l">
                        <a:lnSpc>
                          <a:spcPct val="135000"/>
                        </a:lnSpc>
                        <a:spcBef>
                          <a:spcPts val="0"/>
                        </a:spcBef>
                        <a:spcAft>
                          <a:spcPts val="0"/>
                        </a:spcAft>
                        <a:buNone/>
                      </a:pPr>
                      <a:r>
                        <a:rPr lang="en-US" sz="800"/>
                        <a:t>12․</a:t>
                      </a:r>
                      <a:r>
                        <a:rPr lang="en-US" sz="800"/>
                        <a:t> Կանանց միջազգային տոնի առթիվ ԱԽ նախաձեռնությամբ բացիկների պատրաստում, շնորհավորանքներ և բարեմաղթանքներ ուսուցիչներին</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07.03. 2026 թ. </a:t>
                      </a:r>
                      <a:endParaRPr/>
                    </a:p>
                  </a:txBody>
                  <a:tcPr marT="0" marB="0" marR="0" marL="0" anchor="ctr"/>
                </a:tc>
                <a:tc>
                  <a:txBody>
                    <a:bodyPr/>
                    <a:lstStyle/>
                    <a:p>
                      <a:pPr indent="0" lvl="0" marL="0" marR="0" rtl="0" algn="ctr">
                        <a:lnSpc>
                          <a:spcPct val="135000"/>
                        </a:lnSpc>
                        <a:spcBef>
                          <a:spcPts val="0"/>
                        </a:spcBef>
                        <a:spcAft>
                          <a:spcPts val="0"/>
                        </a:spcAft>
                        <a:buNone/>
                      </a:pPr>
                      <a:r>
                        <a:rPr lang="en-US" sz="800"/>
                        <a:t>83% </a:t>
                      </a:r>
                      <a:endParaRPr/>
                    </a:p>
                  </a:txBody>
                  <a:tcPr marT="0" marB="0" marR="0" marL="0" anchor="ctr"/>
                </a:tc>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solidFill>
                            <a:schemeClr val="dk1"/>
                          </a:solidFill>
                          <a:latin typeface="Century Gothic"/>
                          <a:ea typeface="Century Gothic"/>
                          <a:cs typeface="Century Gothic"/>
                          <a:sym typeface="Century Gothic"/>
                        </a:rPr>
                        <a:t>ԱԽ նախաձեռնություն</a:t>
                      </a:r>
                      <a:endParaRPr/>
                    </a:p>
                  </a:txBody>
                  <a:tcPr marT="0" marB="0" marR="0" marL="0" anchor="ctr"/>
                </a:tc>
              </a:tr>
              <a:tr h="243725">
                <a:tc>
                  <a:txBody>
                    <a:bodyPr/>
                    <a:lstStyle/>
                    <a:p>
                      <a:pPr indent="0" lvl="0" marL="0" marR="0" rtl="0" algn="l">
                        <a:lnSpc>
                          <a:spcPct val="135000"/>
                        </a:lnSpc>
                        <a:spcBef>
                          <a:spcPts val="0"/>
                        </a:spcBef>
                        <a:spcAft>
                          <a:spcPts val="0"/>
                        </a:spcAft>
                        <a:buNone/>
                      </a:pPr>
                      <a:r>
                        <a:rPr lang="en-US" sz="800"/>
                        <a:t>13.ԱԽ նախաձեռնությամբ հանդիպում հայ անվանի ծանրորդուհի Նազիկ Ավդալյանի հետ</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13․03․2026 թ․</a:t>
                      </a:r>
                      <a:endParaRPr sz="800"/>
                    </a:p>
                  </a:txBody>
                  <a:tcPr marT="0" marB="0" marR="0" marL="0" anchor="ctr"/>
                </a:tc>
                <a:tc>
                  <a:txBody>
                    <a:bodyPr/>
                    <a:lstStyle/>
                    <a:p>
                      <a:pPr indent="0" lvl="0" marL="0" marR="0" rtl="0" algn="ctr">
                        <a:lnSpc>
                          <a:spcPct val="135000"/>
                        </a:lnSpc>
                        <a:spcBef>
                          <a:spcPts val="0"/>
                        </a:spcBef>
                        <a:spcAft>
                          <a:spcPts val="0"/>
                        </a:spcAft>
                        <a:buClr>
                          <a:schemeClr val="dk1"/>
                        </a:buClr>
                        <a:buSzPts val="800"/>
                        <a:buFont typeface="Century Gothic"/>
                        <a:buNone/>
                      </a:pPr>
                      <a:r>
                        <a:rPr lang="en-US" sz="800"/>
                        <a:t>65 % </a:t>
                      </a:r>
                      <a:endParaRPr/>
                    </a:p>
                  </a:txBody>
                  <a:tcPr marT="0" marB="0" marR="0" marL="0" anchor="ctr"/>
                </a:tc>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solidFill>
                            <a:schemeClr val="dk1"/>
                          </a:solidFill>
                          <a:latin typeface="Century Gothic"/>
                          <a:ea typeface="Century Gothic"/>
                          <a:cs typeface="Century Gothic"/>
                          <a:sym typeface="Century Gothic"/>
                        </a:rPr>
                        <a:t>ԱԽ նախաձեռնություն</a:t>
                      </a:r>
                      <a:endParaRPr/>
                    </a:p>
                    <a:p>
                      <a:pPr indent="0" lvl="0" marL="0" marR="0" rtl="0" algn="l">
                        <a:lnSpc>
                          <a:spcPct val="135000"/>
                        </a:lnSpc>
                        <a:spcBef>
                          <a:spcPts val="0"/>
                        </a:spcBef>
                        <a:spcAft>
                          <a:spcPts val="0"/>
                        </a:spcAft>
                        <a:buClr>
                          <a:schemeClr val="dk1"/>
                        </a:buClr>
                        <a:buSzPts val="800"/>
                        <a:buFont typeface="Century Gothic"/>
                        <a:buNone/>
                      </a:pPr>
                      <a:r>
                        <a:t/>
                      </a:r>
                      <a:endParaRPr sz="800">
                        <a:solidFill>
                          <a:schemeClr val="dk1"/>
                        </a:solidFill>
                        <a:latin typeface="Century Gothic"/>
                        <a:ea typeface="Century Gothic"/>
                        <a:cs typeface="Century Gothic"/>
                        <a:sym typeface="Century Gothic"/>
                      </a:endParaRPr>
                    </a:p>
                  </a:txBody>
                  <a:tcPr marT="0" marB="0" marR="0" marL="0" anchor="ctr"/>
                </a:tc>
              </a:tr>
              <a:tr h="251925">
                <a:tc>
                  <a:txBody>
                    <a:bodyPr/>
                    <a:lstStyle/>
                    <a:p>
                      <a:pPr indent="0" lvl="0" marL="0" marR="0" rtl="0" algn="l">
                        <a:lnSpc>
                          <a:spcPct val="135000"/>
                        </a:lnSpc>
                        <a:spcBef>
                          <a:spcPts val="0"/>
                        </a:spcBef>
                        <a:spcAft>
                          <a:spcPts val="0"/>
                        </a:spcAft>
                        <a:buNone/>
                      </a:pPr>
                      <a:r>
                        <a:rPr lang="en-US" sz="800"/>
                        <a:t>14.Համադպրոցական երթ Ծիծեռնակաբերդի հուշահամլիր </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t>23.04․2026թ. </a:t>
                      </a:r>
                      <a:endParaRPr/>
                    </a:p>
                  </a:txBody>
                  <a:tcPr marT="0" marB="0" marR="0" marL="0" anchor="ctr"/>
                </a:tc>
                <a:tc>
                  <a:txBody>
                    <a:bodyPr/>
                    <a:lstStyle/>
                    <a:p>
                      <a:pPr indent="0" lvl="0" marL="0" marR="0" rtl="0" algn="ctr">
                        <a:lnSpc>
                          <a:spcPct val="135000"/>
                        </a:lnSpc>
                        <a:spcBef>
                          <a:spcPts val="0"/>
                        </a:spcBef>
                        <a:spcAft>
                          <a:spcPts val="0"/>
                        </a:spcAft>
                        <a:buNone/>
                      </a:pPr>
                      <a:r>
                        <a:rPr lang="en-US" sz="800"/>
                        <a:t>100% </a:t>
                      </a:r>
                      <a:endParaRPr/>
                    </a:p>
                  </a:txBody>
                  <a:tcPr marT="0" marB="0" marR="0" marL="0" anchor="ctr"/>
                </a:tc>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solidFill>
                            <a:schemeClr val="dk1"/>
                          </a:solidFill>
                          <a:latin typeface="Century Gothic"/>
                          <a:ea typeface="Century Gothic"/>
                          <a:cs typeface="Century Gothic"/>
                          <a:sym typeface="Century Gothic"/>
                        </a:rPr>
                        <a:t>Համադպրոցական</a:t>
                      </a:r>
                      <a:endParaRPr/>
                    </a:p>
                  </a:txBody>
                  <a:tcPr marT="0" marB="0" marR="0" marL="0" anchor="ctr"/>
                </a:tc>
              </a:tr>
              <a:tr h="356975">
                <a:tc>
                  <a:txBody>
                    <a:bodyPr/>
                    <a:lstStyle/>
                    <a:p>
                      <a:pPr indent="0" lvl="0" marL="0" marR="0" rtl="0" algn="l">
                        <a:lnSpc>
                          <a:spcPct val="135000"/>
                        </a:lnSpc>
                        <a:spcBef>
                          <a:spcPts val="0"/>
                        </a:spcBef>
                        <a:spcAft>
                          <a:spcPts val="0"/>
                        </a:spcAft>
                        <a:buNone/>
                      </a:pPr>
                      <a:r>
                        <a:rPr lang="en-US" sz="800"/>
                        <a:t>15.ԱԽ նախաձեռնությամբ հանդիպում «Քամանչա» ռեստորանի հիմնադիր տնօրեն Արեգ Գևորգյանի հետ</a:t>
                      </a:r>
                      <a:endParaRPr sz="800"/>
                    </a:p>
                  </a:txBody>
                  <a:tcPr marT="0" marB="0" marR="0" marL="0" anchor="ctr"/>
                </a:tc>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t>30.04․2026թ. </a:t>
                      </a:r>
                      <a:endParaRPr/>
                    </a:p>
                    <a:p>
                      <a:pPr indent="0" lvl="0" marL="0" marR="0" rtl="0" algn="l">
                        <a:lnSpc>
                          <a:spcPct val="135000"/>
                        </a:lnSpc>
                        <a:spcBef>
                          <a:spcPts val="1000"/>
                        </a:spcBef>
                        <a:spcAft>
                          <a:spcPts val="0"/>
                        </a:spcAft>
                        <a:buNone/>
                      </a:pPr>
                      <a:r>
                        <a:t/>
                      </a:r>
                      <a:endParaRPr sz="800"/>
                    </a:p>
                  </a:txBody>
                  <a:tcPr marT="0" marB="0" marR="0" marL="0" anchor="ctr"/>
                </a:tc>
                <a:tc>
                  <a:txBody>
                    <a:bodyPr/>
                    <a:lstStyle/>
                    <a:p>
                      <a:pPr indent="0" lvl="0" marL="0" marR="0" rtl="0" algn="ctr">
                        <a:lnSpc>
                          <a:spcPct val="135000"/>
                        </a:lnSpc>
                        <a:spcBef>
                          <a:spcPts val="0"/>
                        </a:spcBef>
                        <a:spcAft>
                          <a:spcPts val="0"/>
                        </a:spcAft>
                        <a:buClr>
                          <a:schemeClr val="dk1"/>
                        </a:buClr>
                        <a:buSzPts val="800"/>
                        <a:buFont typeface="Century Gothic"/>
                        <a:buNone/>
                      </a:pPr>
                      <a:r>
                        <a:rPr lang="en-US" sz="800"/>
                        <a:t>80 % </a:t>
                      </a:r>
                      <a:endParaRPr/>
                    </a:p>
                  </a:txBody>
                  <a:tcPr marT="0" marB="0" marR="0" marL="0" anchor="ctr"/>
                </a:tc>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solidFill>
                            <a:schemeClr val="dk1"/>
                          </a:solidFill>
                          <a:latin typeface="Century Gothic"/>
                          <a:ea typeface="Century Gothic"/>
                          <a:cs typeface="Century Gothic"/>
                          <a:sym typeface="Century Gothic"/>
                        </a:rPr>
                        <a:t>ԱԽ նախաձեռնություն</a:t>
                      </a:r>
                      <a:endParaRPr/>
                    </a:p>
                  </a:txBody>
                  <a:tcPr marT="0" marB="0" marR="0" marL="0" anchor="ctr"/>
                </a:tc>
              </a:tr>
              <a:tr h="287925">
                <a:tc>
                  <a:txBody>
                    <a:bodyPr/>
                    <a:lstStyle/>
                    <a:p>
                      <a:pPr indent="0" lvl="0" marL="0" marR="0" rtl="0" algn="l">
                        <a:lnSpc>
                          <a:spcPct val="135000"/>
                        </a:lnSpc>
                        <a:spcBef>
                          <a:spcPts val="0"/>
                        </a:spcBef>
                        <a:spcAft>
                          <a:spcPts val="0"/>
                        </a:spcAft>
                        <a:buNone/>
                      </a:pPr>
                      <a:r>
                        <a:rPr lang="en-US" sz="800"/>
                        <a:t>16․ Մասնակցություն Հայաստանի</a:t>
                      </a:r>
                      <a:r>
                        <a:rPr lang="en-US" sz="800"/>
                        <a:t> ԴՕՍԱԱՖ-ի կողմից կազմակերպված ռազմական եռամարտի առաջնությանը</a:t>
                      </a:r>
                      <a:endParaRPr sz="800"/>
                    </a:p>
                  </a:txBody>
                  <a:tcPr marT="0" marB="0" marR="0" marL="0" anchor="ctr"/>
                </a:tc>
                <a:tc>
                  <a:txBody>
                    <a:bodyPr/>
                    <a:lstStyle/>
                    <a:p>
                      <a:pPr indent="0" lvl="0" marL="0" marR="0" rtl="0" algn="l">
                        <a:lnSpc>
                          <a:spcPct val="135000"/>
                        </a:lnSpc>
                        <a:spcBef>
                          <a:spcPts val="0"/>
                        </a:spcBef>
                        <a:spcAft>
                          <a:spcPts val="0"/>
                        </a:spcAft>
                        <a:buNone/>
                      </a:pPr>
                      <a:r>
                        <a:rPr lang="en-US" sz="800">
                          <a:latin typeface="Merriweather"/>
                          <a:ea typeface="Merriweather"/>
                          <a:cs typeface="Merriweather"/>
                          <a:sym typeface="Merriweather"/>
                        </a:rPr>
                        <a:t>մայիս</a:t>
                      </a:r>
                      <a:endParaRPr sz="800">
                        <a:latin typeface="Merriweather"/>
                        <a:ea typeface="Merriweather"/>
                        <a:cs typeface="Merriweather"/>
                        <a:sym typeface="Merriweather"/>
                      </a:endParaRPr>
                    </a:p>
                  </a:txBody>
                  <a:tcPr marT="0" marB="0" marR="0" marL="0" anchor="ctr"/>
                </a:tc>
                <a:tc>
                  <a:txBody>
                    <a:bodyPr/>
                    <a:lstStyle/>
                    <a:p>
                      <a:pPr indent="0" lvl="0" marL="0" marR="0" rtl="0" algn="ctr">
                        <a:lnSpc>
                          <a:spcPct val="135000"/>
                        </a:lnSpc>
                        <a:spcBef>
                          <a:spcPts val="0"/>
                        </a:spcBef>
                        <a:spcAft>
                          <a:spcPts val="0"/>
                        </a:spcAft>
                        <a:buClr>
                          <a:schemeClr val="dk1"/>
                        </a:buClr>
                        <a:buSzPts val="800"/>
                        <a:buFont typeface="Century Gothic"/>
                        <a:buNone/>
                      </a:pPr>
                      <a:r>
                        <a:rPr lang="en-US" sz="800"/>
                        <a:t>20 %</a:t>
                      </a:r>
                      <a:endParaRPr/>
                    </a:p>
                  </a:txBody>
                  <a:tcPr marT="0" marB="0" marR="0" marL="0" anchor="ctr"/>
                </a:tc>
                <a:tc>
                  <a:txBody>
                    <a:bodyPr/>
                    <a:lstStyle/>
                    <a:p>
                      <a:pPr indent="0" lvl="0" marL="0" marR="0" rtl="0" algn="l">
                        <a:lnSpc>
                          <a:spcPct val="135000"/>
                        </a:lnSpc>
                        <a:spcBef>
                          <a:spcPts val="0"/>
                        </a:spcBef>
                        <a:spcAft>
                          <a:spcPts val="0"/>
                        </a:spcAft>
                        <a:buClr>
                          <a:schemeClr val="dk1"/>
                        </a:buClr>
                        <a:buSzPts val="800"/>
                        <a:buFont typeface="Century Gothic"/>
                        <a:buNone/>
                      </a:pPr>
                      <a:r>
                        <a:rPr lang="en-US" sz="800">
                          <a:solidFill>
                            <a:schemeClr val="dk1"/>
                          </a:solidFill>
                          <a:latin typeface="Century Gothic"/>
                          <a:ea typeface="Century Gothic"/>
                          <a:cs typeface="Century Gothic"/>
                          <a:sym typeface="Century Gothic"/>
                        </a:rPr>
                        <a:t>ԱԽ նախաձեռնություն</a:t>
                      </a:r>
                      <a:endParaRPr sz="800"/>
                    </a:p>
                  </a:txBody>
                  <a:tcPr marT="0" marB="0" marR="0" marL="0" anchor="ct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graphicFrame>
        <p:nvGraphicFramePr>
          <p:cNvPr id="575" name="Google Shape;575;p73"/>
          <p:cNvGraphicFramePr/>
          <p:nvPr/>
        </p:nvGraphicFramePr>
        <p:xfrm>
          <a:off x="372862" y="455810"/>
          <a:ext cx="3000000" cy="3000000"/>
        </p:xfrm>
        <a:graphic>
          <a:graphicData uri="http://schemas.openxmlformats.org/drawingml/2006/table">
            <a:tbl>
              <a:tblPr>
                <a:noFill/>
                <a:tableStyleId>{40B977D2-3903-41EF-8714-5AC59086702B}</a:tableStyleId>
              </a:tblPr>
              <a:tblGrid>
                <a:gridCol w="4950250"/>
                <a:gridCol w="1090700"/>
                <a:gridCol w="2128900"/>
                <a:gridCol w="2980500"/>
              </a:tblGrid>
              <a:tr h="47500">
                <a:tc gridSpan="4">
                  <a:txBody>
                    <a:bodyPr/>
                    <a:lstStyle/>
                    <a:p>
                      <a:pPr indent="0" lvl="0" marL="0" marR="0" rtl="0" algn="l">
                        <a:lnSpc>
                          <a:spcPct val="114999"/>
                        </a:lnSpc>
                        <a:spcBef>
                          <a:spcPts val="0"/>
                        </a:spcBef>
                        <a:spcAft>
                          <a:spcPts val="0"/>
                        </a:spcAft>
                        <a:buNone/>
                      </a:pPr>
                      <a:r>
                        <a:rPr b="1" lang="en-US" sz="1400"/>
                        <a:t>Սովորողների կողմից կազմակերպված միջոցառումները և միջոցառումներին մասնակցություն ունեցած սովորողների տոկոսը. </a:t>
                      </a:r>
                      <a:endParaRPr/>
                    </a:p>
                  </a:txBody>
                  <a:tcPr marT="0" marB="0" marR="0" marL="0" anchor="ctr"/>
                </a:tc>
                <a:tc hMerge="1"/>
                <a:tc hMerge="1"/>
                <a:tc hMerge="1"/>
              </a:tr>
              <a:tr h="119500">
                <a:tc>
                  <a:txBody>
                    <a:bodyPr/>
                    <a:lstStyle/>
                    <a:p>
                      <a:pPr indent="0" lvl="0" marL="0" marR="0" rtl="0" algn="l">
                        <a:lnSpc>
                          <a:spcPct val="115000"/>
                        </a:lnSpc>
                        <a:spcBef>
                          <a:spcPts val="0"/>
                        </a:spcBef>
                        <a:spcAft>
                          <a:spcPts val="0"/>
                        </a:spcAft>
                        <a:buNone/>
                      </a:pPr>
                      <a:r>
                        <a:rPr lang="en-US" sz="1200"/>
                        <a:t>Նկարագրել վերջին 3 տարում սովորողների կողմից կազմակերպված միջոցառումները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Ամսաթիվ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Մասնակից սովորողների տոկոսը՝ սովորողների ընդհանուր թվի նկատմամբ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Համադպրոցական </a:t>
                      </a:r>
                      <a:endParaRPr sz="1800"/>
                    </a:p>
                    <a:p>
                      <a:pPr indent="0" lvl="0" marL="0" marR="0" rtl="0" algn="l">
                        <a:lnSpc>
                          <a:spcPct val="115000"/>
                        </a:lnSpc>
                        <a:spcBef>
                          <a:spcPts val="0"/>
                        </a:spcBef>
                        <a:spcAft>
                          <a:spcPts val="0"/>
                        </a:spcAft>
                        <a:buNone/>
                      </a:pPr>
                      <a:r>
                        <a:rPr lang="en-US" sz="1200"/>
                        <a:t>կամ դասարանային </a:t>
                      </a:r>
                      <a:endParaRPr sz="1800"/>
                    </a:p>
                  </a:txBody>
                  <a:tcPr marT="0" marB="0" marR="0" marL="0" anchor="ctr"/>
                </a:tc>
              </a:tr>
              <a:tr h="39875">
                <a:tc>
                  <a:txBody>
                    <a:bodyPr/>
                    <a:lstStyle/>
                    <a:p>
                      <a:pPr indent="0" lvl="0" marL="0" marR="0" rtl="0" algn="l">
                        <a:lnSpc>
                          <a:spcPct val="115000"/>
                        </a:lnSpc>
                        <a:spcBef>
                          <a:spcPts val="0"/>
                        </a:spcBef>
                        <a:spcAft>
                          <a:spcPts val="0"/>
                        </a:spcAft>
                        <a:buNone/>
                      </a:pPr>
                      <a:r>
                        <a:rPr lang="en-US" sz="1200"/>
                        <a:t>1«Աշնան մեղեդի» խորագրով համադպրոցական միջոցառում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29.11.2026 թ.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200"/>
                        <a:t>60 %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Համադպրոցական </a:t>
                      </a:r>
                      <a:endParaRPr sz="1800"/>
                    </a:p>
                  </a:txBody>
                  <a:tcPr marT="0" marB="0" marR="0" marL="0" anchor="ctr"/>
                </a:tc>
              </a:tr>
              <a:tr h="79625">
                <a:tc>
                  <a:txBody>
                    <a:bodyPr/>
                    <a:lstStyle/>
                    <a:p>
                      <a:pPr indent="0" lvl="0" marL="0" marR="0" rtl="0" algn="l">
                        <a:lnSpc>
                          <a:spcPct val="115000"/>
                        </a:lnSpc>
                        <a:spcBef>
                          <a:spcPts val="0"/>
                        </a:spcBef>
                        <a:spcAft>
                          <a:spcPts val="0"/>
                        </a:spcAft>
                        <a:buNone/>
                      </a:pPr>
                      <a:r>
                        <a:rPr lang="en-US" sz="1200"/>
                        <a:t>3. Հայկական բանակի կազմավորման 35 ամյակին նվիրված մշակութային միջոցառում «Շնորհավոր տոնդ, Հայո՜ց բանակ» խորագրով</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հունվար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200"/>
                        <a:t>51%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Համադպրոցական </a:t>
                      </a:r>
                      <a:endParaRPr sz="1800"/>
                    </a:p>
                  </a:txBody>
                  <a:tcPr marT="0" marB="0" marR="0" marL="0" anchor="ctr"/>
                </a:tc>
              </a:tr>
              <a:tr h="80000">
                <a:tc>
                  <a:txBody>
                    <a:bodyPr/>
                    <a:lstStyle/>
                    <a:p>
                      <a:pPr indent="0" lvl="0" marL="0" marR="0" rtl="0" algn="l">
                        <a:lnSpc>
                          <a:spcPct val="115000"/>
                        </a:lnSpc>
                        <a:spcBef>
                          <a:spcPts val="0"/>
                        </a:spcBef>
                        <a:spcAft>
                          <a:spcPts val="0"/>
                        </a:spcAft>
                        <a:buNone/>
                      </a:pPr>
                      <a:r>
                        <a:rPr lang="en-US" sz="1200"/>
                        <a:t>4.Թումանյանական օրեր. միջոցառում-ցերեկույթ՝ նվիրված մեծանուն գրողին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փետրվար </a:t>
                      </a:r>
                      <a:endParaRPr sz="1800"/>
                    </a:p>
                  </a:txBody>
                  <a:tcPr marT="0" marB="0" marR="0" marL="0" anchor="ctr"/>
                </a:tc>
                <a:tc>
                  <a:txBody>
                    <a:bodyPr/>
                    <a:lstStyle/>
                    <a:p>
                      <a:pPr indent="0" lvl="0" marL="0" marR="0" rtl="0" algn="ctr">
                        <a:lnSpc>
                          <a:spcPct val="115000"/>
                        </a:lnSpc>
                        <a:spcBef>
                          <a:spcPts val="0"/>
                        </a:spcBef>
                        <a:spcAft>
                          <a:spcPts val="0"/>
                        </a:spcAft>
                        <a:buNone/>
                      </a:pPr>
                      <a:r>
                        <a:rPr lang="en-US" sz="1200"/>
                        <a:t>45 %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Համադպրոցական </a:t>
                      </a:r>
                      <a:endParaRPr sz="1800"/>
                    </a:p>
                  </a:txBody>
                  <a:tcPr marT="0" marB="0" marR="0" marL="0" anchor="ctr"/>
                </a:tc>
              </a:tr>
              <a:tr h="79625">
                <a:tc>
                  <a:txBody>
                    <a:bodyPr/>
                    <a:lstStyle/>
                    <a:p>
                      <a:pPr indent="0" lvl="0" marL="0" marR="0" rtl="0" algn="l">
                        <a:lnSpc>
                          <a:spcPct val="115000"/>
                        </a:lnSpc>
                        <a:spcBef>
                          <a:spcPts val="0"/>
                        </a:spcBef>
                        <a:spcAft>
                          <a:spcPts val="0"/>
                        </a:spcAft>
                        <a:buNone/>
                      </a:pPr>
                      <a:r>
                        <a:rPr lang="en-US" sz="1200"/>
                        <a:t>5. Խաղ-վիկտորինա «Ռուսաց լեզու» առարկայի շրջանակներում </a:t>
                      </a:r>
                      <a:endParaRPr sz="1200"/>
                    </a:p>
                  </a:txBody>
                  <a:tcPr marT="0" marB="0" marR="0" marL="0" anchor="ctr"/>
                </a:tc>
                <a:tc>
                  <a:txBody>
                    <a:bodyPr/>
                    <a:lstStyle/>
                    <a:p>
                      <a:pPr indent="0" lvl="0" marL="0" marR="0" rtl="0" algn="l">
                        <a:lnSpc>
                          <a:spcPct val="115000"/>
                        </a:lnSpc>
                        <a:spcBef>
                          <a:spcPts val="0"/>
                        </a:spcBef>
                        <a:spcAft>
                          <a:spcPts val="0"/>
                        </a:spcAft>
                        <a:buNone/>
                      </a:pPr>
                      <a:r>
                        <a:rPr lang="en-US" sz="1200"/>
                        <a:t>Փետրվար, ապրիլ</a:t>
                      </a:r>
                      <a:endParaRPr sz="1200"/>
                    </a:p>
                  </a:txBody>
                  <a:tcPr marT="0" marB="0" marR="0" marL="0" anchor="ctr"/>
                </a:tc>
                <a:tc>
                  <a:txBody>
                    <a:bodyPr/>
                    <a:lstStyle/>
                    <a:p>
                      <a:pPr indent="0" lvl="0" marL="0" marR="0" rtl="0" algn="ctr">
                        <a:lnSpc>
                          <a:spcPct val="115000"/>
                        </a:lnSpc>
                        <a:spcBef>
                          <a:spcPts val="0"/>
                        </a:spcBef>
                        <a:spcAft>
                          <a:spcPts val="0"/>
                        </a:spcAft>
                        <a:buNone/>
                      </a:pPr>
                      <a:r>
                        <a:rPr lang="en-US" sz="1200"/>
                        <a:t>75 %</a:t>
                      </a:r>
                      <a:endParaRPr sz="1200"/>
                    </a:p>
                  </a:txBody>
                  <a:tcPr marT="0" marB="0" marR="0" marL="0" anchor="ctr"/>
                </a:tc>
                <a:tc>
                  <a:txBody>
                    <a:bodyPr/>
                    <a:lstStyle/>
                    <a:p>
                      <a:pPr indent="0" lvl="0" marL="0" marR="0" rtl="0" algn="l">
                        <a:lnSpc>
                          <a:spcPct val="115000"/>
                        </a:lnSpc>
                        <a:spcBef>
                          <a:spcPts val="0"/>
                        </a:spcBef>
                        <a:spcAft>
                          <a:spcPts val="0"/>
                        </a:spcAft>
                        <a:buClr>
                          <a:schemeClr val="dk1"/>
                        </a:buClr>
                        <a:buSzPts val="1200"/>
                        <a:buFont typeface="Century Gothic"/>
                        <a:buNone/>
                      </a:pPr>
                      <a:r>
                        <a:rPr lang="en-US" sz="1200"/>
                        <a:t>Համադպրոցական </a:t>
                      </a:r>
                      <a:endParaRPr/>
                    </a:p>
                  </a:txBody>
                  <a:tcPr marT="0" marB="0" marR="0" marL="0" anchor="ctr"/>
                </a:tc>
              </a:tr>
              <a:tr h="56775">
                <a:tc gridSpan="4">
                  <a:txBody>
                    <a:bodyPr/>
                    <a:lstStyle/>
                    <a:p>
                      <a:pPr indent="0" lvl="0" marL="0" marR="0" rtl="0" algn="l">
                        <a:lnSpc>
                          <a:spcPct val="115000"/>
                        </a:lnSpc>
                        <a:spcBef>
                          <a:spcPts val="0"/>
                        </a:spcBef>
                        <a:spcAft>
                          <a:spcPts val="0"/>
                        </a:spcAft>
                        <a:buNone/>
                      </a:pPr>
                      <a:r>
                        <a:rPr lang="en-US" sz="1200"/>
                        <a:t>Սովորողների մասնակցությունը հաստատության ներքին կարգապահական կանոնների մշակմանը և մասնակցություն ունեցած սովորողների տոկոսը </a:t>
                      </a:r>
                      <a:endParaRPr sz="1800"/>
                    </a:p>
                  </a:txBody>
                  <a:tcPr marT="0" marB="0" marR="0" marL="0" anchor="ctr"/>
                </a:tc>
                <a:tc hMerge="1"/>
                <a:tc hMerge="1"/>
                <a:tc hMerge="1"/>
              </a:tr>
              <a:tr h="119500">
                <a:tc>
                  <a:txBody>
                    <a:bodyPr/>
                    <a:lstStyle/>
                    <a:p>
                      <a:pPr indent="0" lvl="0" marL="0" marR="0" rtl="0" algn="l">
                        <a:lnSpc>
                          <a:spcPct val="115000"/>
                        </a:lnSpc>
                        <a:spcBef>
                          <a:spcPts val="0"/>
                        </a:spcBef>
                        <a:spcAft>
                          <a:spcPts val="0"/>
                        </a:spcAft>
                        <a:buNone/>
                      </a:pPr>
                      <a:r>
                        <a:rPr lang="en-US" sz="1200"/>
                        <a:t>7.Նկարագրել վերջին 3 տարում հաստատության ներքին կարգապահական կանոնների մշակմանը սովորողների մասնակցության դեպքերը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Ամսաթիվ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Մասնակից սովորողների տոկոսը՝ սովորողների ընդհանուր թվի նկատմամբ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Մեկնաբանություն </a:t>
                      </a:r>
                      <a:endParaRPr sz="1800"/>
                    </a:p>
                  </a:txBody>
                  <a:tcPr marT="0" marB="0" marR="0" marL="0" anchor="ctr"/>
                </a:tc>
              </a:tr>
              <a:tr h="258825">
                <a:tc>
                  <a:txBody>
                    <a:bodyPr/>
                    <a:lstStyle/>
                    <a:p>
                      <a:pPr indent="-54610" lvl="0" marL="54610" marR="0" rtl="0" algn="l">
                        <a:lnSpc>
                          <a:spcPct val="115000"/>
                        </a:lnSpc>
                        <a:spcBef>
                          <a:spcPts val="0"/>
                        </a:spcBef>
                        <a:spcAft>
                          <a:spcPts val="0"/>
                        </a:spcAft>
                        <a:buNone/>
                      </a:pPr>
                      <a:r>
                        <a:rPr lang="en-US" sz="1200"/>
                        <a:t>1.Հաստատության ներքին կարգապահական կանոնների քննարկում և հաստատում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ամենամյա </a:t>
                      </a:r>
                      <a:endParaRPr sz="1800"/>
                    </a:p>
                  </a:txBody>
                  <a:tcPr marT="0" marB="0" marR="0" marL="0" anchor="ctr"/>
                </a:tc>
                <a:tc>
                  <a:txBody>
                    <a:bodyPr/>
                    <a:lstStyle/>
                    <a:p>
                      <a:pPr indent="0" lvl="0" marL="0" marR="0" rtl="0" algn="l">
                        <a:lnSpc>
                          <a:spcPct val="115000"/>
                        </a:lnSpc>
                        <a:spcBef>
                          <a:spcPts val="0"/>
                        </a:spcBef>
                        <a:spcAft>
                          <a:spcPts val="0"/>
                        </a:spcAft>
                        <a:buNone/>
                      </a:pPr>
                      <a:r>
                        <a:rPr lang="en-US" sz="1200"/>
                        <a:t>                100 % </a:t>
                      </a:r>
                      <a:endParaRPr sz="1800"/>
                    </a:p>
                  </a:txBody>
                  <a:tcPr marT="0" marB="0" marR="0" marL="0" anchor="ctr"/>
                </a:tc>
                <a:tc>
                  <a:txBody>
                    <a:bodyPr/>
                    <a:lstStyle/>
                    <a:p>
                      <a:pPr indent="0" lvl="0" marL="0" marR="0" rtl="0" algn="l">
                        <a:lnSpc>
                          <a:spcPct val="114999"/>
                        </a:lnSpc>
                        <a:spcBef>
                          <a:spcPts val="0"/>
                        </a:spcBef>
                        <a:spcAft>
                          <a:spcPts val="0"/>
                        </a:spcAft>
                        <a:buNone/>
                      </a:pPr>
                      <a:r>
                        <a:rPr lang="en-US" sz="1200"/>
                        <a:t>Աշակերտները հանդես են եկել առաջարկու-թյուններով, որոնց մի մասը հաշվի է առնվել հաստատության ներքին կարգապահական կանոնները հաստատելիս: </a:t>
                      </a:r>
                      <a:endParaRPr sz="1800"/>
                    </a:p>
                  </a:txBody>
                  <a:tcPr marT="0" marB="0" marR="0" marL="0" anchor="ct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graphicFrame>
        <p:nvGraphicFramePr>
          <p:cNvPr id="581" name="Google Shape;581;p74"/>
          <p:cNvGraphicFramePr/>
          <p:nvPr/>
        </p:nvGraphicFramePr>
        <p:xfrm>
          <a:off x="236314" y="322528"/>
          <a:ext cx="3000000" cy="3000000"/>
        </p:xfrm>
        <a:graphic>
          <a:graphicData uri="http://schemas.openxmlformats.org/drawingml/2006/table">
            <a:tbl>
              <a:tblPr>
                <a:noFill/>
                <a:tableStyleId>{40B977D2-3903-41EF-8714-5AC59086702B}</a:tableStyleId>
              </a:tblPr>
              <a:tblGrid>
                <a:gridCol w="4388225"/>
                <a:gridCol w="1270225"/>
                <a:gridCol w="2175650"/>
                <a:gridCol w="2160800"/>
              </a:tblGrid>
              <a:tr h="59700">
                <a:tc gridSpan="4">
                  <a:txBody>
                    <a:bodyPr/>
                    <a:lstStyle/>
                    <a:p>
                      <a:pPr indent="0" lvl="0" marL="0" marR="0" rtl="0" algn="l">
                        <a:lnSpc>
                          <a:spcPct val="114999"/>
                        </a:lnSpc>
                        <a:spcBef>
                          <a:spcPts val="0"/>
                        </a:spcBef>
                        <a:spcAft>
                          <a:spcPts val="0"/>
                        </a:spcAft>
                        <a:buNone/>
                      </a:pPr>
                      <a:r>
                        <a:rPr b="1" lang="en-US" sz="1400"/>
                        <a:t>Իրենց հուզող հարցերի վերաբերյալ սովորողների կողմից կազմակերպված համաժողովները, սեմինարները, կլոր-սեղանները, քննարկումները և մասնակցություն ունեցած սովորողների տոկոսը </a:t>
                      </a:r>
                      <a:endParaRPr b="1" sz="1800"/>
                    </a:p>
                  </a:txBody>
                  <a:tcPr marT="0" marB="0" marR="0" marL="0" anchor="ctr"/>
                </a:tc>
                <a:tc hMerge="1"/>
                <a:tc hMerge="1"/>
                <a:tc hMerge="1"/>
              </a:tr>
              <a:tr h="119500">
                <a:tc>
                  <a:txBody>
                    <a:bodyPr/>
                    <a:lstStyle/>
                    <a:p>
                      <a:pPr indent="0" lvl="0" marL="0" marR="0" rtl="0" algn="l">
                        <a:lnSpc>
                          <a:spcPct val="115000"/>
                        </a:lnSpc>
                        <a:spcBef>
                          <a:spcPts val="0"/>
                        </a:spcBef>
                        <a:spcAft>
                          <a:spcPts val="0"/>
                        </a:spcAft>
                        <a:buNone/>
                      </a:pPr>
                      <a:r>
                        <a:rPr lang="en-US" sz="1400"/>
                        <a:t>Թվարկել վերջին 3 տարում սովորողների կողմից կազմակերպված համաժողովները, սեմինարները, կլոր-սեղանները, քննարկումները, նշել դրանց թեմաները </a:t>
                      </a:r>
                      <a:endParaRPr sz="1800"/>
                    </a:p>
                  </a:txBody>
                  <a:tcPr marT="0" marB="0" marR="0" marL="0" anchor="ctr"/>
                </a:tc>
                <a:tc>
                  <a:txBody>
                    <a:bodyPr/>
                    <a:lstStyle/>
                    <a:p>
                      <a:pPr indent="0" lvl="0" marL="0" marR="0" rtl="0" algn="l">
                        <a:lnSpc>
                          <a:spcPct val="115000"/>
                        </a:lnSpc>
                        <a:spcBef>
                          <a:spcPts val="0"/>
                        </a:spcBef>
                        <a:spcAft>
                          <a:spcPts val="0"/>
                        </a:spcAft>
                        <a:buNone/>
                      </a:pPr>
                      <a:r>
                        <a:rPr lang="en-US" sz="1400"/>
                        <a:t>Ամսաթիվ </a:t>
                      </a:r>
                      <a:endParaRPr sz="1800"/>
                    </a:p>
                  </a:txBody>
                  <a:tcPr marT="0" marB="0" marR="0" marL="0" anchor="ctr"/>
                </a:tc>
                <a:tc>
                  <a:txBody>
                    <a:bodyPr/>
                    <a:lstStyle/>
                    <a:p>
                      <a:pPr indent="0" lvl="0" marL="0" marR="0" rtl="0" algn="l">
                        <a:lnSpc>
                          <a:spcPct val="115000"/>
                        </a:lnSpc>
                        <a:spcBef>
                          <a:spcPts val="0"/>
                        </a:spcBef>
                        <a:spcAft>
                          <a:spcPts val="0"/>
                        </a:spcAft>
                        <a:buNone/>
                      </a:pPr>
                      <a:r>
                        <a:rPr lang="en-US" sz="1400"/>
                        <a:t>Մասնակից սովորողների տոկոսը՝ սովորողների ընդհանուր թվի նկատմամբ </a:t>
                      </a:r>
                      <a:endParaRPr sz="1800"/>
                    </a:p>
                  </a:txBody>
                  <a:tcPr marT="0" marB="0" marR="0" marL="0" anchor="ctr"/>
                </a:tc>
                <a:tc>
                  <a:txBody>
                    <a:bodyPr/>
                    <a:lstStyle/>
                    <a:p>
                      <a:pPr indent="0" lvl="0" marL="0" marR="0" rtl="0" algn="l">
                        <a:lnSpc>
                          <a:spcPct val="115000"/>
                        </a:lnSpc>
                        <a:spcBef>
                          <a:spcPts val="0"/>
                        </a:spcBef>
                        <a:spcAft>
                          <a:spcPts val="0"/>
                        </a:spcAft>
                        <a:buNone/>
                      </a:pPr>
                      <a:r>
                        <a:rPr lang="en-US" sz="1400"/>
                        <a:t>Մեկնաբանություն </a:t>
                      </a:r>
                      <a:endParaRPr sz="1800"/>
                    </a:p>
                  </a:txBody>
                  <a:tcPr marT="0" marB="0" marR="0" marL="0" anchor="ctr"/>
                </a:tc>
              </a:tr>
              <a:tr h="39875">
                <a:tc>
                  <a:txBody>
                    <a:bodyPr/>
                    <a:lstStyle/>
                    <a:p>
                      <a:pPr indent="0" lvl="0" marL="0" marR="0" rtl="0" algn="l">
                        <a:lnSpc>
                          <a:spcPct val="115000"/>
                        </a:lnSpc>
                        <a:spcBef>
                          <a:spcPts val="0"/>
                        </a:spcBef>
                        <a:spcAft>
                          <a:spcPts val="0"/>
                        </a:spcAft>
                        <a:buNone/>
                      </a:pPr>
                      <a:r>
                        <a:rPr lang="en-US" sz="1400"/>
                        <a:t>1. «Սովորողի իրավունքներն ու պարտականությունները» քննարկում </a:t>
                      </a:r>
                      <a:endParaRPr sz="1800"/>
                    </a:p>
                  </a:txBody>
                  <a:tcPr marT="0" marB="0" marR="0" marL="0" anchor="ctr"/>
                </a:tc>
                <a:tc>
                  <a:txBody>
                    <a:bodyPr/>
                    <a:lstStyle/>
                    <a:p>
                      <a:pPr indent="0" lvl="0" marL="0" marR="0" rtl="0" algn="l">
                        <a:lnSpc>
                          <a:spcPct val="115000"/>
                        </a:lnSpc>
                        <a:spcBef>
                          <a:spcPts val="0"/>
                        </a:spcBef>
                        <a:spcAft>
                          <a:spcPts val="0"/>
                        </a:spcAft>
                        <a:buNone/>
                      </a:pPr>
                      <a:r>
                        <a:rPr lang="en-US" sz="1400"/>
                        <a:t>ամենամյա </a:t>
                      </a:r>
                      <a:endParaRPr sz="1800"/>
                    </a:p>
                  </a:txBody>
                  <a:tcPr marT="0" marB="0" marR="0" marL="0" anchor="ctr"/>
                </a:tc>
                <a:tc>
                  <a:txBody>
                    <a:bodyPr/>
                    <a:lstStyle/>
                    <a:p>
                      <a:pPr indent="0" lvl="0" marL="0" marR="0" rtl="0" algn="ctr">
                        <a:lnSpc>
                          <a:spcPct val="114999"/>
                        </a:lnSpc>
                        <a:spcBef>
                          <a:spcPts val="0"/>
                        </a:spcBef>
                        <a:spcAft>
                          <a:spcPts val="0"/>
                        </a:spcAft>
                        <a:buNone/>
                      </a:pPr>
                      <a:r>
                        <a:rPr lang="en-US" sz="1400"/>
                        <a:t>62% </a:t>
                      </a:r>
                      <a:endParaRPr sz="1800"/>
                    </a:p>
                  </a:txBody>
                  <a:tcPr marT="0" marB="0" marR="0" marL="0" anchor="ctr"/>
                </a:tc>
                <a:tc>
                  <a:txBody>
                    <a:bodyPr/>
                    <a:lstStyle/>
                    <a:p>
                      <a:pPr indent="0" lvl="0" marL="0" marR="0" rtl="0" algn="l">
                        <a:lnSpc>
                          <a:spcPct val="115000"/>
                        </a:lnSpc>
                        <a:spcBef>
                          <a:spcPts val="0"/>
                        </a:spcBef>
                        <a:spcAft>
                          <a:spcPts val="0"/>
                        </a:spcAft>
                        <a:buNone/>
                      </a:pPr>
                      <a:r>
                        <a:rPr lang="en-US" sz="1400"/>
                        <a:t>Թեման կրկնվում է դպրոց ընդունված աշակերտներին ևս ներգրավելու համար </a:t>
                      </a:r>
                      <a:endParaRPr sz="1800"/>
                    </a:p>
                  </a:txBody>
                  <a:tcPr marT="0" marB="0" marR="0" marL="0" anchor="ctr"/>
                </a:tc>
              </a:tr>
              <a:tr h="39875">
                <a:tc>
                  <a:txBody>
                    <a:bodyPr/>
                    <a:lstStyle/>
                    <a:p>
                      <a:pPr indent="0" lvl="0" marL="0" marR="0" rtl="0" algn="l">
                        <a:lnSpc>
                          <a:spcPct val="115000"/>
                        </a:lnSpc>
                        <a:spcBef>
                          <a:spcPts val="0"/>
                        </a:spcBef>
                        <a:spcAft>
                          <a:spcPts val="0"/>
                        </a:spcAft>
                        <a:buNone/>
                      </a:pPr>
                      <a:r>
                        <a:rPr lang="en-US" sz="1400"/>
                        <a:t>2. «Արդի մասնագիտություններ. աշխատաշուկա»՝  մասնագիտական կողմնորոշման հանձնախմբի նախաձեռնությամբ </a:t>
                      </a:r>
                      <a:endParaRPr sz="1800"/>
                    </a:p>
                  </a:txBody>
                  <a:tcPr marT="0" marB="0" marR="0" marL="0" anchor="ctr"/>
                </a:tc>
                <a:tc>
                  <a:txBody>
                    <a:bodyPr/>
                    <a:lstStyle/>
                    <a:p>
                      <a:pPr indent="0" lvl="0" marL="0" marR="0" rtl="0" algn="l">
                        <a:lnSpc>
                          <a:spcPct val="115000"/>
                        </a:lnSpc>
                        <a:spcBef>
                          <a:spcPts val="0"/>
                        </a:spcBef>
                        <a:spcAft>
                          <a:spcPts val="0"/>
                        </a:spcAft>
                        <a:buNone/>
                      </a:pPr>
                      <a:r>
                        <a:rPr lang="en-US" sz="1400"/>
                        <a:t>պարբերաբար </a:t>
                      </a:r>
                      <a:endParaRPr sz="1800"/>
                    </a:p>
                  </a:txBody>
                  <a:tcPr marT="0" marB="0" marR="0" marL="0" anchor="ctr"/>
                </a:tc>
                <a:tc>
                  <a:txBody>
                    <a:bodyPr/>
                    <a:lstStyle/>
                    <a:p>
                      <a:pPr indent="0" lvl="0" marL="0" marR="0" rtl="0" algn="ctr">
                        <a:lnSpc>
                          <a:spcPct val="114999"/>
                        </a:lnSpc>
                        <a:spcBef>
                          <a:spcPts val="0"/>
                        </a:spcBef>
                        <a:spcAft>
                          <a:spcPts val="0"/>
                        </a:spcAft>
                        <a:buNone/>
                      </a:pPr>
                      <a:r>
                        <a:rPr lang="en-US" sz="1400"/>
                        <a:t>85% </a:t>
                      </a:r>
                      <a:endParaRPr sz="1800"/>
                    </a:p>
                  </a:txBody>
                  <a:tcPr marT="0" marB="0" marR="0" marL="0" anchor="ctr"/>
                </a:tc>
                <a:tc>
                  <a:txBody>
                    <a:bodyPr/>
                    <a:lstStyle/>
                    <a:p>
                      <a:pPr indent="0" lvl="0" marL="0" marR="0" rtl="0" algn="l">
                        <a:spcBef>
                          <a:spcPts val="0"/>
                        </a:spcBef>
                        <a:spcAft>
                          <a:spcPts val="0"/>
                        </a:spcAft>
                        <a:buNone/>
                      </a:pPr>
                      <a:r>
                        <a:rPr lang="en-US" sz="1400"/>
                        <a:t>Մասնագիտական կողմնորոշման նպատակով </a:t>
                      </a:r>
                      <a:endParaRPr sz="1800"/>
                    </a:p>
                  </a:txBody>
                  <a:tcPr marT="0" marB="0" marR="0" marL="0" anchor="ctr"/>
                </a:tc>
              </a:tr>
              <a:tr h="1379325">
                <a:tc>
                  <a:txBody>
                    <a:bodyPr/>
                    <a:lstStyle/>
                    <a:p>
                      <a:pPr indent="0" lvl="0" marL="0" marR="0" rtl="0" algn="l">
                        <a:lnSpc>
                          <a:spcPct val="115000"/>
                        </a:lnSpc>
                        <a:spcBef>
                          <a:spcPts val="0"/>
                        </a:spcBef>
                        <a:spcAft>
                          <a:spcPts val="0"/>
                        </a:spcAft>
                        <a:buNone/>
                      </a:pPr>
                      <a:r>
                        <a:rPr lang="en-US" sz="1400"/>
                        <a:t>3. «Աշակերտական կերպար»՝ կլոր-սեղան քննարկում ուսուցիչների մասնակցությամբ </a:t>
                      </a:r>
                      <a:endParaRPr sz="1800"/>
                    </a:p>
                  </a:txBody>
                  <a:tcPr marT="0" marB="0" marR="0" marL="0" anchor="ctr"/>
                </a:tc>
                <a:tc>
                  <a:txBody>
                    <a:bodyPr/>
                    <a:lstStyle/>
                    <a:p>
                      <a:pPr indent="0" lvl="0" marL="0" marR="0" rtl="0" algn="l">
                        <a:lnSpc>
                          <a:spcPct val="115000"/>
                        </a:lnSpc>
                        <a:spcBef>
                          <a:spcPts val="0"/>
                        </a:spcBef>
                        <a:spcAft>
                          <a:spcPts val="0"/>
                        </a:spcAft>
                        <a:buNone/>
                      </a:pPr>
                      <a:r>
                        <a:rPr lang="en-US" sz="1400"/>
                        <a:t>  ամենամյա </a:t>
                      </a:r>
                      <a:endParaRPr sz="1800"/>
                    </a:p>
                  </a:txBody>
                  <a:tcPr marT="0" marB="0" marR="0" marL="0" anchor="ctr"/>
                </a:tc>
                <a:tc>
                  <a:txBody>
                    <a:bodyPr/>
                    <a:lstStyle/>
                    <a:p>
                      <a:pPr indent="0" lvl="0" marL="0" marR="0" rtl="0" algn="ctr">
                        <a:lnSpc>
                          <a:spcPct val="114999"/>
                        </a:lnSpc>
                        <a:spcBef>
                          <a:spcPts val="0"/>
                        </a:spcBef>
                        <a:spcAft>
                          <a:spcPts val="0"/>
                        </a:spcAft>
                        <a:buNone/>
                      </a:pPr>
                      <a:r>
                        <a:rPr lang="en-US" sz="1400"/>
                        <a:t>92% </a:t>
                      </a:r>
                      <a:endParaRPr sz="1800"/>
                    </a:p>
                  </a:txBody>
                  <a:tcPr marT="0" marB="0" marR="0" marL="0" anchor="ctr"/>
                </a:tc>
                <a:tc>
                  <a:txBody>
                    <a:bodyPr/>
                    <a:lstStyle/>
                    <a:p>
                      <a:pPr indent="0" lvl="0" marL="0" marR="0" rtl="0" algn="l">
                        <a:spcBef>
                          <a:spcPts val="0"/>
                        </a:spcBef>
                        <a:spcAft>
                          <a:spcPts val="0"/>
                        </a:spcAft>
                        <a:buNone/>
                      </a:pPr>
                      <a:r>
                        <a:rPr lang="en-US" sz="1400"/>
                        <a:t>Աջակցում հաստատության ներքին կարգապահական կանոնների պահպանմանը </a:t>
                      </a:r>
                      <a:endParaRPr sz="1800"/>
                    </a:p>
                  </a:txBody>
                  <a:tcPr marT="0" marB="0" marR="0" marL="0" anchor="ctr"/>
                </a:tc>
              </a:tr>
              <a:tr h="39875">
                <a:tc gridSpan="4">
                  <a:txBody>
                    <a:bodyPr/>
                    <a:lstStyle/>
                    <a:p>
                      <a:pPr indent="0" lvl="0" marL="0" marR="0" rtl="0" algn="l">
                        <a:lnSpc>
                          <a:spcPct val="114999"/>
                        </a:lnSpc>
                        <a:spcBef>
                          <a:spcPts val="0"/>
                        </a:spcBef>
                        <a:spcAft>
                          <a:spcPts val="0"/>
                        </a:spcAft>
                        <a:buNone/>
                      </a:pPr>
                      <a:r>
                        <a:rPr b="1" lang="en-US" sz="1100"/>
                        <a:t>Նկարագրել սովորող - սովորող և սովորող - ուսուցիչ հարաբերություններն ուսումնական հաստատությունում </a:t>
                      </a:r>
                      <a:endParaRPr b="1" sz="1400"/>
                    </a:p>
                  </a:txBody>
                  <a:tcPr marT="0" marB="0" marR="0" marL="0" anchor="ctr"/>
                </a:tc>
                <a:tc hMerge="1"/>
                <a:tc hMerge="1"/>
                <a:tc hMerge="1"/>
              </a:tr>
              <a:tr h="139450">
                <a:tc gridSpan="4">
                  <a:txBody>
                    <a:bodyPr/>
                    <a:lstStyle/>
                    <a:p>
                      <a:pPr indent="0" lvl="0" marL="0" marR="0" rtl="0" algn="l">
                        <a:lnSpc>
                          <a:spcPct val="114999"/>
                        </a:lnSpc>
                        <a:spcBef>
                          <a:spcPts val="0"/>
                        </a:spcBef>
                        <a:spcAft>
                          <a:spcPts val="0"/>
                        </a:spcAft>
                        <a:buNone/>
                      </a:pPr>
                      <a:r>
                        <a:rPr b="1" lang="en-US" sz="1100"/>
                        <a:t>Ուսումնական հաստատությունում տիրում է հանդուրժողականության, համագործակցության առողջ բարոյահոգեբանական մթնոլորտ: </a:t>
                      </a:r>
                      <a:endParaRPr b="1" sz="1400"/>
                    </a:p>
                    <a:p>
                      <a:pPr indent="0" lvl="0" marL="0" marR="0" rtl="0" algn="l">
                        <a:lnSpc>
                          <a:spcPct val="114999"/>
                        </a:lnSpc>
                        <a:spcBef>
                          <a:spcPts val="0"/>
                        </a:spcBef>
                        <a:spcAft>
                          <a:spcPts val="0"/>
                        </a:spcAft>
                        <a:buNone/>
                      </a:pPr>
                      <a:r>
                        <a:rPr b="1" lang="en-US" sz="1100"/>
                        <a:t>Սովորողները միմյանց աջակցում են  տարբեր իրավիճակներում, իրենց հուզող հարցերը քննարկում են  և´ միմյանց, և´ ուսուցիչների հետ: Հարգում են միմյանց իրավունքները՝ չմոռանալով պարտականությունների մասին: </a:t>
                      </a:r>
                      <a:endParaRPr b="1" sz="1400"/>
                    </a:p>
                    <a:p>
                      <a:pPr indent="0" lvl="0" marL="0" marR="0" rtl="0" algn="l">
                        <a:lnSpc>
                          <a:spcPct val="114999"/>
                        </a:lnSpc>
                        <a:spcBef>
                          <a:spcPts val="0"/>
                        </a:spcBef>
                        <a:spcAft>
                          <a:spcPts val="0"/>
                        </a:spcAft>
                        <a:buNone/>
                      </a:pPr>
                      <a:r>
                        <a:rPr b="1" lang="en-US" sz="1100"/>
                        <a:t>Ուսուցիչները հարաբերվում են աշակերտների հետ, ինչպես հավասարը հավասարի՝ խթանելով նրանց մոտ  անհատի և քաղաքացու հոգեբանություն զարգացումը: </a:t>
                      </a:r>
                      <a:endParaRPr b="1" sz="1400"/>
                    </a:p>
                  </a:txBody>
                  <a:tcPr marT="0" marB="0" marR="0" marL="0" anchor="ctr"/>
                </a:tc>
                <a:tc hMerge="1"/>
                <a:tc hMerge="1"/>
                <a:tc hMerge="1"/>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75"/>
          <p:cNvSpPr txBox="1"/>
          <p:nvPr/>
        </p:nvSpPr>
        <p:spPr>
          <a:xfrm>
            <a:off x="149225" y="74613"/>
            <a:ext cx="105134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Merriweather"/>
                <a:ea typeface="Merriweather"/>
                <a:cs typeface="Merriweather"/>
                <a:sym typeface="Merriweather"/>
              </a:rPr>
              <a:t>Աղյուսակ 31. Տվյալներ հաստատության աշակերտական խորհրդի գործունեության վերաբերյալ</a:t>
            </a:r>
            <a:endParaRPr b="1" i="1" sz="1800">
              <a:solidFill>
                <a:schemeClr val="dk1"/>
              </a:solidFill>
              <a:latin typeface="Merriweather"/>
              <a:ea typeface="Merriweather"/>
              <a:cs typeface="Merriweather"/>
              <a:sym typeface="Merriweather"/>
            </a:endParaRPr>
          </a:p>
        </p:txBody>
      </p:sp>
      <p:graphicFrame>
        <p:nvGraphicFramePr>
          <p:cNvPr id="588" name="Google Shape;588;p75"/>
          <p:cNvGraphicFramePr/>
          <p:nvPr/>
        </p:nvGraphicFramePr>
        <p:xfrm>
          <a:off x="284791" y="686026"/>
          <a:ext cx="3000000" cy="3000000"/>
        </p:xfrm>
        <a:graphic>
          <a:graphicData uri="http://schemas.openxmlformats.org/drawingml/2006/table">
            <a:tbl>
              <a:tblPr>
                <a:noFill/>
                <a:tableStyleId>{40B977D2-3903-41EF-8714-5AC59086702B}</a:tableStyleId>
              </a:tblPr>
              <a:tblGrid>
                <a:gridCol w="4895850"/>
                <a:gridCol w="1314450"/>
                <a:gridCol w="2209800"/>
                <a:gridCol w="2133600"/>
              </a:tblGrid>
              <a:tr h="50550">
                <a:tc gridSpan="4">
                  <a:txBody>
                    <a:bodyPr/>
                    <a:lstStyle/>
                    <a:p>
                      <a:pPr indent="0" lvl="0" marL="0" marR="0" rtl="0" algn="ctr">
                        <a:lnSpc>
                          <a:spcPct val="150000"/>
                        </a:lnSpc>
                        <a:spcBef>
                          <a:spcPts val="0"/>
                        </a:spcBef>
                        <a:spcAft>
                          <a:spcPts val="0"/>
                        </a:spcAft>
                        <a:buNone/>
                      </a:pPr>
                      <a:r>
                        <a:rPr b="1" lang="en-US" sz="1400"/>
                        <a:t>Ցուցանիշ </a:t>
                      </a:r>
                      <a:endParaRPr b="1" sz="1800"/>
                    </a:p>
                  </a:txBody>
                  <a:tcPr marT="0" marB="0" marR="0" marL="0" anchor="ctr"/>
                </a:tc>
                <a:tc hMerge="1"/>
                <a:tc hMerge="1"/>
                <a:tc hMerge="1"/>
              </a:tr>
              <a:tr h="100975">
                <a:tc gridSpan="4">
                  <a:txBody>
                    <a:bodyPr/>
                    <a:lstStyle/>
                    <a:p>
                      <a:pPr indent="0" lvl="0" marL="0" marR="0" rtl="0" algn="l">
                        <a:lnSpc>
                          <a:spcPct val="150000"/>
                        </a:lnSpc>
                        <a:spcBef>
                          <a:spcPts val="0"/>
                        </a:spcBef>
                        <a:spcAft>
                          <a:spcPts val="0"/>
                        </a:spcAft>
                        <a:buNone/>
                      </a:pPr>
                      <a:r>
                        <a:rPr b="1" lang="en-US" sz="1400"/>
                        <a:t>Աշակերտական խորհրդի կողմից նախաձեռնած քայլերն ուղղված ուսման մեջ կամ այլ հարցերում խնդիրներ ունեցող սովորողներին աջակցելուն. </a:t>
                      </a:r>
                      <a:endParaRPr b="1" sz="1800"/>
                    </a:p>
                  </a:txBody>
                  <a:tcPr marT="0" marB="0" marR="0" marL="0" anchor="ctr"/>
                </a:tc>
                <a:tc hMerge="1"/>
                <a:tc hMerge="1"/>
                <a:tc hMerge="1"/>
              </a:tr>
              <a:tr h="353575">
                <a:tc>
                  <a:txBody>
                    <a:bodyPr/>
                    <a:lstStyle/>
                    <a:p>
                      <a:pPr indent="0" lvl="0" marL="0" marR="0" rtl="0" algn="l">
                        <a:lnSpc>
                          <a:spcPct val="150000"/>
                        </a:lnSpc>
                        <a:spcBef>
                          <a:spcPts val="0"/>
                        </a:spcBef>
                        <a:spcAft>
                          <a:spcPts val="0"/>
                        </a:spcAft>
                        <a:buNone/>
                      </a:pPr>
                      <a:r>
                        <a:rPr lang="en-US" sz="1400"/>
                        <a:t>Նկարագրել վերջին 3 տարում աշակերտական խորհրդի կողմից նախաձեռնած քայլերն ուղղված ուսման մեջ կամ այլ հարցերում խնդիրներ ունեցող սովորողներին աջակցելուն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Ամսաթիվ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Աջակցություն ստացած սովորողների թիվը և տոկոսը՝ սովորողների ընդհանուր թվի նկատմամբ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Մեկնաբանություն </a:t>
                      </a:r>
                      <a:endParaRPr sz="1800"/>
                    </a:p>
                  </a:txBody>
                  <a:tcPr marT="0" marB="0" marR="0" marL="0" anchor="ctr"/>
                </a:tc>
              </a:tr>
              <a:tr h="353575">
                <a:tc>
                  <a:txBody>
                    <a:bodyPr/>
                    <a:lstStyle/>
                    <a:p>
                      <a:pPr indent="-54610" lvl="0" marL="54610" marR="0" rtl="0" algn="l">
                        <a:lnSpc>
                          <a:spcPct val="150000"/>
                        </a:lnSpc>
                        <a:spcBef>
                          <a:spcPts val="0"/>
                        </a:spcBef>
                        <a:spcAft>
                          <a:spcPts val="0"/>
                        </a:spcAft>
                        <a:buNone/>
                      </a:pPr>
                      <a:r>
                        <a:rPr lang="en-US" sz="1400"/>
                        <a:t>1.Առողջ մրցակցություն ապահովելու, առաջադիմութունը խթանելու նպատակով մրցույթների, խրախուսումների իրականացման մոտիվացիայի ստեղծում: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պարբերաբար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75%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Մեթոդն արդյունավետ է ու նպատակաուղղված: </a:t>
                      </a:r>
                      <a:endParaRPr sz="1800"/>
                    </a:p>
                  </a:txBody>
                  <a:tcPr marT="0" marB="0" marR="0" marL="0" anchor="ctr"/>
                </a:tc>
              </a:tr>
              <a:tr h="303025">
                <a:tc>
                  <a:txBody>
                    <a:bodyPr/>
                    <a:lstStyle/>
                    <a:p>
                      <a:pPr indent="-54610" lvl="0" marL="54610" marR="0" rtl="0" algn="l">
                        <a:lnSpc>
                          <a:spcPct val="150000"/>
                        </a:lnSpc>
                        <a:spcBef>
                          <a:spcPts val="0"/>
                        </a:spcBef>
                        <a:spcAft>
                          <a:spcPts val="0"/>
                        </a:spcAft>
                        <a:buNone/>
                      </a:pPr>
                      <a:r>
                        <a:rPr lang="en-US" sz="1400"/>
                        <a:t>2.Բարդույթներ ունեցող աշակերտների ինտեգրում միջոցառումներին և այլ նախաձեռնություններին սոցիալական և կրթության հանձնախմբերի կողմից: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պարբերաբար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                    54 %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Մեթոդն արդյունավետ է ու նպատակաուղղված: </a:t>
                      </a:r>
                      <a:endParaRPr sz="1800"/>
                    </a:p>
                  </a:txBody>
                  <a:tcPr marT="0" marB="0" marR="0" marL="0" anchor="ct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graphicFrame>
        <p:nvGraphicFramePr>
          <p:cNvPr id="594" name="Google Shape;594;p76"/>
          <p:cNvGraphicFramePr/>
          <p:nvPr/>
        </p:nvGraphicFramePr>
        <p:xfrm>
          <a:off x="284791" y="673910"/>
          <a:ext cx="3000000" cy="3000000"/>
        </p:xfrm>
        <a:graphic>
          <a:graphicData uri="http://schemas.openxmlformats.org/drawingml/2006/table">
            <a:tbl>
              <a:tblPr>
                <a:noFill/>
                <a:tableStyleId>{40B977D2-3903-41EF-8714-5AC59086702B}</a:tableStyleId>
              </a:tblPr>
              <a:tblGrid>
                <a:gridCol w="4349125"/>
                <a:gridCol w="1053175"/>
                <a:gridCol w="2131725"/>
                <a:gridCol w="3362550"/>
              </a:tblGrid>
              <a:tr h="54350">
                <a:tc gridSpan="4">
                  <a:txBody>
                    <a:bodyPr/>
                    <a:lstStyle/>
                    <a:p>
                      <a:pPr indent="0" lvl="0" marL="0" marR="0" rtl="0" algn="ctr">
                        <a:spcBef>
                          <a:spcPts val="0"/>
                        </a:spcBef>
                        <a:spcAft>
                          <a:spcPts val="0"/>
                        </a:spcAft>
                        <a:buNone/>
                      </a:pPr>
                      <a:r>
                        <a:rPr b="1" lang="en-US" sz="1200"/>
                        <a:t>Ցուցանիշ </a:t>
                      </a:r>
                      <a:endParaRPr/>
                    </a:p>
                    <a:p>
                      <a:pPr indent="0" lvl="0" marL="0" marR="0" rtl="0" algn="ctr">
                        <a:spcBef>
                          <a:spcPts val="0"/>
                        </a:spcBef>
                        <a:spcAft>
                          <a:spcPts val="0"/>
                        </a:spcAft>
                        <a:buNone/>
                      </a:pPr>
                      <a:r>
                        <a:t/>
                      </a:r>
                      <a:endParaRPr b="1" sz="1200"/>
                    </a:p>
                  </a:txBody>
                  <a:tcPr marT="0" marB="0" marR="0" marL="0" anchor="ctr"/>
                </a:tc>
                <a:tc hMerge="1"/>
                <a:tc hMerge="1"/>
                <a:tc hMerge="1"/>
              </a:tr>
              <a:tr h="108575">
                <a:tc gridSpan="4">
                  <a:txBody>
                    <a:bodyPr/>
                    <a:lstStyle/>
                    <a:p>
                      <a:pPr indent="0" lvl="0" marL="0" marR="0" rtl="0" algn="l">
                        <a:spcBef>
                          <a:spcPts val="0"/>
                        </a:spcBef>
                        <a:spcAft>
                          <a:spcPts val="0"/>
                        </a:spcAft>
                        <a:buNone/>
                      </a:pPr>
                      <a:r>
                        <a:rPr b="1" lang="en-US" sz="1200"/>
                        <a:t>Աշակերտական խորհրդի ձեռնարկած միջոցները` սովորողների միջև ծագած վեճերին և խնդիրներին լուծում տալու նպատակով </a:t>
                      </a:r>
                      <a:endParaRPr/>
                    </a:p>
                    <a:p>
                      <a:pPr indent="0" lvl="0" marL="0" marR="0" rtl="0" algn="l">
                        <a:spcBef>
                          <a:spcPts val="0"/>
                        </a:spcBef>
                        <a:spcAft>
                          <a:spcPts val="0"/>
                        </a:spcAft>
                        <a:buNone/>
                      </a:pPr>
                      <a:r>
                        <a:t/>
                      </a:r>
                      <a:endParaRPr b="1" sz="1200"/>
                    </a:p>
                  </a:txBody>
                  <a:tcPr marT="0" marB="0" marR="0" marL="0" anchor="ctr"/>
                </a:tc>
                <a:tc hMerge="1"/>
                <a:tc hMerge="1"/>
                <a:tc hMerge="1"/>
              </a:tr>
              <a:tr h="380100">
                <a:tc>
                  <a:txBody>
                    <a:bodyPr/>
                    <a:lstStyle/>
                    <a:p>
                      <a:pPr indent="0" lvl="0" marL="0" marR="0" rtl="0" algn="l">
                        <a:spcBef>
                          <a:spcPts val="0"/>
                        </a:spcBef>
                        <a:spcAft>
                          <a:spcPts val="0"/>
                        </a:spcAft>
                        <a:buNone/>
                      </a:pPr>
                      <a:r>
                        <a:rPr lang="en-US" sz="1200"/>
                        <a:t>Նկարագրել վերջին 3 տարում աշակերտական խորհրդի կողմից ձեռնարկած միջոցները՝ սովորողների միջև ծագած վեճերին և խնդիրներին լուծում տալու նպատակով </a:t>
                      </a:r>
                      <a:endParaRPr sz="1800"/>
                    </a:p>
                  </a:txBody>
                  <a:tcPr marT="0" marB="0" marR="0" marL="0" anchor="ctr"/>
                </a:tc>
                <a:tc>
                  <a:txBody>
                    <a:bodyPr/>
                    <a:lstStyle/>
                    <a:p>
                      <a:pPr indent="0" lvl="0" marL="0" marR="0" rtl="0" algn="l">
                        <a:spcBef>
                          <a:spcPts val="0"/>
                        </a:spcBef>
                        <a:spcAft>
                          <a:spcPts val="0"/>
                        </a:spcAft>
                        <a:buNone/>
                      </a:pPr>
                      <a:r>
                        <a:rPr lang="en-US" sz="1200"/>
                        <a:t>Ամսաթիվ </a:t>
                      </a:r>
                      <a:endParaRPr sz="1800"/>
                    </a:p>
                  </a:txBody>
                  <a:tcPr marT="0" marB="0" marR="0" marL="0" anchor="ctr"/>
                </a:tc>
                <a:tc>
                  <a:txBody>
                    <a:bodyPr/>
                    <a:lstStyle/>
                    <a:p>
                      <a:pPr indent="0" lvl="0" marL="0" marR="0" rtl="0" algn="l">
                        <a:spcBef>
                          <a:spcPts val="0"/>
                        </a:spcBef>
                        <a:spcAft>
                          <a:spcPts val="0"/>
                        </a:spcAft>
                        <a:buNone/>
                      </a:pPr>
                      <a:r>
                        <a:rPr lang="en-US" sz="1200"/>
                        <a:t>Աջակցություն ստացած սովորողների թիվը և տոկոսը՝ սովորողների ընդհանուր թվի նկատմամբ </a:t>
                      </a:r>
                      <a:endParaRPr sz="1800"/>
                    </a:p>
                  </a:txBody>
                  <a:tcPr marT="0" marB="0" marR="0" marL="0" anchor="ctr"/>
                </a:tc>
                <a:tc>
                  <a:txBody>
                    <a:bodyPr/>
                    <a:lstStyle/>
                    <a:p>
                      <a:pPr indent="0" lvl="0" marL="0" marR="0" rtl="0" algn="l">
                        <a:spcBef>
                          <a:spcPts val="0"/>
                        </a:spcBef>
                        <a:spcAft>
                          <a:spcPts val="0"/>
                        </a:spcAft>
                        <a:buNone/>
                      </a:pPr>
                      <a:r>
                        <a:rPr lang="en-US" sz="1200"/>
                        <a:t>Մեկնաբանություն </a:t>
                      </a:r>
                      <a:endParaRPr sz="1800"/>
                    </a:p>
                  </a:txBody>
                  <a:tcPr marT="0" marB="0" marR="0" marL="0" anchor="ctr"/>
                </a:tc>
              </a:tr>
              <a:tr h="1140200">
                <a:tc>
                  <a:txBody>
                    <a:bodyPr/>
                    <a:lstStyle/>
                    <a:p>
                      <a:pPr indent="0" lvl="0" marL="0" marR="0" rtl="0" algn="l">
                        <a:spcBef>
                          <a:spcPts val="0"/>
                        </a:spcBef>
                        <a:spcAft>
                          <a:spcPts val="0"/>
                        </a:spcAft>
                        <a:buNone/>
                      </a:pPr>
                      <a:r>
                        <a:rPr lang="en-US" sz="1200"/>
                        <a:t>1. Հրավիրել ԱԽ նիստեր և անցկացնել քննարկումներ առկա խնդիրները լուծելու նպատակով: </a:t>
                      </a:r>
                      <a:endParaRPr sz="1800"/>
                    </a:p>
                  </a:txBody>
                  <a:tcPr marT="0" marB="0" marR="0" marL="0" anchor="ctr"/>
                </a:tc>
                <a:tc>
                  <a:txBody>
                    <a:bodyPr/>
                    <a:lstStyle/>
                    <a:p>
                      <a:pPr indent="0" lvl="0" marL="0" marR="0" rtl="0" algn="l">
                        <a:spcBef>
                          <a:spcPts val="0"/>
                        </a:spcBef>
                        <a:spcAft>
                          <a:spcPts val="0"/>
                        </a:spcAft>
                        <a:buNone/>
                      </a:pPr>
                      <a:r>
                        <a:rPr lang="en-US" sz="1200"/>
                        <a:t>պարբերաբար </a:t>
                      </a:r>
                      <a:endParaRPr sz="1800"/>
                    </a:p>
                  </a:txBody>
                  <a:tcPr marT="0" marB="0" marR="0" marL="0" anchor="ctr"/>
                </a:tc>
                <a:tc>
                  <a:txBody>
                    <a:bodyPr/>
                    <a:lstStyle/>
                    <a:p>
                      <a:pPr indent="0" lvl="0" marL="0" marR="0" rtl="0" algn="ctr">
                        <a:spcBef>
                          <a:spcPts val="0"/>
                        </a:spcBef>
                        <a:spcAft>
                          <a:spcPts val="0"/>
                        </a:spcAft>
                        <a:buNone/>
                      </a:pPr>
                      <a:r>
                        <a:rPr lang="en-US" sz="1200"/>
                        <a:t>52% </a:t>
                      </a:r>
                      <a:endParaRPr sz="1800"/>
                    </a:p>
                  </a:txBody>
                  <a:tcPr marT="0" marB="0" marR="0" marL="0" anchor="ctr"/>
                </a:tc>
                <a:tc>
                  <a:txBody>
                    <a:bodyPr/>
                    <a:lstStyle/>
                    <a:p>
                      <a:pPr indent="0" lvl="0" marL="0" marR="0" rtl="0" algn="l">
                        <a:spcBef>
                          <a:spcPts val="0"/>
                        </a:spcBef>
                        <a:spcAft>
                          <a:spcPts val="0"/>
                        </a:spcAft>
                        <a:buNone/>
                      </a:pPr>
                      <a:r>
                        <a:rPr lang="en-US" sz="1200"/>
                        <a:t>Ժամանակին բացահայտել աշակերտների մոտ առկա խաթարված միջանձնային հարաբերությունները: </a:t>
                      </a:r>
                      <a:endParaRPr sz="1800"/>
                    </a:p>
                    <a:p>
                      <a:pPr indent="0" lvl="0" marL="0" marR="0" rtl="0" algn="l">
                        <a:spcBef>
                          <a:spcPts val="0"/>
                        </a:spcBef>
                        <a:spcAft>
                          <a:spcPts val="0"/>
                        </a:spcAft>
                        <a:buNone/>
                      </a:pPr>
                      <a:r>
                        <a:rPr lang="en-US" sz="1200"/>
                        <a:t>Պարզել սովորողների միջև ծագած վեճերի շարժառիթներն ու դրդապատճառները՝ հետագայում նմանատիպ դեպքերը կանխարգելելու  նպատակով: </a:t>
                      </a:r>
                      <a:endParaRPr sz="1800"/>
                    </a:p>
                  </a:txBody>
                  <a:tcPr marT="0" marB="0" marR="0" marL="0" anchor="ctr"/>
                </a:tc>
              </a:tr>
              <a:tr h="705875">
                <a:tc>
                  <a:txBody>
                    <a:bodyPr/>
                    <a:lstStyle/>
                    <a:p>
                      <a:pPr indent="0" lvl="0" marL="0" marR="0" rtl="0" algn="l">
                        <a:spcBef>
                          <a:spcPts val="0"/>
                        </a:spcBef>
                        <a:spcAft>
                          <a:spcPts val="0"/>
                        </a:spcAft>
                        <a:buNone/>
                      </a:pPr>
                      <a:r>
                        <a:rPr lang="en-US" sz="1200"/>
                        <a:t>2.Առանձնազրույցներ խնդիրներ ունեցող սովորողների հետ՝ ներգրավելով նաև խնդիր ունեցող սովորողների կողմից հեղինկաություն ունեցող երիտասարդ ուսուցիչների և հաստատությունում բարի համբավ ունեցող սովորողներ ևս՝ հաշվի առնելով վերջիններիս քաղաքացիական գիտակցությունը, ընկերասիրությունը, աջակցելու պատրաստակամությունը: </a:t>
                      </a:r>
                      <a:endParaRPr sz="1800"/>
                    </a:p>
                  </a:txBody>
                  <a:tcPr marT="0" marB="0" marR="0" marL="0" anchor="ctr"/>
                </a:tc>
                <a:tc>
                  <a:txBody>
                    <a:bodyPr/>
                    <a:lstStyle/>
                    <a:p>
                      <a:pPr indent="0" lvl="0" marL="0" marR="0" rtl="0" algn="l">
                        <a:spcBef>
                          <a:spcPts val="0"/>
                        </a:spcBef>
                        <a:spcAft>
                          <a:spcPts val="0"/>
                        </a:spcAft>
                        <a:buNone/>
                      </a:pPr>
                      <a:r>
                        <a:rPr lang="en-US" sz="1200"/>
                        <a:t>պարբերաբար </a:t>
                      </a:r>
                      <a:endParaRPr sz="1800"/>
                    </a:p>
                  </a:txBody>
                  <a:tcPr marT="0" marB="0" marR="0" marL="0" anchor="ctr"/>
                </a:tc>
                <a:tc>
                  <a:txBody>
                    <a:bodyPr/>
                    <a:lstStyle/>
                    <a:p>
                      <a:pPr indent="0" lvl="0" marL="0" marR="0" rtl="0" algn="ctr">
                        <a:spcBef>
                          <a:spcPts val="0"/>
                        </a:spcBef>
                        <a:spcAft>
                          <a:spcPts val="0"/>
                        </a:spcAft>
                        <a:buNone/>
                      </a:pPr>
                      <a:r>
                        <a:rPr lang="en-US" sz="1200"/>
                        <a:t>58% </a:t>
                      </a:r>
                      <a:endParaRPr sz="1800"/>
                    </a:p>
                  </a:txBody>
                  <a:tcPr marT="0" marB="0" marR="0" marL="0" anchor="ctr"/>
                </a:tc>
                <a:tc>
                  <a:txBody>
                    <a:bodyPr/>
                    <a:lstStyle/>
                    <a:p>
                      <a:pPr indent="0" lvl="0" marL="0" marR="0" rtl="0" algn="l">
                        <a:spcBef>
                          <a:spcPts val="0"/>
                        </a:spcBef>
                        <a:spcAft>
                          <a:spcPts val="0"/>
                        </a:spcAft>
                        <a:buNone/>
                      </a:pPr>
                      <a:r>
                        <a:rPr lang="en-US" sz="1200"/>
                        <a:t>Նպատակնել սովորեցնել հանդութժողականություն, կանխարգելել խնդիրների հետագա զարգացումը, հասնել փոխըմբռնման: </a:t>
                      </a:r>
                      <a:endParaRPr sz="1800"/>
                    </a:p>
                  </a:txBody>
                  <a:tcPr marT="0" marB="0" marR="0" marL="0" anchor="ctr"/>
                </a:tc>
              </a:tr>
              <a:tr h="217175">
                <a:tc>
                  <a:txBody>
                    <a:bodyPr/>
                    <a:lstStyle/>
                    <a:p>
                      <a:pPr indent="0" lvl="0" marL="0" marR="0" rtl="0" algn="l">
                        <a:spcBef>
                          <a:spcPts val="0"/>
                        </a:spcBef>
                        <a:spcAft>
                          <a:spcPts val="0"/>
                        </a:spcAft>
                        <a:buNone/>
                      </a:pPr>
                      <a:r>
                        <a:rPr lang="en-US" sz="1200"/>
                        <a:t>3.Աշակերտների իրավունքների ու պարտականությունների պաշտպանության հանձնախմբի անցկացրած քննարկումներ </a:t>
                      </a:r>
                      <a:endParaRPr sz="1800"/>
                    </a:p>
                  </a:txBody>
                  <a:tcPr marT="0" marB="0" marR="0" marL="0" anchor="ctr"/>
                </a:tc>
                <a:tc>
                  <a:txBody>
                    <a:bodyPr/>
                    <a:lstStyle/>
                    <a:p>
                      <a:pPr indent="0" lvl="0" marL="0" marR="0" rtl="0" algn="l">
                        <a:spcBef>
                          <a:spcPts val="0"/>
                        </a:spcBef>
                        <a:spcAft>
                          <a:spcPts val="0"/>
                        </a:spcAft>
                        <a:buNone/>
                      </a:pPr>
                      <a:r>
                        <a:rPr lang="en-US" sz="1200"/>
                        <a:t>պարբերաբար </a:t>
                      </a:r>
                      <a:endParaRPr sz="1800"/>
                    </a:p>
                  </a:txBody>
                  <a:tcPr marT="0" marB="0" marR="0" marL="0" anchor="ctr"/>
                </a:tc>
                <a:tc>
                  <a:txBody>
                    <a:bodyPr/>
                    <a:lstStyle/>
                    <a:p>
                      <a:pPr indent="0" lvl="0" marL="0" marR="0" rtl="0" algn="ctr">
                        <a:spcBef>
                          <a:spcPts val="0"/>
                        </a:spcBef>
                        <a:spcAft>
                          <a:spcPts val="0"/>
                        </a:spcAft>
                        <a:buNone/>
                      </a:pPr>
                      <a:r>
                        <a:rPr lang="en-US" sz="1200"/>
                        <a:t>64% </a:t>
                      </a:r>
                      <a:endParaRPr sz="1800"/>
                    </a:p>
                  </a:txBody>
                  <a:tcPr marT="0" marB="0" marR="0" marL="0" anchor="ctr"/>
                </a:tc>
                <a:tc>
                  <a:txBody>
                    <a:bodyPr/>
                    <a:lstStyle/>
                    <a:p>
                      <a:pPr indent="0" lvl="0" marL="0" marR="0" rtl="0" algn="l">
                        <a:spcBef>
                          <a:spcPts val="0"/>
                        </a:spcBef>
                        <a:spcAft>
                          <a:spcPts val="0"/>
                        </a:spcAft>
                        <a:buNone/>
                      </a:pPr>
                      <a:r>
                        <a:rPr lang="en-US" sz="1200"/>
                        <a:t>Սովորողների իրազեկման նպատակով: </a:t>
                      </a:r>
                      <a:endParaRPr sz="1800"/>
                    </a:p>
                  </a:txBody>
                  <a:tcPr marT="0" marB="0" marR="0" marL="0" anchor="ctr"/>
                </a:tc>
              </a:tr>
              <a:tr h="217175">
                <a:tc>
                  <a:txBody>
                    <a:bodyPr/>
                    <a:lstStyle/>
                    <a:p>
                      <a:pPr indent="0" lvl="0" marL="0" marR="0" rtl="0" algn="l">
                        <a:spcBef>
                          <a:spcPts val="0"/>
                        </a:spcBef>
                        <a:spcAft>
                          <a:spcPts val="0"/>
                        </a:spcAft>
                        <a:buNone/>
                      </a:pPr>
                      <a:r>
                        <a:rPr lang="en-US" sz="1200"/>
                        <a:t>4. Դպրոցական տեսուչին կից հերթապահ հանձնախմբերի ստեղծում՝ հաստատության ներքին կարգապահական կանոններին չենթարկվող սովորողների հետ  դաստիարակչական աշխատանքներ տանելու նպատակով: </a:t>
                      </a:r>
                      <a:endParaRPr sz="1800"/>
                    </a:p>
                  </a:txBody>
                  <a:tcPr marT="0" marB="0" marR="0" marL="0" anchor="ctr"/>
                </a:tc>
                <a:tc>
                  <a:txBody>
                    <a:bodyPr/>
                    <a:lstStyle/>
                    <a:p>
                      <a:pPr indent="0" lvl="0" marL="0" marR="0" rtl="0" algn="l">
                        <a:spcBef>
                          <a:spcPts val="0"/>
                        </a:spcBef>
                        <a:spcAft>
                          <a:spcPts val="0"/>
                        </a:spcAft>
                        <a:buNone/>
                      </a:pPr>
                      <a:r>
                        <a:rPr lang="en-US" sz="1200"/>
                        <a:t>պարբերաբար </a:t>
                      </a:r>
                      <a:endParaRPr sz="1800"/>
                    </a:p>
                  </a:txBody>
                  <a:tcPr marT="0" marB="0" marR="0" marL="0" anchor="ctr"/>
                </a:tc>
                <a:tc>
                  <a:txBody>
                    <a:bodyPr/>
                    <a:lstStyle/>
                    <a:p>
                      <a:pPr indent="0" lvl="0" marL="0" marR="0" rtl="0" algn="ctr">
                        <a:spcBef>
                          <a:spcPts val="0"/>
                        </a:spcBef>
                        <a:spcAft>
                          <a:spcPts val="0"/>
                        </a:spcAft>
                        <a:buNone/>
                      </a:pPr>
                      <a:r>
                        <a:rPr lang="en-US" sz="1200"/>
                        <a:t>28% </a:t>
                      </a:r>
                      <a:endParaRPr sz="1800"/>
                    </a:p>
                  </a:txBody>
                  <a:tcPr marT="0" marB="0" marR="0" marL="0" anchor="ctr"/>
                </a:tc>
                <a:tc>
                  <a:txBody>
                    <a:bodyPr/>
                    <a:lstStyle/>
                    <a:p>
                      <a:pPr indent="0" lvl="0" marL="0" marR="0" rtl="0" algn="l">
                        <a:spcBef>
                          <a:spcPts val="0"/>
                        </a:spcBef>
                        <a:spcAft>
                          <a:spcPts val="0"/>
                        </a:spcAft>
                        <a:buNone/>
                      </a:pPr>
                      <a:r>
                        <a:rPr lang="en-US" sz="1200"/>
                        <a:t>Սովորողների մոտ ինքնաղեկավարվելու ունակություններ զարգացնելու նպատակով: </a:t>
                      </a:r>
                      <a:endParaRPr sz="1800"/>
                    </a:p>
                  </a:txBody>
                  <a:tcPr marT="0" marB="0" marR="0" marL="0" anchor="ct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graphicFrame>
        <p:nvGraphicFramePr>
          <p:cNvPr id="600" name="Google Shape;600;p77"/>
          <p:cNvGraphicFramePr/>
          <p:nvPr/>
        </p:nvGraphicFramePr>
        <p:xfrm>
          <a:off x="194974" y="180242"/>
          <a:ext cx="3000000" cy="3000000"/>
        </p:xfrm>
        <a:graphic>
          <a:graphicData uri="http://schemas.openxmlformats.org/drawingml/2006/table">
            <a:tbl>
              <a:tblPr>
                <a:noFill/>
                <a:tableStyleId>{40B977D2-3903-41EF-8714-5AC59086702B}</a:tableStyleId>
              </a:tblPr>
              <a:tblGrid>
                <a:gridCol w="4690800"/>
                <a:gridCol w="1064950"/>
                <a:gridCol w="2003100"/>
                <a:gridCol w="3137775"/>
              </a:tblGrid>
              <a:tr h="162950">
                <a:tc gridSpan="4">
                  <a:txBody>
                    <a:bodyPr/>
                    <a:lstStyle/>
                    <a:p>
                      <a:pPr indent="0" lvl="0" marL="0" marR="0" rtl="0" algn="l">
                        <a:spcBef>
                          <a:spcPts val="0"/>
                        </a:spcBef>
                        <a:spcAft>
                          <a:spcPts val="0"/>
                        </a:spcAft>
                        <a:buNone/>
                      </a:pPr>
                      <a:r>
                        <a:rPr b="1" lang="en-US" sz="1200"/>
                        <a:t>Աշակերտական խորհրդի կողմից նախաձեռնած միջոցառումները.` ներառյալ շաբաթօրյակները, հաստատության և դպրոցամերձ տարածքի մաքրման աշխատանքները, դրանց հաճախականությունը և մասնակից սովորողների տոկոսը </a:t>
                      </a:r>
                      <a:endParaRPr/>
                    </a:p>
                  </a:txBody>
                  <a:tcPr marT="0" marB="0" marR="0" marL="0" anchor="ctr"/>
                </a:tc>
                <a:tc hMerge="1"/>
                <a:tc hMerge="1"/>
                <a:tc hMerge="1"/>
              </a:tr>
              <a:tr h="325750">
                <a:tc>
                  <a:txBody>
                    <a:bodyPr/>
                    <a:lstStyle/>
                    <a:p>
                      <a:pPr indent="0" lvl="0" marL="0" marR="0" rtl="0" algn="l">
                        <a:spcBef>
                          <a:spcPts val="0"/>
                        </a:spcBef>
                        <a:spcAft>
                          <a:spcPts val="0"/>
                        </a:spcAft>
                        <a:buNone/>
                      </a:pPr>
                      <a:r>
                        <a:rPr lang="en-US" sz="1200"/>
                        <a:t>Նկարագրել վերջին 3 տարում աշակերտական խորհրդի կողմից նախաձեռնած վերոնշյալ միջոցառումները </a:t>
                      </a:r>
                      <a:endParaRPr/>
                    </a:p>
                  </a:txBody>
                  <a:tcPr marT="0" marB="0" marR="0" marL="0" anchor="ctr"/>
                </a:tc>
                <a:tc>
                  <a:txBody>
                    <a:bodyPr/>
                    <a:lstStyle/>
                    <a:p>
                      <a:pPr indent="0" lvl="0" marL="0" marR="0" rtl="0" algn="l">
                        <a:spcBef>
                          <a:spcPts val="0"/>
                        </a:spcBef>
                        <a:spcAft>
                          <a:spcPts val="0"/>
                        </a:spcAft>
                        <a:buNone/>
                      </a:pPr>
                      <a:r>
                        <a:rPr lang="en-US" sz="1200"/>
                        <a:t>Ամսաթիվ </a:t>
                      </a:r>
                      <a:endParaRPr/>
                    </a:p>
                  </a:txBody>
                  <a:tcPr marT="0" marB="0" marR="0" marL="0" anchor="ctr"/>
                </a:tc>
                <a:tc>
                  <a:txBody>
                    <a:bodyPr/>
                    <a:lstStyle/>
                    <a:p>
                      <a:pPr indent="0" lvl="0" marL="0" marR="0" rtl="0" algn="l">
                        <a:spcBef>
                          <a:spcPts val="0"/>
                        </a:spcBef>
                        <a:spcAft>
                          <a:spcPts val="0"/>
                        </a:spcAft>
                        <a:buNone/>
                      </a:pPr>
                      <a:r>
                        <a:rPr lang="en-US" sz="1200"/>
                        <a:t>Մասնակից սովորողների տոկոսը՝ սովորողների ընդհանուր թվի նկատմամբ </a:t>
                      </a:r>
                      <a:endParaRPr/>
                    </a:p>
                  </a:txBody>
                  <a:tcPr marT="0" marB="0" marR="0" marL="0" anchor="ctr"/>
                </a:tc>
                <a:tc>
                  <a:txBody>
                    <a:bodyPr/>
                    <a:lstStyle/>
                    <a:p>
                      <a:pPr indent="0" lvl="0" marL="0" marR="0" rtl="0" algn="l">
                        <a:spcBef>
                          <a:spcPts val="0"/>
                        </a:spcBef>
                        <a:spcAft>
                          <a:spcPts val="0"/>
                        </a:spcAft>
                        <a:buNone/>
                      </a:pPr>
                      <a:r>
                        <a:rPr lang="en-US" sz="1200"/>
                        <a:t>Մեկնաբանություն </a:t>
                      </a:r>
                      <a:endParaRPr/>
                    </a:p>
                  </a:txBody>
                  <a:tcPr marT="0" marB="0" marR="0" marL="0" anchor="ctr"/>
                </a:tc>
              </a:tr>
              <a:tr h="162950">
                <a:tc>
                  <a:txBody>
                    <a:bodyPr/>
                    <a:lstStyle/>
                    <a:p>
                      <a:pPr indent="0" lvl="0" marL="0" marR="0" rtl="0" algn="l">
                        <a:spcBef>
                          <a:spcPts val="0"/>
                        </a:spcBef>
                        <a:spcAft>
                          <a:spcPts val="0"/>
                        </a:spcAft>
                        <a:buNone/>
                      </a:pPr>
                      <a:r>
                        <a:rPr lang="en-US" sz="1200"/>
                        <a:t>1. Ճանաչողական այցեր՝ ՀՊՄՀ, ՀՊՏՀ, Կենտրոնական բանկ , ԵՊՀ,ԵրՊԼՀ,</a:t>
                      </a:r>
                      <a:r>
                        <a:rPr lang="en-US" sz="1200"/>
                        <a:t> «Փաստաբանների պալատ»</a:t>
                      </a:r>
                      <a:r>
                        <a:rPr lang="en-US" sz="1200"/>
                        <a:t> </a:t>
                      </a:r>
                      <a:endParaRPr/>
                    </a:p>
                  </a:txBody>
                  <a:tcPr marT="0" marB="0" marR="0" marL="0" anchor="ctr"/>
                </a:tc>
                <a:tc>
                  <a:txBody>
                    <a:bodyPr/>
                    <a:lstStyle/>
                    <a:p>
                      <a:pPr indent="0" lvl="0" marL="0" marR="0" rtl="0" algn="l">
                        <a:spcBef>
                          <a:spcPts val="0"/>
                        </a:spcBef>
                        <a:spcAft>
                          <a:spcPts val="0"/>
                        </a:spcAft>
                        <a:buNone/>
                      </a:pPr>
                      <a:r>
                        <a:rPr lang="en-US" sz="1200"/>
                        <a:t>ամենամյա </a:t>
                      </a:r>
                      <a:endParaRPr/>
                    </a:p>
                  </a:txBody>
                  <a:tcPr marT="0" marB="0" marR="0" marL="0" anchor="ctr"/>
                </a:tc>
                <a:tc>
                  <a:txBody>
                    <a:bodyPr/>
                    <a:lstStyle/>
                    <a:p>
                      <a:pPr indent="0" lvl="0" marL="0" marR="0" rtl="0" algn="ctr">
                        <a:spcBef>
                          <a:spcPts val="0"/>
                        </a:spcBef>
                        <a:spcAft>
                          <a:spcPts val="0"/>
                        </a:spcAft>
                        <a:buNone/>
                      </a:pPr>
                      <a:r>
                        <a:rPr lang="en-US" sz="1200"/>
                        <a:t>60-70% </a:t>
                      </a:r>
                      <a:endParaRPr/>
                    </a:p>
                  </a:txBody>
                  <a:tcPr marT="0" marB="0" marR="0" marL="0" anchor="ctr"/>
                </a:tc>
                <a:tc>
                  <a:txBody>
                    <a:bodyPr/>
                    <a:lstStyle/>
                    <a:p>
                      <a:pPr indent="0" lvl="0" marL="0" marR="0" rtl="0" algn="l">
                        <a:spcBef>
                          <a:spcPts val="0"/>
                        </a:spcBef>
                        <a:spcAft>
                          <a:spcPts val="0"/>
                        </a:spcAft>
                        <a:buNone/>
                      </a:pPr>
                      <a:r>
                        <a:rPr lang="en-US" sz="1200"/>
                        <a:t>Մասնագիտական կողմնորոշման նպատակով </a:t>
                      </a:r>
                      <a:endParaRPr/>
                    </a:p>
                  </a:txBody>
                  <a:tcPr marT="0" marB="0" marR="0" marL="0" anchor="ctr"/>
                </a:tc>
              </a:tr>
              <a:tr h="162950">
                <a:tc>
                  <a:txBody>
                    <a:bodyPr/>
                    <a:lstStyle/>
                    <a:p>
                      <a:pPr indent="0" lvl="0" marL="0" marR="0" rtl="0" algn="l">
                        <a:spcBef>
                          <a:spcPts val="0"/>
                        </a:spcBef>
                        <a:spcAft>
                          <a:spcPts val="0"/>
                        </a:spcAft>
                        <a:buNone/>
                      </a:pPr>
                      <a:r>
                        <a:rPr lang="en-US" sz="1200"/>
                        <a:t>2. Համագործակցություն դպրոցում ճանաչողական պրակտիկա անցնող ՀՊՄՀ ուսանողների հետ՝   </a:t>
                      </a:r>
                      <a:endParaRPr/>
                    </a:p>
                    <a:p>
                      <a:pPr indent="0" lvl="0" marL="0" marR="0" rtl="0" algn="l">
                        <a:spcBef>
                          <a:spcPts val="1000"/>
                        </a:spcBef>
                        <a:spcAft>
                          <a:spcPts val="0"/>
                        </a:spcAft>
                        <a:buNone/>
                      </a:pPr>
                      <a:r>
                        <a:rPr lang="en-US" sz="1200"/>
                        <a:t>Հանդիպում ՈՒԽ նախագահի հետ </a:t>
                      </a:r>
                      <a:endParaRPr/>
                    </a:p>
                    <a:p>
                      <a:pPr indent="0" lvl="0" marL="0" marR="0" rtl="0" algn="l">
                        <a:spcBef>
                          <a:spcPts val="1000"/>
                        </a:spcBef>
                        <a:spcAft>
                          <a:spcPts val="0"/>
                        </a:spcAft>
                        <a:buNone/>
                      </a:pPr>
                      <a:r>
                        <a:rPr lang="en-US" sz="1200"/>
                        <a:t>Համատեղ սեմինար՝ &lt;&lt;Մարդու իրավունքները&gt;&gt; թեմայով </a:t>
                      </a:r>
                      <a:endParaRPr/>
                    </a:p>
                    <a:p>
                      <a:pPr indent="0" lvl="0" marL="0" marR="0" rtl="0" algn="l">
                        <a:spcBef>
                          <a:spcPts val="1000"/>
                        </a:spcBef>
                        <a:spcAft>
                          <a:spcPts val="0"/>
                        </a:spcAft>
                        <a:buNone/>
                      </a:pPr>
                      <a:r>
                        <a:rPr lang="en-US" sz="1200"/>
                        <a:t>Այց  ՀՊՄՀ գրադարան </a:t>
                      </a:r>
                      <a:endParaRPr sz="1200"/>
                    </a:p>
                    <a:p>
                      <a:pPr indent="0" lvl="0" marL="0" marR="0" rtl="0" algn="l">
                        <a:lnSpc>
                          <a:spcPct val="100000"/>
                        </a:lnSpc>
                        <a:spcBef>
                          <a:spcPts val="1000"/>
                        </a:spcBef>
                        <a:spcAft>
                          <a:spcPts val="0"/>
                        </a:spcAft>
                        <a:buClr>
                          <a:schemeClr val="dk1"/>
                        </a:buClr>
                        <a:buSzPts val="1200"/>
                        <a:buFont typeface="Century Gothic"/>
                        <a:buNone/>
                      </a:pPr>
                      <a:r>
                        <a:rPr lang="en-US" sz="1200"/>
                        <a:t>Այց  Մարդու իրավունքների պաշտպանի գրասենյակ </a:t>
                      </a:r>
                      <a:endParaRPr/>
                    </a:p>
                    <a:p>
                      <a:pPr indent="0" lvl="0" marL="0" marR="0" rtl="0" algn="l">
                        <a:spcBef>
                          <a:spcPts val="1000"/>
                        </a:spcBef>
                        <a:spcAft>
                          <a:spcPts val="0"/>
                        </a:spcAft>
                        <a:buNone/>
                      </a:pPr>
                      <a:r>
                        <a:t/>
                      </a:r>
                      <a:endParaRPr sz="1200"/>
                    </a:p>
                  </a:txBody>
                  <a:tcPr marT="0" marB="0" marR="0" marL="0" anchor="ctr"/>
                </a:tc>
                <a:tc>
                  <a:txBody>
                    <a:bodyPr/>
                    <a:lstStyle/>
                    <a:p>
                      <a:pPr indent="0" lvl="0" marL="0" marR="0" rtl="0" algn="l">
                        <a:spcBef>
                          <a:spcPts val="0"/>
                        </a:spcBef>
                        <a:spcAft>
                          <a:spcPts val="0"/>
                        </a:spcAft>
                        <a:buNone/>
                      </a:pPr>
                      <a:r>
                        <a:t/>
                      </a:r>
                      <a:endParaRPr sz="1200"/>
                    </a:p>
                    <a:p>
                      <a:pPr indent="0" lvl="0" marL="0" marR="0" rtl="0" algn="l">
                        <a:spcBef>
                          <a:spcPts val="0"/>
                        </a:spcBef>
                        <a:spcAft>
                          <a:spcPts val="0"/>
                        </a:spcAft>
                        <a:buNone/>
                      </a:pPr>
                      <a:r>
                        <a:rPr lang="en-US" sz="1200"/>
                        <a:t>08.02.2026թ</a:t>
                      </a:r>
                      <a:endParaRPr sz="1200"/>
                    </a:p>
                    <a:p>
                      <a:pPr indent="0" lvl="0" marL="0" marR="0" rtl="0" algn="l">
                        <a:spcBef>
                          <a:spcPts val="0"/>
                        </a:spcBef>
                        <a:spcAft>
                          <a:spcPts val="0"/>
                        </a:spcAft>
                        <a:buNone/>
                      </a:pPr>
                      <a:r>
                        <a:rPr lang="en-US" sz="1200"/>
                        <a:t>12.12.2025թ</a:t>
                      </a:r>
                      <a:endParaRPr sz="1200"/>
                    </a:p>
                    <a:p>
                      <a:pPr indent="0" lvl="0" marL="0" marR="0" rtl="0" algn="l">
                        <a:spcBef>
                          <a:spcPts val="0"/>
                        </a:spcBef>
                        <a:spcAft>
                          <a:spcPts val="0"/>
                        </a:spcAft>
                        <a:buNone/>
                      </a:pPr>
                      <a:r>
                        <a:rPr lang="en-US" sz="1200"/>
                        <a:t>28.03.2026թ </a:t>
                      </a:r>
                      <a:endParaRPr/>
                    </a:p>
                  </a:txBody>
                  <a:tcPr marT="0" marB="0" marR="0" marL="0" anchor="ctr"/>
                </a:tc>
                <a:tc>
                  <a:txBody>
                    <a:bodyPr/>
                    <a:lstStyle/>
                    <a:p>
                      <a:pPr indent="0" lvl="0" marL="0" marR="0" rtl="0" algn="ctr">
                        <a:spcBef>
                          <a:spcPts val="0"/>
                        </a:spcBef>
                        <a:spcAft>
                          <a:spcPts val="0"/>
                        </a:spcAft>
                        <a:buNone/>
                      </a:pPr>
                      <a:r>
                        <a:rPr lang="en-US" sz="1200"/>
                        <a:t>50% </a:t>
                      </a:r>
                      <a:endParaRPr/>
                    </a:p>
                  </a:txBody>
                  <a:tcPr marT="0" marB="0" marR="0" marL="0" anchor="ctr"/>
                </a:tc>
                <a:tc>
                  <a:txBody>
                    <a:bodyPr/>
                    <a:lstStyle/>
                    <a:p>
                      <a:pPr indent="0" lvl="0" marL="0" marR="0" rtl="0" algn="l">
                        <a:spcBef>
                          <a:spcPts val="0"/>
                        </a:spcBef>
                        <a:spcAft>
                          <a:spcPts val="0"/>
                        </a:spcAft>
                        <a:buNone/>
                      </a:pPr>
                      <a:r>
                        <a:rPr lang="en-US" sz="1200"/>
                        <a:t>Փորձի փոխանակման, սովորողների իրազեկման նպատակներով: </a:t>
                      </a:r>
                      <a:endParaRPr/>
                    </a:p>
                  </a:txBody>
                  <a:tcPr marT="0" marB="0" marR="0" marL="0" anchor="ctr"/>
                </a:tc>
              </a:tr>
              <a:tr h="162950">
                <a:tc>
                  <a:txBody>
                    <a:bodyPr/>
                    <a:lstStyle/>
                    <a:p>
                      <a:pPr indent="0" lvl="0" marL="0" marR="0" rtl="0" algn="l">
                        <a:spcBef>
                          <a:spcPts val="0"/>
                        </a:spcBef>
                        <a:spcAft>
                          <a:spcPts val="0"/>
                        </a:spcAft>
                        <a:buNone/>
                      </a:pPr>
                      <a:r>
                        <a:rPr lang="en-US" sz="1200"/>
                        <a:t>3.«Էրեբունի-Երևան» տոնի նախօրյակին ֆլեշմոբ «Մաքուր պահենք մեր քաղաքը» : </a:t>
                      </a:r>
                      <a:endParaRPr/>
                    </a:p>
                  </a:txBody>
                  <a:tcPr marT="0" marB="0" marR="0" marL="0" anchor="ctr"/>
                </a:tc>
                <a:tc>
                  <a:txBody>
                    <a:bodyPr/>
                    <a:lstStyle/>
                    <a:p>
                      <a:pPr indent="0" lvl="0" marL="0" marR="0" rtl="0" algn="l">
                        <a:spcBef>
                          <a:spcPts val="0"/>
                        </a:spcBef>
                        <a:spcAft>
                          <a:spcPts val="0"/>
                        </a:spcAft>
                        <a:buNone/>
                      </a:pPr>
                      <a:r>
                        <a:rPr lang="en-US" sz="1200"/>
                        <a:t>ամենամյա </a:t>
                      </a:r>
                      <a:endParaRPr/>
                    </a:p>
                  </a:txBody>
                  <a:tcPr marT="0" marB="0" marR="0" marL="0" anchor="ctr"/>
                </a:tc>
                <a:tc>
                  <a:txBody>
                    <a:bodyPr/>
                    <a:lstStyle/>
                    <a:p>
                      <a:pPr indent="0" lvl="0" marL="0" marR="0" rtl="0" algn="ctr">
                        <a:spcBef>
                          <a:spcPts val="0"/>
                        </a:spcBef>
                        <a:spcAft>
                          <a:spcPts val="0"/>
                        </a:spcAft>
                        <a:buNone/>
                      </a:pPr>
                      <a:r>
                        <a:rPr lang="en-US" sz="1200"/>
                        <a:t>85-95% </a:t>
                      </a:r>
                      <a:endParaRPr/>
                    </a:p>
                  </a:txBody>
                  <a:tcPr marT="0" marB="0" marR="0" marL="0" anchor="ctr"/>
                </a:tc>
                <a:tc>
                  <a:txBody>
                    <a:bodyPr/>
                    <a:lstStyle/>
                    <a:p>
                      <a:pPr indent="0" lvl="0" marL="0" marR="0" rtl="0" algn="l">
                        <a:spcBef>
                          <a:spcPts val="0"/>
                        </a:spcBef>
                        <a:spcAft>
                          <a:spcPts val="0"/>
                        </a:spcAft>
                        <a:buNone/>
                      </a:pPr>
                      <a:r>
                        <a:rPr lang="en-US" sz="1200"/>
                        <a:t>Համադպրոցական միջոցառում, որն իրականացվել է ծնողների և ուսուցիչների աջակցությամբ: </a:t>
                      </a:r>
                      <a:endParaRPr/>
                    </a:p>
                  </a:txBody>
                  <a:tcPr marT="0" marB="0" marR="0" marL="0" anchor="ctr"/>
                </a:tc>
              </a:tr>
              <a:tr h="162950">
                <a:tc>
                  <a:txBody>
                    <a:bodyPr/>
                    <a:lstStyle/>
                    <a:p>
                      <a:pPr indent="0" lvl="0" marL="0" marR="0" rtl="0" algn="l">
                        <a:spcBef>
                          <a:spcPts val="0"/>
                        </a:spcBef>
                        <a:spcAft>
                          <a:spcPts val="0"/>
                        </a:spcAft>
                        <a:buNone/>
                      </a:pPr>
                      <a:r>
                        <a:rPr lang="en-US" sz="1200">
                          <a:latin typeface="Arial"/>
                          <a:ea typeface="Arial"/>
                          <a:cs typeface="Arial"/>
                          <a:sym typeface="Arial"/>
                        </a:rPr>
                        <a:t>4․Դպրոցին կցված </a:t>
                      </a:r>
                      <a:r>
                        <a:rPr lang="en-US" sz="1200"/>
                        <a:t>հուշարձանի՝ Ալ․Մյասնիկյանի արձանի մաքրման և բարեկարգման աշխատանքների կազմակերպում</a:t>
                      </a:r>
                      <a:endParaRPr sz="1200"/>
                    </a:p>
                  </a:txBody>
                  <a:tcPr marT="0" marB="0" marR="0" marL="0" anchor="ctr"/>
                </a:tc>
                <a:tc>
                  <a:txBody>
                    <a:bodyPr/>
                    <a:lstStyle/>
                    <a:p>
                      <a:pPr indent="0" lvl="0" marL="0" marR="0" rtl="0" algn="l">
                        <a:spcBef>
                          <a:spcPts val="0"/>
                        </a:spcBef>
                        <a:spcAft>
                          <a:spcPts val="0"/>
                        </a:spcAft>
                        <a:buNone/>
                      </a:pPr>
                      <a:r>
                        <a:rPr lang="en-US" sz="1200"/>
                        <a:t>ամենամսյա</a:t>
                      </a:r>
                      <a:endParaRPr sz="1200"/>
                    </a:p>
                  </a:txBody>
                  <a:tcPr marT="0" marB="0" marR="0" marL="0" anchor="ctr"/>
                </a:tc>
                <a:tc>
                  <a:txBody>
                    <a:bodyPr/>
                    <a:lstStyle/>
                    <a:p>
                      <a:pPr indent="0" lvl="0" marL="0" marR="0" rtl="0" algn="ctr">
                        <a:spcBef>
                          <a:spcPts val="0"/>
                        </a:spcBef>
                        <a:spcAft>
                          <a:spcPts val="0"/>
                        </a:spcAft>
                        <a:buNone/>
                      </a:pPr>
                      <a:r>
                        <a:rPr lang="en-US" sz="1200"/>
                        <a:t>45% </a:t>
                      </a:r>
                      <a:endParaRPr sz="1200"/>
                    </a:p>
                  </a:txBody>
                  <a:tcPr marT="0" marB="0" marR="0" marL="0" anchor="ctr"/>
                </a:tc>
                <a:tc>
                  <a:txBody>
                    <a:bodyPr/>
                    <a:lstStyle/>
                    <a:p>
                      <a:pPr indent="0" lvl="0" marL="0" marR="0" rtl="0" algn="l">
                        <a:spcBef>
                          <a:spcPts val="0"/>
                        </a:spcBef>
                        <a:spcAft>
                          <a:spcPts val="0"/>
                        </a:spcAft>
                        <a:buNone/>
                      </a:pPr>
                      <a:r>
                        <a:rPr lang="en-US" sz="1200"/>
                        <a:t>Համադպրոցական</a:t>
                      </a:r>
                      <a:endParaRPr sz="1200"/>
                    </a:p>
                  </a:txBody>
                  <a:tcPr marT="0" marB="0" marR="0" marL="0" anchor="ctr"/>
                </a:tc>
              </a:tr>
              <a:tr h="257175">
                <a:tc>
                  <a:txBody>
                    <a:bodyPr/>
                    <a:lstStyle/>
                    <a:p>
                      <a:pPr indent="0" lvl="0" marL="0" marR="0" rtl="0" algn="l">
                        <a:spcBef>
                          <a:spcPts val="0"/>
                        </a:spcBef>
                        <a:spcAft>
                          <a:spcPts val="0"/>
                        </a:spcAft>
                        <a:buNone/>
                      </a:pPr>
                      <a:r>
                        <a:rPr lang="en-US" sz="1200"/>
                        <a:t>5.Շաբաթօրյակ</a:t>
                      </a:r>
                      <a:endParaRPr sz="1200"/>
                    </a:p>
                  </a:txBody>
                  <a:tcPr marT="0" marB="0" marR="0" marL="0" anchor="ctr"/>
                </a:tc>
                <a:tc>
                  <a:txBody>
                    <a:bodyPr/>
                    <a:lstStyle/>
                    <a:p>
                      <a:pPr indent="0" lvl="0" marL="0" marR="0" rtl="0" algn="l">
                        <a:spcBef>
                          <a:spcPts val="0"/>
                        </a:spcBef>
                        <a:spcAft>
                          <a:spcPts val="0"/>
                        </a:spcAft>
                        <a:buNone/>
                      </a:pPr>
                      <a:r>
                        <a:rPr lang="en-US" sz="1200"/>
                        <a:t>ամենամյա</a:t>
                      </a:r>
                      <a:endParaRPr sz="1200"/>
                    </a:p>
                  </a:txBody>
                  <a:tcPr marT="0" marB="0" marR="0" marL="0" anchor="ctr"/>
                </a:tc>
                <a:tc>
                  <a:txBody>
                    <a:bodyPr/>
                    <a:lstStyle/>
                    <a:p>
                      <a:pPr indent="0" lvl="0" marL="0" marR="0" rtl="0" algn="ctr">
                        <a:spcBef>
                          <a:spcPts val="0"/>
                        </a:spcBef>
                        <a:spcAft>
                          <a:spcPts val="0"/>
                        </a:spcAft>
                        <a:buNone/>
                      </a:pPr>
                      <a:r>
                        <a:rPr lang="en-US" sz="1200"/>
                        <a:t>80% </a:t>
                      </a:r>
                      <a:endParaRPr/>
                    </a:p>
                  </a:txBody>
                  <a:tcPr marT="0" marB="0" marR="0" marL="0" anchor="ctr"/>
                </a:tc>
                <a:tc>
                  <a:txBody>
                    <a:bodyPr/>
                    <a:lstStyle/>
                    <a:p>
                      <a:pPr indent="0" lvl="0" marL="0" marR="0" rtl="0" algn="l">
                        <a:spcBef>
                          <a:spcPts val="0"/>
                        </a:spcBef>
                        <a:spcAft>
                          <a:spcPts val="0"/>
                        </a:spcAft>
                        <a:buNone/>
                      </a:pPr>
                      <a:r>
                        <a:rPr lang="en-US" sz="1200"/>
                        <a:t>Համայնքի հետ միասին: Տնկվել է 30</a:t>
                      </a:r>
                      <a:r>
                        <a:rPr lang="en-US" sz="1200"/>
                        <a:t> </a:t>
                      </a:r>
                      <a:r>
                        <a:rPr lang="en-US" sz="1200"/>
                        <a:t>տնկի: </a:t>
                      </a:r>
                      <a:endParaRPr/>
                    </a:p>
                  </a:txBody>
                  <a:tcPr marT="0" marB="0" marR="0" marL="0" anchor="ctr"/>
                </a:tc>
              </a:tr>
              <a:tr h="162950">
                <a:tc>
                  <a:txBody>
                    <a:bodyPr/>
                    <a:lstStyle/>
                    <a:p>
                      <a:pPr indent="0" lvl="0" marL="0" marR="0" rtl="0" algn="l">
                        <a:spcBef>
                          <a:spcPts val="0"/>
                        </a:spcBef>
                        <a:spcAft>
                          <a:spcPts val="0"/>
                        </a:spcAft>
                        <a:buNone/>
                      </a:pPr>
                      <a:r>
                        <a:rPr lang="en-US" sz="1200"/>
                        <a:t>6․Այց Ծիծեռնակաբերդի հուշակոթող: </a:t>
                      </a:r>
                      <a:endParaRPr/>
                    </a:p>
                  </a:txBody>
                  <a:tcPr marT="0" marB="0" marR="0" marL="0" anchor="ctr"/>
                </a:tc>
                <a:tc>
                  <a:txBody>
                    <a:bodyPr/>
                    <a:lstStyle/>
                    <a:p>
                      <a:pPr indent="0" lvl="0" marL="0" marR="0" rtl="0" algn="l">
                        <a:spcBef>
                          <a:spcPts val="0"/>
                        </a:spcBef>
                        <a:spcAft>
                          <a:spcPts val="0"/>
                        </a:spcAft>
                        <a:buNone/>
                      </a:pPr>
                      <a:r>
                        <a:rPr lang="en-US" sz="1200"/>
                        <a:t>23.04.26 թ.</a:t>
                      </a:r>
                      <a:endParaRPr/>
                    </a:p>
                  </a:txBody>
                  <a:tcPr marT="0" marB="0" marR="0" marL="0" anchor="ctr"/>
                </a:tc>
                <a:tc>
                  <a:txBody>
                    <a:bodyPr/>
                    <a:lstStyle/>
                    <a:p>
                      <a:pPr indent="0" lvl="0" marL="0" marR="0" rtl="0" algn="ctr">
                        <a:spcBef>
                          <a:spcPts val="0"/>
                        </a:spcBef>
                        <a:spcAft>
                          <a:spcPts val="0"/>
                        </a:spcAft>
                        <a:buNone/>
                      </a:pPr>
                      <a:r>
                        <a:rPr lang="en-US" sz="1200"/>
                        <a:t>98% </a:t>
                      </a:r>
                      <a:endParaRPr/>
                    </a:p>
                  </a:txBody>
                  <a:tcPr marT="0" marB="0" marR="0" marL="0" anchor="ctr"/>
                </a:tc>
                <a:tc>
                  <a:txBody>
                    <a:bodyPr/>
                    <a:lstStyle/>
                    <a:p>
                      <a:pPr indent="0" lvl="0" marL="0" marR="0" rtl="0" algn="l">
                        <a:spcBef>
                          <a:spcPts val="0"/>
                        </a:spcBef>
                        <a:spcAft>
                          <a:spcPts val="0"/>
                        </a:spcAft>
                        <a:buNone/>
                      </a:pPr>
                      <a:r>
                        <a:rPr lang="en-US" sz="1200"/>
                        <a:t>Համադպրոցական միջոցառում, որն իրականացվել է ծնողների և ուսուցիչների աջակցությամբ: </a:t>
                      </a:r>
                      <a:endParaRPr/>
                    </a:p>
                  </a:txBody>
                  <a:tcPr marT="0" marB="0" marR="0" marL="0" anchor="ctr"/>
                </a:tc>
              </a:tr>
              <a:tr h="280925">
                <a:tc gridSpan="4">
                  <a:txBody>
                    <a:bodyPr/>
                    <a:lstStyle/>
                    <a:p>
                      <a:pPr indent="0" lvl="0" marL="0" marR="0" rtl="0" algn="l">
                        <a:spcBef>
                          <a:spcPts val="0"/>
                        </a:spcBef>
                        <a:spcAft>
                          <a:spcPts val="0"/>
                        </a:spcAft>
                        <a:buNone/>
                      </a:pPr>
                      <a:r>
                        <a:rPr b="1" lang="en-US" sz="1200"/>
                        <a:t>Նկարագրել աշակերտական խորհրդի գործունեության սկզբունքները և ձևերը՝ համապատասխանությունը ժողովրդավարության և ինքնավարության սկզբունքներին: </a:t>
                      </a:r>
                      <a:endParaRPr/>
                    </a:p>
                  </a:txBody>
                  <a:tcPr marT="0" marB="0" marR="0" marL="0" anchor="ctr"/>
                </a:tc>
                <a:tc hMerge="1"/>
                <a:tc hMerge="1"/>
                <a:tc hMerge="1"/>
              </a:tr>
              <a:tr h="108575">
                <a:tc gridSpan="4">
                  <a:txBody>
                    <a:bodyPr/>
                    <a:lstStyle/>
                    <a:p>
                      <a:pPr indent="0" lvl="0" marL="0" marR="0" rtl="0" algn="l">
                        <a:spcBef>
                          <a:spcPts val="0"/>
                        </a:spcBef>
                        <a:spcAft>
                          <a:spcPts val="0"/>
                        </a:spcAft>
                        <a:buNone/>
                      </a:pPr>
                      <a:r>
                        <a:rPr b="1" lang="en-US" sz="1200"/>
                        <a:t>ԱԽ Հիմնական սկզբունքներն են՝ կամավորությունը, սովորողների իրավահավասարությունը, կառավարման կոլեգալությունը և հրապարակայնությունը: ԱԽ-ն իր գործունեությունն իրականացնում է սովորողների, ծնողների, ուսուցիչների և տնօրինության փոխադարձ վստահության ու աջակցության մթնոլորտում: </a:t>
                      </a:r>
                      <a:endParaRPr/>
                    </a:p>
                  </a:txBody>
                  <a:tcPr marT="0" marB="0" marR="0" marL="0" anchor="ctr"/>
                </a:tc>
                <a:tc hMerge="1"/>
                <a:tc hMerge="1"/>
                <a:tc hMerge="1"/>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8"/>
          <p:cNvSpPr txBox="1"/>
          <p:nvPr/>
        </p:nvSpPr>
        <p:spPr>
          <a:xfrm>
            <a:off x="160338" y="61913"/>
            <a:ext cx="115072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Merriweather"/>
                <a:ea typeface="Merriweather"/>
                <a:cs typeface="Merriweather"/>
                <a:sym typeface="Merriweather"/>
              </a:rPr>
              <a:t>Աղյուսակ 32 Տվյալներ հաստատության ծնողական խորհրդի գործունեության վերաբերյալ</a:t>
            </a:r>
            <a:endParaRPr b="1" i="1" sz="1800">
              <a:solidFill>
                <a:schemeClr val="dk1"/>
              </a:solidFill>
              <a:latin typeface="Merriweather"/>
              <a:ea typeface="Merriweather"/>
              <a:cs typeface="Merriweather"/>
              <a:sym typeface="Merriweather"/>
            </a:endParaRPr>
          </a:p>
        </p:txBody>
      </p:sp>
      <p:graphicFrame>
        <p:nvGraphicFramePr>
          <p:cNvPr id="607" name="Google Shape;607;p78"/>
          <p:cNvGraphicFramePr/>
          <p:nvPr/>
        </p:nvGraphicFramePr>
        <p:xfrm>
          <a:off x="115121" y="419462"/>
          <a:ext cx="3000000" cy="3000000"/>
        </p:xfrm>
        <a:graphic>
          <a:graphicData uri="http://schemas.openxmlformats.org/drawingml/2006/table">
            <a:tbl>
              <a:tblPr>
                <a:noFill/>
                <a:tableStyleId>{40B977D2-3903-41EF-8714-5AC59086702B}</a:tableStyleId>
              </a:tblPr>
              <a:tblGrid>
                <a:gridCol w="7671850"/>
                <a:gridCol w="1238400"/>
                <a:gridCol w="1231400"/>
                <a:gridCol w="1245400"/>
              </a:tblGrid>
              <a:tr h="698375">
                <a:tc>
                  <a:txBody>
                    <a:bodyPr/>
                    <a:lstStyle/>
                    <a:p>
                      <a:pPr indent="0" lvl="0" marL="0" marR="0" rtl="0" algn="ctr">
                        <a:lnSpc>
                          <a:spcPct val="150000"/>
                        </a:lnSpc>
                        <a:spcBef>
                          <a:spcPts val="0"/>
                        </a:spcBef>
                        <a:spcAft>
                          <a:spcPts val="0"/>
                        </a:spcAft>
                        <a:buNone/>
                      </a:pPr>
                      <a:r>
                        <a:rPr b="1" lang="en-US" sz="1200"/>
                        <a:t>Ցուցանիշ </a:t>
                      </a:r>
                      <a:endParaRPr/>
                    </a:p>
                  </a:txBody>
                  <a:tcPr marT="0" marB="0" marR="0" marL="0" anchor="ctr"/>
                </a:tc>
                <a:tc>
                  <a:txBody>
                    <a:bodyPr/>
                    <a:lstStyle/>
                    <a:p>
                      <a:pPr indent="0" lvl="0" marL="0" marR="0" rtl="0" algn="l">
                        <a:lnSpc>
                          <a:spcPct val="150000"/>
                        </a:lnSpc>
                        <a:spcBef>
                          <a:spcPts val="0"/>
                        </a:spcBef>
                        <a:spcAft>
                          <a:spcPts val="0"/>
                        </a:spcAft>
                        <a:buNone/>
                      </a:pPr>
                      <a:r>
                        <a:rPr b="1" lang="en-US" sz="1200"/>
                        <a:t>2022-2023</a:t>
                      </a:r>
                      <a:endParaRPr/>
                    </a:p>
                    <a:p>
                      <a:pPr indent="0" lvl="0" marL="0" marR="0" rtl="0" algn="l">
                        <a:lnSpc>
                          <a:spcPct val="150000"/>
                        </a:lnSpc>
                        <a:spcBef>
                          <a:spcPts val="1000"/>
                        </a:spcBef>
                        <a:spcAft>
                          <a:spcPts val="0"/>
                        </a:spcAft>
                        <a:buClr>
                          <a:schemeClr val="dk1"/>
                        </a:buClr>
                        <a:buSzPts val="1200"/>
                        <a:buFont typeface="Century Gothic"/>
                        <a:buNone/>
                      </a:pPr>
                      <a:r>
                        <a:rPr b="1" lang="en-US" sz="1200"/>
                        <a:t> ուստարի </a:t>
                      </a:r>
                      <a:endParaRPr sz="1800"/>
                    </a:p>
                  </a:txBody>
                  <a:tcPr marT="0" marB="0" marR="0" marL="0" anchor="ctr"/>
                </a:tc>
                <a:tc>
                  <a:txBody>
                    <a:bodyPr/>
                    <a:lstStyle/>
                    <a:p>
                      <a:pPr indent="0" lvl="0" marL="0" marR="0" rtl="0" algn="l">
                        <a:lnSpc>
                          <a:spcPct val="150000"/>
                        </a:lnSpc>
                        <a:spcBef>
                          <a:spcPts val="0"/>
                        </a:spcBef>
                        <a:spcAft>
                          <a:spcPts val="0"/>
                        </a:spcAft>
                        <a:buNone/>
                      </a:pPr>
                      <a:r>
                        <a:rPr b="1" lang="en-US" sz="1200"/>
                        <a:t>2023-2024</a:t>
                      </a:r>
                      <a:endParaRPr b="1" sz="1200"/>
                    </a:p>
                    <a:p>
                      <a:pPr indent="0" lvl="0" marL="0" marR="0" rtl="0" algn="l">
                        <a:lnSpc>
                          <a:spcPct val="150000"/>
                        </a:lnSpc>
                        <a:spcBef>
                          <a:spcPts val="1000"/>
                        </a:spcBef>
                        <a:spcAft>
                          <a:spcPts val="0"/>
                        </a:spcAft>
                        <a:buClr>
                          <a:schemeClr val="dk1"/>
                        </a:buClr>
                        <a:buSzPts val="1200"/>
                        <a:buFont typeface="Century Gothic"/>
                        <a:buNone/>
                      </a:pPr>
                      <a:r>
                        <a:rPr b="1" lang="en-US" sz="1200"/>
                        <a:t> ուստարի </a:t>
                      </a:r>
                      <a:endParaRPr/>
                    </a:p>
                  </a:txBody>
                  <a:tcPr marT="0" marB="0" marR="0" marL="0" anchor="ctr"/>
                </a:tc>
                <a:tc>
                  <a:txBody>
                    <a:bodyPr/>
                    <a:lstStyle/>
                    <a:p>
                      <a:pPr indent="0" lvl="0" marL="0" marR="0" rtl="0" algn="l">
                        <a:lnSpc>
                          <a:spcPct val="150000"/>
                        </a:lnSpc>
                        <a:spcBef>
                          <a:spcPts val="0"/>
                        </a:spcBef>
                        <a:spcAft>
                          <a:spcPts val="0"/>
                        </a:spcAft>
                        <a:buNone/>
                      </a:pPr>
                      <a:r>
                        <a:rPr b="1" lang="en-US" sz="1200"/>
                        <a:t>2024-2025</a:t>
                      </a:r>
                      <a:endParaRPr b="1" sz="1200"/>
                    </a:p>
                    <a:p>
                      <a:pPr indent="0" lvl="0" marL="0" marR="0" rtl="0" algn="l">
                        <a:lnSpc>
                          <a:spcPct val="150000"/>
                        </a:lnSpc>
                        <a:spcBef>
                          <a:spcPts val="1000"/>
                        </a:spcBef>
                        <a:spcAft>
                          <a:spcPts val="0"/>
                        </a:spcAft>
                        <a:buNone/>
                      </a:pPr>
                      <a:r>
                        <a:rPr b="1" lang="en-US" sz="1200"/>
                        <a:t>ուստարի</a:t>
                      </a:r>
                      <a:r>
                        <a:rPr lang="en-US" sz="1200"/>
                        <a:t> </a:t>
                      </a:r>
                      <a:endParaRPr/>
                    </a:p>
                  </a:txBody>
                  <a:tcPr marT="0" marB="0" marR="0" marL="0" anchor="ctr"/>
                </a:tc>
              </a:tr>
              <a:tr h="912575">
                <a:tc>
                  <a:txBody>
                    <a:bodyPr/>
                    <a:lstStyle/>
                    <a:p>
                      <a:pPr indent="0" lvl="0" marL="0" marR="0" rtl="0" algn="l">
                        <a:lnSpc>
                          <a:spcPct val="150000"/>
                        </a:lnSpc>
                        <a:spcBef>
                          <a:spcPts val="0"/>
                        </a:spcBef>
                        <a:spcAft>
                          <a:spcPts val="0"/>
                        </a:spcAft>
                        <a:buNone/>
                      </a:pPr>
                      <a:r>
                        <a:rPr lang="en-US" sz="1200"/>
                        <a:t>Սովորողների ուսումնադաստիարակչական գործընթացի վերաբերյալ ծնողական խորհրդի կողմից տնօրինությանը ներկայացրած առաջարկությունների թիվը և ընդունված առաջարկների տոկոսը ներկայացվածի նկատամամբ. </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3</a:t>
                      </a:r>
                      <a:endParaRPr sz="1200"/>
                    </a:p>
                  </a:txBody>
                  <a:tcPr marT="0" marB="0" marR="0" marL="0" anchor="ctr"/>
                </a:tc>
                <a:tc>
                  <a:txBody>
                    <a:bodyPr/>
                    <a:lstStyle/>
                    <a:p>
                      <a:pPr indent="0" lvl="0" marL="0" marR="0" rtl="0" algn="ctr">
                        <a:lnSpc>
                          <a:spcPct val="150000"/>
                        </a:lnSpc>
                        <a:spcBef>
                          <a:spcPts val="0"/>
                        </a:spcBef>
                        <a:spcAft>
                          <a:spcPts val="0"/>
                        </a:spcAft>
                        <a:buNone/>
                      </a:pPr>
                      <a:r>
                        <a:rPr lang="en-US" sz="1200"/>
                        <a:t>4</a:t>
                      </a:r>
                      <a:endParaRPr sz="1200"/>
                    </a:p>
                  </a:txBody>
                  <a:tcPr marT="0" marB="0" marR="0" marL="0" anchor="ctr"/>
                </a:tc>
                <a:tc>
                  <a:txBody>
                    <a:bodyPr/>
                    <a:lstStyle/>
                    <a:p>
                      <a:pPr indent="0" lvl="0" marL="0" marR="0" rtl="0" algn="ctr">
                        <a:spcBef>
                          <a:spcPts val="0"/>
                        </a:spcBef>
                        <a:spcAft>
                          <a:spcPts val="0"/>
                        </a:spcAft>
                        <a:buNone/>
                      </a:pPr>
                      <a:r>
                        <a:rPr lang="en-US" sz="1200"/>
                        <a:t>5</a:t>
                      </a:r>
                      <a:endParaRPr sz="1200"/>
                    </a:p>
                  </a:txBody>
                  <a:tcPr marT="0" marB="0" marR="0" marL="0" anchor="ctr"/>
                </a:tc>
              </a:tr>
              <a:tr h="912575">
                <a:tc>
                  <a:txBody>
                    <a:bodyPr/>
                    <a:lstStyle/>
                    <a:p>
                      <a:pPr indent="0" lvl="0" marL="0" marR="0" rtl="0" algn="l">
                        <a:lnSpc>
                          <a:spcPct val="150000"/>
                        </a:lnSpc>
                        <a:spcBef>
                          <a:spcPts val="0"/>
                        </a:spcBef>
                        <a:spcAft>
                          <a:spcPts val="0"/>
                        </a:spcAft>
                        <a:buNone/>
                      </a:pPr>
                      <a:r>
                        <a:rPr lang="en-US" sz="1200"/>
                        <a:t>Ծնողական խորհրդի կողմից տվյալ ուստարում կազմակերպված միջոցառումների՝ հանդեսների, հավաքների, երեկույթների, էքսկուրսիաների, ճանաչողական այցերի, ժողովների և այլնի թիվը </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16 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15</a:t>
                      </a:r>
                      <a:endParaRPr sz="1200"/>
                    </a:p>
                  </a:txBody>
                  <a:tcPr marT="0" marB="0" marR="0" marL="0" anchor="ctr"/>
                </a:tc>
                <a:tc>
                  <a:txBody>
                    <a:bodyPr/>
                    <a:lstStyle/>
                    <a:p>
                      <a:pPr indent="0" lvl="0" marL="0" marR="0" rtl="0" algn="ctr">
                        <a:spcBef>
                          <a:spcPts val="0"/>
                        </a:spcBef>
                        <a:spcAft>
                          <a:spcPts val="0"/>
                        </a:spcAft>
                        <a:buNone/>
                      </a:pPr>
                      <a:r>
                        <a:rPr lang="en-US" sz="1200"/>
                        <a:t>20</a:t>
                      </a:r>
                      <a:endParaRPr sz="1200"/>
                    </a:p>
                  </a:txBody>
                  <a:tcPr marT="0" marB="0" marR="0" marL="0" anchor="ctr"/>
                </a:tc>
              </a:tr>
              <a:tr h="608375">
                <a:tc>
                  <a:txBody>
                    <a:bodyPr/>
                    <a:lstStyle/>
                    <a:p>
                      <a:pPr indent="0" lvl="0" marL="0" marR="0" rtl="0" algn="l">
                        <a:lnSpc>
                          <a:spcPct val="150000"/>
                        </a:lnSpc>
                        <a:spcBef>
                          <a:spcPts val="0"/>
                        </a:spcBef>
                        <a:spcAft>
                          <a:spcPts val="0"/>
                        </a:spcAft>
                        <a:buNone/>
                      </a:pPr>
                      <a:r>
                        <a:rPr lang="en-US" sz="1200"/>
                        <a:t>Ծնողական խորհրդի կողմից ուսուցիչներին խրախուսելու, նրանց նկատմամբ կարգապահական կամ այլ տույժեր կիրառելու և նմանատիպ առաջարկների թիվը </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a:t>
                      </a:r>
                      <a:endParaRPr/>
                    </a:p>
                  </a:txBody>
                  <a:tcPr marT="0" marB="0" marR="0" marL="0" anchor="ctr"/>
                </a:tc>
                <a:tc>
                  <a:txBody>
                    <a:bodyPr/>
                    <a:lstStyle/>
                    <a:p>
                      <a:pPr indent="0" lvl="0" marL="0" marR="0" rtl="0" algn="ctr">
                        <a:spcBef>
                          <a:spcPts val="0"/>
                        </a:spcBef>
                        <a:spcAft>
                          <a:spcPts val="0"/>
                        </a:spcAft>
                        <a:buNone/>
                      </a:pPr>
                      <a:r>
                        <a:rPr lang="en-US" sz="1200"/>
                        <a:t>-</a:t>
                      </a:r>
                      <a:endParaRPr sz="1200"/>
                    </a:p>
                  </a:txBody>
                  <a:tcPr marT="0" marB="0" marR="0" marL="0" anchor="ctr"/>
                </a:tc>
              </a:tr>
              <a:tr h="608375">
                <a:tc>
                  <a:txBody>
                    <a:bodyPr/>
                    <a:lstStyle/>
                    <a:p>
                      <a:pPr indent="0" lvl="0" marL="0" marR="0" rtl="0" algn="l">
                        <a:lnSpc>
                          <a:spcPct val="150000"/>
                        </a:lnSpc>
                        <a:spcBef>
                          <a:spcPts val="0"/>
                        </a:spcBef>
                        <a:spcAft>
                          <a:spcPts val="0"/>
                        </a:spcAft>
                        <a:buNone/>
                      </a:pPr>
                      <a:r>
                        <a:rPr lang="en-US" sz="1200"/>
                        <a:t>Ծնողական խորհրդի հանդիպումների հաճախականությունը՝ դրանց թիվը 1 ուստարվա ընթացքում </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8</a:t>
                      </a:r>
                      <a:endParaRPr sz="1200"/>
                    </a:p>
                  </a:txBody>
                  <a:tcPr marT="0" marB="0" marR="0" marL="0" anchor="ctr"/>
                </a:tc>
                <a:tc>
                  <a:txBody>
                    <a:bodyPr/>
                    <a:lstStyle/>
                    <a:p>
                      <a:pPr indent="0" lvl="0" marL="0" marR="0" rtl="0" algn="ctr">
                        <a:lnSpc>
                          <a:spcPct val="150000"/>
                        </a:lnSpc>
                        <a:spcBef>
                          <a:spcPts val="0"/>
                        </a:spcBef>
                        <a:spcAft>
                          <a:spcPts val="0"/>
                        </a:spcAft>
                        <a:buNone/>
                      </a:pPr>
                      <a:r>
                        <a:rPr lang="en-US" sz="1200"/>
                        <a:t>8 </a:t>
                      </a:r>
                      <a:endParaRPr/>
                    </a:p>
                  </a:txBody>
                  <a:tcPr marT="0" marB="0" marR="0" marL="0" anchor="ctr"/>
                </a:tc>
                <a:tc>
                  <a:txBody>
                    <a:bodyPr/>
                    <a:lstStyle/>
                    <a:p>
                      <a:pPr indent="0" lvl="0" marL="0" marR="0" rtl="0" algn="ctr">
                        <a:spcBef>
                          <a:spcPts val="0"/>
                        </a:spcBef>
                        <a:spcAft>
                          <a:spcPts val="0"/>
                        </a:spcAft>
                        <a:buNone/>
                      </a:pPr>
                      <a:r>
                        <a:rPr lang="en-US" sz="1200"/>
                        <a:t>8</a:t>
                      </a:r>
                      <a:endParaRPr/>
                    </a:p>
                  </a:txBody>
                  <a:tcPr marT="0" marB="0" marR="0" marL="0" anchor="ctr"/>
                </a:tc>
              </a:tr>
              <a:tr h="912575">
                <a:tc>
                  <a:txBody>
                    <a:bodyPr/>
                    <a:lstStyle/>
                    <a:p>
                      <a:pPr indent="17780" lvl="0" marL="0" marR="0" rtl="0" algn="l">
                        <a:lnSpc>
                          <a:spcPct val="150000"/>
                        </a:lnSpc>
                        <a:spcBef>
                          <a:spcPts val="0"/>
                        </a:spcBef>
                        <a:spcAft>
                          <a:spcPts val="0"/>
                        </a:spcAft>
                        <a:buNone/>
                      </a:pPr>
                      <a:r>
                        <a:rPr lang="en-US" sz="1200"/>
                        <a:t>Ծնողական խորհրդի կողմից հաստատության ծնողազուրկ և սոցիալապես անապահով ընտանիքներից աջակցություն ստացող սովորողների տոկոսը տվյալ ուստարում </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15%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18% </a:t>
                      </a:r>
                      <a:endParaRPr/>
                    </a:p>
                  </a:txBody>
                  <a:tcPr marT="0" marB="0" marR="0" marL="0" anchor="ctr"/>
                </a:tc>
                <a:tc>
                  <a:txBody>
                    <a:bodyPr/>
                    <a:lstStyle/>
                    <a:p>
                      <a:pPr indent="0" lvl="0" marL="0" marR="0" rtl="0" algn="ctr">
                        <a:spcBef>
                          <a:spcPts val="0"/>
                        </a:spcBef>
                        <a:spcAft>
                          <a:spcPts val="0"/>
                        </a:spcAft>
                        <a:buNone/>
                      </a:pPr>
                      <a:r>
                        <a:rPr lang="en-US" sz="1200"/>
                        <a:t>18%</a:t>
                      </a:r>
                      <a:endParaRPr/>
                    </a:p>
                  </a:txBody>
                  <a:tcPr marT="0" marB="0" marR="0" marL="0" anchor="ctr"/>
                </a:tc>
              </a:tr>
              <a:tr h="608375">
                <a:tc>
                  <a:txBody>
                    <a:bodyPr/>
                    <a:lstStyle/>
                    <a:p>
                      <a:pPr indent="0" lvl="0" marL="0" marR="0" rtl="0" algn="l">
                        <a:lnSpc>
                          <a:spcPct val="150000"/>
                        </a:lnSpc>
                        <a:spcBef>
                          <a:spcPts val="0"/>
                        </a:spcBef>
                        <a:spcAft>
                          <a:spcPts val="0"/>
                        </a:spcAft>
                        <a:buNone/>
                      </a:pPr>
                      <a:r>
                        <a:rPr lang="en-US" sz="1200"/>
                        <a:t>Սովորողների արտադպրոցական և արտադասարանական աշխատանքներում ներառված ծնողների տոկոսը. </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80%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80% </a:t>
                      </a:r>
                      <a:endParaRPr/>
                    </a:p>
                  </a:txBody>
                  <a:tcPr marT="0" marB="0" marR="0" marL="0" anchor="ctr"/>
                </a:tc>
                <a:tc>
                  <a:txBody>
                    <a:bodyPr/>
                    <a:lstStyle/>
                    <a:p>
                      <a:pPr indent="0" lvl="0" marL="0" marR="0" rtl="0" algn="ctr">
                        <a:spcBef>
                          <a:spcPts val="0"/>
                        </a:spcBef>
                        <a:spcAft>
                          <a:spcPts val="0"/>
                        </a:spcAft>
                        <a:buNone/>
                      </a:pPr>
                      <a:r>
                        <a:rPr lang="en-US" sz="1200"/>
                        <a:t>85%</a:t>
                      </a:r>
                      <a:endParaRPr sz="1200"/>
                    </a:p>
                  </a:txBody>
                  <a:tcPr marT="0" marB="0" marR="0" marL="0" anchor="ctr"/>
                </a:tc>
              </a:tr>
              <a:tr h="912575">
                <a:tc>
                  <a:txBody>
                    <a:bodyPr/>
                    <a:lstStyle/>
                    <a:p>
                      <a:pPr indent="0" lvl="0" marL="0" marR="0" rtl="0" algn="l">
                        <a:lnSpc>
                          <a:spcPct val="150000"/>
                        </a:lnSpc>
                        <a:spcBef>
                          <a:spcPts val="0"/>
                        </a:spcBef>
                        <a:spcAft>
                          <a:spcPts val="0"/>
                        </a:spcAft>
                        <a:buClr>
                          <a:schemeClr val="dk1"/>
                        </a:buClr>
                        <a:buSzPts val="1200"/>
                        <a:buFont typeface="Century Gothic"/>
                        <a:buNone/>
                      </a:pPr>
                      <a:r>
                        <a:rPr lang="en-US" sz="1200"/>
                        <a:t>Ծնողների տոկոսը, որոնք օգտվում են </a:t>
                      </a:r>
                      <a:r>
                        <a:rPr lang="en-US" sz="1200" u="sng">
                          <a:solidFill>
                            <a:schemeClr val="hlink"/>
                          </a:solidFill>
                          <a:hlinkClick r:id="rId3"/>
                        </a:rPr>
                        <a:t>https://e-diary.emis.am/</a:t>
                      </a:r>
                      <a:endParaRPr sz="1200"/>
                    </a:p>
                    <a:p>
                      <a:pPr indent="0" lvl="0" marL="0" marR="0" rtl="0" algn="l">
                        <a:lnSpc>
                          <a:spcPct val="150000"/>
                        </a:lnSpc>
                        <a:spcBef>
                          <a:spcPts val="1000"/>
                        </a:spcBef>
                        <a:spcAft>
                          <a:spcPts val="0"/>
                        </a:spcAft>
                        <a:buNone/>
                      </a:pPr>
                      <a:r>
                        <a:rPr lang="en-US" sz="1200" u="sng">
                          <a:solidFill>
                            <a:schemeClr val="hlink"/>
                          </a:solidFill>
                          <a:hlinkClick r:id="rId4"/>
                        </a:rPr>
                        <a:t>http://ktak.am</a:t>
                      </a:r>
                      <a:r>
                        <a:rPr lang="en-US" sz="1200"/>
                        <a:t>, </a:t>
                      </a:r>
                      <a:r>
                        <a:rPr lang="en-US" sz="1200" u="sng">
                          <a:solidFill>
                            <a:schemeClr val="hlink"/>
                          </a:solidFill>
                          <a:hlinkClick r:id="rId5"/>
                        </a:rPr>
                        <a:t>http://www.armedu.am</a:t>
                      </a:r>
                      <a:r>
                        <a:rPr lang="en-US" sz="1200"/>
                        <a:t>, </a:t>
                      </a:r>
                      <a:r>
                        <a:rPr lang="en-US" sz="1200" u="sng">
                          <a:solidFill>
                            <a:schemeClr val="hlink"/>
                          </a:solidFill>
                          <a:hlinkClick r:id="rId6"/>
                        </a:rPr>
                        <a:t>http://forum.armedu.am/</a:t>
                      </a:r>
                      <a:r>
                        <a:rPr lang="en-US" sz="1200"/>
                        <a:t>, </a:t>
                      </a:r>
                      <a:r>
                        <a:rPr lang="en-US" sz="1200" u="sng">
                          <a:solidFill>
                            <a:schemeClr val="hlink"/>
                          </a:solidFill>
                          <a:hlinkClick r:id="rId7"/>
                        </a:rPr>
                        <a:t>http://lib.armedu.am</a:t>
                      </a:r>
                      <a:r>
                        <a:rPr lang="en-US" sz="1200"/>
                        <a:t>, և այլ կրթական կայքերից, ինչպես նաև հաստատության </a:t>
                      </a:r>
                      <a:endParaRPr/>
                    </a:p>
                  </a:txBody>
                  <a:tcPr marT="0" marB="0" marR="0" marL="0" anchor="ctr"/>
                </a:tc>
                <a:tc>
                  <a:txBody>
                    <a:bodyPr/>
                    <a:lstStyle/>
                    <a:p>
                      <a:pPr indent="0" lvl="0" marL="0" marR="0" rtl="0" algn="ctr">
                        <a:lnSpc>
                          <a:spcPct val="150000"/>
                        </a:lnSpc>
                        <a:spcBef>
                          <a:spcPts val="0"/>
                        </a:spcBef>
                        <a:spcAft>
                          <a:spcPts val="0"/>
                        </a:spcAft>
                        <a:buClr>
                          <a:schemeClr val="dk1"/>
                        </a:buClr>
                        <a:buSzPts val="1200"/>
                        <a:buFont typeface="Century Gothic"/>
                        <a:buNone/>
                      </a:pPr>
                      <a:r>
                        <a:rPr lang="en-US" sz="1200"/>
                        <a:t>75%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80% </a:t>
                      </a:r>
                      <a:endParaRPr/>
                    </a:p>
                  </a:txBody>
                  <a:tcPr marT="0" marB="0" marR="0" marL="0" anchor="ctr"/>
                </a:tc>
                <a:tc>
                  <a:txBody>
                    <a:bodyPr/>
                    <a:lstStyle/>
                    <a:p>
                      <a:pPr indent="0" lvl="0" marL="0" marR="0" rtl="0" algn="ctr">
                        <a:spcBef>
                          <a:spcPts val="0"/>
                        </a:spcBef>
                        <a:spcAft>
                          <a:spcPts val="0"/>
                        </a:spcAft>
                        <a:buNone/>
                      </a:pPr>
                      <a:r>
                        <a:rPr lang="en-US" sz="1200"/>
                        <a:t>88%</a:t>
                      </a:r>
                      <a:endParaRPr sz="1200"/>
                    </a:p>
                  </a:txBody>
                  <a:tcPr marT="0" marB="0" marR="0" marL="0" anchor="ct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graphicFrame>
        <p:nvGraphicFramePr>
          <p:cNvPr id="613" name="Google Shape;613;p79"/>
          <p:cNvGraphicFramePr/>
          <p:nvPr/>
        </p:nvGraphicFramePr>
        <p:xfrm>
          <a:off x="321149" y="770842"/>
          <a:ext cx="3000000" cy="3000000"/>
        </p:xfrm>
        <a:graphic>
          <a:graphicData uri="http://schemas.openxmlformats.org/drawingml/2006/table">
            <a:tbl>
              <a:tblPr>
                <a:noFill/>
                <a:tableStyleId>{40B977D2-3903-41EF-8714-5AC59086702B}</a:tableStyleId>
              </a:tblPr>
              <a:tblGrid>
                <a:gridCol w="3765025"/>
                <a:gridCol w="1854000"/>
                <a:gridCol w="2040975"/>
                <a:gridCol w="2766725"/>
              </a:tblGrid>
              <a:tr h="50175">
                <a:tc gridSpan="4">
                  <a:txBody>
                    <a:bodyPr/>
                    <a:lstStyle/>
                    <a:p>
                      <a:pPr indent="0" lvl="0" marL="0" marR="0" rtl="0" algn="l">
                        <a:lnSpc>
                          <a:spcPct val="150000"/>
                        </a:lnSpc>
                        <a:spcBef>
                          <a:spcPts val="0"/>
                        </a:spcBef>
                        <a:spcAft>
                          <a:spcPts val="0"/>
                        </a:spcAft>
                        <a:buNone/>
                      </a:pPr>
                      <a:r>
                        <a:rPr b="1" lang="en-US" sz="1400"/>
                        <a:t>Սովորողների ուսումնադաստիարակչական գործընթացի վերաբերյալ ծնողական խորհրդի կողմից տնօրինությանը ներկայացրած առաջարկությունները </a:t>
                      </a:r>
                      <a:endParaRPr b="1" sz="1800"/>
                    </a:p>
                  </a:txBody>
                  <a:tcPr marT="0" marB="0" marR="0" marL="0" anchor="ctr"/>
                </a:tc>
                <a:tc hMerge="1"/>
                <a:tc hMerge="1"/>
                <a:tc hMerge="1"/>
              </a:tr>
              <a:tr h="251075">
                <a:tc>
                  <a:txBody>
                    <a:bodyPr/>
                    <a:lstStyle/>
                    <a:p>
                      <a:pPr indent="-17780" lvl="0" marL="17780" marR="0" rtl="0" algn="l">
                        <a:lnSpc>
                          <a:spcPct val="150000"/>
                        </a:lnSpc>
                        <a:spcBef>
                          <a:spcPts val="0"/>
                        </a:spcBef>
                        <a:spcAft>
                          <a:spcPts val="0"/>
                        </a:spcAft>
                        <a:buNone/>
                      </a:pPr>
                      <a:r>
                        <a:rPr lang="en-US" sz="1400"/>
                        <a:t>Նկարագրել վերջին 3 տարում սովորողների ուսումնադաստիարակչական գործընթացի վերաբերյալ ծնողական խորհրդի կողմից տնօրինությանը ներկայացրած առաջարկությունները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solidFill>
                            <a:srgbClr val="EE6C49"/>
                          </a:solidFill>
                        </a:rPr>
                        <a:t>Ամսաթիվ </a:t>
                      </a:r>
                      <a:endParaRPr sz="1800">
                        <a:solidFill>
                          <a:srgbClr val="EE6C49"/>
                        </a:solidFill>
                      </a:endParaRPr>
                    </a:p>
                  </a:txBody>
                  <a:tcPr marT="0" marB="0" marR="0" marL="0" anchor="ctr"/>
                </a:tc>
                <a:tc>
                  <a:txBody>
                    <a:bodyPr/>
                    <a:lstStyle/>
                    <a:p>
                      <a:pPr indent="0" lvl="0" marL="0" marR="0" rtl="0" algn="l">
                        <a:lnSpc>
                          <a:spcPct val="150000"/>
                        </a:lnSpc>
                        <a:spcBef>
                          <a:spcPts val="0"/>
                        </a:spcBef>
                        <a:spcAft>
                          <a:spcPts val="0"/>
                        </a:spcAft>
                        <a:buNone/>
                      </a:pPr>
                      <a:r>
                        <a:rPr lang="en-US" sz="1400">
                          <a:solidFill>
                            <a:srgbClr val="EE6C49"/>
                          </a:solidFill>
                        </a:rPr>
                        <a:t>Առաջարկների քննարկմանը մասնակից ծնողների թիվը </a:t>
                      </a:r>
                      <a:endParaRPr sz="1800">
                        <a:solidFill>
                          <a:srgbClr val="EE6C49"/>
                        </a:solidFill>
                      </a:endParaRPr>
                    </a:p>
                  </a:txBody>
                  <a:tcPr marT="0" marB="0" marR="0" marL="0" anchor="ctr"/>
                </a:tc>
                <a:tc>
                  <a:txBody>
                    <a:bodyPr/>
                    <a:lstStyle/>
                    <a:p>
                      <a:pPr indent="0" lvl="0" marL="0" marR="0" rtl="0" algn="l">
                        <a:lnSpc>
                          <a:spcPct val="150000"/>
                        </a:lnSpc>
                        <a:spcBef>
                          <a:spcPts val="0"/>
                        </a:spcBef>
                        <a:spcAft>
                          <a:spcPts val="0"/>
                        </a:spcAft>
                        <a:buNone/>
                      </a:pPr>
                      <a:r>
                        <a:rPr lang="en-US" sz="1400">
                          <a:solidFill>
                            <a:srgbClr val="EE6C49"/>
                          </a:solidFill>
                        </a:rPr>
                        <a:t>Մեկնաբանություն </a:t>
                      </a:r>
                      <a:endParaRPr sz="1800">
                        <a:solidFill>
                          <a:srgbClr val="EE6C49"/>
                        </a:solidFill>
                      </a:endParaRPr>
                    </a:p>
                  </a:txBody>
                  <a:tcPr marT="0" marB="0" marR="0" marL="0" anchor="ctr"/>
                </a:tc>
              </a:tr>
              <a:tr h="125475">
                <a:tc>
                  <a:txBody>
                    <a:bodyPr/>
                    <a:lstStyle/>
                    <a:p>
                      <a:pPr indent="-54610" lvl="0" marL="54610" marR="0" rtl="0" algn="l">
                        <a:lnSpc>
                          <a:spcPct val="150000"/>
                        </a:lnSpc>
                        <a:spcBef>
                          <a:spcPts val="0"/>
                        </a:spcBef>
                        <a:spcAft>
                          <a:spcPts val="0"/>
                        </a:spcAft>
                        <a:buNone/>
                      </a:pPr>
                      <a:r>
                        <a:rPr lang="en-US" sz="1400"/>
                        <a:t>1.Առաջարկվել է սահմանել ծնողների հերթապահություն`աջակցելու դպրոցին կարգապահական հարցերում: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ամենամյա</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75%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Առաջարկությունն ընդունվել է, բայց փոքր է եղել նախաձեռնության արդյունավետությունը: </a:t>
                      </a:r>
                      <a:endParaRPr sz="1800"/>
                    </a:p>
                  </a:txBody>
                  <a:tcPr marT="0" marB="0" marR="0" marL="0" anchor="ctr"/>
                </a:tc>
              </a:tr>
              <a:tr h="150625">
                <a:tc>
                  <a:txBody>
                    <a:bodyPr/>
                    <a:lstStyle/>
                    <a:p>
                      <a:pPr indent="-54610" lvl="0" marL="54610" marR="0" rtl="0" algn="l">
                        <a:lnSpc>
                          <a:spcPct val="150000"/>
                        </a:lnSpc>
                        <a:spcBef>
                          <a:spcPts val="0"/>
                        </a:spcBef>
                        <a:spcAft>
                          <a:spcPts val="0"/>
                        </a:spcAft>
                        <a:buNone/>
                      </a:pPr>
                      <a:r>
                        <a:rPr lang="en-US" sz="1400"/>
                        <a:t>2.Առաջարկվել է անցկացնել դասալսումներ ծնողների կողմից՝ ցածր առաջադիմությամբ սովորողների ուսման պրոցեսում ոչ լիարժեք ինտեգրված լինելու պատճառները /: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ամենամյա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400"/>
                        <a:t>88% </a:t>
                      </a:r>
                      <a:endParaRPr sz="1800"/>
                    </a:p>
                  </a:txBody>
                  <a:tcPr marT="0" marB="0" marR="0" marL="0" anchor="ctr"/>
                </a:tc>
                <a:tc>
                  <a:txBody>
                    <a:bodyPr/>
                    <a:lstStyle/>
                    <a:p>
                      <a:pPr indent="0" lvl="0" marL="0" marR="0" rtl="0" algn="l">
                        <a:lnSpc>
                          <a:spcPct val="150000"/>
                        </a:lnSpc>
                        <a:spcBef>
                          <a:spcPts val="0"/>
                        </a:spcBef>
                        <a:spcAft>
                          <a:spcPts val="0"/>
                        </a:spcAft>
                        <a:buNone/>
                      </a:pPr>
                      <a:r>
                        <a:rPr lang="en-US" sz="1400"/>
                        <a:t>Առաջարկությունն ընդունվել է, գործընթացը կրում է շարունակական բնույթ: </a:t>
                      </a:r>
                      <a:endParaRPr sz="1800"/>
                    </a:p>
                  </a:txBody>
                  <a:tcPr marT="0" marB="0" marR="0" marL="0" anchor="ct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graphicFrame>
        <p:nvGraphicFramePr>
          <p:cNvPr id="619" name="Google Shape;619;p80"/>
          <p:cNvGraphicFramePr/>
          <p:nvPr/>
        </p:nvGraphicFramePr>
        <p:xfrm>
          <a:off x="357507" y="552744"/>
          <a:ext cx="3000000" cy="3000000"/>
        </p:xfrm>
        <a:graphic>
          <a:graphicData uri="http://schemas.openxmlformats.org/drawingml/2006/table">
            <a:tbl>
              <a:tblPr>
                <a:noFill/>
                <a:tableStyleId>{40B977D2-3903-41EF-8714-5AC59086702B}</a:tableStyleId>
              </a:tblPr>
              <a:tblGrid>
                <a:gridCol w="5801425"/>
                <a:gridCol w="1150775"/>
                <a:gridCol w="1990875"/>
                <a:gridCol w="1483650"/>
              </a:tblGrid>
              <a:tr h="75300">
                <a:tc gridSpan="4">
                  <a:txBody>
                    <a:bodyPr/>
                    <a:lstStyle/>
                    <a:p>
                      <a:pPr indent="0" lvl="0" marL="0" marR="0" rtl="0" algn="l">
                        <a:lnSpc>
                          <a:spcPct val="150000"/>
                        </a:lnSpc>
                        <a:spcBef>
                          <a:spcPts val="0"/>
                        </a:spcBef>
                        <a:spcAft>
                          <a:spcPts val="0"/>
                        </a:spcAft>
                        <a:buNone/>
                      </a:pPr>
                      <a:r>
                        <a:rPr lang="en-US" sz="1200"/>
                        <a:t>Ծնողական խորհրդի կողմից տվյալ ուստարում կազմակերպված միջոցառումները՝ հանդեսներ, հավաքներ, երեկույթներ, էքսկուրսիաներ, ճանաչողական այցեր և այլն, մասնակից ծնողների թիվը և սովորողների տոկոսը</a:t>
                      </a:r>
                      <a:endParaRPr sz="1800"/>
                    </a:p>
                  </a:txBody>
                  <a:tcPr marT="0" marB="0" marR="0" marL="0" anchor="ctr"/>
                </a:tc>
                <a:tc hMerge="1"/>
                <a:tc hMerge="1"/>
                <a:tc hMerge="1"/>
              </a:tr>
              <a:tr h="125475">
                <a:tc>
                  <a:txBody>
                    <a:bodyPr/>
                    <a:lstStyle/>
                    <a:p>
                      <a:pPr indent="-17780" lvl="0" marL="17780" marR="0" rtl="0" algn="l">
                        <a:lnSpc>
                          <a:spcPct val="150000"/>
                        </a:lnSpc>
                        <a:spcBef>
                          <a:spcPts val="0"/>
                        </a:spcBef>
                        <a:spcAft>
                          <a:spcPts val="0"/>
                        </a:spcAft>
                        <a:buNone/>
                      </a:pPr>
                      <a:r>
                        <a:rPr lang="en-US" sz="1200"/>
                        <a:t>Նկարագրել վերջին 3 տարում ծնողական խորհրդի կողմից կազմակերպված միջոցառումները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Ամսաթիվ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Մասնակից ծնողների թիվը և սովորողների տոկոսը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Ծնողական ներդրումների չափը </a:t>
                      </a:r>
                      <a:endParaRPr sz="1800"/>
                    </a:p>
                  </a:txBody>
                  <a:tcPr marT="0" marB="0" marR="0" marL="0" anchor="ctr"/>
                </a:tc>
              </a:tr>
              <a:tr h="50175">
                <a:tc>
                  <a:txBody>
                    <a:bodyPr/>
                    <a:lstStyle/>
                    <a:p>
                      <a:pPr indent="0" lvl="0" marL="0" marR="0" rtl="0" algn="l">
                        <a:lnSpc>
                          <a:spcPct val="150000"/>
                        </a:lnSpc>
                        <a:spcBef>
                          <a:spcPts val="0"/>
                        </a:spcBef>
                        <a:spcAft>
                          <a:spcPts val="0"/>
                        </a:spcAft>
                        <a:buNone/>
                      </a:pPr>
                      <a:r>
                        <a:rPr lang="en-US" sz="1200"/>
                        <a:t>1.Գիտելիքի օրվան նվիրված տոնական միջոցառման կազմակերպչական հարցեր: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ամենամյա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80-90% </a:t>
                      </a:r>
                      <a:endParaRPr sz="1800"/>
                    </a:p>
                  </a:txBody>
                  <a:tcPr marT="0" marB="0" marR="0" marL="0" anchor="ctr"/>
                </a:tc>
                <a:tc>
                  <a:txBody>
                    <a:bodyPr/>
                    <a:lstStyle/>
                    <a:p>
                      <a:pPr indent="0" lvl="0" marL="0" marR="0" rtl="0" algn="l">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r h="75300">
                <a:tc>
                  <a:txBody>
                    <a:bodyPr/>
                    <a:lstStyle/>
                    <a:p>
                      <a:pPr indent="0" lvl="0" marL="0" marR="0" rtl="0" algn="l">
                        <a:lnSpc>
                          <a:spcPct val="150000"/>
                        </a:lnSpc>
                        <a:spcBef>
                          <a:spcPts val="0"/>
                        </a:spcBef>
                        <a:spcAft>
                          <a:spcPts val="0"/>
                        </a:spcAft>
                        <a:buNone/>
                      </a:pPr>
                      <a:r>
                        <a:rPr lang="en-US" sz="1200"/>
                        <a:t>2. Ուսուցչի օրվան նվիրված շնորհավորական բացիկների պատրաստում ԱԽ –ի հետ համատեղ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ամենամյա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70-80% </a:t>
                      </a:r>
                      <a:endParaRPr sz="1800"/>
                    </a:p>
                  </a:txBody>
                  <a:tcPr marT="0" marB="0" marR="0" marL="0" anchor="ctr"/>
                </a:tc>
                <a:tc>
                  <a:txBody>
                    <a:bodyPr/>
                    <a:lstStyle/>
                    <a:p>
                      <a:pPr indent="0" lvl="0" marL="0" marR="0" rtl="0" algn="l">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r h="100450">
                <a:tc>
                  <a:txBody>
                    <a:bodyPr/>
                    <a:lstStyle/>
                    <a:p>
                      <a:pPr indent="0" lvl="0" marL="0" marR="0" rtl="0" algn="l">
                        <a:lnSpc>
                          <a:spcPct val="150000"/>
                        </a:lnSpc>
                        <a:spcBef>
                          <a:spcPts val="0"/>
                        </a:spcBef>
                        <a:spcAft>
                          <a:spcPts val="0"/>
                        </a:spcAft>
                        <a:buNone/>
                      </a:pPr>
                      <a:r>
                        <a:rPr lang="en-US" sz="1200"/>
                        <a:t>3. Ամանորին ընդառաջ դասասենյակների ձևավորում, և համադպրոցական միջոցառման կազմակերպչական հարցերին աջակցում: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ամենամյա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80-90</a:t>
                      </a:r>
                      <a:r>
                        <a:rPr lang="en-US" sz="1200"/>
                        <a:t> </a:t>
                      </a:r>
                      <a:r>
                        <a:rPr lang="en-US" sz="1200"/>
                        <a:t>% </a:t>
                      </a:r>
                      <a:endParaRPr sz="1800"/>
                    </a:p>
                  </a:txBody>
                  <a:tcPr marT="0" marB="0" marR="0" marL="0" anchor="ctr"/>
                </a:tc>
                <a:tc>
                  <a:txBody>
                    <a:bodyPr/>
                    <a:lstStyle/>
                    <a:p>
                      <a:pPr indent="0" lvl="0" marL="0" marR="0" rtl="0" algn="l">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r h="100450">
                <a:tc>
                  <a:txBody>
                    <a:bodyPr/>
                    <a:lstStyle/>
                    <a:p>
                      <a:pPr indent="0" lvl="0" marL="0" marR="0" rtl="0" algn="l">
                        <a:lnSpc>
                          <a:spcPct val="150000"/>
                        </a:lnSpc>
                        <a:spcBef>
                          <a:spcPts val="0"/>
                        </a:spcBef>
                        <a:spcAft>
                          <a:spcPts val="0"/>
                        </a:spcAft>
                        <a:buNone/>
                      </a:pPr>
                      <a:r>
                        <a:rPr lang="en-US" sz="1200"/>
                        <a:t>4. Հայոց բանակի օրվան նվիրված զինվորականների և վետերանների հետ  ամենամյա հանդիպումների կազմակերպչական հարցերին աջակցում: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ամենամյա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60-70% </a:t>
                      </a:r>
                      <a:endParaRPr sz="1800"/>
                    </a:p>
                  </a:txBody>
                  <a:tcPr marT="0" marB="0" marR="0" marL="0" anchor="ctr"/>
                </a:tc>
                <a:tc>
                  <a:txBody>
                    <a:bodyPr/>
                    <a:lstStyle/>
                    <a:p>
                      <a:pPr indent="0" lvl="0" marL="0" marR="0" rtl="0" algn="l">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r h="75300">
                <a:tc>
                  <a:txBody>
                    <a:bodyPr/>
                    <a:lstStyle/>
                    <a:p>
                      <a:pPr indent="0" lvl="0" marL="0" marR="0" rtl="0" algn="l">
                        <a:lnSpc>
                          <a:spcPct val="150000"/>
                        </a:lnSpc>
                        <a:spcBef>
                          <a:spcPts val="0"/>
                        </a:spcBef>
                        <a:spcAft>
                          <a:spcPts val="0"/>
                        </a:spcAft>
                        <a:buNone/>
                      </a:pPr>
                      <a:r>
                        <a:rPr lang="en-US" sz="1200"/>
                        <a:t>7.Վերջին դասերի և Վերջին զանգի միջոցառումների կազմակերպչական հարցեր: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ամենամյա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98 % </a:t>
                      </a:r>
                      <a:endParaRPr sz="1800"/>
                    </a:p>
                  </a:txBody>
                  <a:tcPr marT="0" marB="0" marR="0" marL="0" anchor="ctr"/>
                </a:tc>
                <a:tc>
                  <a:txBody>
                    <a:bodyPr/>
                    <a:lstStyle/>
                    <a:p>
                      <a:pPr indent="0" lvl="0" marL="0" marR="0" rtl="0" algn="l">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r h="75300">
                <a:tc>
                  <a:txBody>
                    <a:bodyPr/>
                    <a:lstStyle/>
                    <a:p>
                      <a:pPr indent="0" lvl="0" marL="0" marR="0" rtl="0" algn="l">
                        <a:lnSpc>
                          <a:spcPct val="150000"/>
                        </a:lnSpc>
                        <a:spcBef>
                          <a:spcPts val="0"/>
                        </a:spcBef>
                        <a:spcAft>
                          <a:spcPts val="0"/>
                        </a:spcAft>
                        <a:buNone/>
                      </a:pPr>
                      <a:r>
                        <a:rPr lang="en-US" sz="1200"/>
                        <a:t>8.Տարեվերջյան դասարանական էքսկուրսիաների և ճանաչողական այցերի կազմակերպում: </a:t>
                      </a:r>
                      <a:endParaRPr sz="1800"/>
                    </a:p>
                  </a:txBody>
                  <a:tcPr marT="0" marB="0" marR="0" marL="0" anchor="ctr"/>
                </a:tc>
                <a:tc>
                  <a:txBody>
                    <a:bodyPr/>
                    <a:lstStyle/>
                    <a:p>
                      <a:pPr indent="0" lvl="0" marL="0" marR="0" rtl="0" algn="l">
                        <a:lnSpc>
                          <a:spcPct val="150000"/>
                        </a:lnSpc>
                        <a:spcBef>
                          <a:spcPts val="0"/>
                        </a:spcBef>
                        <a:spcAft>
                          <a:spcPts val="0"/>
                        </a:spcAft>
                        <a:buNone/>
                      </a:pPr>
                      <a:r>
                        <a:rPr lang="en-US" sz="1200"/>
                        <a:t>ամենամյա </a:t>
                      </a:r>
                      <a:endParaRPr sz="1800"/>
                    </a:p>
                  </a:txBody>
                  <a:tcPr marT="0" marB="0" marR="0" marL="0" anchor="ctr"/>
                </a:tc>
                <a:tc>
                  <a:txBody>
                    <a:bodyPr/>
                    <a:lstStyle/>
                    <a:p>
                      <a:pPr indent="0" lvl="0" marL="0" marR="0" rtl="0" algn="ctr">
                        <a:lnSpc>
                          <a:spcPct val="150000"/>
                        </a:lnSpc>
                        <a:spcBef>
                          <a:spcPts val="0"/>
                        </a:spcBef>
                        <a:spcAft>
                          <a:spcPts val="0"/>
                        </a:spcAft>
                        <a:buNone/>
                      </a:pPr>
                      <a:r>
                        <a:rPr lang="en-US" sz="1200"/>
                        <a:t>90-100</a:t>
                      </a:r>
                      <a:r>
                        <a:rPr lang="en-US" sz="1200"/>
                        <a:t> </a:t>
                      </a:r>
                      <a:r>
                        <a:rPr lang="en-US" sz="1200"/>
                        <a:t>% </a:t>
                      </a:r>
                      <a:endParaRPr sz="1800"/>
                    </a:p>
                  </a:txBody>
                  <a:tcPr marT="0" marB="0" marR="0" marL="0" anchor="ctr"/>
                </a:tc>
                <a:tc>
                  <a:txBody>
                    <a:bodyPr/>
                    <a:lstStyle/>
                    <a:p>
                      <a:pPr indent="0" lvl="0" marL="0" marR="0" rtl="0" algn="l">
                        <a:lnSpc>
                          <a:spcPct val="150000"/>
                        </a:lnSpc>
                        <a:spcBef>
                          <a:spcPts val="0"/>
                        </a:spcBef>
                        <a:spcAft>
                          <a:spcPts val="0"/>
                        </a:spcAft>
                        <a:buNone/>
                      </a:pPr>
                      <a:r>
                        <a:t/>
                      </a:r>
                      <a:endParaRPr sz="1200">
                        <a:latin typeface="Calibri"/>
                        <a:ea typeface="Calibri"/>
                        <a:cs typeface="Calibri"/>
                        <a:sym typeface="Calibri"/>
                      </a:endParaRPr>
                    </a:p>
                  </a:txBody>
                  <a:tcPr marT="0" marB="0" marR="0" marL="0" anchor="ct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graphicFrame>
        <p:nvGraphicFramePr>
          <p:cNvPr id="625" name="Google Shape;625;p81"/>
          <p:cNvGraphicFramePr/>
          <p:nvPr/>
        </p:nvGraphicFramePr>
        <p:xfrm>
          <a:off x="236314" y="455811"/>
          <a:ext cx="3000000" cy="3000000"/>
        </p:xfrm>
        <a:graphic>
          <a:graphicData uri="http://schemas.openxmlformats.org/drawingml/2006/table">
            <a:tbl>
              <a:tblPr>
                <a:noFill/>
                <a:tableStyleId>{40B977D2-3903-41EF-8714-5AC59086702B}</a:tableStyleId>
              </a:tblPr>
              <a:tblGrid>
                <a:gridCol w="4014650"/>
                <a:gridCol w="580325"/>
                <a:gridCol w="371025"/>
                <a:gridCol w="1750475"/>
                <a:gridCol w="1607775"/>
                <a:gridCol w="2175375"/>
              </a:tblGrid>
              <a:tr h="75300">
                <a:tc gridSpan="6">
                  <a:txBody>
                    <a:bodyPr/>
                    <a:lstStyle/>
                    <a:p>
                      <a:pPr indent="0" lvl="0" marL="0" marR="0" rtl="0" algn="l">
                        <a:spcBef>
                          <a:spcPts val="0"/>
                        </a:spcBef>
                        <a:spcAft>
                          <a:spcPts val="0"/>
                        </a:spcAft>
                        <a:buNone/>
                      </a:pPr>
                      <a:r>
                        <a:rPr lang="en-US" sz="1200"/>
                        <a:t>Ծնողական խորհրդի կողմից ուսուցիչներին խրախուսելու, նրանց նկատմամբ կարգապահական կամ այլ տույժեր կիրառելու վերաբերյալ և նմանատիպ առաջարկությունները </a:t>
                      </a:r>
                      <a:endParaRPr sz="1800"/>
                    </a:p>
                  </a:txBody>
                  <a:tcPr marT="0" marB="0" marR="0" marL="0" anchor="ctr"/>
                </a:tc>
                <a:tc hMerge="1"/>
                <a:tc hMerge="1"/>
                <a:tc hMerge="1"/>
                <a:tc hMerge="1"/>
                <a:tc hMerge="1"/>
              </a:tr>
              <a:tr h="326400">
                <a:tc>
                  <a:txBody>
                    <a:bodyPr/>
                    <a:lstStyle/>
                    <a:p>
                      <a:pPr indent="0" lvl="0" marL="0" marR="0" rtl="0" algn="l">
                        <a:spcBef>
                          <a:spcPts val="0"/>
                        </a:spcBef>
                        <a:spcAft>
                          <a:spcPts val="0"/>
                        </a:spcAft>
                        <a:buNone/>
                      </a:pPr>
                      <a:r>
                        <a:rPr lang="en-US" sz="1200"/>
                        <a:t>Նկարագրել վերջին 3 տարում ծնողական խորհրդի կողմից ուսուցիչներին խրախուսելու, նրանց նկատմամբ կարգապահական կամ այլ տույժեր կիրառելու վերաբերյալ և նմանատիպ առաջարկությունները </a:t>
                      </a:r>
                      <a:endParaRPr sz="1800"/>
                    </a:p>
                  </a:txBody>
                  <a:tcPr marT="0" marB="0" marR="0" marL="0" anchor="ctr"/>
                </a:tc>
                <a:tc gridSpan="2">
                  <a:txBody>
                    <a:bodyPr/>
                    <a:lstStyle/>
                    <a:p>
                      <a:pPr indent="0" lvl="0" marL="0" marR="0" rtl="0" algn="l">
                        <a:spcBef>
                          <a:spcPts val="0"/>
                        </a:spcBef>
                        <a:spcAft>
                          <a:spcPts val="0"/>
                        </a:spcAft>
                        <a:buNone/>
                      </a:pPr>
                      <a:r>
                        <a:rPr lang="en-US" sz="1200"/>
                        <a:t>Ամսաթիվ </a:t>
                      </a:r>
                      <a:endParaRPr sz="1800"/>
                    </a:p>
                  </a:txBody>
                  <a:tcPr marT="0" marB="0" marR="0" marL="0" anchor="ctr"/>
                </a:tc>
                <a:tc hMerge="1"/>
                <a:tc gridSpan="2">
                  <a:txBody>
                    <a:bodyPr/>
                    <a:lstStyle/>
                    <a:p>
                      <a:pPr indent="0" lvl="0" marL="0" marR="0" rtl="0" algn="l">
                        <a:spcBef>
                          <a:spcPts val="0"/>
                        </a:spcBef>
                        <a:spcAft>
                          <a:spcPts val="0"/>
                        </a:spcAft>
                        <a:buNone/>
                      </a:pPr>
                      <a:r>
                        <a:rPr lang="en-US" sz="1200"/>
                        <a:t>Առաջարկությունների քննարկմանը մասնակից ծնողների թիվը ևուսուցիչներին թիվը, ովքեր ծնողական խորհրդի կողմից առաջարկվել են խրախուսման կամ կարգապահական տույժի </a:t>
                      </a:r>
                      <a:endParaRPr sz="1800"/>
                    </a:p>
                  </a:txBody>
                  <a:tcPr marT="0" marB="0" marR="0" marL="0" anchor="ctr"/>
                </a:tc>
                <a:tc hMerge="1"/>
                <a:tc>
                  <a:txBody>
                    <a:bodyPr/>
                    <a:lstStyle/>
                    <a:p>
                      <a:pPr indent="0" lvl="0" marL="0" marR="0" rtl="0" algn="l">
                        <a:spcBef>
                          <a:spcPts val="0"/>
                        </a:spcBef>
                        <a:spcAft>
                          <a:spcPts val="0"/>
                        </a:spcAft>
                        <a:buNone/>
                      </a:pPr>
                      <a:r>
                        <a:rPr lang="en-US" sz="1200"/>
                        <a:t>Մեկնաբանություններ </a:t>
                      </a:r>
                      <a:endParaRPr sz="1800"/>
                    </a:p>
                  </a:txBody>
                  <a:tcPr marT="0" marB="0" marR="0" marL="0" anchor="ctr"/>
                </a:tc>
              </a:tr>
              <a:tr h="175775">
                <a:tc>
                  <a:txBody>
                    <a:bodyPr/>
                    <a:lstStyle/>
                    <a:p>
                      <a:pPr indent="0" lvl="0" marL="0" marR="0" rtl="0" algn="l">
                        <a:spcBef>
                          <a:spcPts val="0"/>
                        </a:spcBef>
                        <a:spcAft>
                          <a:spcPts val="0"/>
                        </a:spcAft>
                        <a:buNone/>
                      </a:pPr>
                      <a:r>
                        <a:rPr lang="en-US" sz="1200"/>
                        <a:t>1.Ուսուցիչների ներկայացում հաստատության տնօրենի ամենամյա խրախուսական շնորհակալագրերին: </a:t>
                      </a:r>
                      <a:endParaRPr sz="1800"/>
                    </a:p>
                  </a:txBody>
                  <a:tcPr marT="0" marB="0" marR="0" marL="0" anchor="ctr"/>
                </a:tc>
                <a:tc gridSpan="2">
                  <a:txBody>
                    <a:bodyPr/>
                    <a:lstStyle/>
                    <a:p>
                      <a:pPr indent="0" lvl="0" marL="0" marR="0" rtl="0" algn="l">
                        <a:spcBef>
                          <a:spcPts val="0"/>
                        </a:spcBef>
                        <a:spcAft>
                          <a:spcPts val="0"/>
                        </a:spcAft>
                        <a:buNone/>
                      </a:pPr>
                      <a:r>
                        <a:rPr lang="en-US" sz="1200"/>
                        <a:t>ամենամյա </a:t>
                      </a:r>
                      <a:endParaRPr sz="1800"/>
                    </a:p>
                  </a:txBody>
                  <a:tcPr marT="0" marB="0" marR="0" marL="0" anchor="ctr"/>
                </a:tc>
                <a:tc hMerge="1"/>
                <a:tc gridSpan="2">
                  <a:txBody>
                    <a:bodyPr/>
                    <a:lstStyle/>
                    <a:p>
                      <a:pPr indent="0" lvl="0" marL="0" marR="0" rtl="0" algn="ctr">
                        <a:spcBef>
                          <a:spcPts val="0"/>
                        </a:spcBef>
                        <a:spcAft>
                          <a:spcPts val="0"/>
                        </a:spcAft>
                        <a:buNone/>
                      </a:pPr>
                      <a:r>
                        <a:rPr lang="en-US" sz="1200"/>
                        <a:t>75-80% </a:t>
                      </a:r>
                      <a:endParaRPr sz="1800"/>
                    </a:p>
                  </a:txBody>
                  <a:tcPr marT="0" marB="0" marR="0" marL="0" anchor="ctr"/>
                </a:tc>
                <a:tc hMerge="1"/>
                <a:tc>
                  <a:txBody>
                    <a:bodyPr/>
                    <a:lstStyle/>
                    <a:p>
                      <a:pPr indent="0" lvl="0" marL="0" marR="0" rtl="0" algn="l">
                        <a:spcBef>
                          <a:spcPts val="0"/>
                        </a:spcBef>
                        <a:spcAft>
                          <a:spcPts val="0"/>
                        </a:spcAft>
                        <a:buNone/>
                      </a:pPr>
                      <a:r>
                        <a:rPr lang="en-US" sz="1200"/>
                        <a:t>Քննարկում են ԾԽ նիստում և իրենց առաջարկությունները ներկայացնում տնօրենի հաստատմանը: </a:t>
                      </a:r>
                      <a:endParaRPr sz="1800"/>
                    </a:p>
                  </a:txBody>
                  <a:tcPr marT="0" marB="0" marR="0" marL="0" anchor="ctr"/>
                </a:tc>
              </a:tr>
              <a:tr h="200925">
                <a:tc>
                  <a:txBody>
                    <a:bodyPr/>
                    <a:lstStyle/>
                    <a:p>
                      <a:pPr indent="0" lvl="0" marL="0" marR="0" rtl="0" algn="l">
                        <a:spcBef>
                          <a:spcPts val="0"/>
                        </a:spcBef>
                        <a:spcAft>
                          <a:spcPts val="0"/>
                        </a:spcAft>
                        <a:buNone/>
                      </a:pPr>
                      <a:r>
                        <a:rPr lang="en-US" sz="1200"/>
                        <a:t>2. Ծնողական ժողովների արձանագրում և ներկայացում քննարկված թեմաներին, այդ թվում՝ գանգատներ, գոհունակություններ, առաջարկություններ: </a:t>
                      </a:r>
                      <a:endParaRPr sz="1800"/>
                    </a:p>
                  </a:txBody>
                  <a:tcPr marT="0" marB="0" marR="0" marL="0" anchor="ctr"/>
                </a:tc>
                <a:tc gridSpan="2">
                  <a:txBody>
                    <a:bodyPr/>
                    <a:lstStyle/>
                    <a:p>
                      <a:pPr indent="0" lvl="0" marL="0" marR="0" rtl="0" algn="l">
                        <a:spcBef>
                          <a:spcPts val="0"/>
                        </a:spcBef>
                        <a:spcAft>
                          <a:spcPts val="0"/>
                        </a:spcAft>
                        <a:buNone/>
                      </a:pPr>
                      <a:r>
                        <a:rPr lang="en-US" sz="1200"/>
                        <a:t>Առնվազն կիսամյակը 2 անգամ </a:t>
                      </a:r>
                      <a:endParaRPr sz="1800"/>
                    </a:p>
                  </a:txBody>
                  <a:tcPr marT="0" marB="0" marR="0" marL="0" anchor="ctr"/>
                </a:tc>
                <a:tc hMerge="1"/>
                <a:tc gridSpan="2">
                  <a:txBody>
                    <a:bodyPr/>
                    <a:lstStyle/>
                    <a:p>
                      <a:pPr indent="0" lvl="0" marL="0" marR="0" rtl="0" algn="ctr">
                        <a:spcBef>
                          <a:spcPts val="0"/>
                        </a:spcBef>
                        <a:spcAft>
                          <a:spcPts val="0"/>
                        </a:spcAft>
                        <a:buNone/>
                      </a:pPr>
                      <a:r>
                        <a:rPr lang="en-US" sz="1200"/>
                        <a:t>90% </a:t>
                      </a:r>
                      <a:endParaRPr sz="1800"/>
                    </a:p>
                  </a:txBody>
                  <a:tcPr marT="0" marB="0" marR="0" marL="0" anchor="ctr"/>
                </a:tc>
                <a:tc hMerge="1"/>
                <a:tc>
                  <a:txBody>
                    <a:bodyPr/>
                    <a:lstStyle/>
                    <a:p>
                      <a:pPr indent="0" lvl="0" marL="0" marR="0" rtl="0" algn="l">
                        <a:spcBef>
                          <a:spcPts val="0"/>
                        </a:spcBef>
                        <a:spcAft>
                          <a:spcPts val="0"/>
                        </a:spcAft>
                        <a:buNone/>
                      </a:pPr>
                      <a:r>
                        <a:rPr lang="en-US" sz="1200"/>
                        <a:t>Արձանագրությունները քննարկվում են հաստատության տնօրենի և ՄԿԱ գծով տնօրենի տեղակալի կողմից: </a:t>
                      </a:r>
                      <a:endParaRPr sz="1800"/>
                    </a:p>
                  </a:txBody>
                  <a:tcPr marT="0" marB="0" marR="0" marL="0" anchor="ctr"/>
                </a:tc>
              </a:tr>
              <a:tr h="27175">
                <a:tc gridSpan="6">
                  <a:txBody>
                    <a:bodyPr/>
                    <a:lstStyle/>
                    <a:p>
                      <a:pPr indent="0" lvl="0" marL="0" marR="0" rtl="0" algn="l">
                        <a:spcBef>
                          <a:spcPts val="0"/>
                        </a:spcBef>
                        <a:spcAft>
                          <a:spcPts val="0"/>
                        </a:spcAft>
                        <a:buNone/>
                      </a:pPr>
                      <a:r>
                        <a:rPr lang="en-US" sz="1200"/>
                        <a:t>Ծնողական խորհրդի հանդիպումների ընթացքում քննարկված հարցերը </a:t>
                      </a:r>
                      <a:endParaRPr sz="1800"/>
                    </a:p>
                  </a:txBody>
                  <a:tcPr marT="0" marB="0" marR="0" marL="0" anchor="ctr"/>
                </a:tc>
                <a:tc hMerge="1"/>
                <a:tc hMerge="1"/>
                <a:tc hMerge="1"/>
                <a:tc hMerge="1"/>
                <a:tc hMerge="1"/>
              </a:tr>
              <a:tr h="75300">
                <a:tc gridSpan="2">
                  <a:txBody>
                    <a:bodyPr/>
                    <a:lstStyle/>
                    <a:p>
                      <a:pPr indent="0" lvl="0" marL="0" marR="0" rtl="0" algn="l">
                        <a:spcBef>
                          <a:spcPts val="0"/>
                        </a:spcBef>
                        <a:spcAft>
                          <a:spcPts val="0"/>
                        </a:spcAft>
                        <a:buNone/>
                      </a:pPr>
                      <a:r>
                        <a:rPr lang="en-US" sz="1200"/>
                        <a:t>Նկարագրել վերջին 3 տարում ծնողական խորհրդի հանդիպումների ընթացքում քննարկված հարցերը </a:t>
                      </a:r>
                      <a:endParaRPr sz="1800"/>
                    </a:p>
                  </a:txBody>
                  <a:tcPr marT="0" marB="0" marR="0" marL="0" anchor="ctr"/>
                </a:tc>
                <a:tc hMerge="1"/>
                <a:tc gridSpan="2">
                  <a:txBody>
                    <a:bodyPr/>
                    <a:lstStyle/>
                    <a:p>
                      <a:pPr indent="0" lvl="0" marL="0" marR="0" rtl="0" algn="l">
                        <a:spcBef>
                          <a:spcPts val="0"/>
                        </a:spcBef>
                        <a:spcAft>
                          <a:spcPts val="0"/>
                        </a:spcAft>
                        <a:buNone/>
                      </a:pPr>
                      <a:r>
                        <a:rPr lang="en-US" sz="1200"/>
                        <a:t>Ամսաթիվ </a:t>
                      </a:r>
                      <a:endParaRPr sz="1800"/>
                    </a:p>
                  </a:txBody>
                  <a:tcPr marT="0" marB="0" marR="0" marL="0" anchor="ctr"/>
                </a:tc>
                <a:tc hMerge="1"/>
                <a:tc gridSpan="2">
                  <a:txBody>
                    <a:bodyPr/>
                    <a:lstStyle/>
                    <a:p>
                      <a:pPr indent="0" lvl="0" marL="0" marR="0" rtl="0" algn="l">
                        <a:spcBef>
                          <a:spcPts val="0"/>
                        </a:spcBef>
                        <a:spcAft>
                          <a:spcPts val="0"/>
                        </a:spcAft>
                        <a:buNone/>
                      </a:pPr>
                      <a:r>
                        <a:rPr lang="en-US" sz="1200"/>
                        <a:t>Մեկնաբանություններ </a:t>
                      </a:r>
                      <a:endParaRPr sz="1800"/>
                    </a:p>
                  </a:txBody>
                  <a:tcPr marT="0" marB="0" marR="0" marL="0" anchor="ctr"/>
                </a:tc>
                <a:tc hMerge="1"/>
              </a:tr>
              <a:tr h="75300">
                <a:tc gridSpan="2">
                  <a:txBody>
                    <a:bodyPr/>
                    <a:lstStyle/>
                    <a:p>
                      <a:pPr indent="-54610" lvl="0" marL="54610" marR="0" rtl="0" algn="l">
                        <a:spcBef>
                          <a:spcPts val="0"/>
                        </a:spcBef>
                        <a:spcAft>
                          <a:spcPts val="0"/>
                        </a:spcAft>
                        <a:buNone/>
                      </a:pPr>
                      <a:r>
                        <a:rPr lang="en-US" sz="1200"/>
                        <a:t>1.Ծանոթացում համադպրոցական ուսումնադաստիարակչական աշխատանքների  ուսումնական պլանին: </a:t>
                      </a:r>
                      <a:endParaRPr sz="1800"/>
                    </a:p>
                  </a:txBody>
                  <a:tcPr marT="0" marB="0" marR="0" marL="0" anchor="ctr"/>
                </a:tc>
                <a:tc hMerge="1"/>
                <a:tc gridSpan="2">
                  <a:txBody>
                    <a:bodyPr/>
                    <a:lstStyle/>
                    <a:p>
                      <a:pPr indent="0" lvl="0" marL="0" marR="0" rtl="0" algn="l">
                        <a:spcBef>
                          <a:spcPts val="0"/>
                        </a:spcBef>
                        <a:spcAft>
                          <a:spcPts val="0"/>
                        </a:spcAft>
                        <a:buNone/>
                      </a:pPr>
                      <a:r>
                        <a:rPr lang="en-US" sz="1200"/>
                        <a:t>ամենամյա </a:t>
                      </a:r>
                      <a:endParaRPr sz="1800"/>
                    </a:p>
                  </a:txBody>
                  <a:tcPr marT="0" marB="0" marR="0" marL="0" anchor="ctr"/>
                </a:tc>
                <a:tc hMerge="1"/>
                <a:tc gridSpan="2">
                  <a:txBody>
                    <a:bodyPr/>
                    <a:lstStyle/>
                    <a:p>
                      <a:pPr indent="0" lvl="0" marL="0" marR="0" rtl="0" algn="l">
                        <a:spcBef>
                          <a:spcPts val="0"/>
                        </a:spcBef>
                        <a:spcAft>
                          <a:spcPts val="0"/>
                        </a:spcAft>
                        <a:buNone/>
                      </a:pPr>
                      <a:r>
                        <a:rPr lang="en-US" sz="1200"/>
                        <a:t>Ծանոթանում են և ըստ այդմ կազմում իրենց աշխատանքային պլանը: </a:t>
                      </a:r>
                      <a:endParaRPr sz="1800"/>
                    </a:p>
                  </a:txBody>
                  <a:tcPr marT="0" marB="0" marR="0" marL="0" anchor="ctr"/>
                </a:tc>
                <a:tc hMerge="1"/>
              </a:tr>
              <a:tr h="218700">
                <a:tc gridSpan="2">
                  <a:txBody>
                    <a:bodyPr/>
                    <a:lstStyle/>
                    <a:p>
                      <a:pPr indent="-54610" lvl="0" marL="54610" marR="0" rtl="0" algn="l">
                        <a:spcBef>
                          <a:spcPts val="0"/>
                        </a:spcBef>
                        <a:spcAft>
                          <a:spcPts val="0"/>
                        </a:spcAft>
                        <a:buNone/>
                      </a:pPr>
                      <a:r>
                        <a:rPr lang="en-US" sz="1200"/>
                        <a:t>3.Ծանոթացում «</a:t>
                      </a:r>
                      <a:r>
                        <a:rPr lang="en-US" sz="1200" u="sng">
                          <a:solidFill>
                            <a:schemeClr val="hlink"/>
                          </a:solidFill>
                          <a:hlinkClick r:id="rId3"/>
                        </a:rPr>
                        <a:t>Ուսումնական հաստատության սովորողների կողմից կրթական ծրագրերի յուրացման, ամփոփիչ ստուգման կամ ատեստավորման անցկացման, սովորողների փոխադրման, ավարտման և ուսումնական տարվա ընթացքում 60</a:t>
                      </a:r>
                      <a:r>
                        <a:rPr lang="en-US" sz="1200" u="sng">
                          <a:solidFill>
                            <a:schemeClr val="hlink"/>
                          </a:solidFill>
                          <a:hlinkClick r:id="rId4"/>
                        </a:rPr>
                        <a:t> և ավելի</a:t>
                      </a:r>
                      <a:r>
                        <a:rPr lang="en-US" sz="1200" u="sng">
                          <a:solidFill>
                            <a:schemeClr val="hlink"/>
                          </a:solidFill>
                          <a:hlinkClick r:id="rId5"/>
                        </a:rPr>
                        <a:t> ժամ  բացակայած սովորողի՝ հաջորդ դասարան կամ հանրակրթության հաջորդ աստիճան փոխադրման»  կարգ</a:t>
                      </a:r>
                      <a:r>
                        <a:rPr lang="en-US" sz="1200"/>
                        <a:t>&gt;&gt;-ին: /388-Ն</a:t>
                      </a:r>
                      <a:r>
                        <a:rPr lang="en-US" sz="1200"/>
                        <a:t> հրամանի հավելված, 164-Ն հրաման/</a:t>
                      </a:r>
                      <a:endParaRPr sz="1800"/>
                    </a:p>
                  </a:txBody>
                  <a:tcPr marT="0" marB="0" marR="0" marL="0" anchor="ctr"/>
                </a:tc>
                <a:tc hMerge="1"/>
                <a:tc gridSpan="2">
                  <a:txBody>
                    <a:bodyPr/>
                    <a:lstStyle/>
                    <a:p>
                      <a:pPr indent="0" lvl="0" marL="0" marR="0" rtl="0" algn="l">
                        <a:spcBef>
                          <a:spcPts val="0"/>
                        </a:spcBef>
                        <a:spcAft>
                          <a:spcPts val="0"/>
                        </a:spcAft>
                        <a:buNone/>
                      </a:pPr>
                      <a:r>
                        <a:rPr lang="en-US" sz="1200"/>
                        <a:t>ամենամյա </a:t>
                      </a:r>
                      <a:endParaRPr sz="1800"/>
                    </a:p>
                  </a:txBody>
                  <a:tcPr marT="0" marB="0" marR="0" marL="0" anchor="ctr"/>
                </a:tc>
                <a:tc hMerge="1"/>
                <a:tc gridSpan="2">
                  <a:txBody>
                    <a:bodyPr/>
                    <a:lstStyle/>
                    <a:p>
                      <a:pPr indent="0" lvl="0" marL="0" marR="0" rtl="0" algn="l">
                        <a:spcBef>
                          <a:spcPts val="0"/>
                        </a:spcBef>
                        <a:spcAft>
                          <a:spcPts val="0"/>
                        </a:spcAft>
                        <a:buNone/>
                      </a:pPr>
                      <a:r>
                        <a:rPr lang="en-US" sz="1200"/>
                        <a:t>Տեղեկացվածության ապահովման նպատակով </a:t>
                      </a:r>
                      <a:endParaRPr sz="1800"/>
                    </a:p>
                  </a:txBody>
                  <a:tcPr marT="0" marB="0" marR="0" marL="0" anchor="ctr"/>
                </a:tc>
                <a:tc hMerge="1"/>
              </a:tr>
              <a:tr h="218700">
                <a:tc gridSpan="2">
                  <a:txBody>
                    <a:bodyPr/>
                    <a:lstStyle/>
                    <a:p>
                      <a:pPr indent="0" lvl="0" marL="0" marR="0" rtl="0" algn="l">
                        <a:spcBef>
                          <a:spcPts val="0"/>
                        </a:spcBef>
                        <a:spcAft>
                          <a:spcPts val="0"/>
                        </a:spcAft>
                        <a:buNone/>
                      </a:pPr>
                      <a:r>
                        <a:rPr lang="en-US" sz="1200"/>
                        <a:t>4. Ծանոթացում </a:t>
                      </a:r>
                      <a:r>
                        <a:rPr b="0" i="0" lang="en-US" sz="1200">
                          <a:solidFill>
                            <a:schemeClr val="dk1"/>
                          </a:solidFill>
                          <a:latin typeface="Century Gothic"/>
                          <a:ea typeface="Century Gothic"/>
                          <a:cs typeface="Century Gothic"/>
                          <a:sym typeface="Century Gothic"/>
                        </a:rPr>
                        <a:t>հանրակրթական ուսումնական հաստատություններում հեռավար (դիստանցիոն) կրթության կազմակերպման կարգին՝  ՀՀ կրթության, գիտության մշակույթի և սպորտի նախարարի 2020 թվականի</a:t>
                      </a:r>
                      <a:endParaRPr/>
                    </a:p>
                    <a:p>
                      <a:pPr indent="0" lvl="0" marL="0" marR="0" rtl="0" algn="l">
                        <a:spcBef>
                          <a:spcPts val="0"/>
                        </a:spcBef>
                        <a:spcAft>
                          <a:spcPts val="0"/>
                        </a:spcAft>
                        <a:buNone/>
                      </a:pPr>
                      <a:r>
                        <a:rPr b="0" i="0" lang="en-US" sz="1200">
                          <a:solidFill>
                            <a:schemeClr val="dk1"/>
                          </a:solidFill>
                          <a:latin typeface="Century Gothic"/>
                          <a:ea typeface="Century Gothic"/>
                          <a:cs typeface="Century Gothic"/>
                          <a:sym typeface="Century Gothic"/>
                        </a:rPr>
                        <a:t>մայիսի 20-ի N 09-Ն հրամանի հավելված</a:t>
                      </a:r>
                      <a:endParaRPr/>
                    </a:p>
                    <a:p>
                      <a:pPr indent="-54610" lvl="0" marL="54610" marR="0" rtl="0" algn="l">
                        <a:spcBef>
                          <a:spcPts val="0"/>
                        </a:spcBef>
                        <a:spcAft>
                          <a:spcPts val="0"/>
                        </a:spcAft>
                        <a:buNone/>
                      </a:pPr>
                      <a:r>
                        <a:t/>
                      </a:r>
                      <a:endParaRPr sz="1200"/>
                    </a:p>
                  </a:txBody>
                  <a:tcPr marT="0" marB="0" marR="0" marL="0" anchor="ctr"/>
                </a:tc>
                <a:tc hMerge="1"/>
                <a:tc gridSpan="2">
                  <a:txBody>
                    <a:bodyPr/>
                    <a:lstStyle/>
                    <a:p>
                      <a:pPr indent="0" lvl="0" marL="0" marR="0" rtl="0" algn="l">
                        <a:spcBef>
                          <a:spcPts val="0"/>
                        </a:spcBef>
                        <a:spcAft>
                          <a:spcPts val="0"/>
                        </a:spcAft>
                        <a:buNone/>
                      </a:pPr>
                      <a:r>
                        <a:rPr lang="en-US" sz="1200"/>
                        <a:t>ամենամյա</a:t>
                      </a:r>
                      <a:endParaRPr/>
                    </a:p>
                  </a:txBody>
                  <a:tcPr marT="0" marB="0" marR="0" marL="0" anchor="ctr"/>
                </a:tc>
                <a:tc hMerge="1"/>
                <a:tc gridSpan="2">
                  <a:txBody>
                    <a:bodyPr/>
                    <a:lstStyle/>
                    <a:p>
                      <a:pPr indent="0" lvl="0" marL="0" marR="0" rtl="0" algn="l">
                        <a:spcBef>
                          <a:spcPts val="0"/>
                        </a:spcBef>
                        <a:spcAft>
                          <a:spcPts val="0"/>
                        </a:spcAft>
                        <a:buNone/>
                      </a:pPr>
                      <a:r>
                        <a:rPr lang="en-US" sz="1200"/>
                        <a:t>Տեղեկացվածության ապահովման նպատակով </a:t>
                      </a:r>
                      <a:endParaRPr/>
                    </a:p>
                  </a:txBody>
                  <a:tcPr marT="0" marB="0" marR="0" marL="0" anchor="ctr"/>
                </a:tc>
                <a:tc hMerge="1"/>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graphicFrame>
        <p:nvGraphicFramePr>
          <p:cNvPr id="631" name="Google Shape;631;p82"/>
          <p:cNvGraphicFramePr/>
          <p:nvPr/>
        </p:nvGraphicFramePr>
        <p:xfrm>
          <a:off x="212075" y="661793"/>
          <a:ext cx="3000000" cy="3000000"/>
        </p:xfrm>
        <a:graphic>
          <a:graphicData uri="http://schemas.openxmlformats.org/drawingml/2006/table">
            <a:tbl>
              <a:tblPr>
                <a:noFill/>
                <a:tableStyleId>{40B977D2-3903-41EF-8714-5AC59086702B}</a:tableStyleId>
              </a:tblPr>
              <a:tblGrid>
                <a:gridCol w="3539000"/>
                <a:gridCol w="1763150"/>
                <a:gridCol w="2473475"/>
                <a:gridCol w="2651075"/>
              </a:tblGrid>
              <a:tr h="50175">
                <a:tc gridSpan="4">
                  <a:txBody>
                    <a:bodyPr/>
                    <a:lstStyle/>
                    <a:p>
                      <a:pPr indent="0" lvl="0" marL="0" marR="0" rtl="0" algn="l">
                        <a:spcBef>
                          <a:spcPts val="0"/>
                        </a:spcBef>
                        <a:spcAft>
                          <a:spcPts val="0"/>
                        </a:spcAft>
                        <a:buNone/>
                      </a:pPr>
                      <a:r>
                        <a:rPr b="1" lang="en-US" sz="1400"/>
                        <a:t>Ծնողական խորհրդի կողմից հաստատության ծնողազուրկ և սոցիալապես անապահով ընտանիքներից սովորողներին տրամադարվող աջակցությունը, դրանց ձևերը</a:t>
                      </a:r>
                      <a:r>
                        <a:rPr lang="en-US" sz="1400"/>
                        <a:t> </a:t>
                      </a:r>
                      <a:endParaRPr sz="1800"/>
                    </a:p>
                  </a:txBody>
                  <a:tcPr marT="0" marB="0" marR="0" marL="0" anchor="ctr"/>
                </a:tc>
                <a:tc hMerge="1"/>
                <a:tc hMerge="1"/>
                <a:tc hMerge="1"/>
              </a:tr>
              <a:tr h="150625">
                <a:tc>
                  <a:txBody>
                    <a:bodyPr/>
                    <a:lstStyle/>
                    <a:p>
                      <a:pPr indent="-17780" lvl="0" marL="17780" marR="0" rtl="0" algn="l">
                        <a:spcBef>
                          <a:spcPts val="0"/>
                        </a:spcBef>
                        <a:spcAft>
                          <a:spcPts val="0"/>
                        </a:spcAft>
                        <a:buNone/>
                      </a:pPr>
                      <a:r>
                        <a:rPr lang="en-US" sz="1400"/>
                        <a:t>Նկարագրել վերջին 3 տարում ծնողական խորհրդի կողմից հաստատության ծնողազուրկ և սոցիալապես անապահով ընտանիքներից սովորողների նտրամադարվող աջակցության դեպքերը և դրանց ձևը </a:t>
                      </a:r>
                      <a:endParaRPr sz="1800"/>
                    </a:p>
                  </a:txBody>
                  <a:tcPr marT="0" marB="0" marR="0" marL="0" anchor="ctr"/>
                </a:tc>
                <a:tc>
                  <a:txBody>
                    <a:bodyPr/>
                    <a:lstStyle/>
                    <a:p>
                      <a:pPr indent="0" lvl="0" marL="0" marR="0" rtl="0" algn="l">
                        <a:spcBef>
                          <a:spcPts val="0"/>
                        </a:spcBef>
                        <a:spcAft>
                          <a:spcPts val="0"/>
                        </a:spcAft>
                        <a:buNone/>
                      </a:pPr>
                      <a:r>
                        <a:rPr lang="en-US" sz="1400"/>
                        <a:t>Ամսաթիվ </a:t>
                      </a:r>
                      <a:endParaRPr sz="1800"/>
                    </a:p>
                  </a:txBody>
                  <a:tcPr marT="0" marB="0" marR="0" marL="0" anchor="ctr"/>
                </a:tc>
                <a:tc>
                  <a:txBody>
                    <a:bodyPr/>
                    <a:lstStyle/>
                    <a:p>
                      <a:pPr indent="0" lvl="0" marL="0" marR="0" rtl="0" algn="l">
                        <a:spcBef>
                          <a:spcPts val="0"/>
                        </a:spcBef>
                        <a:spcAft>
                          <a:spcPts val="0"/>
                        </a:spcAft>
                        <a:buNone/>
                      </a:pPr>
                      <a:r>
                        <a:rPr lang="en-US" sz="1400"/>
                        <a:t>Ծնողների կողմից ներդրված գումարի չափը </a:t>
                      </a:r>
                      <a:endParaRPr sz="1800"/>
                    </a:p>
                  </a:txBody>
                  <a:tcPr marT="0" marB="0" marR="0" marL="0" anchor="ctr"/>
                </a:tc>
                <a:tc>
                  <a:txBody>
                    <a:bodyPr/>
                    <a:lstStyle/>
                    <a:p>
                      <a:pPr indent="0" lvl="0" marL="0" marR="0" rtl="0" algn="l">
                        <a:spcBef>
                          <a:spcPts val="0"/>
                        </a:spcBef>
                        <a:spcAft>
                          <a:spcPts val="0"/>
                        </a:spcAft>
                        <a:buNone/>
                      </a:pPr>
                      <a:r>
                        <a:rPr lang="en-US" sz="1400"/>
                        <a:t>Մեկնաբանություններ </a:t>
                      </a:r>
                      <a:endParaRPr sz="1800"/>
                    </a:p>
                  </a:txBody>
                  <a:tcPr marT="0" marB="0" marR="0" marL="0" anchor="ctr"/>
                </a:tc>
              </a:tr>
              <a:tr h="175775">
                <a:tc>
                  <a:txBody>
                    <a:bodyPr/>
                    <a:lstStyle/>
                    <a:p>
                      <a:pPr indent="-54610" lvl="0" marL="54610" marR="0" rtl="0" algn="l">
                        <a:spcBef>
                          <a:spcPts val="0"/>
                        </a:spcBef>
                        <a:spcAft>
                          <a:spcPts val="0"/>
                        </a:spcAft>
                        <a:buNone/>
                      </a:pPr>
                      <a:r>
                        <a:rPr lang="en-US" sz="1400"/>
                        <a:t>1.Քննարկել և հաստատության տնօրենի հաստատմանն են ներկայացրել սոցիալապես անապահով սովորողների ցանկը`վերջիններիս պետպատվերի շրջանակներում առանց վարձավճարի գրքեր տրամադրելու նպատակով: </a:t>
                      </a:r>
                      <a:endParaRPr sz="1800"/>
                    </a:p>
                  </a:txBody>
                  <a:tcPr marT="0" marB="0" marR="0" marL="0" anchor="ctr"/>
                </a:tc>
                <a:tc>
                  <a:txBody>
                    <a:bodyPr/>
                    <a:lstStyle/>
                    <a:p>
                      <a:pPr indent="0" lvl="0" marL="0" marR="0" rtl="0" algn="l">
                        <a:spcBef>
                          <a:spcPts val="0"/>
                        </a:spcBef>
                        <a:spcAft>
                          <a:spcPts val="0"/>
                        </a:spcAft>
                        <a:buNone/>
                      </a:pPr>
                      <a:r>
                        <a:rPr lang="en-US" sz="1400"/>
                        <a:t>ամենամյա </a:t>
                      </a:r>
                      <a:endParaRPr sz="1800"/>
                    </a:p>
                  </a:txBody>
                  <a:tcPr marT="0" marB="0" marR="0" marL="0" anchor="ctr"/>
                </a:tc>
                <a:tc>
                  <a:txBody>
                    <a:bodyPr/>
                    <a:lstStyle/>
                    <a:p>
                      <a:pPr indent="0" lvl="0" marL="0" marR="0" rtl="0" algn="ctr">
                        <a:spcBef>
                          <a:spcPts val="0"/>
                        </a:spcBef>
                        <a:spcAft>
                          <a:spcPts val="0"/>
                        </a:spcAft>
                        <a:buNone/>
                      </a:pPr>
                      <a:r>
                        <a:rPr lang="en-US" sz="1400"/>
                        <a:t>82% </a:t>
                      </a:r>
                      <a:endParaRPr sz="1800"/>
                    </a:p>
                  </a:txBody>
                  <a:tcPr marT="0" marB="0" marR="0" marL="0" anchor="ctr"/>
                </a:tc>
                <a:tc>
                  <a:txBody>
                    <a:bodyPr/>
                    <a:lstStyle/>
                    <a:p>
                      <a:pPr indent="0" lvl="0" marL="0" marR="0" rtl="0" algn="l">
                        <a:spcBef>
                          <a:spcPts val="0"/>
                        </a:spcBef>
                        <a:spcAft>
                          <a:spcPts val="0"/>
                        </a:spcAft>
                        <a:buNone/>
                      </a:pPr>
                      <a:r>
                        <a:rPr lang="en-US" sz="1400"/>
                        <a:t>Կարիքավոր ընտանիքներին հայտնաբերելու և աջակցելու նպատակով; </a:t>
                      </a:r>
                      <a:endParaRPr sz="1800"/>
                    </a:p>
                  </a:txBody>
                  <a:tcPr marT="0" marB="0" marR="0" marL="0" anchor="ctr"/>
                </a:tc>
              </a:tr>
              <a:tr h="50175">
                <a:tc gridSpan="4">
                  <a:txBody>
                    <a:bodyPr/>
                    <a:lstStyle/>
                    <a:p>
                      <a:pPr indent="0" lvl="0" marL="0" marR="0" rtl="0" algn="l">
                        <a:spcBef>
                          <a:spcPts val="0"/>
                        </a:spcBef>
                        <a:spcAft>
                          <a:spcPts val="0"/>
                        </a:spcAft>
                        <a:buNone/>
                      </a:pPr>
                      <a:r>
                        <a:rPr lang="en-US" sz="1400"/>
                        <a:t>Նկարագրել ծնողական և աշակերտական խորհուրդների համագործակցությունը և դրա ձևերը </a:t>
                      </a:r>
                      <a:endParaRPr sz="1800"/>
                    </a:p>
                  </a:txBody>
                  <a:tcPr marT="0" marB="0" marR="0" marL="0" anchor="ctr"/>
                </a:tc>
                <a:tc hMerge="1"/>
                <a:tc hMerge="1"/>
                <a:tc hMerge="1"/>
              </a:tr>
              <a:tr h="50175">
                <a:tc gridSpan="4">
                  <a:txBody>
                    <a:bodyPr/>
                    <a:lstStyle/>
                    <a:p>
                      <a:pPr indent="0" lvl="0" marL="0" marR="0" rtl="0" algn="l">
                        <a:spcBef>
                          <a:spcPts val="0"/>
                        </a:spcBef>
                        <a:spcAft>
                          <a:spcPts val="0"/>
                        </a:spcAft>
                        <a:buNone/>
                      </a:pPr>
                      <a:r>
                        <a:rPr lang="en-US" sz="1400"/>
                        <a:t>Ծնողական խորհուրդն աջակցում է աշակերտական խորհրդին`իրագործելու իրենց նախաձեռնություններն ու մտահղացումները: </a:t>
                      </a:r>
                      <a:endParaRPr sz="1800"/>
                    </a:p>
                  </a:txBody>
                  <a:tcPr marT="0" marB="0" marR="0" marL="0" anchor="ctr"/>
                </a:tc>
                <a:tc hMerge="1"/>
                <a:tc hMerge="1"/>
                <a:tc hMerge="1"/>
              </a:tr>
              <a:tr h="50175">
                <a:tc gridSpan="4">
                  <a:txBody>
                    <a:bodyPr/>
                    <a:lstStyle/>
                    <a:p>
                      <a:pPr indent="0" lvl="0" marL="0" marR="0" rtl="0" algn="l">
                        <a:spcBef>
                          <a:spcPts val="0"/>
                        </a:spcBef>
                        <a:spcAft>
                          <a:spcPts val="0"/>
                        </a:spcAft>
                        <a:buNone/>
                      </a:pPr>
                      <a:r>
                        <a:rPr b="1" lang="en-US" sz="1400"/>
                        <a:t>Նկարագրել ուսումնական հաստատության առօրյայից և տեղի ունեցող իրադարձություններից ծնողների տեղեկացվածության աստիճանը </a:t>
                      </a:r>
                      <a:endParaRPr b="1" sz="1800"/>
                    </a:p>
                  </a:txBody>
                  <a:tcPr marT="0" marB="0" marR="0" marL="0" anchor="ctr"/>
                </a:tc>
                <a:tc hMerge="1"/>
                <a:tc hMerge="1"/>
                <a:tc hMerge="1"/>
              </a:tr>
              <a:tr h="175775">
                <a:tc gridSpan="4">
                  <a:txBody>
                    <a:bodyPr/>
                    <a:lstStyle/>
                    <a:p>
                      <a:pPr indent="0" lvl="0" marL="0" marR="0" rtl="0" algn="l">
                        <a:spcBef>
                          <a:spcPts val="0"/>
                        </a:spcBef>
                        <a:spcAft>
                          <a:spcPts val="0"/>
                        </a:spcAft>
                        <a:buNone/>
                      </a:pPr>
                      <a:r>
                        <a:rPr b="1" lang="en-US" sz="1400"/>
                        <a:t>Հաստատության գործունեությունը թափանցիկ է, գործողությունները միտված են տեղեկացվածության մակարդակի բարձրացմանը: Դասղեկներն ապահովում են դպրոց-ծնող ամենօրյա կապ, իրազեկում են երեխաների հաճախումներին, առաջադիմությանն ու կարգապահական հարցերին: Կիսամյակը մեկ անգամ կազմակերպվում է բաց դռների օր`ապահովելով ծնողների և մանկավարժների անմիջական հաղորդակցումը: Տեղեկացվածության ապահովմանը նպաստում են դասարանական ծնողական խորհուրդները, ովքեր հաճախ են լինում դպրոցում,քաջատեղյակ են իրավիճակին: </a:t>
                      </a:r>
                      <a:endParaRPr b="1" sz="1800"/>
                    </a:p>
                  </a:txBody>
                  <a:tcPr marT="0" marB="0" marR="0" marL="0" anchor="ctr"/>
                </a:tc>
                <a:tc hMerge="1"/>
                <a:tc hMerge="1"/>
                <a:tc hMerge="1"/>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graphicFrame>
        <p:nvGraphicFramePr>
          <p:cNvPr id="637" name="Google Shape;637;p83"/>
          <p:cNvGraphicFramePr/>
          <p:nvPr/>
        </p:nvGraphicFramePr>
        <p:xfrm>
          <a:off x="453321" y="0"/>
          <a:ext cx="3000000" cy="3000000"/>
        </p:xfrm>
        <a:graphic>
          <a:graphicData uri="http://schemas.openxmlformats.org/drawingml/2006/table">
            <a:tbl>
              <a:tblPr>
                <a:noFill/>
                <a:tableStyleId>{40B977D2-3903-41EF-8714-5AC59086702B}</a:tableStyleId>
              </a:tblPr>
              <a:tblGrid>
                <a:gridCol w="4075450"/>
                <a:gridCol w="2132950"/>
                <a:gridCol w="1199775"/>
                <a:gridCol w="3018500"/>
              </a:tblGrid>
              <a:tr h="50175">
                <a:tc gridSpan="4">
                  <a:txBody>
                    <a:bodyPr/>
                    <a:lstStyle/>
                    <a:p>
                      <a:pPr indent="0" lvl="0" marL="0" marR="0" rtl="0" algn="l">
                        <a:spcBef>
                          <a:spcPts val="0"/>
                        </a:spcBef>
                        <a:spcAft>
                          <a:spcPts val="0"/>
                        </a:spcAft>
                        <a:buNone/>
                      </a:pPr>
                      <a:r>
                        <a:t/>
                      </a:r>
                      <a:endParaRPr b="1" sz="1200"/>
                    </a:p>
                    <a:p>
                      <a:pPr indent="0" lvl="0" marL="0" marR="0" rtl="0" algn="l">
                        <a:spcBef>
                          <a:spcPts val="1000"/>
                        </a:spcBef>
                        <a:spcAft>
                          <a:spcPts val="0"/>
                        </a:spcAft>
                        <a:buNone/>
                      </a:pPr>
                      <a:r>
                        <a:rPr b="1" lang="en-US" sz="1200"/>
                        <a:t>Ծնողների ներգրավվածությունը. սովորողների արտադպրոցական և արտադասարանական աշխատանքներին, ներգրավվածության ձևերը</a:t>
                      </a:r>
                      <a:endParaRPr/>
                    </a:p>
                    <a:p>
                      <a:pPr indent="0" lvl="0" marL="0" marR="0" rtl="0" algn="l">
                        <a:spcBef>
                          <a:spcPts val="1000"/>
                        </a:spcBef>
                        <a:spcAft>
                          <a:spcPts val="0"/>
                        </a:spcAft>
                        <a:buNone/>
                      </a:pPr>
                      <a:r>
                        <a:rPr lang="en-US" sz="1200"/>
                        <a:t> </a:t>
                      </a:r>
                      <a:endParaRPr sz="1800"/>
                    </a:p>
                  </a:txBody>
                  <a:tcPr marT="0" marB="0" marR="0" marL="0" anchor="ctr"/>
                </a:tc>
                <a:tc hMerge="1"/>
                <a:tc hMerge="1"/>
                <a:tc hMerge="1"/>
              </a:tr>
              <a:tr h="225925">
                <a:tc>
                  <a:txBody>
                    <a:bodyPr/>
                    <a:lstStyle/>
                    <a:p>
                      <a:pPr indent="0" lvl="0" marL="0" marR="0" rtl="0" algn="l">
                        <a:spcBef>
                          <a:spcPts val="0"/>
                        </a:spcBef>
                        <a:spcAft>
                          <a:spcPts val="0"/>
                        </a:spcAft>
                        <a:buNone/>
                      </a:pPr>
                      <a:r>
                        <a:rPr lang="en-US" sz="1200"/>
                        <a:t>Նկարագրել արտադպրոցական և արտադասարանական աշխատանքները, որոնց մեջ վերջին 3 տարում ծնողները ներգրավված են եղել </a:t>
                      </a:r>
                      <a:endParaRPr sz="1800"/>
                    </a:p>
                  </a:txBody>
                  <a:tcPr marT="0" marB="0" marR="0" marL="0" anchor="ctr"/>
                </a:tc>
                <a:tc>
                  <a:txBody>
                    <a:bodyPr/>
                    <a:lstStyle/>
                    <a:p>
                      <a:pPr indent="0" lvl="0" marL="0" marR="0" rtl="0" algn="l">
                        <a:spcBef>
                          <a:spcPts val="0"/>
                        </a:spcBef>
                        <a:spcAft>
                          <a:spcPts val="0"/>
                        </a:spcAft>
                        <a:buNone/>
                      </a:pPr>
                      <a:r>
                        <a:rPr lang="en-US" sz="1200"/>
                        <a:t>Ծնողների մասնակցության ձևերը և մասնակից ծնողների թիվը </a:t>
                      </a:r>
                      <a:endParaRPr sz="1800"/>
                    </a:p>
                  </a:txBody>
                  <a:tcPr marT="0" marB="0" marR="0" marL="0" anchor="ctr"/>
                </a:tc>
                <a:tc>
                  <a:txBody>
                    <a:bodyPr/>
                    <a:lstStyle/>
                    <a:p>
                      <a:pPr indent="0" lvl="0" marL="0" marR="0" rtl="0" algn="l">
                        <a:spcBef>
                          <a:spcPts val="0"/>
                        </a:spcBef>
                        <a:spcAft>
                          <a:spcPts val="0"/>
                        </a:spcAft>
                        <a:buNone/>
                      </a:pPr>
                      <a:r>
                        <a:rPr lang="en-US" sz="1200"/>
                        <a:t>Ծնողների ներդրումների չափը </a:t>
                      </a:r>
                      <a:endParaRPr sz="1800"/>
                    </a:p>
                  </a:txBody>
                  <a:tcPr marT="0" marB="0" marR="0" marL="0" anchor="ctr"/>
                </a:tc>
                <a:tc>
                  <a:txBody>
                    <a:bodyPr/>
                    <a:lstStyle/>
                    <a:p>
                      <a:pPr indent="0" lvl="0" marL="0" marR="0" rtl="0" algn="l">
                        <a:spcBef>
                          <a:spcPts val="0"/>
                        </a:spcBef>
                        <a:spcAft>
                          <a:spcPts val="0"/>
                        </a:spcAft>
                        <a:buNone/>
                      </a:pPr>
                      <a:r>
                        <a:rPr lang="en-US" sz="1200"/>
                        <a:t>Մեկնաբա նություններ </a:t>
                      </a:r>
                      <a:endParaRPr sz="1800"/>
                    </a:p>
                  </a:txBody>
                  <a:tcPr marT="0" marB="0" marR="0" marL="0" anchor="ctr"/>
                </a:tc>
              </a:tr>
              <a:tr h="75300">
                <a:tc>
                  <a:txBody>
                    <a:bodyPr/>
                    <a:lstStyle/>
                    <a:p>
                      <a:pPr indent="-54610" lvl="0" marL="54610" marR="0" rtl="0" algn="l">
                        <a:spcBef>
                          <a:spcPts val="0"/>
                        </a:spcBef>
                        <a:spcAft>
                          <a:spcPts val="0"/>
                        </a:spcAft>
                        <a:buNone/>
                      </a:pPr>
                      <a:r>
                        <a:rPr lang="en-US" sz="1200"/>
                        <a:t>Շևչենկովյան</a:t>
                      </a:r>
                      <a:r>
                        <a:rPr lang="en-US" sz="1200"/>
                        <a:t> օրեր</a:t>
                      </a:r>
                      <a:r>
                        <a:rPr lang="en-US" sz="1200"/>
                        <a:t> </a:t>
                      </a:r>
                      <a:endParaRPr sz="1800"/>
                    </a:p>
                  </a:txBody>
                  <a:tcPr marT="0" marB="0" marR="0" marL="0" anchor="ctr"/>
                </a:tc>
                <a:tc>
                  <a:txBody>
                    <a:bodyPr/>
                    <a:lstStyle/>
                    <a:p>
                      <a:pPr indent="0" lvl="0" marL="0" marR="0" rtl="0" algn="l">
                        <a:spcBef>
                          <a:spcPts val="0"/>
                        </a:spcBef>
                        <a:spcAft>
                          <a:spcPts val="0"/>
                        </a:spcAft>
                        <a:buNone/>
                      </a:pPr>
                      <a:r>
                        <a:rPr lang="en-US" sz="1200"/>
                        <a:t>Կազմակերպչական հարցեր </a:t>
                      </a:r>
                      <a:endParaRPr sz="1800"/>
                    </a:p>
                    <a:p>
                      <a:pPr indent="0" lvl="0" marL="0" marR="0" rtl="0" algn="l">
                        <a:spcBef>
                          <a:spcPts val="0"/>
                        </a:spcBef>
                        <a:spcAft>
                          <a:spcPts val="0"/>
                        </a:spcAft>
                        <a:buNone/>
                      </a:pPr>
                      <a:r>
                        <a:rPr lang="en-US" sz="1200"/>
                        <a:t>70% </a:t>
                      </a:r>
                      <a:endParaRPr sz="1800"/>
                    </a:p>
                  </a:txBody>
                  <a:tcPr marT="0" marB="0" marR="0" marL="0" anchor="ctr"/>
                </a:tc>
                <a:tc>
                  <a:txBody>
                    <a:bodyPr/>
                    <a:lstStyle/>
                    <a:p>
                      <a:pPr indent="0" lvl="0" marL="0" marR="0" rtl="0" algn="l">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l">
                        <a:spcBef>
                          <a:spcPts val="0"/>
                        </a:spcBef>
                        <a:spcAft>
                          <a:spcPts val="0"/>
                        </a:spcAft>
                        <a:buNone/>
                      </a:pPr>
                      <a:r>
                        <a:rPr lang="en-US" sz="1200"/>
                        <a:t>Աջակցություն դպրոցին և ԱԽ-ին </a:t>
                      </a:r>
                      <a:endParaRPr sz="1800"/>
                    </a:p>
                  </a:txBody>
                  <a:tcPr marT="0" marB="0" marR="0" marL="0" anchor="ctr"/>
                </a:tc>
              </a:tr>
              <a:tr h="381650">
                <a:tc>
                  <a:txBody>
                    <a:bodyPr/>
                    <a:lstStyle/>
                    <a:p>
                      <a:pPr indent="-54610" lvl="0" marL="54610" marR="0" rtl="0" algn="l">
                        <a:spcBef>
                          <a:spcPts val="0"/>
                        </a:spcBef>
                        <a:spcAft>
                          <a:spcPts val="0"/>
                        </a:spcAft>
                        <a:buNone/>
                      </a:pPr>
                      <a:r>
                        <a:rPr lang="en-US" sz="1200"/>
                        <a:t>Հայոց ցեղասպանության </a:t>
                      </a:r>
                      <a:r>
                        <a:rPr lang="en-US" sz="1200"/>
                        <a:t> նվիրված </a:t>
                      </a:r>
                      <a:r>
                        <a:rPr lang="en-US" sz="1200"/>
                        <a:t>միջոցառումներ </a:t>
                      </a:r>
                      <a:endParaRPr sz="1800"/>
                    </a:p>
                  </a:txBody>
                  <a:tcPr marT="0" marB="0" marR="0" marL="0" anchor="ctr"/>
                </a:tc>
                <a:tc>
                  <a:txBody>
                    <a:bodyPr/>
                    <a:lstStyle/>
                    <a:p>
                      <a:pPr indent="0" lvl="0" marL="0" marR="0" rtl="0" algn="l">
                        <a:spcBef>
                          <a:spcPts val="0"/>
                        </a:spcBef>
                        <a:spcAft>
                          <a:spcPts val="0"/>
                        </a:spcAft>
                        <a:buNone/>
                      </a:pPr>
                      <a:r>
                        <a:rPr lang="en-US" sz="1200"/>
                        <a:t>90% </a:t>
                      </a:r>
                      <a:endParaRPr sz="1800"/>
                    </a:p>
                  </a:txBody>
                  <a:tcPr marT="0" marB="0" marR="0" marL="0" anchor="ctr"/>
                </a:tc>
                <a:tc>
                  <a:txBody>
                    <a:bodyPr/>
                    <a:lstStyle/>
                    <a:p>
                      <a:pPr indent="0" lvl="0" marL="0" marR="0" rtl="0" algn="l">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l">
                        <a:spcBef>
                          <a:spcPts val="0"/>
                        </a:spcBef>
                        <a:spcAft>
                          <a:spcPts val="0"/>
                        </a:spcAft>
                        <a:buNone/>
                      </a:pPr>
                      <a:r>
                        <a:rPr lang="en-US" sz="1200"/>
                        <a:t>Աջակցություն դպրոցին և ԱԽ </a:t>
                      </a:r>
                      <a:endParaRPr sz="1800"/>
                    </a:p>
                  </a:txBody>
                  <a:tcPr marT="0" marB="0" marR="0" marL="0" anchor="ctr"/>
                </a:tc>
              </a:tr>
              <a:tr h="381750">
                <a:tc>
                  <a:txBody>
                    <a:bodyPr/>
                    <a:lstStyle/>
                    <a:p>
                      <a:pPr indent="-54610" lvl="0" marL="54610" marR="0" rtl="0" algn="l">
                        <a:spcBef>
                          <a:spcPts val="0"/>
                        </a:spcBef>
                        <a:spcAft>
                          <a:spcPts val="0"/>
                        </a:spcAft>
                        <a:buNone/>
                      </a:pPr>
                      <a:r>
                        <a:rPr lang="en-US" sz="1400">
                          <a:latin typeface="Merriweather"/>
                          <a:ea typeface="Merriweather"/>
                          <a:cs typeface="Merriweather"/>
                          <a:sym typeface="Merriweather"/>
                        </a:rPr>
                        <a:t>Ամանորյան միջոցառում</a:t>
                      </a:r>
                      <a:endParaRPr sz="1400">
                        <a:latin typeface="Merriweather"/>
                        <a:ea typeface="Merriweather"/>
                        <a:cs typeface="Merriweather"/>
                        <a:sym typeface="Merriweather"/>
                      </a:endParaRPr>
                    </a:p>
                  </a:txBody>
                  <a:tcPr marT="0" marB="0" marR="0" marL="0" anchor="ctr"/>
                </a:tc>
                <a:tc>
                  <a:txBody>
                    <a:bodyPr/>
                    <a:lstStyle/>
                    <a:p>
                      <a:pPr indent="0" lvl="0" marL="0" marR="0" rtl="0" algn="l">
                        <a:spcBef>
                          <a:spcPts val="0"/>
                        </a:spcBef>
                        <a:spcAft>
                          <a:spcPts val="0"/>
                        </a:spcAft>
                        <a:buNone/>
                      </a:pPr>
                      <a:r>
                        <a:rPr b="0" i="0" lang="en-US" sz="1200" u="none" cap="none" strike="noStrike">
                          <a:solidFill>
                            <a:srgbClr val="000000"/>
                          </a:solidFill>
                        </a:rPr>
                        <a:t>9</a:t>
                      </a:r>
                      <a:r>
                        <a:rPr b="0" i="0" lang="en-US" sz="1200" u="none" cap="none" strike="noStrike">
                          <a:solidFill>
                            <a:srgbClr val="000000"/>
                          </a:solidFill>
                          <a:latin typeface="Century Gothic"/>
                          <a:ea typeface="Century Gothic"/>
                          <a:cs typeface="Century Gothic"/>
                          <a:sym typeface="Century Gothic"/>
                        </a:rPr>
                        <a:t>0%</a:t>
                      </a:r>
                      <a:endParaRPr sz="1800"/>
                    </a:p>
                  </a:txBody>
                  <a:tcPr marT="0" marB="0" marR="0" marL="0" anchor="ctr"/>
                </a:tc>
                <a:tc>
                  <a:txBody>
                    <a:bodyPr/>
                    <a:lstStyle/>
                    <a:p>
                      <a:pPr indent="0" lvl="0" marL="0" marR="0" rtl="0" algn="l">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l">
                        <a:lnSpc>
                          <a:spcPct val="100000"/>
                        </a:lnSpc>
                        <a:spcBef>
                          <a:spcPts val="0"/>
                        </a:spcBef>
                        <a:spcAft>
                          <a:spcPts val="0"/>
                        </a:spcAft>
                        <a:buClr>
                          <a:schemeClr val="dk1"/>
                        </a:buClr>
                        <a:buSzPts val="1400"/>
                        <a:buFont typeface="Century Gothic"/>
                        <a:buNone/>
                      </a:pPr>
                      <a:r>
                        <a:rPr lang="en-US" sz="1400"/>
                        <a:t>Աջակցություն դպրոցին և ԱԽ </a:t>
                      </a:r>
                      <a:endParaRPr/>
                    </a:p>
                  </a:txBody>
                  <a:tcPr marT="0" marB="0" marR="0" marL="0" anchor="ctr"/>
                </a:tc>
              </a:tr>
              <a:tr h="50175">
                <a:tc>
                  <a:txBody>
                    <a:bodyPr/>
                    <a:lstStyle/>
                    <a:p>
                      <a:pPr indent="-54610" lvl="0" marL="54610" marR="0" rtl="0" algn="l">
                        <a:spcBef>
                          <a:spcPts val="0"/>
                        </a:spcBef>
                        <a:spcAft>
                          <a:spcPts val="0"/>
                        </a:spcAft>
                        <a:buNone/>
                      </a:pPr>
                      <a:r>
                        <a:rPr lang="en-US" sz="1200"/>
                        <a:t>Տեառնընդառաջի տոնի կազմակերպում </a:t>
                      </a:r>
                      <a:endParaRPr sz="1800"/>
                    </a:p>
                  </a:txBody>
                  <a:tcPr marT="0" marB="0" marR="0" marL="0" anchor="ctr"/>
                </a:tc>
                <a:tc>
                  <a:txBody>
                    <a:bodyPr/>
                    <a:lstStyle/>
                    <a:p>
                      <a:pPr indent="0" lvl="0" marL="0" marR="0" rtl="0" algn="l">
                        <a:spcBef>
                          <a:spcPts val="0"/>
                        </a:spcBef>
                        <a:spcAft>
                          <a:spcPts val="0"/>
                        </a:spcAft>
                        <a:buNone/>
                      </a:pPr>
                      <a:r>
                        <a:rPr lang="en-US" sz="1200"/>
                        <a:t>85% </a:t>
                      </a:r>
                      <a:endParaRPr sz="1800"/>
                    </a:p>
                  </a:txBody>
                  <a:tcPr marT="0" marB="0" marR="0" marL="0" anchor="ctr"/>
                </a:tc>
                <a:tc>
                  <a:txBody>
                    <a:bodyPr/>
                    <a:lstStyle/>
                    <a:p>
                      <a:pPr indent="0" lvl="0" marL="0" marR="0" rtl="0" algn="l">
                        <a:spcBef>
                          <a:spcPts val="0"/>
                        </a:spcBef>
                        <a:spcAft>
                          <a:spcPts val="0"/>
                        </a:spcAft>
                        <a:buNone/>
                      </a:pPr>
                      <a:r>
                        <a:t/>
                      </a:r>
                      <a:endParaRPr sz="1200">
                        <a:latin typeface="Merriweather"/>
                        <a:ea typeface="Merriweather"/>
                        <a:cs typeface="Merriweather"/>
                        <a:sym typeface="Merriweather"/>
                      </a:endParaRPr>
                    </a:p>
                  </a:txBody>
                  <a:tcPr marT="0" marB="0" marR="0" marL="0" anchor="ctr"/>
                </a:tc>
                <a:tc>
                  <a:txBody>
                    <a:bodyPr/>
                    <a:lstStyle/>
                    <a:p>
                      <a:pPr indent="0" lvl="0" marL="0" marR="0" rtl="0" algn="l">
                        <a:spcBef>
                          <a:spcPts val="0"/>
                        </a:spcBef>
                        <a:spcAft>
                          <a:spcPts val="0"/>
                        </a:spcAft>
                        <a:buNone/>
                      </a:pPr>
                      <a:r>
                        <a:rPr lang="en-US" sz="1200"/>
                        <a:t>Աջակցություն դպրոցին և ԱԽ </a:t>
                      </a:r>
                      <a:endParaRPr sz="1800"/>
                    </a:p>
                  </a:txBody>
                  <a:tcPr marT="0" marB="0" marR="0" marL="0" anchor="ctr"/>
                </a:tc>
              </a:tr>
              <a:tr h="100450">
                <a:tc gridSpan="4">
                  <a:txBody>
                    <a:bodyPr/>
                    <a:lstStyle/>
                    <a:p>
                      <a:pPr indent="0" lvl="0" marL="0" marR="0" rtl="0" algn="l">
                        <a:spcBef>
                          <a:spcPts val="0"/>
                        </a:spcBef>
                        <a:spcAft>
                          <a:spcPts val="0"/>
                        </a:spcAft>
                        <a:buNone/>
                      </a:pPr>
                      <a:r>
                        <a:rPr b="1" lang="en-US" sz="1200"/>
                        <a:t>Թվարկել կայքերը, որոնցից օգտվում են ծնողները, օրինակ՝ </a:t>
                      </a:r>
                      <a:r>
                        <a:rPr b="1" lang="en-US" sz="1200" u="sng">
                          <a:solidFill>
                            <a:schemeClr val="hlink"/>
                          </a:solidFill>
                          <a:hlinkClick r:id="rId3"/>
                        </a:rPr>
                        <a:t>https://e-diary.emis.am</a:t>
                      </a:r>
                      <a:r>
                        <a:rPr b="1" lang="en-US" sz="1200"/>
                        <a:t>,</a:t>
                      </a:r>
                      <a:r>
                        <a:rPr b="1" lang="en-US" sz="1200"/>
                        <a:t> </a:t>
                      </a:r>
                      <a:r>
                        <a:rPr b="1" lang="en-US" sz="1200" u="sng">
                          <a:solidFill>
                            <a:schemeClr val="hlink"/>
                          </a:solidFill>
                          <a:hlinkClick r:id="rId4"/>
                        </a:rPr>
                        <a:t>https://e-school.am/lessons</a:t>
                      </a:r>
                      <a:r>
                        <a:rPr b="1" lang="en-US" sz="1200"/>
                        <a:t>, </a:t>
                      </a:r>
                      <a:r>
                        <a:rPr b="1" lang="en-US" sz="1200" u="sng">
                          <a:solidFill>
                            <a:schemeClr val="hlink"/>
                          </a:solidFill>
                          <a:hlinkClick r:id="rId5"/>
                        </a:rPr>
                        <a:t>http://ktak.am</a:t>
                      </a:r>
                      <a:r>
                        <a:rPr b="1" lang="en-US" sz="1200"/>
                        <a:t>, </a:t>
                      </a:r>
                      <a:r>
                        <a:rPr b="1" lang="en-US" sz="1200" u="sng">
                          <a:solidFill>
                            <a:schemeClr val="hlink"/>
                          </a:solidFill>
                          <a:hlinkClick r:id="rId6"/>
                        </a:rPr>
                        <a:t>http://www.armedu.am</a:t>
                      </a:r>
                      <a:r>
                        <a:rPr b="1" lang="en-US" sz="1200"/>
                        <a:t>, </a:t>
                      </a:r>
                      <a:r>
                        <a:rPr b="1" lang="en-US" sz="1200" u="sng">
                          <a:solidFill>
                            <a:schemeClr val="hlink"/>
                          </a:solidFill>
                          <a:hlinkClick r:id="rId7"/>
                        </a:rPr>
                        <a:t>http://forum.armedu.am/</a:t>
                      </a:r>
                      <a:r>
                        <a:rPr b="1" lang="en-US" sz="1200"/>
                        <a:t>, </a:t>
                      </a:r>
                      <a:r>
                        <a:rPr b="1" lang="en-US" sz="1200" u="sng">
                          <a:solidFill>
                            <a:schemeClr val="hlink"/>
                          </a:solidFill>
                          <a:hlinkClick r:id="rId8"/>
                        </a:rPr>
                        <a:t>http://lib.armedu.am</a:t>
                      </a:r>
                      <a:r>
                        <a:rPr b="1" lang="en-US" sz="1200"/>
                        <a:t>, հաստատության կայք և այլն, մեկնաբանել դրանց անհրաժեշտությունը և օգտակարությունը </a:t>
                      </a:r>
                      <a:endParaRPr b="1" sz="1800"/>
                    </a:p>
                  </a:txBody>
                  <a:tcPr marT="0" marB="0" marR="0" marL="0" anchor="ctr"/>
                </a:tc>
                <a:tc hMerge="1"/>
                <a:tc hMerge="1"/>
                <a:tc hMerge="1"/>
              </a:tr>
              <a:tr h="75300">
                <a:tc>
                  <a:txBody>
                    <a:bodyPr/>
                    <a:lstStyle/>
                    <a:p>
                      <a:pPr indent="-54610" lvl="0" marL="54610" marR="0" rtl="0" algn="l">
                        <a:spcBef>
                          <a:spcPts val="0"/>
                        </a:spcBef>
                        <a:spcAft>
                          <a:spcPts val="0"/>
                        </a:spcAft>
                        <a:buNone/>
                      </a:pPr>
                      <a:r>
                        <a:rPr lang="en-US" sz="1200"/>
                        <a:t>Կայքը </a:t>
                      </a:r>
                      <a:endParaRPr sz="1800"/>
                    </a:p>
                  </a:txBody>
                  <a:tcPr marT="0" marB="0" marR="0" marL="0" anchor="ctr"/>
                </a:tc>
                <a:tc>
                  <a:txBody>
                    <a:bodyPr/>
                    <a:lstStyle/>
                    <a:p>
                      <a:pPr indent="0" lvl="0" marL="0" marR="0" rtl="0" algn="l">
                        <a:spcBef>
                          <a:spcPts val="0"/>
                        </a:spcBef>
                        <a:spcAft>
                          <a:spcPts val="0"/>
                        </a:spcAft>
                        <a:buNone/>
                      </a:pPr>
                      <a:r>
                        <a:rPr lang="en-US" sz="1200"/>
                        <a:t>Ամսաթիվ </a:t>
                      </a:r>
                      <a:endParaRPr sz="1800"/>
                    </a:p>
                  </a:txBody>
                  <a:tcPr marT="0" marB="0" marR="0" marL="0" anchor="ctr"/>
                </a:tc>
                <a:tc>
                  <a:txBody>
                    <a:bodyPr/>
                    <a:lstStyle/>
                    <a:p>
                      <a:pPr indent="0" lvl="0" marL="0" marR="0" rtl="0" algn="l">
                        <a:spcBef>
                          <a:spcPts val="0"/>
                        </a:spcBef>
                        <a:spcAft>
                          <a:spcPts val="0"/>
                        </a:spcAft>
                        <a:buNone/>
                      </a:pPr>
                      <a:r>
                        <a:rPr lang="en-US" sz="1200"/>
                        <a:t>Օգտվող ծնողների թիվը </a:t>
                      </a:r>
                      <a:endParaRPr sz="1800"/>
                    </a:p>
                  </a:txBody>
                  <a:tcPr marT="0" marB="0" marR="0" marL="0" anchor="ctr"/>
                </a:tc>
                <a:tc>
                  <a:txBody>
                    <a:bodyPr/>
                    <a:lstStyle/>
                    <a:p>
                      <a:pPr indent="0" lvl="0" marL="0" marR="0" rtl="0" algn="l">
                        <a:spcBef>
                          <a:spcPts val="0"/>
                        </a:spcBef>
                        <a:spcAft>
                          <a:spcPts val="0"/>
                        </a:spcAft>
                        <a:buNone/>
                      </a:pPr>
                      <a:r>
                        <a:rPr lang="en-US" sz="1200"/>
                        <a:t>Մեկնաբա նություն </a:t>
                      </a:r>
                      <a:endParaRPr sz="1800"/>
                    </a:p>
                  </a:txBody>
                  <a:tcPr marT="0" marB="0" marR="0" marL="0" anchor="ctr"/>
                </a:tc>
              </a:tr>
              <a:tr h="175775">
                <a:tc>
                  <a:txBody>
                    <a:bodyPr/>
                    <a:lstStyle/>
                    <a:p>
                      <a:pPr indent="-228600" lvl="0" marL="228600" marR="0" rtl="0" algn="l">
                        <a:spcBef>
                          <a:spcPts val="0"/>
                        </a:spcBef>
                        <a:spcAft>
                          <a:spcPts val="0"/>
                        </a:spcAft>
                        <a:buClr>
                          <a:schemeClr val="dk1"/>
                        </a:buClr>
                        <a:buSzPts val="1200"/>
                        <a:buFont typeface="Century Gothic"/>
                        <a:buAutoNum type="arabicPeriod"/>
                      </a:pPr>
                      <a:r>
                        <a:rPr lang="en-US" sz="1200" u="sng">
                          <a:solidFill>
                            <a:schemeClr val="hlink"/>
                          </a:solidFill>
                          <a:hlinkClick r:id="rId9"/>
                        </a:rPr>
                        <a:t>https://e-diary.emis.am/</a:t>
                      </a:r>
                      <a:endParaRPr sz="1200"/>
                    </a:p>
                    <a:p>
                      <a:pPr indent="-228600" lvl="0" marL="228600" marR="0" rtl="0" algn="l">
                        <a:spcBef>
                          <a:spcPts val="0"/>
                        </a:spcBef>
                        <a:spcAft>
                          <a:spcPts val="0"/>
                        </a:spcAft>
                        <a:buClr>
                          <a:schemeClr val="dk1"/>
                        </a:buClr>
                        <a:buSzPts val="1200"/>
                        <a:buFont typeface="Century Gothic"/>
                        <a:buNone/>
                      </a:pPr>
                      <a:r>
                        <a:t/>
                      </a:r>
                      <a:endParaRPr sz="1200"/>
                    </a:p>
                    <a:p>
                      <a:pPr indent="-342900" lvl="0" marL="342900" marR="0" rtl="0" algn="l">
                        <a:spcBef>
                          <a:spcPts val="0"/>
                        </a:spcBef>
                        <a:spcAft>
                          <a:spcPts val="0"/>
                        </a:spcAft>
                        <a:buClr>
                          <a:schemeClr val="dk1"/>
                        </a:buClr>
                        <a:buSzPts val="1800"/>
                        <a:buFont typeface="Century Gothic"/>
                        <a:buNone/>
                      </a:pPr>
                      <a:r>
                        <a:t/>
                      </a:r>
                      <a:endParaRPr sz="1800"/>
                    </a:p>
                  </a:txBody>
                  <a:tcPr marT="0" marB="0" marR="0" marL="0" anchor="ctr"/>
                </a:tc>
                <a:tc>
                  <a:txBody>
                    <a:bodyPr/>
                    <a:lstStyle/>
                    <a:p>
                      <a:pPr indent="0" lvl="0" marL="0" marR="0" rtl="0" algn="l">
                        <a:spcBef>
                          <a:spcPts val="0"/>
                        </a:spcBef>
                        <a:spcAft>
                          <a:spcPts val="0"/>
                        </a:spcAft>
                        <a:buNone/>
                      </a:pPr>
                      <a:r>
                        <a:rPr lang="en-US" sz="1200"/>
                        <a:t>ամենօրյա </a:t>
                      </a:r>
                      <a:endParaRPr sz="1800"/>
                    </a:p>
                  </a:txBody>
                  <a:tcPr marT="0" marB="0" marR="0" marL="0" anchor="ctr"/>
                </a:tc>
                <a:tc>
                  <a:txBody>
                    <a:bodyPr/>
                    <a:lstStyle/>
                    <a:p>
                      <a:pPr indent="0" lvl="0" marL="0" marR="0" rtl="0" algn="l">
                        <a:spcBef>
                          <a:spcPts val="0"/>
                        </a:spcBef>
                        <a:spcAft>
                          <a:spcPts val="0"/>
                        </a:spcAft>
                        <a:buNone/>
                      </a:pPr>
                      <a:r>
                        <a:rPr lang="en-US" sz="1200"/>
                        <a:t>320 և ավելի </a:t>
                      </a:r>
                      <a:endParaRPr sz="1800"/>
                    </a:p>
                  </a:txBody>
                  <a:tcPr marT="0" marB="0" marR="0" marL="0" anchor="ctr"/>
                </a:tc>
                <a:tc>
                  <a:txBody>
                    <a:bodyPr/>
                    <a:lstStyle/>
                    <a:p>
                      <a:pPr indent="0" lvl="0" marL="0" marR="0" rtl="0" algn="l">
                        <a:spcBef>
                          <a:spcPts val="0"/>
                        </a:spcBef>
                        <a:spcAft>
                          <a:spcPts val="0"/>
                        </a:spcAft>
                        <a:buNone/>
                      </a:pPr>
                      <a:r>
                        <a:rPr lang="en-US" sz="1200"/>
                        <a:t>Ծանոթանալու երեխաների առաջադիմության ու հաճախումների ցուցանիշներին, տնային հանձնարարություններին,դասավանդող ուսուցիչների հետ առցանց կապվելու և այլն: </a:t>
                      </a:r>
                      <a:endParaRPr sz="1800"/>
                    </a:p>
                  </a:txBody>
                  <a:tcPr marT="0" marB="0" marR="0" marL="0" anchor="ctr"/>
                </a:tc>
              </a:tr>
              <a:tr h="100450">
                <a:tc>
                  <a:txBody>
                    <a:bodyPr/>
                    <a:lstStyle/>
                    <a:p>
                      <a:pPr indent="-54864" lvl="0" marL="54864" marR="0" rtl="0" algn="l">
                        <a:spcBef>
                          <a:spcPts val="0"/>
                        </a:spcBef>
                        <a:spcAft>
                          <a:spcPts val="0"/>
                        </a:spcAft>
                        <a:buNone/>
                      </a:pPr>
                      <a:r>
                        <a:rPr lang="en-US" sz="1200"/>
                        <a:t>2. </a:t>
                      </a:r>
                      <a:r>
                        <a:rPr lang="en-US" sz="1200" u="sng">
                          <a:solidFill>
                            <a:schemeClr val="hlink"/>
                          </a:solidFill>
                          <a:hlinkClick r:id="rId10"/>
                        </a:rPr>
                        <a:t>https://e-school.am/lessons</a:t>
                      </a:r>
                      <a:endParaRPr sz="1200"/>
                    </a:p>
                    <a:p>
                      <a:pPr indent="-54610" lvl="0" marL="54610" marR="0" rtl="0" algn="l">
                        <a:spcBef>
                          <a:spcPts val="0"/>
                        </a:spcBef>
                        <a:spcAft>
                          <a:spcPts val="0"/>
                        </a:spcAft>
                        <a:buNone/>
                      </a:pPr>
                      <a:r>
                        <a:rPr lang="en-US" sz="1200"/>
                        <a:t> </a:t>
                      </a:r>
                      <a:r>
                        <a:rPr lang="en-US" sz="1200" u="sng">
                          <a:solidFill>
                            <a:schemeClr val="hlink"/>
                          </a:solidFill>
                          <a:hlinkClick r:id="rId11"/>
                        </a:rPr>
                        <a:t>http://www.lib.</a:t>
                      </a:r>
                      <a:r>
                        <a:rPr lang="en-US" sz="1200" u="sng">
                          <a:solidFill>
                            <a:schemeClr val="hlink"/>
                          </a:solidFill>
                          <a:hlinkClick r:id="rId12"/>
                        </a:rPr>
                        <a:t> </a:t>
                      </a:r>
                      <a:r>
                        <a:rPr lang="en-US" sz="1200" u="sng">
                          <a:solidFill>
                            <a:schemeClr val="hlink"/>
                          </a:solidFill>
                          <a:hlinkClick r:id="rId13"/>
                        </a:rPr>
                        <a:t>armedu.am</a:t>
                      </a:r>
                      <a:r>
                        <a:rPr lang="en-US" sz="1200"/>
                        <a:t> ,</a:t>
                      </a:r>
                      <a:endParaRPr sz="1800"/>
                    </a:p>
                  </a:txBody>
                  <a:tcPr marT="0" marB="0" marR="0" marL="0" anchor="ctr"/>
                </a:tc>
                <a:tc>
                  <a:txBody>
                    <a:bodyPr/>
                    <a:lstStyle/>
                    <a:p>
                      <a:pPr indent="0" lvl="0" marL="0" marR="0" rtl="0" algn="l">
                        <a:spcBef>
                          <a:spcPts val="0"/>
                        </a:spcBef>
                        <a:spcAft>
                          <a:spcPts val="0"/>
                        </a:spcAft>
                        <a:buNone/>
                      </a:pPr>
                      <a:r>
                        <a:rPr lang="en-US" sz="1200"/>
                        <a:t>պարբերաբար </a:t>
                      </a:r>
                      <a:endParaRPr sz="1800"/>
                    </a:p>
                  </a:txBody>
                  <a:tcPr marT="0" marB="0" marR="0" marL="0" anchor="ctr"/>
                </a:tc>
                <a:tc>
                  <a:txBody>
                    <a:bodyPr/>
                    <a:lstStyle/>
                    <a:p>
                      <a:pPr indent="0" lvl="0" marL="0" marR="0" rtl="0" algn="l">
                        <a:spcBef>
                          <a:spcPts val="0"/>
                        </a:spcBef>
                        <a:spcAft>
                          <a:spcPts val="0"/>
                        </a:spcAft>
                        <a:buNone/>
                      </a:pPr>
                      <a:r>
                        <a:rPr lang="en-US" sz="1200"/>
                        <a:t>300 և ավելի </a:t>
                      </a:r>
                      <a:endParaRPr sz="1800"/>
                    </a:p>
                  </a:txBody>
                  <a:tcPr marT="0" marB="0" marR="0" marL="0" anchor="ctr"/>
                </a:tc>
                <a:tc>
                  <a:txBody>
                    <a:bodyPr/>
                    <a:lstStyle/>
                    <a:p>
                      <a:pPr indent="0" lvl="0" marL="0" marR="0" rtl="0" algn="l">
                        <a:spcBef>
                          <a:spcPts val="0"/>
                        </a:spcBef>
                        <a:spcAft>
                          <a:spcPts val="0"/>
                        </a:spcAft>
                        <a:buNone/>
                      </a:pPr>
                      <a:r>
                        <a:rPr lang="en-US" sz="1200"/>
                        <a:t>Ծանոթանալու ԷԿՌ, կրթական աշխարհի նորություններին, հայտարարված մրցույթներին և այլն </a:t>
                      </a:r>
                      <a:endParaRPr sz="1800"/>
                    </a:p>
                  </a:txBody>
                  <a:tcPr marT="0" marB="0" marR="0" marL="0" anchor="ctr"/>
                </a:tc>
              </a:tr>
              <a:tr h="100450">
                <a:tc>
                  <a:txBody>
                    <a:bodyPr/>
                    <a:lstStyle/>
                    <a:p>
                      <a:pPr indent="-54610" lvl="0" marL="54610" marR="0" rtl="0" algn="l">
                        <a:spcBef>
                          <a:spcPts val="0"/>
                        </a:spcBef>
                        <a:spcAft>
                          <a:spcPts val="0"/>
                        </a:spcAft>
                        <a:buNone/>
                      </a:pPr>
                      <a:r>
                        <a:rPr lang="en-US" sz="1200"/>
                        <a:t>3. </a:t>
                      </a:r>
                      <a:r>
                        <a:rPr lang="en-US" sz="1200" u="sng">
                          <a:solidFill>
                            <a:schemeClr val="hlink"/>
                          </a:solidFill>
                          <a:hlinkClick r:id="rId14"/>
                        </a:rPr>
                        <a:t>http://www.atc.am</a:t>
                      </a:r>
                      <a:r>
                        <a:rPr lang="en-US" sz="1200"/>
                        <a:t> </a:t>
                      </a:r>
                      <a:endParaRPr sz="1800"/>
                    </a:p>
                  </a:txBody>
                  <a:tcPr marT="0" marB="0" marR="0" marL="0" anchor="ctr"/>
                </a:tc>
                <a:tc>
                  <a:txBody>
                    <a:bodyPr/>
                    <a:lstStyle/>
                    <a:p>
                      <a:pPr indent="0" lvl="0" marL="0" marR="0" rtl="0" algn="l">
                        <a:spcBef>
                          <a:spcPts val="0"/>
                        </a:spcBef>
                        <a:spcAft>
                          <a:spcPts val="0"/>
                        </a:spcAft>
                        <a:buNone/>
                      </a:pPr>
                      <a:r>
                        <a:rPr lang="en-US" sz="1200"/>
                        <a:t>պարբերաբար </a:t>
                      </a:r>
                      <a:endParaRPr sz="1800"/>
                    </a:p>
                  </a:txBody>
                  <a:tcPr marT="0" marB="0" marR="0" marL="0" anchor="ctr"/>
                </a:tc>
                <a:tc>
                  <a:txBody>
                    <a:bodyPr/>
                    <a:lstStyle/>
                    <a:p>
                      <a:pPr indent="0" lvl="0" marL="0" marR="0" rtl="0" algn="l">
                        <a:spcBef>
                          <a:spcPts val="0"/>
                        </a:spcBef>
                        <a:spcAft>
                          <a:spcPts val="0"/>
                        </a:spcAft>
                        <a:buNone/>
                      </a:pPr>
                      <a:r>
                        <a:rPr lang="en-US" sz="1200"/>
                        <a:t>330 և ավելի </a:t>
                      </a:r>
                      <a:endParaRPr sz="1800"/>
                    </a:p>
                  </a:txBody>
                  <a:tcPr marT="0" marB="0" marR="0" marL="0" anchor="ctr"/>
                </a:tc>
                <a:tc>
                  <a:txBody>
                    <a:bodyPr/>
                    <a:lstStyle/>
                    <a:p>
                      <a:pPr indent="0" lvl="0" marL="0" marR="0" rtl="0" algn="l">
                        <a:spcBef>
                          <a:spcPts val="0"/>
                        </a:spcBef>
                        <a:spcAft>
                          <a:spcPts val="0"/>
                        </a:spcAft>
                        <a:buNone/>
                      </a:pPr>
                      <a:r>
                        <a:rPr lang="en-US" sz="1200"/>
                        <a:t>Ծանոթանալու դիմորդ բաժնին, քննական թեստերի նմուշներին, գնահատման չափանիշներին և այլն </a:t>
                      </a:r>
                      <a:endParaRPr sz="1800"/>
                    </a:p>
                  </a:txBody>
                  <a:tcPr marT="0" marB="0" marR="0" marL="0" anchor="ctr"/>
                </a:tc>
              </a:tr>
              <a:tr h="171075">
                <a:tc>
                  <a:txBody>
                    <a:bodyPr/>
                    <a:lstStyle/>
                    <a:p>
                      <a:pPr indent="-54610" lvl="0" marL="54610" marR="0" rtl="0" algn="l">
                        <a:spcBef>
                          <a:spcPts val="0"/>
                        </a:spcBef>
                        <a:spcAft>
                          <a:spcPts val="0"/>
                        </a:spcAft>
                        <a:buNone/>
                      </a:pPr>
                      <a:r>
                        <a:rPr lang="en-US" sz="1200"/>
                        <a:t>4. Դպրոցի պաշտոնական  կայքէջ</a:t>
                      </a:r>
                      <a:r>
                        <a:rPr lang="en-US" sz="1200"/>
                        <a:t> և </a:t>
                      </a:r>
                      <a:r>
                        <a:rPr lang="en-US" sz="1200"/>
                        <a:t>ֆեյսբուքյան էջ` </a:t>
                      </a:r>
                      <a:r>
                        <a:rPr lang="en-US" sz="1200" u="sng">
                          <a:solidFill>
                            <a:schemeClr val="hlink"/>
                          </a:solidFill>
                          <a:hlinkClick r:id="rId15"/>
                        </a:rPr>
                        <a:t>http://school-42.am/</a:t>
                      </a:r>
                      <a:r>
                        <a:rPr lang="en-US" sz="1200"/>
                        <a:t>, </a:t>
                      </a:r>
                      <a:r>
                        <a:rPr lang="en-US" sz="1200" u="sng">
                          <a:solidFill>
                            <a:schemeClr val="hlink"/>
                          </a:solidFill>
                          <a:hlinkClick r:id="rId16"/>
                        </a:rPr>
                        <a:t>https://www.facebook.com/pages/Yerevan-High-School-N42-after-Taras-Shevchenko/238683539584695?pnref=lhc</a:t>
                      </a:r>
                      <a:r>
                        <a:rPr lang="en-US" sz="1200"/>
                        <a:t>, </a:t>
                      </a:r>
                      <a:endParaRPr sz="1800"/>
                    </a:p>
                  </a:txBody>
                  <a:tcPr marT="0" marB="0" marR="0" marL="0" anchor="ctr"/>
                </a:tc>
                <a:tc>
                  <a:txBody>
                    <a:bodyPr/>
                    <a:lstStyle/>
                    <a:p>
                      <a:pPr indent="0" lvl="0" marL="0" marR="0" rtl="0" algn="l">
                        <a:spcBef>
                          <a:spcPts val="0"/>
                        </a:spcBef>
                        <a:spcAft>
                          <a:spcPts val="0"/>
                        </a:spcAft>
                        <a:buNone/>
                      </a:pPr>
                      <a:r>
                        <a:rPr lang="en-US" sz="1200"/>
                        <a:t>հաճախակի </a:t>
                      </a:r>
                      <a:endParaRPr sz="1800"/>
                    </a:p>
                  </a:txBody>
                  <a:tcPr marT="0" marB="0" marR="0" marL="0" anchor="ctr"/>
                </a:tc>
                <a:tc>
                  <a:txBody>
                    <a:bodyPr/>
                    <a:lstStyle/>
                    <a:p>
                      <a:pPr indent="0" lvl="0" marL="0" marR="0" rtl="0" algn="l">
                        <a:spcBef>
                          <a:spcPts val="0"/>
                        </a:spcBef>
                        <a:spcAft>
                          <a:spcPts val="0"/>
                        </a:spcAft>
                        <a:buNone/>
                      </a:pPr>
                      <a:r>
                        <a:rPr lang="en-US" sz="1200"/>
                        <a:t>350 և ավելի </a:t>
                      </a:r>
                      <a:endParaRPr sz="1800"/>
                    </a:p>
                  </a:txBody>
                  <a:tcPr marT="0" marB="0" marR="0" marL="0" anchor="ctr"/>
                </a:tc>
                <a:tc>
                  <a:txBody>
                    <a:bodyPr/>
                    <a:lstStyle/>
                    <a:p>
                      <a:pPr indent="0" lvl="0" marL="0" marR="0" rtl="0" algn="l">
                        <a:spcBef>
                          <a:spcPts val="0"/>
                        </a:spcBef>
                        <a:spcAft>
                          <a:spcPts val="0"/>
                        </a:spcAft>
                        <a:buNone/>
                      </a:pPr>
                      <a:r>
                        <a:rPr lang="en-US" sz="1200"/>
                        <a:t>Հետևելու  դպրոցի անցուդարձին, առօրյային </a:t>
                      </a:r>
                      <a:endParaRPr sz="1800"/>
                    </a:p>
                  </a:txBody>
                  <a:tcPr marT="0" marB="0" marR="0" marL="0" anchor="ct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84"/>
          <p:cNvSpPr txBox="1"/>
          <p:nvPr/>
        </p:nvSpPr>
        <p:spPr>
          <a:xfrm>
            <a:off x="176213" y="155575"/>
            <a:ext cx="106156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Merriweather"/>
                <a:ea typeface="Merriweather"/>
                <a:cs typeface="Merriweather"/>
                <a:sym typeface="Merriweather"/>
              </a:rPr>
              <a:t>Աղյուսակ 33. Տվյալներ հաստատության և համայնքի համագործակցության վերաբերյալ </a:t>
            </a:r>
            <a:endParaRPr b="1" i="1" sz="1800">
              <a:solidFill>
                <a:schemeClr val="dk1"/>
              </a:solidFill>
              <a:latin typeface="Merriweather"/>
              <a:ea typeface="Merriweather"/>
              <a:cs typeface="Merriweather"/>
              <a:sym typeface="Merriweather"/>
            </a:endParaRPr>
          </a:p>
        </p:txBody>
      </p:sp>
      <p:graphicFrame>
        <p:nvGraphicFramePr>
          <p:cNvPr id="644" name="Google Shape;644;p84"/>
          <p:cNvGraphicFramePr/>
          <p:nvPr/>
        </p:nvGraphicFramePr>
        <p:xfrm>
          <a:off x="237618" y="779287"/>
          <a:ext cx="3000000" cy="3000000"/>
        </p:xfrm>
        <a:graphic>
          <a:graphicData uri="http://schemas.openxmlformats.org/drawingml/2006/table">
            <a:tbl>
              <a:tblPr>
                <a:noFill/>
                <a:tableStyleId>{40B977D2-3903-41EF-8714-5AC59086702B}</a:tableStyleId>
              </a:tblPr>
              <a:tblGrid>
                <a:gridCol w="5447700"/>
                <a:gridCol w="316500"/>
                <a:gridCol w="316500"/>
                <a:gridCol w="916975"/>
                <a:gridCol w="1452000"/>
                <a:gridCol w="2838950"/>
              </a:tblGrid>
              <a:tr h="234500">
                <a:tc gridSpan="6">
                  <a:txBody>
                    <a:bodyPr/>
                    <a:lstStyle/>
                    <a:p>
                      <a:pPr indent="0" lvl="0" marL="0" marR="0" rtl="0" algn="ctr">
                        <a:spcBef>
                          <a:spcPts val="0"/>
                        </a:spcBef>
                        <a:spcAft>
                          <a:spcPts val="0"/>
                        </a:spcAft>
                        <a:buNone/>
                      </a:pPr>
                      <a:r>
                        <a:rPr b="1" lang="en-US" sz="1400"/>
                        <a:t>Ցուցանիշ </a:t>
                      </a:r>
                      <a:endParaRPr b="1" sz="1800"/>
                    </a:p>
                  </a:txBody>
                  <a:tcPr marT="0" marB="0" marR="0" marL="0" anchor="ctr"/>
                </a:tc>
                <a:tc hMerge="1"/>
                <a:tc hMerge="1"/>
                <a:tc hMerge="1"/>
                <a:tc hMerge="1"/>
                <a:tc hMerge="1"/>
              </a:tr>
              <a:tr h="469025">
                <a:tc gridSpan="6">
                  <a:txBody>
                    <a:bodyPr/>
                    <a:lstStyle/>
                    <a:p>
                      <a:pPr indent="0" lvl="0" marL="0" marR="0" rtl="0" algn="l">
                        <a:spcBef>
                          <a:spcPts val="0"/>
                        </a:spcBef>
                        <a:spcAft>
                          <a:spcPts val="0"/>
                        </a:spcAft>
                        <a:buNone/>
                      </a:pPr>
                      <a:r>
                        <a:rPr b="1" lang="en-US" sz="1400"/>
                        <a:t>Ուսումնական հաստատության շենքային պայմանների բարելավման, տարածքի բարեկարգման, ուսումնանյութական բազայի համալրման աշխատանքներին համայնքի մասնակացությունը, մասնակցության ձևը և այդ գործում կատարված ներդրումները. </a:t>
                      </a:r>
                      <a:endParaRPr b="1" sz="1800"/>
                    </a:p>
                  </a:txBody>
                  <a:tcPr marT="0" marB="0" marR="0" marL="0" anchor="ctr"/>
                </a:tc>
                <a:tc hMerge="1"/>
                <a:tc hMerge="1"/>
                <a:tc hMerge="1"/>
                <a:tc hMerge="1"/>
                <a:tc hMerge="1"/>
              </a:tr>
              <a:tr h="938050">
                <a:tc gridSpan="2">
                  <a:txBody>
                    <a:bodyPr/>
                    <a:lstStyle/>
                    <a:p>
                      <a:pPr indent="0" lvl="0" marL="0" marR="0" rtl="0" algn="l">
                        <a:spcBef>
                          <a:spcPts val="0"/>
                        </a:spcBef>
                        <a:spcAft>
                          <a:spcPts val="0"/>
                        </a:spcAft>
                        <a:buNone/>
                      </a:pPr>
                      <a:r>
                        <a:rPr lang="en-US" sz="1400"/>
                        <a:t>Նկարագրել վերջին 3 տարում հաստատության շենքային պայմանների բարելավման, տարածքի բարեկարգման, ուսումնանյութական բազայի համալրման և այլ աշխատանքներին համայնքի մասնակցության դեպքերը, մասնակցության ձևերը </a:t>
                      </a:r>
                      <a:endParaRPr sz="1800"/>
                    </a:p>
                  </a:txBody>
                  <a:tcPr marT="0" marB="0" marR="0" marL="0" anchor="ctr"/>
                </a:tc>
                <a:tc hMerge="1"/>
                <a:tc gridSpan="2">
                  <a:txBody>
                    <a:bodyPr/>
                    <a:lstStyle/>
                    <a:p>
                      <a:pPr indent="0" lvl="0" marL="0" marR="0" rtl="0" algn="ctr">
                        <a:spcBef>
                          <a:spcPts val="0"/>
                        </a:spcBef>
                        <a:spcAft>
                          <a:spcPts val="0"/>
                        </a:spcAft>
                        <a:buNone/>
                      </a:pPr>
                      <a:r>
                        <a:rPr lang="en-US" sz="1400"/>
                        <a:t>Ամսաթիվ </a:t>
                      </a:r>
                      <a:endParaRPr sz="1800"/>
                    </a:p>
                  </a:txBody>
                  <a:tcPr marT="0" marB="0" marR="0" marL="0" anchor="ctr"/>
                </a:tc>
                <a:tc hMerge="1"/>
                <a:tc>
                  <a:txBody>
                    <a:bodyPr/>
                    <a:lstStyle/>
                    <a:p>
                      <a:pPr indent="0" lvl="0" marL="0" marR="0" rtl="0" algn="ctr">
                        <a:spcBef>
                          <a:spcPts val="0"/>
                        </a:spcBef>
                        <a:spcAft>
                          <a:spcPts val="0"/>
                        </a:spcAft>
                        <a:buNone/>
                      </a:pPr>
                      <a:r>
                        <a:rPr lang="en-US" sz="1400"/>
                        <a:t>Ներդրման չափը </a:t>
                      </a:r>
                      <a:endParaRPr sz="1800"/>
                    </a:p>
                  </a:txBody>
                  <a:tcPr marT="0" marB="0" marR="0" marL="0" anchor="ctr"/>
                </a:tc>
                <a:tc>
                  <a:txBody>
                    <a:bodyPr/>
                    <a:lstStyle/>
                    <a:p>
                      <a:pPr indent="0" lvl="0" marL="0" marR="0" rtl="0" algn="ctr">
                        <a:spcBef>
                          <a:spcPts val="0"/>
                        </a:spcBef>
                        <a:spcAft>
                          <a:spcPts val="0"/>
                        </a:spcAft>
                        <a:buNone/>
                      </a:pPr>
                      <a:r>
                        <a:rPr lang="en-US" sz="1400"/>
                        <a:t>Մեկնաբանություն </a:t>
                      </a:r>
                      <a:endParaRPr sz="1800"/>
                    </a:p>
                  </a:txBody>
                  <a:tcPr marT="0" marB="0" marR="0" marL="0" anchor="ctr"/>
                </a:tc>
              </a:tr>
              <a:tr h="469025">
                <a:tc gridSpan="2">
                  <a:txBody>
                    <a:bodyPr/>
                    <a:lstStyle/>
                    <a:p>
                      <a:pPr indent="-54864" lvl="0" marL="54864" marR="0" rtl="0" algn="l">
                        <a:spcBef>
                          <a:spcPts val="0"/>
                        </a:spcBef>
                        <a:spcAft>
                          <a:spcPts val="0"/>
                        </a:spcAft>
                        <a:buNone/>
                      </a:pPr>
                      <a:r>
                        <a:rPr lang="en-US" sz="1400"/>
                        <a:t>1. Շրջակա տարածքի բարեկարգման աշխատանքներ`ծառատունկ և կանաչապատում: </a:t>
                      </a:r>
                      <a:endParaRPr sz="1800"/>
                    </a:p>
                  </a:txBody>
                  <a:tcPr marT="0" marB="0" marR="0" marL="0" anchor="ctr"/>
                </a:tc>
                <a:tc hMerge="1"/>
                <a:tc gridSpan="2">
                  <a:txBody>
                    <a:bodyPr/>
                    <a:lstStyle/>
                    <a:p>
                      <a:pPr indent="0" lvl="0" marL="0" marR="0" rtl="0" algn="ctr">
                        <a:spcBef>
                          <a:spcPts val="0"/>
                        </a:spcBef>
                        <a:spcAft>
                          <a:spcPts val="0"/>
                        </a:spcAft>
                        <a:buNone/>
                      </a:pPr>
                      <a:r>
                        <a:rPr lang="en-US" sz="1400"/>
                        <a:t>աշուն </a:t>
                      </a:r>
                      <a:endParaRPr sz="1800"/>
                    </a:p>
                    <a:p>
                      <a:pPr indent="0" lvl="0" marL="0" marR="0" rtl="0" algn="ctr">
                        <a:spcBef>
                          <a:spcPts val="0"/>
                        </a:spcBef>
                        <a:spcAft>
                          <a:spcPts val="0"/>
                        </a:spcAft>
                        <a:buNone/>
                      </a:pPr>
                      <a:r>
                        <a:rPr lang="en-US" sz="1400"/>
                        <a:t>գարուն </a:t>
                      </a:r>
                      <a:endParaRPr sz="1800"/>
                    </a:p>
                  </a:txBody>
                  <a:tcPr marT="0" marB="0" marR="0" marL="0" anchor="ctr"/>
                </a:tc>
                <a:tc hMerge="1"/>
                <a:tc>
                  <a:txBody>
                    <a:bodyPr/>
                    <a:lstStyle/>
                    <a:p>
                      <a:pPr indent="0" lvl="0" marL="0" marR="0" rtl="0" algn="ctr">
                        <a:spcBef>
                          <a:spcPts val="0"/>
                        </a:spcBef>
                        <a:spcAft>
                          <a:spcPts val="0"/>
                        </a:spcAft>
                        <a:buNone/>
                      </a:pPr>
                      <a:r>
                        <a:t/>
                      </a:r>
                      <a:endParaRPr sz="14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rPr lang="en-US" sz="1400"/>
                        <a:t>Տնկիների տրամադրում </a:t>
                      </a:r>
                      <a:endParaRPr sz="1800"/>
                    </a:p>
                  </a:txBody>
                  <a:tcPr marT="0" marB="0" marR="0" marL="0" anchor="ctr"/>
                </a:tc>
              </a:tr>
              <a:tr h="469025">
                <a:tc gridSpan="2">
                  <a:txBody>
                    <a:bodyPr/>
                    <a:lstStyle/>
                    <a:p>
                      <a:pPr indent="-54864" lvl="0" marL="54864" marR="0" rtl="0" algn="l">
                        <a:spcBef>
                          <a:spcPts val="0"/>
                        </a:spcBef>
                        <a:spcAft>
                          <a:spcPts val="0"/>
                        </a:spcAft>
                        <a:buNone/>
                      </a:pPr>
                      <a:r>
                        <a:rPr lang="en-US" sz="1400"/>
                        <a:t>2. Շրջակա տարածքի մաքրում: </a:t>
                      </a:r>
                      <a:endParaRPr sz="1800"/>
                    </a:p>
                  </a:txBody>
                  <a:tcPr marT="0" marB="0" marR="0" marL="0" anchor="ctr"/>
                </a:tc>
                <a:tc hMerge="1"/>
                <a:tc gridSpan="2">
                  <a:txBody>
                    <a:bodyPr/>
                    <a:lstStyle/>
                    <a:p>
                      <a:pPr indent="0" lvl="0" marL="0" marR="0" rtl="0" algn="ctr">
                        <a:spcBef>
                          <a:spcPts val="0"/>
                        </a:spcBef>
                        <a:spcAft>
                          <a:spcPts val="0"/>
                        </a:spcAft>
                        <a:buNone/>
                      </a:pPr>
                      <a:r>
                        <a:rPr lang="en-US" sz="1400"/>
                        <a:t>պարբերաբար </a:t>
                      </a:r>
                      <a:endParaRPr sz="1800"/>
                    </a:p>
                  </a:txBody>
                  <a:tcPr marT="0" marB="0" marR="0" marL="0" anchor="ctr"/>
                </a:tc>
                <a:tc hMerge="1"/>
                <a:tc>
                  <a:txBody>
                    <a:bodyPr/>
                    <a:lstStyle/>
                    <a:p>
                      <a:pPr indent="0" lvl="0" marL="0" marR="0" rtl="0" algn="ctr">
                        <a:spcBef>
                          <a:spcPts val="0"/>
                        </a:spcBef>
                        <a:spcAft>
                          <a:spcPts val="0"/>
                        </a:spcAft>
                        <a:buNone/>
                      </a:pPr>
                      <a:r>
                        <a:t/>
                      </a:r>
                      <a:endParaRPr sz="1400">
                        <a:latin typeface="Merriweather"/>
                        <a:ea typeface="Merriweather"/>
                        <a:cs typeface="Merriweather"/>
                        <a:sym typeface="Merriweather"/>
                      </a:endParaRPr>
                    </a:p>
                  </a:txBody>
                  <a:tcPr marT="0" marB="0" marR="0" marL="0" anchor="ctr"/>
                </a:tc>
                <a:tc>
                  <a:txBody>
                    <a:bodyPr/>
                    <a:lstStyle/>
                    <a:p>
                      <a:pPr indent="0" lvl="0" marL="0" marR="0" rtl="0" algn="ctr">
                        <a:spcBef>
                          <a:spcPts val="0"/>
                        </a:spcBef>
                        <a:spcAft>
                          <a:spcPts val="0"/>
                        </a:spcAft>
                        <a:buNone/>
                      </a:pPr>
                      <a:r>
                        <a:t/>
                      </a:r>
                      <a:endParaRPr sz="1400">
                        <a:latin typeface="Merriweather"/>
                        <a:ea typeface="Merriweather"/>
                        <a:cs typeface="Merriweather"/>
                        <a:sym typeface="Merriweather"/>
                      </a:endParaRPr>
                    </a:p>
                  </a:txBody>
                  <a:tcPr marT="0" marB="0" marR="0" marL="0" anchor="ctr"/>
                </a:tc>
              </a:tr>
              <a:tr h="234500">
                <a:tc gridSpan="6">
                  <a:txBody>
                    <a:bodyPr/>
                    <a:lstStyle/>
                    <a:p>
                      <a:pPr indent="0" lvl="0" marL="0" marR="0" rtl="0" algn="l">
                        <a:spcBef>
                          <a:spcPts val="0"/>
                        </a:spcBef>
                        <a:spcAft>
                          <a:spcPts val="0"/>
                        </a:spcAft>
                        <a:buNone/>
                      </a:pPr>
                      <a:r>
                        <a:rPr b="1" lang="en-US" sz="1400"/>
                        <a:t>Նկարագրել համայնքային հիմնախնդիրների վերաբերյալ սովորողների տեղեկացվածության աստիճանը.</a:t>
                      </a:r>
                      <a:endParaRPr b="1" sz="1800"/>
                    </a:p>
                  </a:txBody>
                  <a:tcPr marT="0" marB="0" marR="0" marL="0" anchor="ctr"/>
                </a:tc>
                <a:tc hMerge="1"/>
                <a:tc hMerge="1"/>
                <a:tc hMerge="1"/>
                <a:tc hMerge="1"/>
                <a:tc hMerge="1"/>
              </a:tr>
              <a:tr h="469025">
                <a:tc gridSpan="6">
                  <a:txBody>
                    <a:bodyPr/>
                    <a:lstStyle/>
                    <a:p>
                      <a:pPr indent="0" lvl="0" marL="0" marR="0" rtl="0" algn="l">
                        <a:spcBef>
                          <a:spcPts val="0"/>
                        </a:spcBef>
                        <a:spcAft>
                          <a:spcPts val="0"/>
                        </a:spcAft>
                        <a:buNone/>
                      </a:pPr>
                      <a:r>
                        <a:rPr lang="en-US" sz="1400"/>
                        <a:t>Սովորողները սիրով մասնակցում են համայնքի նախաձեռնած միջոցառումներին, ծառատունկ, շաբաթօրյակ, իրազեկ են խնդիրներին, ջանում են հետևել շրջակա տարածքի մաքրությանը և այլն: </a:t>
                      </a:r>
                      <a:endParaRPr sz="1800"/>
                    </a:p>
                  </a:txBody>
                  <a:tcPr marT="0" marB="0" marR="0" marL="0" anchor="ctr"/>
                </a:tc>
                <a:tc hMerge="1"/>
                <a:tc hMerge="1"/>
                <a:tc hMerge="1"/>
                <a:tc hMerge="1"/>
                <a:tc hMerge="1"/>
              </a:tr>
              <a:tr h="234500">
                <a:tc gridSpan="6">
                  <a:txBody>
                    <a:bodyPr/>
                    <a:lstStyle/>
                    <a:p>
                      <a:pPr indent="0" lvl="0" marL="0" marR="0" rtl="0" algn="l">
                        <a:spcBef>
                          <a:spcPts val="0"/>
                        </a:spcBef>
                        <a:spcAft>
                          <a:spcPts val="0"/>
                        </a:spcAft>
                        <a:buNone/>
                      </a:pPr>
                      <a:r>
                        <a:rPr b="1" lang="en-US" sz="1400"/>
                        <a:t>Ուսումնական հաստատության մասնակցությունը համայնքի աշխատանքներին, մասնակցության ձևերը</a:t>
                      </a:r>
                      <a:r>
                        <a:rPr lang="en-US" sz="1400"/>
                        <a:t> </a:t>
                      </a:r>
                      <a:endParaRPr sz="1800"/>
                    </a:p>
                  </a:txBody>
                  <a:tcPr marT="0" marB="0" marR="0" marL="0" anchor="ctr"/>
                </a:tc>
                <a:tc hMerge="1"/>
                <a:tc hMerge="1"/>
                <a:tc hMerge="1"/>
                <a:tc hMerge="1"/>
                <a:tc hMerge="1"/>
              </a:tr>
              <a:tr h="469025">
                <a:tc>
                  <a:txBody>
                    <a:bodyPr/>
                    <a:lstStyle/>
                    <a:p>
                      <a:pPr indent="0" lvl="0" marL="0" marR="0" rtl="0" algn="l">
                        <a:spcBef>
                          <a:spcPts val="0"/>
                        </a:spcBef>
                        <a:spcAft>
                          <a:spcPts val="0"/>
                        </a:spcAft>
                        <a:buNone/>
                      </a:pPr>
                      <a:r>
                        <a:rPr lang="en-US" sz="1400"/>
                        <a:t>Նկարագրել վերջին 3 տարում հաստատության համայնքի աշխատանքներին մասնակցության դեպքերը և դրանց ձևերը </a:t>
                      </a:r>
                      <a:endParaRPr sz="1800"/>
                    </a:p>
                  </a:txBody>
                  <a:tcPr marT="0" marB="0" marR="0" marL="0" anchor="ctr"/>
                </a:tc>
                <a:tc gridSpan="2">
                  <a:txBody>
                    <a:bodyPr/>
                    <a:lstStyle/>
                    <a:p>
                      <a:pPr indent="0" lvl="0" marL="0" marR="0" rtl="0" algn="l">
                        <a:spcBef>
                          <a:spcPts val="0"/>
                        </a:spcBef>
                        <a:spcAft>
                          <a:spcPts val="0"/>
                        </a:spcAft>
                        <a:buNone/>
                      </a:pPr>
                      <a:r>
                        <a:rPr lang="en-US" sz="1400"/>
                        <a:t>Ամսաթիվ </a:t>
                      </a:r>
                      <a:endParaRPr sz="1800"/>
                    </a:p>
                  </a:txBody>
                  <a:tcPr marT="0" marB="0" marR="0" marL="0" anchor="ctr"/>
                </a:tc>
                <a:tc hMerge="1"/>
                <a:tc gridSpan="2">
                  <a:txBody>
                    <a:bodyPr/>
                    <a:lstStyle/>
                    <a:p>
                      <a:pPr indent="0" lvl="0" marL="0" marR="0" rtl="0" algn="l">
                        <a:spcBef>
                          <a:spcPts val="0"/>
                        </a:spcBef>
                        <a:spcAft>
                          <a:spcPts val="0"/>
                        </a:spcAft>
                        <a:buNone/>
                      </a:pPr>
                      <a:r>
                        <a:rPr lang="en-US" sz="1400"/>
                        <a:t>Մասնակից սովորողների և աշխատողների տոկոսը </a:t>
                      </a:r>
                      <a:endParaRPr sz="1800"/>
                    </a:p>
                  </a:txBody>
                  <a:tcPr marT="0" marB="0" marR="0" marL="0" anchor="ctr"/>
                </a:tc>
                <a:tc hMerge="1"/>
                <a:tc>
                  <a:txBody>
                    <a:bodyPr/>
                    <a:lstStyle/>
                    <a:p>
                      <a:pPr indent="0" lvl="0" marL="0" marR="0" rtl="0" algn="l">
                        <a:spcBef>
                          <a:spcPts val="0"/>
                        </a:spcBef>
                        <a:spcAft>
                          <a:spcPts val="0"/>
                        </a:spcAft>
                        <a:buNone/>
                      </a:pPr>
                      <a:r>
                        <a:rPr lang="en-US" sz="1400"/>
                        <a:t>Մեկնաբանություն </a:t>
                      </a:r>
                      <a:endParaRPr sz="1800"/>
                    </a:p>
                  </a:txBody>
                  <a:tcPr marT="0" marB="0" marR="0" marL="0" anchor="ctr"/>
                </a:tc>
              </a:tr>
              <a:tr h="469025">
                <a:tc>
                  <a:txBody>
                    <a:bodyPr/>
                    <a:lstStyle/>
                    <a:p>
                      <a:pPr indent="0" lvl="0" marL="0" marR="0" rtl="0" algn="l">
                        <a:spcBef>
                          <a:spcPts val="0"/>
                        </a:spcBef>
                        <a:spcAft>
                          <a:spcPts val="0"/>
                        </a:spcAft>
                        <a:buNone/>
                      </a:pPr>
                      <a:r>
                        <a:rPr lang="en-US" sz="1400"/>
                        <a:t>1.Ծառատունկ </a:t>
                      </a:r>
                      <a:endParaRPr sz="1800"/>
                    </a:p>
                  </a:txBody>
                  <a:tcPr marT="0" marB="0" marR="0" marL="0" anchor="ctr"/>
                </a:tc>
                <a:tc gridSpan="2">
                  <a:txBody>
                    <a:bodyPr/>
                    <a:lstStyle/>
                    <a:p>
                      <a:pPr indent="0" lvl="0" marL="0" marR="0" rtl="0" algn="l">
                        <a:spcBef>
                          <a:spcPts val="0"/>
                        </a:spcBef>
                        <a:spcAft>
                          <a:spcPts val="0"/>
                        </a:spcAft>
                        <a:buNone/>
                      </a:pPr>
                      <a:r>
                        <a:rPr lang="en-US" sz="1400"/>
                        <a:t>աշուն,</a:t>
                      </a:r>
                      <a:endParaRPr sz="1800"/>
                    </a:p>
                    <a:p>
                      <a:pPr indent="0" lvl="0" marL="0" marR="0" rtl="0" algn="l">
                        <a:spcBef>
                          <a:spcPts val="0"/>
                        </a:spcBef>
                        <a:spcAft>
                          <a:spcPts val="0"/>
                        </a:spcAft>
                        <a:buNone/>
                      </a:pPr>
                      <a:r>
                        <a:rPr lang="en-US" sz="1400"/>
                        <a:t>գարուն </a:t>
                      </a:r>
                      <a:endParaRPr sz="1800"/>
                    </a:p>
                  </a:txBody>
                  <a:tcPr marT="0" marB="0" marR="0" marL="0" anchor="ctr"/>
                </a:tc>
                <a:tc hMerge="1"/>
                <a:tc gridSpan="2">
                  <a:txBody>
                    <a:bodyPr/>
                    <a:lstStyle/>
                    <a:p>
                      <a:pPr indent="0" lvl="0" marL="0" marR="0" rtl="0" algn="l">
                        <a:spcBef>
                          <a:spcPts val="0"/>
                        </a:spcBef>
                        <a:spcAft>
                          <a:spcPts val="0"/>
                        </a:spcAft>
                        <a:buNone/>
                      </a:pPr>
                      <a:r>
                        <a:rPr lang="en-US" sz="1400"/>
                        <a:t>75-85% </a:t>
                      </a:r>
                      <a:endParaRPr sz="1800"/>
                    </a:p>
                  </a:txBody>
                  <a:tcPr marT="0" marB="0" marR="0" marL="0" anchor="ctr"/>
                </a:tc>
                <a:tc hMerge="1"/>
                <a:tc>
                  <a:txBody>
                    <a:bodyPr/>
                    <a:lstStyle/>
                    <a:p>
                      <a:pPr indent="0" lvl="0" marL="0" marR="0" rtl="0" algn="l">
                        <a:spcBef>
                          <a:spcPts val="0"/>
                        </a:spcBef>
                        <a:spcAft>
                          <a:spcPts val="0"/>
                        </a:spcAft>
                        <a:buNone/>
                      </a:pPr>
                      <a:r>
                        <a:t/>
                      </a:r>
                      <a:endParaRPr sz="1400">
                        <a:latin typeface="Merriweather"/>
                        <a:ea typeface="Merriweather"/>
                        <a:cs typeface="Merriweather"/>
                        <a:sym typeface="Merriweather"/>
                      </a:endParaRPr>
                    </a:p>
                  </a:txBody>
                  <a:tcPr marT="0" marB="0" marR="0" marL="0" anchor="ctr"/>
                </a:tc>
              </a:tr>
              <a:tr h="474600">
                <a:tc>
                  <a:txBody>
                    <a:bodyPr/>
                    <a:lstStyle/>
                    <a:p>
                      <a:pPr indent="0" lvl="0" marL="0" marR="0" rtl="0" algn="l">
                        <a:spcBef>
                          <a:spcPts val="0"/>
                        </a:spcBef>
                        <a:spcAft>
                          <a:spcPts val="0"/>
                        </a:spcAft>
                        <a:buNone/>
                      </a:pPr>
                      <a:r>
                        <a:rPr lang="en-US" sz="1400"/>
                        <a:t>2.Շաբաթօրյակ </a:t>
                      </a:r>
                      <a:endParaRPr sz="1800"/>
                    </a:p>
                  </a:txBody>
                  <a:tcPr marT="0" marB="0" marR="0" marL="0" anchor="ctr"/>
                </a:tc>
                <a:tc gridSpan="2">
                  <a:txBody>
                    <a:bodyPr/>
                    <a:lstStyle/>
                    <a:p>
                      <a:pPr indent="0" lvl="0" marL="0" marR="0" rtl="0" algn="l">
                        <a:spcBef>
                          <a:spcPts val="0"/>
                        </a:spcBef>
                        <a:spcAft>
                          <a:spcPts val="0"/>
                        </a:spcAft>
                        <a:buNone/>
                      </a:pPr>
                      <a:r>
                        <a:rPr lang="en-US" sz="1400"/>
                        <a:t>պարբերաբար </a:t>
                      </a:r>
                      <a:endParaRPr sz="1800"/>
                    </a:p>
                  </a:txBody>
                  <a:tcPr marT="0" marB="0" marR="0" marL="0" anchor="ctr"/>
                </a:tc>
                <a:tc hMerge="1"/>
                <a:tc gridSpan="2">
                  <a:txBody>
                    <a:bodyPr/>
                    <a:lstStyle/>
                    <a:p>
                      <a:pPr indent="0" lvl="0" marL="0" marR="0" rtl="0" algn="l">
                        <a:spcBef>
                          <a:spcPts val="0"/>
                        </a:spcBef>
                        <a:spcAft>
                          <a:spcPts val="0"/>
                        </a:spcAft>
                        <a:buNone/>
                      </a:pPr>
                      <a:r>
                        <a:rPr lang="en-US" sz="1400"/>
                        <a:t>80-90% </a:t>
                      </a:r>
                      <a:endParaRPr sz="1800"/>
                    </a:p>
                  </a:txBody>
                  <a:tcPr marT="0" marB="0" marR="0" marL="0" anchor="ctr"/>
                </a:tc>
                <a:tc hMerge="1"/>
                <a:tc>
                  <a:txBody>
                    <a:bodyPr/>
                    <a:lstStyle/>
                    <a:p>
                      <a:pPr indent="0" lvl="0" marL="0" marR="0" rtl="0" algn="l">
                        <a:spcBef>
                          <a:spcPts val="0"/>
                        </a:spcBef>
                        <a:spcAft>
                          <a:spcPts val="0"/>
                        </a:spcAft>
                        <a:buNone/>
                      </a:pPr>
                      <a:r>
                        <a:t/>
                      </a:r>
                      <a:endParaRPr sz="1400">
                        <a:latin typeface="Merriweather"/>
                        <a:ea typeface="Merriweather"/>
                        <a:cs typeface="Merriweather"/>
                        <a:sym typeface="Merriweather"/>
                      </a:endParaRPr>
                    </a:p>
                  </a:txBody>
                  <a:tcPr marT="0" marB="0" marR="0" marL="0" anchor="ctr"/>
                </a:tc>
              </a:tr>
              <a:tr h="474600">
                <a:tc>
                  <a:txBody>
                    <a:bodyPr/>
                    <a:lstStyle/>
                    <a:p>
                      <a:pPr indent="0" lvl="0" marL="0" marR="0" rtl="0" algn="l">
                        <a:spcBef>
                          <a:spcPts val="0"/>
                        </a:spcBef>
                        <a:spcAft>
                          <a:spcPts val="0"/>
                        </a:spcAft>
                        <a:buNone/>
                      </a:pPr>
                      <a:r>
                        <a:rPr lang="en-US" sz="1400"/>
                        <a:t>3. Նախագծային աշխատանքներ համայնքային կարիքների վերաբերյալ</a:t>
                      </a:r>
                      <a:endParaRPr sz="1400"/>
                    </a:p>
                  </a:txBody>
                  <a:tcPr marT="0" marB="0" marR="0" marL="0" anchor="ctr"/>
                </a:tc>
                <a:tc gridSpan="2">
                  <a:txBody>
                    <a:bodyPr/>
                    <a:lstStyle/>
                    <a:p>
                      <a:pPr indent="0" lvl="0" marL="0" marR="0" rtl="0" algn="l">
                        <a:spcBef>
                          <a:spcPts val="0"/>
                        </a:spcBef>
                        <a:spcAft>
                          <a:spcPts val="0"/>
                        </a:spcAft>
                        <a:buNone/>
                      </a:pPr>
                      <a:r>
                        <a:rPr lang="en-US" sz="1400"/>
                        <a:t>ամենամյա</a:t>
                      </a:r>
                      <a:endParaRPr sz="1400"/>
                    </a:p>
                  </a:txBody>
                  <a:tcPr marT="0" marB="0" marR="0" marL="0" anchor="ctr"/>
                </a:tc>
                <a:tc hMerge="1"/>
                <a:tc gridSpan="2">
                  <a:txBody>
                    <a:bodyPr/>
                    <a:lstStyle/>
                    <a:p>
                      <a:pPr indent="0" lvl="0" marL="0" marR="0" rtl="0" algn="l">
                        <a:spcBef>
                          <a:spcPts val="0"/>
                        </a:spcBef>
                        <a:spcAft>
                          <a:spcPts val="0"/>
                        </a:spcAft>
                        <a:buNone/>
                      </a:pPr>
                      <a:r>
                        <a:rPr lang="en-US" sz="1200"/>
                        <a:t>60-70%</a:t>
                      </a:r>
                      <a:endParaRPr sz="1200"/>
                    </a:p>
                  </a:txBody>
                  <a:tcPr marT="0" marB="0" marR="0" marL="0" anchor="ctr"/>
                </a:tc>
                <a:tc hMerge="1"/>
                <a:tc>
                  <a:txBody>
                    <a:bodyPr/>
                    <a:lstStyle/>
                    <a:p>
                      <a:pPr indent="0" lvl="0" marL="0" marR="0" rtl="0" algn="l">
                        <a:spcBef>
                          <a:spcPts val="0"/>
                        </a:spcBef>
                        <a:spcAft>
                          <a:spcPts val="0"/>
                        </a:spcAft>
                        <a:buNone/>
                      </a:pPr>
                      <a:r>
                        <a:t/>
                      </a:r>
                      <a:endParaRPr sz="1400">
                        <a:latin typeface="Merriweather"/>
                        <a:ea typeface="Merriweather"/>
                        <a:cs typeface="Merriweather"/>
                        <a:sym typeface="Merriweather"/>
                      </a:endParaRPr>
                    </a:p>
                  </a:txBody>
                  <a:tcPr marT="0" marB="0" marR="0" marL="0" anchor="ct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graphicFrame>
        <p:nvGraphicFramePr>
          <p:cNvPr id="650" name="Google Shape;650;p85"/>
          <p:cNvGraphicFramePr/>
          <p:nvPr/>
        </p:nvGraphicFramePr>
        <p:xfrm>
          <a:off x="351420" y="452040"/>
          <a:ext cx="3000000" cy="3000000"/>
        </p:xfrm>
        <a:graphic>
          <a:graphicData uri="http://schemas.openxmlformats.org/drawingml/2006/table">
            <a:tbl>
              <a:tblPr>
                <a:noFill/>
                <a:tableStyleId>{40B977D2-3903-41EF-8714-5AC59086702B}</a:tableStyleId>
              </a:tblPr>
              <a:tblGrid>
                <a:gridCol w="4215800"/>
                <a:gridCol w="304525"/>
                <a:gridCol w="304525"/>
                <a:gridCol w="713725"/>
                <a:gridCol w="485350"/>
                <a:gridCol w="304525"/>
                <a:gridCol w="1624150"/>
                <a:gridCol w="304525"/>
                <a:gridCol w="304525"/>
                <a:gridCol w="2068250"/>
              </a:tblGrid>
              <a:tr h="81650">
                <a:tc gridSpan="10">
                  <a:txBody>
                    <a:bodyPr/>
                    <a:lstStyle/>
                    <a:p>
                      <a:pPr indent="0" lvl="0" marL="0" marR="0" rtl="0" algn="l">
                        <a:lnSpc>
                          <a:spcPct val="114999"/>
                        </a:lnSpc>
                        <a:spcBef>
                          <a:spcPts val="0"/>
                        </a:spcBef>
                        <a:spcAft>
                          <a:spcPts val="0"/>
                        </a:spcAft>
                        <a:buNone/>
                      </a:pPr>
                      <a:r>
                        <a:rPr lang="en-US" sz="1400"/>
                        <a:t>Ուսումնական հաստատության կողմից համայնքի բնակիչների համար կազմակերպված միջոցառումները. </a:t>
                      </a:r>
                      <a:endParaRPr/>
                    </a:p>
                  </a:txBody>
                  <a:tcPr marT="0" marB="0" marR="0" marL="0" anchor="ctr"/>
                </a:tc>
                <a:tc hMerge="1"/>
                <a:tc hMerge="1"/>
                <a:tc hMerge="1"/>
                <a:tc hMerge="1"/>
                <a:tc hMerge="1"/>
                <a:tc hMerge="1"/>
                <a:tc hMerge="1"/>
                <a:tc hMerge="1"/>
                <a:tc hMerge="1"/>
              </a:tr>
              <a:tr h="244975">
                <a:tc gridSpan="2">
                  <a:txBody>
                    <a:bodyPr/>
                    <a:lstStyle/>
                    <a:p>
                      <a:pPr indent="0" lvl="0" marL="0" marR="0" rtl="0" algn="l">
                        <a:lnSpc>
                          <a:spcPct val="114999"/>
                        </a:lnSpc>
                        <a:spcBef>
                          <a:spcPts val="0"/>
                        </a:spcBef>
                        <a:spcAft>
                          <a:spcPts val="0"/>
                        </a:spcAft>
                        <a:buNone/>
                      </a:pPr>
                      <a:r>
                        <a:rPr lang="en-US" sz="1400"/>
                        <a:t>Նկարագրել վերջին 3 տարում հաստատության կողմից համայնքի բնակիչների համար կազմակերպված միջոցառումները, նշել դրանց թիվը </a:t>
                      </a:r>
                      <a:endParaRPr/>
                    </a:p>
                  </a:txBody>
                  <a:tcPr marT="0" marB="0" marR="0" marL="0" anchor="ctr"/>
                </a:tc>
                <a:tc hMerge="1"/>
                <a:tc gridSpan="2">
                  <a:txBody>
                    <a:bodyPr/>
                    <a:lstStyle/>
                    <a:p>
                      <a:pPr indent="0" lvl="0" marL="0" marR="0" rtl="0" algn="l">
                        <a:lnSpc>
                          <a:spcPct val="114999"/>
                        </a:lnSpc>
                        <a:spcBef>
                          <a:spcPts val="0"/>
                        </a:spcBef>
                        <a:spcAft>
                          <a:spcPts val="0"/>
                        </a:spcAft>
                        <a:buNone/>
                      </a:pPr>
                      <a:r>
                        <a:rPr lang="en-US" sz="1400"/>
                        <a:t>Ամսաթիվ </a:t>
                      </a:r>
                      <a:endParaRPr/>
                    </a:p>
                  </a:txBody>
                  <a:tcPr marT="0" marB="0" marR="0" marL="0" anchor="ctr"/>
                </a:tc>
                <a:tc hMerge="1"/>
                <a:tc gridSpan="4">
                  <a:txBody>
                    <a:bodyPr/>
                    <a:lstStyle/>
                    <a:p>
                      <a:pPr indent="0" lvl="0" marL="0" marR="0" rtl="0" algn="l">
                        <a:lnSpc>
                          <a:spcPct val="114999"/>
                        </a:lnSpc>
                        <a:spcBef>
                          <a:spcPts val="0"/>
                        </a:spcBef>
                        <a:spcAft>
                          <a:spcPts val="0"/>
                        </a:spcAft>
                        <a:buNone/>
                      </a:pPr>
                      <a:r>
                        <a:rPr lang="en-US" sz="1400"/>
                        <a:t>Մասնակից սովորողների ու աշխատողների տոկոսը և համայնքի բնակիչների թիվը </a:t>
                      </a:r>
                      <a:endParaRPr/>
                    </a:p>
                  </a:txBody>
                  <a:tcPr marT="0" marB="0" marR="0" marL="0" anchor="ctr"/>
                </a:tc>
                <a:tc hMerge="1"/>
                <a:tc hMerge="1"/>
                <a:tc hMerge="1"/>
                <a:tc gridSpan="2">
                  <a:txBody>
                    <a:bodyPr/>
                    <a:lstStyle/>
                    <a:p>
                      <a:pPr indent="0" lvl="0" marL="0" marR="0" rtl="0" algn="l">
                        <a:lnSpc>
                          <a:spcPct val="114999"/>
                        </a:lnSpc>
                        <a:spcBef>
                          <a:spcPts val="0"/>
                        </a:spcBef>
                        <a:spcAft>
                          <a:spcPts val="0"/>
                        </a:spcAft>
                        <a:buNone/>
                      </a:pPr>
                      <a:r>
                        <a:rPr lang="en-US" sz="1400"/>
                        <a:t>Մեկնաբանություն </a:t>
                      </a:r>
                      <a:endParaRPr/>
                    </a:p>
                  </a:txBody>
                  <a:tcPr marT="0" marB="0" marR="0" marL="0" anchor="ctr"/>
                </a:tc>
                <a:tc hMerge="1"/>
              </a:tr>
              <a:tr h="204100">
                <a:tc gridSpan="2">
                  <a:txBody>
                    <a:bodyPr/>
                    <a:lstStyle/>
                    <a:p>
                      <a:pPr indent="0" lvl="0" marL="0" marR="0" rtl="0" algn="l">
                        <a:lnSpc>
                          <a:spcPct val="114999"/>
                        </a:lnSpc>
                        <a:spcBef>
                          <a:spcPts val="0"/>
                        </a:spcBef>
                        <a:spcAft>
                          <a:spcPts val="0"/>
                        </a:spcAft>
                        <a:buNone/>
                      </a:pPr>
                      <a:r>
                        <a:rPr lang="en-US" sz="1400"/>
                        <a:t>1.Ամանորյա տոնակատարություն </a:t>
                      </a:r>
                      <a:endParaRPr/>
                    </a:p>
                  </a:txBody>
                  <a:tcPr marT="0" marB="0" marR="0" marL="0" anchor="ctr"/>
                </a:tc>
                <a:tc hMerge="1"/>
                <a:tc gridSpan="2">
                  <a:txBody>
                    <a:bodyPr/>
                    <a:lstStyle/>
                    <a:p>
                      <a:pPr indent="0" lvl="0" marL="0" marR="0" rtl="0" algn="l">
                        <a:lnSpc>
                          <a:spcPct val="114999"/>
                        </a:lnSpc>
                        <a:spcBef>
                          <a:spcPts val="0"/>
                        </a:spcBef>
                        <a:spcAft>
                          <a:spcPts val="0"/>
                        </a:spcAft>
                        <a:buNone/>
                      </a:pPr>
                      <a:r>
                        <a:rPr lang="en-US" sz="1400"/>
                        <a:t>ամենամյա </a:t>
                      </a:r>
                      <a:endParaRPr/>
                    </a:p>
                  </a:txBody>
                  <a:tcPr marT="0" marB="0" marR="0" marL="0" anchor="ctr"/>
                </a:tc>
                <a:tc hMerge="1"/>
                <a:tc gridSpan="4">
                  <a:txBody>
                    <a:bodyPr/>
                    <a:lstStyle/>
                    <a:p>
                      <a:pPr indent="0" lvl="0" marL="0" marR="0" rtl="0" algn="l">
                        <a:lnSpc>
                          <a:spcPct val="114999"/>
                        </a:lnSpc>
                        <a:spcBef>
                          <a:spcPts val="0"/>
                        </a:spcBef>
                        <a:spcAft>
                          <a:spcPts val="0"/>
                        </a:spcAft>
                        <a:buNone/>
                      </a:pPr>
                      <a:r>
                        <a:rPr lang="en-US" sz="1200"/>
                        <a:t>   90</a:t>
                      </a:r>
                      <a:r>
                        <a:rPr lang="en-US" sz="1400"/>
                        <a:t>%  , 130-150 բնակիչ </a:t>
                      </a:r>
                      <a:endParaRPr/>
                    </a:p>
                  </a:txBody>
                  <a:tcPr marT="0" marB="0" marR="0" marL="0" anchor="ctr"/>
                </a:tc>
                <a:tc hMerge="1"/>
                <a:tc hMerge="1"/>
                <a:tc hMerge="1"/>
                <a:tc gridSpan="2">
                  <a:txBody>
                    <a:bodyPr/>
                    <a:lstStyle/>
                    <a:p>
                      <a:pPr indent="0" lvl="0" marL="0" marR="0" rtl="0" algn="l">
                        <a:lnSpc>
                          <a:spcPct val="114999"/>
                        </a:lnSpc>
                        <a:spcBef>
                          <a:spcPts val="0"/>
                        </a:spcBef>
                        <a:spcAft>
                          <a:spcPts val="0"/>
                        </a:spcAft>
                        <a:buNone/>
                      </a:pPr>
                      <a:r>
                        <a:rPr lang="en-US" sz="1400"/>
                        <a:t>Համատեղ միջոցառման անցկացում </a:t>
                      </a:r>
                      <a:endParaRPr/>
                    </a:p>
                  </a:txBody>
                  <a:tcPr marT="0" marB="0" marR="0" marL="0" anchor="ctr"/>
                </a:tc>
                <a:tc hMerge="1"/>
              </a:tr>
              <a:tr h="122425">
                <a:tc gridSpan="2">
                  <a:txBody>
                    <a:bodyPr/>
                    <a:lstStyle/>
                    <a:p>
                      <a:pPr indent="0" lvl="0" marL="0" marR="0" rtl="0" algn="l">
                        <a:lnSpc>
                          <a:spcPct val="114999"/>
                        </a:lnSpc>
                        <a:spcBef>
                          <a:spcPts val="0"/>
                        </a:spcBef>
                        <a:spcAft>
                          <a:spcPts val="0"/>
                        </a:spcAft>
                        <a:buNone/>
                      </a:pPr>
                      <a:r>
                        <a:rPr lang="en-US" sz="1400"/>
                        <a:t>2. Տեառնընդառաջ </a:t>
                      </a:r>
                      <a:endParaRPr/>
                    </a:p>
                  </a:txBody>
                  <a:tcPr marT="0" marB="0" marR="0" marL="0" anchor="ctr"/>
                </a:tc>
                <a:tc hMerge="1"/>
                <a:tc gridSpan="2">
                  <a:txBody>
                    <a:bodyPr/>
                    <a:lstStyle/>
                    <a:p>
                      <a:pPr indent="0" lvl="0" marL="0" marR="0" rtl="0" algn="l">
                        <a:lnSpc>
                          <a:spcPct val="114999"/>
                        </a:lnSpc>
                        <a:spcBef>
                          <a:spcPts val="0"/>
                        </a:spcBef>
                        <a:spcAft>
                          <a:spcPts val="0"/>
                        </a:spcAft>
                        <a:buNone/>
                      </a:pPr>
                      <a:r>
                        <a:rPr lang="en-US" sz="1400"/>
                        <a:t>ամենամյա </a:t>
                      </a:r>
                      <a:endParaRPr/>
                    </a:p>
                  </a:txBody>
                  <a:tcPr marT="0" marB="0" marR="0" marL="0" anchor="ctr"/>
                </a:tc>
                <a:tc hMerge="1"/>
                <a:tc gridSpan="4">
                  <a:txBody>
                    <a:bodyPr/>
                    <a:lstStyle/>
                    <a:p>
                      <a:pPr indent="0" lvl="0" marL="0" marR="0" rtl="0" algn="l">
                        <a:lnSpc>
                          <a:spcPct val="114999"/>
                        </a:lnSpc>
                        <a:spcBef>
                          <a:spcPts val="0"/>
                        </a:spcBef>
                        <a:spcAft>
                          <a:spcPts val="0"/>
                        </a:spcAft>
                        <a:buNone/>
                      </a:pPr>
                      <a:r>
                        <a:rPr lang="en-US" sz="1200"/>
                        <a:t>   </a:t>
                      </a:r>
                      <a:r>
                        <a:rPr lang="en-US" sz="1400"/>
                        <a:t>90%,  170-200 բնակիչ </a:t>
                      </a:r>
                      <a:endParaRPr/>
                    </a:p>
                  </a:txBody>
                  <a:tcPr marT="0" marB="0" marR="0" marL="0" anchor="ctr"/>
                </a:tc>
                <a:tc hMerge="1"/>
                <a:tc hMerge="1"/>
                <a:tc hMerge="1"/>
                <a:tc gridSpan="2">
                  <a:txBody>
                    <a:bodyPr/>
                    <a:lstStyle/>
                    <a:p>
                      <a:pPr indent="0" lvl="0" marL="0" marR="0" rtl="0" algn="l">
                        <a:lnSpc>
                          <a:spcPct val="114999"/>
                        </a:lnSpc>
                        <a:spcBef>
                          <a:spcPts val="0"/>
                        </a:spcBef>
                        <a:spcAft>
                          <a:spcPts val="0"/>
                        </a:spcAft>
                        <a:buNone/>
                      </a:pPr>
                      <a:r>
                        <a:rPr lang="en-US" sz="1400"/>
                        <a:t>Համատեղ միջոցառման անցկացում </a:t>
                      </a:r>
                      <a:endParaRPr/>
                    </a:p>
                  </a:txBody>
                  <a:tcPr marT="0" marB="0" marR="0" marL="0" anchor="ctr"/>
                </a:tc>
                <a:tc hMerge="1"/>
              </a:tr>
              <a:tr h="40775">
                <a:tc gridSpan="2">
                  <a:txBody>
                    <a:bodyPr/>
                    <a:lstStyle/>
                    <a:p>
                      <a:pPr indent="0" lvl="0" marL="0" marR="0" rtl="0" algn="l">
                        <a:lnSpc>
                          <a:spcPct val="114999"/>
                        </a:lnSpc>
                        <a:spcBef>
                          <a:spcPts val="0"/>
                        </a:spcBef>
                        <a:spcAft>
                          <a:spcPts val="0"/>
                        </a:spcAft>
                        <a:buNone/>
                      </a:pPr>
                      <a:r>
                        <a:rPr lang="en-US" sz="1400"/>
                        <a:t>3.</a:t>
                      </a:r>
                      <a:r>
                        <a:rPr lang="en-US" sz="1400"/>
                        <a:t> «Սուրբ Հարության» </a:t>
                      </a:r>
                      <a:r>
                        <a:rPr lang="en-US" sz="1400"/>
                        <a:t>տոն </a:t>
                      </a:r>
                      <a:endParaRPr sz="1400"/>
                    </a:p>
                  </a:txBody>
                  <a:tcPr marT="0" marB="0" marR="0" marL="0" anchor="ctr"/>
                </a:tc>
                <a:tc hMerge="1"/>
                <a:tc gridSpan="2">
                  <a:txBody>
                    <a:bodyPr/>
                    <a:lstStyle/>
                    <a:p>
                      <a:pPr indent="0" lvl="0" marL="0" marR="0" rtl="0" algn="l">
                        <a:lnSpc>
                          <a:spcPct val="114999"/>
                        </a:lnSpc>
                        <a:spcBef>
                          <a:spcPts val="0"/>
                        </a:spcBef>
                        <a:spcAft>
                          <a:spcPts val="0"/>
                        </a:spcAft>
                        <a:buNone/>
                      </a:pPr>
                      <a:r>
                        <a:rPr lang="en-US" sz="1400"/>
                        <a:t>ամենամյա </a:t>
                      </a:r>
                      <a:endParaRPr/>
                    </a:p>
                  </a:txBody>
                  <a:tcPr marT="0" marB="0" marR="0" marL="0" anchor="ctr"/>
                </a:tc>
                <a:tc hMerge="1"/>
                <a:tc gridSpan="4">
                  <a:txBody>
                    <a:bodyPr/>
                    <a:lstStyle/>
                    <a:p>
                      <a:pPr indent="0" lvl="0" marL="0" marR="0" rtl="0" algn="l">
                        <a:lnSpc>
                          <a:spcPct val="114999"/>
                        </a:lnSpc>
                        <a:spcBef>
                          <a:spcPts val="0"/>
                        </a:spcBef>
                        <a:spcAft>
                          <a:spcPts val="0"/>
                        </a:spcAft>
                        <a:buNone/>
                      </a:pPr>
                      <a:r>
                        <a:rPr lang="en-US" sz="1200"/>
                        <a:t>    </a:t>
                      </a:r>
                      <a:r>
                        <a:rPr lang="en-US" sz="1400"/>
                        <a:t>78 %,  85-120 բնակիչ </a:t>
                      </a:r>
                      <a:endParaRPr/>
                    </a:p>
                  </a:txBody>
                  <a:tcPr marT="0" marB="0" marR="0" marL="0" anchor="ctr"/>
                </a:tc>
                <a:tc hMerge="1"/>
                <a:tc hMerge="1"/>
                <a:tc hMerge="1"/>
                <a:tc gridSpan="2">
                  <a:txBody>
                    <a:bodyPr/>
                    <a:lstStyle/>
                    <a:p>
                      <a:pPr indent="0" lvl="0" marL="0" marR="0" rtl="0" algn="l">
                        <a:lnSpc>
                          <a:spcPct val="114999"/>
                        </a:lnSpc>
                        <a:spcBef>
                          <a:spcPts val="0"/>
                        </a:spcBef>
                        <a:spcAft>
                          <a:spcPts val="0"/>
                        </a:spcAft>
                        <a:buNone/>
                      </a:pPr>
                      <a:r>
                        <a:rPr lang="en-US" sz="1400"/>
                        <a:t>Համատեղ միջոցառման անցկացում </a:t>
                      </a:r>
                      <a:endParaRPr/>
                    </a:p>
                  </a:txBody>
                  <a:tcPr marT="0" marB="0" marR="0" marL="0" anchor="ctr"/>
                </a:tc>
                <a:tc hMerge="1"/>
              </a:tr>
              <a:tr h="122425">
                <a:tc gridSpan="2">
                  <a:txBody>
                    <a:bodyPr/>
                    <a:lstStyle/>
                    <a:p>
                      <a:pPr indent="0" lvl="0" marL="0" marR="0" rtl="0" algn="l">
                        <a:lnSpc>
                          <a:spcPct val="114999"/>
                        </a:lnSpc>
                        <a:spcBef>
                          <a:spcPts val="0"/>
                        </a:spcBef>
                        <a:spcAft>
                          <a:spcPts val="0"/>
                        </a:spcAft>
                        <a:buNone/>
                      </a:pPr>
                      <a:r>
                        <a:rPr lang="en-US" sz="1400"/>
                        <a:t>4. Շնորհավորական բացիկների նվիրում`կանանց միամսյակի միջոցառումների շրջանակներում </a:t>
                      </a:r>
                      <a:endParaRPr/>
                    </a:p>
                  </a:txBody>
                  <a:tcPr marT="0" marB="0" marR="0" marL="0" anchor="ctr"/>
                </a:tc>
                <a:tc hMerge="1"/>
                <a:tc gridSpan="2">
                  <a:txBody>
                    <a:bodyPr/>
                    <a:lstStyle/>
                    <a:p>
                      <a:pPr indent="0" lvl="0" marL="0" marR="0" rtl="0" algn="l">
                        <a:lnSpc>
                          <a:spcPct val="114999"/>
                        </a:lnSpc>
                        <a:spcBef>
                          <a:spcPts val="0"/>
                        </a:spcBef>
                        <a:spcAft>
                          <a:spcPts val="0"/>
                        </a:spcAft>
                        <a:buNone/>
                      </a:pPr>
                      <a:r>
                        <a:rPr lang="en-US" sz="1400"/>
                        <a:t>ամենամյա </a:t>
                      </a:r>
                      <a:endParaRPr/>
                    </a:p>
                  </a:txBody>
                  <a:tcPr marT="0" marB="0" marR="0" marL="0" anchor="ctr"/>
                </a:tc>
                <a:tc hMerge="1"/>
                <a:tc gridSpan="4">
                  <a:txBody>
                    <a:bodyPr/>
                    <a:lstStyle/>
                    <a:p>
                      <a:pPr indent="0" lvl="0" marL="0" marR="0" rtl="0" algn="l">
                        <a:lnSpc>
                          <a:spcPct val="114999"/>
                        </a:lnSpc>
                        <a:spcBef>
                          <a:spcPts val="0"/>
                        </a:spcBef>
                        <a:spcAft>
                          <a:spcPts val="0"/>
                        </a:spcAft>
                        <a:buNone/>
                      </a:pPr>
                      <a:r>
                        <a:rPr lang="en-US" sz="1200"/>
                        <a:t>    </a:t>
                      </a:r>
                      <a:r>
                        <a:rPr lang="en-US" sz="1400"/>
                        <a:t>70 %,  100 բնակիչ </a:t>
                      </a:r>
                      <a:endParaRPr/>
                    </a:p>
                  </a:txBody>
                  <a:tcPr marT="0" marB="0" marR="0" marL="0" anchor="ctr"/>
                </a:tc>
                <a:tc hMerge="1"/>
                <a:tc hMerge="1"/>
                <a:tc hMerge="1"/>
                <a:tc gridSpan="2">
                  <a:txBody>
                    <a:bodyPr/>
                    <a:lstStyle/>
                    <a:p>
                      <a:pPr indent="0" lvl="0" marL="0" marR="0" rtl="0" algn="l">
                        <a:lnSpc>
                          <a:spcPct val="114999"/>
                        </a:lnSpc>
                        <a:spcBef>
                          <a:spcPts val="0"/>
                        </a:spcBef>
                        <a:spcAft>
                          <a:spcPts val="0"/>
                        </a:spcAft>
                        <a:buNone/>
                      </a:pPr>
                      <a:r>
                        <a:rPr lang="en-US" sz="1400"/>
                        <a:t>ԱԽ նախաձեռնությամբ </a:t>
                      </a:r>
                      <a:endParaRPr/>
                    </a:p>
                  </a:txBody>
                  <a:tcPr marT="0" marB="0" marR="0" marL="0" anchor="ctr"/>
                </a:tc>
                <a:tc hMerge="1"/>
              </a:tr>
              <a:tr h="81650">
                <a:tc gridSpan="10">
                  <a:txBody>
                    <a:bodyPr/>
                    <a:lstStyle/>
                    <a:p>
                      <a:pPr indent="0" lvl="0" marL="0" marR="0" rtl="0" algn="l">
                        <a:lnSpc>
                          <a:spcPct val="114999"/>
                        </a:lnSpc>
                        <a:spcBef>
                          <a:spcPts val="0"/>
                        </a:spcBef>
                        <a:spcAft>
                          <a:spcPts val="0"/>
                        </a:spcAft>
                        <a:buNone/>
                      </a:pPr>
                      <a:r>
                        <a:rPr lang="en-US" sz="1400"/>
                        <a:t>Համայնքի բնակիչները օգտվում են հաստատության մարզադահլիճից, ինտերնետից, գրադարանից և այլ հնարավորություններից </a:t>
                      </a:r>
                      <a:endParaRPr/>
                    </a:p>
                  </a:txBody>
                  <a:tcPr marT="0" marB="0" marR="0" marL="0" anchor="ctr"/>
                </a:tc>
                <a:tc hMerge="1"/>
                <a:tc hMerge="1"/>
                <a:tc hMerge="1"/>
                <a:tc hMerge="1"/>
                <a:tc hMerge="1"/>
                <a:tc hMerge="1"/>
                <a:tc hMerge="1"/>
                <a:tc hMerge="1"/>
                <a:tc hMerge="1"/>
              </a:tr>
              <a:tr h="367400">
                <a:tc>
                  <a:txBody>
                    <a:bodyPr/>
                    <a:lstStyle/>
                    <a:p>
                      <a:pPr indent="0" lvl="0" marL="0" marR="0" rtl="0" algn="l">
                        <a:lnSpc>
                          <a:spcPct val="114999"/>
                        </a:lnSpc>
                        <a:spcBef>
                          <a:spcPts val="0"/>
                        </a:spcBef>
                        <a:spcAft>
                          <a:spcPts val="0"/>
                        </a:spcAft>
                        <a:buNone/>
                      </a:pPr>
                      <a:r>
                        <a:rPr lang="en-US" sz="1400"/>
                        <a:t>Նկարագրել, թե հաստատության ինչպիսի ծառայություններից են օգտվում համայնքի բնակիչները </a:t>
                      </a:r>
                      <a:endParaRPr/>
                    </a:p>
                  </a:txBody>
                  <a:tcPr marT="0" marB="0" marR="0" marL="0" anchor="ctr"/>
                </a:tc>
                <a:tc gridSpan="5">
                  <a:txBody>
                    <a:bodyPr/>
                    <a:lstStyle/>
                    <a:p>
                      <a:pPr indent="0" lvl="0" marL="0" marR="0" rtl="0" algn="l">
                        <a:lnSpc>
                          <a:spcPct val="114999"/>
                        </a:lnSpc>
                        <a:spcBef>
                          <a:spcPts val="0"/>
                        </a:spcBef>
                        <a:spcAft>
                          <a:spcPts val="0"/>
                        </a:spcAft>
                        <a:buNone/>
                      </a:pPr>
                      <a:r>
                        <a:rPr lang="en-US" sz="1400"/>
                        <a:t>Հաճախականությունը՝ ամսական կամ տարեկան կտրվածքով </a:t>
                      </a:r>
                      <a:endParaRPr/>
                    </a:p>
                  </a:txBody>
                  <a:tcPr marT="0" marB="0" marR="0" marL="0" anchor="ctr"/>
                </a:tc>
                <a:tc hMerge="1"/>
                <a:tc hMerge="1"/>
                <a:tc hMerge="1"/>
                <a:tc hMerge="1"/>
                <a:tc>
                  <a:txBody>
                    <a:bodyPr/>
                    <a:lstStyle/>
                    <a:p>
                      <a:pPr indent="0" lvl="0" marL="0" marR="0" rtl="0" algn="l">
                        <a:lnSpc>
                          <a:spcPct val="114999"/>
                        </a:lnSpc>
                        <a:spcBef>
                          <a:spcPts val="0"/>
                        </a:spcBef>
                        <a:spcAft>
                          <a:spcPts val="0"/>
                        </a:spcAft>
                        <a:buNone/>
                      </a:pPr>
                      <a:r>
                        <a:rPr lang="en-US" sz="1400"/>
                        <a:t>Օգտվող բնակիչների թիվը </a:t>
                      </a:r>
                      <a:endParaRPr/>
                    </a:p>
                  </a:txBody>
                  <a:tcPr marT="0" marB="0" marR="0" marL="0" anchor="ctr"/>
                </a:tc>
                <a:tc gridSpan="3">
                  <a:txBody>
                    <a:bodyPr/>
                    <a:lstStyle/>
                    <a:p>
                      <a:pPr indent="0" lvl="0" marL="0" marR="0" rtl="0" algn="l">
                        <a:lnSpc>
                          <a:spcPct val="114999"/>
                        </a:lnSpc>
                        <a:spcBef>
                          <a:spcPts val="0"/>
                        </a:spcBef>
                        <a:spcAft>
                          <a:spcPts val="0"/>
                        </a:spcAft>
                        <a:buNone/>
                      </a:pPr>
                      <a:r>
                        <a:rPr lang="en-US" sz="1400"/>
                        <a:t>Մեկնաբանություն </a:t>
                      </a:r>
                      <a:endParaRPr/>
                    </a:p>
                  </a:txBody>
                  <a:tcPr marT="0" marB="0" marR="0" marL="0" anchor="ctr"/>
                </a:tc>
                <a:tc hMerge="1"/>
                <a:tc hMerge="1"/>
              </a:tr>
              <a:tr h="81650">
                <a:tc>
                  <a:txBody>
                    <a:bodyPr/>
                    <a:lstStyle/>
                    <a:p>
                      <a:pPr indent="0" lvl="0" marL="0" marR="0" rtl="0" algn="l">
                        <a:lnSpc>
                          <a:spcPct val="114999"/>
                        </a:lnSpc>
                        <a:spcBef>
                          <a:spcPts val="0"/>
                        </a:spcBef>
                        <a:spcAft>
                          <a:spcPts val="0"/>
                        </a:spcAft>
                        <a:buNone/>
                      </a:pPr>
                      <a:r>
                        <a:rPr lang="en-US" sz="1400"/>
                        <a:t>Սպորտ հրապարակ </a:t>
                      </a:r>
                      <a:endParaRPr/>
                    </a:p>
                  </a:txBody>
                  <a:tcPr marT="0" marB="0" marR="0" marL="0" anchor="ctr"/>
                </a:tc>
                <a:tc gridSpan="5">
                  <a:txBody>
                    <a:bodyPr/>
                    <a:lstStyle/>
                    <a:p>
                      <a:pPr indent="0" lvl="0" marL="0" marR="0" rtl="0" algn="l">
                        <a:lnSpc>
                          <a:spcPct val="114999"/>
                        </a:lnSpc>
                        <a:spcBef>
                          <a:spcPts val="0"/>
                        </a:spcBef>
                        <a:spcAft>
                          <a:spcPts val="0"/>
                        </a:spcAft>
                        <a:buNone/>
                      </a:pPr>
                      <a:r>
                        <a:rPr lang="en-US" sz="1200"/>
                        <a:t> </a:t>
                      </a:r>
                      <a:r>
                        <a:rPr lang="en-US" sz="1400"/>
                        <a:t>2 անգամ </a:t>
                      </a:r>
                      <a:endParaRPr/>
                    </a:p>
                  </a:txBody>
                  <a:tcPr marT="0" marB="0" marR="0" marL="0" anchor="ctr"/>
                </a:tc>
                <a:tc hMerge="1"/>
                <a:tc hMerge="1"/>
                <a:tc hMerge="1"/>
                <a:tc hMerge="1"/>
                <a:tc>
                  <a:txBody>
                    <a:bodyPr/>
                    <a:lstStyle/>
                    <a:p>
                      <a:pPr indent="0" lvl="0" marL="0" marR="0" rtl="0" algn="l">
                        <a:lnSpc>
                          <a:spcPct val="114999"/>
                        </a:lnSpc>
                        <a:spcBef>
                          <a:spcPts val="0"/>
                        </a:spcBef>
                        <a:spcAft>
                          <a:spcPts val="0"/>
                        </a:spcAft>
                        <a:buNone/>
                      </a:pPr>
                      <a:r>
                        <a:rPr lang="en-US" sz="1200"/>
                        <a:t>          </a:t>
                      </a:r>
                      <a:r>
                        <a:rPr lang="en-US" sz="1400"/>
                        <a:t>40-50 </a:t>
                      </a:r>
                      <a:endParaRPr sz="1400"/>
                    </a:p>
                  </a:txBody>
                  <a:tcPr marT="0" marB="0" marR="0" marL="0" anchor="ctr"/>
                </a:tc>
                <a:tc gridSpan="3">
                  <a:txBody>
                    <a:bodyPr/>
                    <a:lstStyle/>
                    <a:p>
                      <a:pPr indent="0" lvl="0" marL="0" marR="0" rtl="0" algn="l">
                        <a:lnSpc>
                          <a:spcPct val="114999"/>
                        </a:lnSpc>
                        <a:spcBef>
                          <a:spcPts val="0"/>
                        </a:spcBef>
                        <a:spcAft>
                          <a:spcPts val="0"/>
                        </a:spcAft>
                        <a:buNone/>
                      </a:pPr>
                      <a:r>
                        <a:rPr lang="en-US" sz="1400"/>
                        <a:t>Սպորտային մրցումների կազմակերպում համայնքի կողմից </a:t>
                      </a:r>
                      <a:endParaRPr/>
                    </a:p>
                  </a:txBody>
                  <a:tcPr marT="0" marB="0" marR="0" marL="0" anchor="ctr"/>
                </a:tc>
                <a:tc hMerge="1"/>
                <a:tc hMerge="1"/>
              </a:tr>
              <a:tr h="40775">
                <a:tc>
                  <a:txBody>
                    <a:bodyPr/>
                    <a:lstStyle/>
                    <a:p>
                      <a:pPr indent="0" lvl="0" marL="0" marR="0" rtl="0" algn="l">
                        <a:lnSpc>
                          <a:spcPct val="114999"/>
                        </a:lnSpc>
                        <a:spcBef>
                          <a:spcPts val="0"/>
                        </a:spcBef>
                        <a:spcAft>
                          <a:spcPts val="0"/>
                        </a:spcAft>
                        <a:buNone/>
                      </a:pPr>
                      <a:r>
                        <a:rPr lang="en-US" sz="1400"/>
                        <a:t>Գրադարան </a:t>
                      </a:r>
                      <a:endParaRPr/>
                    </a:p>
                  </a:txBody>
                  <a:tcPr marT="0" marB="0" marR="0" marL="0" anchor="ctr"/>
                </a:tc>
                <a:tc gridSpan="5">
                  <a:txBody>
                    <a:bodyPr/>
                    <a:lstStyle/>
                    <a:p>
                      <a:pPr indent="0" lvl="0" marL="0" marR="0" rtl="0" algn="l">
                        <a:lnSpc>
                          <a:spcPct val="114999"/>
                        </a:lnSpc>
                        <a:spcBef>
                          <a:spcPts val="0"/>
                        </a:spcBef>
                        <a:spcAft>
                          <a:spcPts val="0"/>
                        </a:spcAft>
                        <a:buNone/>
                      </a:pPr>
                      <a:r>
                        <a:rPr lang="en-US" sz="1400"/>
                        <a:t>հաճախակի </a:t>
                      </a:r>
                      <a:endParaRPr/>
                    </a:p>
                  </a:txBody>
                  <a:tcPr marT="0" marB="0" marR="0" marL="0" anchor="ctr"/>
                </a:tc>
                <a:tc hMerge="1"/>
                <a:tc hMerge="1"/>
                <a:tc hMerge="1"/>
                <a:tc hMerge="1"/>
                <a:tc>
                  <a:txBody>
                    <a:bodyPr/>
                    <a:lstStyle/>
                    <a:p>
                      <a:pPr indent="0" lvl="0" marL="0" marR="0" rtl="0" algn="l">
                        <a:lnSpc>
                          <a:spcPct val="114999"/>
                        </a:lnSpc>
                        <a:spcBef>
                          <a:spcPts val="0"/>
                        </a:spcBef>
                        <a:spcAft>
                          <a:spcPts val="0"/>
                        </a:spcAft>
                        <a:buNone/>
                      </a:pPr>
                      <a:r>
                        <a:rPr lang="en-US" sz="1200"/>
                        <a:t>           </a:t>
                      </a:r>
                      <a:r>
                        <a:rPr lang="en-US" sz="1400"/>
                        <a:t>110 </a:t>
                      </a:r>
                      <a:endParaRPr sz="1400"/>
                    </a:p>
                  </a:txBody>
                  <a:tcPr marT="0" marB="0" marR="0" marL="0" anchor="ctr"/>
                </a:tc>
                <a:tc gridSpan="3">
                  <a:txBody>
                    <a:bodyPr/>
                    <a:lstStyle/>
                    <a:p>
                      <a:pPr indent="0" lvl="0" marL="0" marR="0" rtl="0" algn="l">
                        <a:lnSpc>
                          <a:spcPct val="114999"/>
                        </a:lnSpc>
                        <a:spcBef>
                          <a:spcPts val="0"/>
                        </a:spcBef>
                        <a:spcAft>
                          <a:spcPts val="0"/>
                        </a:spcAft>
                        <a:buNone/>
                      </a:pPr>
                      <a:r>
                        <a:rPr lang="en-US" sz="1400"/>
                        <a:t>Գեղարվեստական գրականության տրամադրում </a:t>
                      </a:r>
                      <a:endParaRPr/>
                    </a:p>
                  </a:txBody>
                  <a:tcPr marT="0" marB="0" marR="0" marL="0" anchor="ctr"/>
                </a:tc>
                <a:tc hMerge="1"/>
                <a:tc hMerge="1"/>
              </a:tr>
              <a:tr h="122425">
                <a:tc gridSpan="10">
                  <a:txBody>
                    <a:bodyPr/>
                    <a:lstStyle/>
                    <a:p>
                      <a:pPr indent="0" lvl="0" marL="0" marR="0" rtl="0" algn="l">
                        <a:lnSpc>
                          <a:spcPct val="114999"/>
                        </a:lnSpc>
                        <a:spcBef>
                          <a:spcPts val="0"/>
                        </a:spcBef>
                        <a:spcAft>
                          <a:spcPts val="0"/>
                        </a:spcAft>
                        <a:buNone/>
                      </a:pPr>
                      <a:r>
                        <a:rPr lang="en-US" sz="1400"/>
                        <a:t>Ուսումնական հաստատության կողմից հասարակական կազմակերպությունների(ՀԿ) հետ համատեղ իրականացված կրթական ծրագրերը, դրանց թիվը և մասնակից սովորողների թիվը՝ ըստ ծրագրերի </a:t>
                      </a:r>
                      <a:endParaRPr/>
                    </a:p>
                  </a:txBody>
                  <a:tcPr marT="0" marB="0" marR="0" marL="0" anchor="ctr"/>
                </a:tc>
                <a:tc hMerge="1"/>
                <a:tc hMerge="1"/>
                <a:tc hMerge="1"/>
                <a:tc hMerge="1"/>
                <a:tc hMerge="1"/>
                <a:tc hMerge="1"/>
                <a:tc hMerge="1"/>
                <a:tc hMerge="1"/>
                <a:tc hMerge="1"/>
              </a:tr>
              <a:tr h="285750">
                <a:tc gridSpan="3">
                  <a:txBody>
                    <a:bodyPr/>
                    <a:lstStyle/>
                    <a:p>
                      <a:pPr indent="0" lvl="0" marL="0" marR="0" rtl="0" algn="l">
                        <a:lnSpc>
                          <a:spcPct val="114999"/>
                        </a:lnSpc>
                        <a:spcBef>
                          <a:spcPts val="0"/>
                        </a:spcBef>
                        <a:spcAft>
                          <a:spcPts val="0"/>
                        </a:spcAft>
                        <a:buNone/>
                      </a:pPr>
                      <a:r>
                        <a:rPr lang="en-US" sz="1400"/>
                        <a:t>Նկարագրել վերջին 3 տարում հաստատության և ՀԿ-ների համատեղ իրականացված կրթական բոլոր ծրագրերը </a:t>
                      </a:r>
                      <a:endParaRPr/>
                    </a:p>
                  </a:txBody>
                  <a:tcPr marT="0" marB="0" marR="0" marL="0" anchor="ctr"/>
                </a:tc>
                <a:tc hMerge="1"/>
                <a:tc hMerge="1"/>
                <a:tc gridSpan="2">
                  <a:txBody>
                    <a:bodyPr/>
                    <a:lstStyle/>
                    <a:p>
                      <a:pPr indent="0" lvl="0" marL="0" marR="0" rtl="0" algn="l">
                        <a:lnSpc>
                          <a:spcPct val="114999"/>
                        </a:lnSpc>
                        <a:spcBef>
                          <a:spcPts val="0"/>
                        </a:spcBef>
                        <a:spcAft>
                          <a:spcPts val="0"/>
                        </a:spcAft>
                        <a:buNone/>
                      </a:pPr>
                      <a:r>
                        <a:rPr lang="en-US" sz="1400"/>
                        <a:t>Ծրագրի տևողությունը </a:t>
                      </a:r>
                      <a:endParaRPr/>
                    </a:p>
                  </a:txBody>
                  <a:tcPr marT="0" marB="0" marR="0" marL="0" anchor="ctr"/>
                </a:tc>
                <a:tc hMerge="1"/>
                <a:tc gridSpan="4">
                  <a:txBody>
                    <a:bodyPr/>
                    <a:lstStyle/>
                    <a:p>
                      <a:pPr indent="0" lvl="0" marL="0" marR="0" rtl="0" algn="l">
                        <a:lnSpc>
                          <a:spcPct val="114999"/>
                        </a:lnSpc>
                        <a:spcBef>
                          <a:spcPts val="0"/>
                        </a:spcBef>
                        <a:spcAft>
                          <a:spcPts val="0"/>
                        </a:spcAft>
                        <a:buNone/>
                      </a:pPr>
                      <a:r>
                        <a:rPr lang="en-US" sz="1400"/>
                        <a:t>ՀԿ –ի անվանումը </a:t>
                      </a:r>
                      <a:endParaRPr/>
                    </a:p>
                  </a:txBody>
                  <a:tcPr marT="0" marB="0" marR="0" marL="0" anchor="ctr"/>
                </a:tc>
                <a:tc hMerge="1"/>
                <a:tc hMerge="1"/>
                <a:tc hMerge="1"/>
                <a:tc>
                  <a:txBody>
                    <a:bodyPr/>
                    <a:lstStyle/>
                    <a:p>
                      <a:pPr indent="0" lvl="0" marL="0" marR="0" rtl="0" algn="l">
                        <a:lnSpc>
                          <a:spcPct val="114999"/>
                        </a:lnSpc>
                        <a:spcBef>
                          <a:spcPts val="0"/>
                        </a:spcBef>
                        <a:spcAft>
                          <a:spcPts val="0"/>
                        </a:spcAft>
                        <a:buNone/>
                      </a:pPr>
                      <a:r>
                        <a:rPr lang="en-US" sz="1400"/>
                        <a:t>Մասնակից սովորողների  թիվը </a:t>
                      </a:r>
                      <a:endParaRPr/>
                    </a:p>
                  </a:txBody>
                  <a:tcPr marT="0" marB="0" marR="0" marL="0" anchor="ctr"/>
                </a:tc>
              </a:tr>
              <a:tr h="0">
                <a:tc gridSpan="3">
                  <a:txBody>
                    <a:bodyPr/>
                    <a:lstStyle/>
                    <a:p>
                      <a:pPr indent="0" lvl="0" marL="457200" marR="0" rtl="0" algn="l">
                        <a:lnSpc>
                          <a:spcPct val="114999"/>
                        </a:lnSpc>
                        <a:spcBef>
                          <a:spcPts val="0"/>
                        </a:spcBef>
                        <a:spcAft>
                          <a:spcPts val="0"/>
                        </a:spcAft>
                        <a:buNone/>
                      </a:pPr>
                      <a:r>
                        <a:t/>
                      </a:r>
                      <a:endParaRPr sz="1400">
                        <a:latin typeface="Merriweather"/>
                        <a:ea typeface="Merriweather"/>
                        <a:cs typeface="Merriweather"/>
                        <a:sym typeface="Merriweather"/>
                      </a:endParaRPr>
                    </a:p>
                  </a:txBody>
                  <a:tcPr marT="0" marB="0" marR="0" marL="0" anchor="ctr"/>
                </a:tc>
                <a:tc hMerge="1"/>
                <a:tc hMerge="1"/>
                <a:tc gridSpan="2">
                  <a:txBody>
                    <a:bodyPr/>
                    <a:lstStyle/>
                    <a:p>
                      <a:pPr indent="0" lvl="0" marL="0" marR="0" rtl="0" algn="l">
                        <a:lnSpc>
                          <a:spcPct val="114999"/>
                        </a:lnSpc>
                        <a:spcBef>
                          <a:spcPts val="0"/>
                        </a:spcBef>
                        <a:spcAft>
                          <a:spcPts val="0"/>
                        </a:spcAft>
                        <a:buNone/>
                      </a:pPr>
                      <a:r>
                        <a:t/>
                      </a:r>
                      <a:endParaRPr sz="1400">
                        <a:latin typeface="Merriweather"/>
                        <a:ea typeface="Merriweather"/>
                        <a:cs typeface="Merriweather"/>
                        <a:sym typeface="Merriweather"/>
                      </a:endParaRPr>
                    </a:p>
                  </a:txBody>
                  <a:tcPr marT="0" marB="0" marR="0" marL="0" anchor="ctr"/>
                </a:tc>
                <a:tc hMerge="1"/>
                <a:tc gridSpan="4">
                  <a:txBody>
                    <a:bodyPr/>
                    <a:lstStyle/>
                    <a:p>
                      <a:pPr indent="0" lvl="0" marL="0" marR="0" rtl="0" algn="l">
                        <a:lnSpc>
                          <a:spcPct val="114999"/>
                        </a:lnSpc>
                        <a:spcBef>
                          <a:spcPts val="0"/>
                        </a:spcBef>
                        <a:spcAft>
                          <a:spcPts val="0"/>
                        </a:spcAft>
                        <a:buNone/>
                      </a:pPr>
                      <a:r>
                        <a:t/>
                      </a:r>
                      <a:endParaRPr sz="1400">
                        <a:latin typeface="Merriweather"/>
                        <a:ea typeface="Merriweather"/>
                        <a:cs typeface="Merriweather"/>
                        <a:sym typeface="Merriweather"/>
                      </a:endParaRPr>
                    </a:p>
                  </a:txBody>
                  <a:tcPr marT="0" marB="0" marR="0" marL="0" anchor="ctr"/>
                </a:tc>
                <a:tc hMerge="1"/>
                <a:tc hMerge="1"/>
                <a:tc hMerge="1"/>
                <a:tc>
                  <a:txBody>
                    <a:bodyPr/>
                    <a:lstStyle/>
                    <a:p>
                      <a:pPr indent="0" lvl="0" marL="0" marR="0" rtl="0" algn="l">
                        <a:lnSpc>
                          <a:spcPct val="114999"/>
                        </a:lnSpc>
                        <a:spcBef>
                          <a:spcPts val="0"/>
                        </a:spcBef>
                        <a:spcAft>
                          <a:spcPts val="0"/>
                        </a:spcAft>
                        <a:buNone/>
                      </a:pPr>
                      <a:r>
                        <a:t/>
                      </a:r>
                      <a:endParaRPr sz="1400">
                        <a:latin typeface="Merriweather"/>
                        <a:ea typeface="Merriweather"/>
                        <a:cs typeface="Merriweather"/>
                        <a:sym typeface="Merriweather"/>
                      </a:endParaRPr>
                    </a:p>
                  </a:txBody>
                  <a:tcPr marT="0" marB="0" marR="0" marL="0" anchor="ct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86"/>
          <p:cNvSpPr txBox="1"/>
          <p:nvPr/>
        </p:nvSpPr>
        <p:spPr>
          <a:xfrm>
            <a:off x="290513" y="0"/>
            <a:ext cx="938784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Merriweather"/>
                <a:ea typeface="Merriweather"/>
                <a:cs typeface="Merriweather"/>
                <a:sym typeface="Merriweather"/>
              </a:rPr>
              <a:t>Աղյուսակ 34. ՈՒԹՀՎ  վերլուծության</a:t>
            </a:r>
            <a:endParaRPr b="1" sz="2400">
              <a:solidFill>
                <a:schemeClr val="dk1"/>
              </a:solidFill>
              <a:latin typeface="Merriweather"/>
              <a:ea typeface="Merriweather"/>
              <a:cs typeface="Merriweather"/>
              <a:sym typeface="Merriweather"/>
            </a:endParaRPr>
          </a:p>
        </p:txBody>
      </p:sp>
      <p:graphicFrame>
        <p:nvGraphicFramePr>
          <p:cNvPr id="657" name="Google Shape;657;p86"/>
          <p:cNvGraphicFramePr/>
          <p:nvPr/>
        </p:nvGraphicFramePr>
        <p:xfrm>
          <a:off x="348666" y="365851"/>
          <a:ext cx="3000000" cy="3000000"/>
        </p:xfrm>
        <a:graphic>
          <a:graphicData uri="http://schemas.openxmlformats.org/drawingml/2006/table">
            <a:tbl>
              <a:tblPr bandRow="1" firstRow="1">
                <a:noFill/>
                <a:tableStyleId>{40B977D2-3903-41EF-8714-5AC59086702B}</a:tableStyleId>
              </a:tblPr>
              <a:tblGrid>
                <a:gridCol w="5601800"/>
                <a:gridCol w="5601800"/>
              </a:tblGrid>
              <a:tr h="239525">
                <a:tc>
                  <a:txBody>
                    <a:bodyPr/>
                    <a:lstStyle/>
                    <a:p>
                      <a:pPr indent="0" lvl="0" marL="0" marR="0" rtl="0" algn="ctr">
                        <a:spcBef>
                          <a:spcPts val="0"/>
                        </a:spcBef>
                        <a:spcAft>
                          <a:spcPts val="0"/>
                        </a:spcAft>
                        <a:buNone/>
                      </a:pPr>
                      <a:r>
                        <a:rPr b="1" i="1" lang="en-US" sz="1800">
                          <a:latin typeface="Merriweather"/>
                          <a:ea typeface="Merriweather"/>
                          <a:cs typeface="Merriweather"/>
                          <a:sym typeface="Merriweather"/>
                        </a:rPr>
                        <a:t>Ուժեղ կողմեր</a:t>
                      </a:r>
                      <a:endParaRPr b="1" i="1" sz="1800">
                        <a:latin typeface="Merriweather"/>
                        <a:ea typeface="Merriweather"/>
                        <a:cs typeface="Merriweather"/>
                        <a:sym typeface="Merriweather"/>
                      </a:endParaRPr>
                    </a:p>
                  </a:txBody>
                  <a:tcPr marT="45725" marB="45725" marR="91450" marL="91450"/>
                </a:tc>
                <a:tc>
                  <a:txBody>
                    <a:bodyPr/>
                    <a:lstStyle/>
                    <a:p>
                      <a:pPr indent="0" lvl="0" marL="0" marR="0" rtl="0" algn="ctr">
                        <a:spcBef>
                          <a:spcPts val="0"/>
                        </a:spcBef>
                        <a:spcAft>
                          <a:spcPts val="0"/>
                        </a:spcAft>
                        <a:buNone/>
                      </a:pPr>
                      <a:r>
                        <a:rPr b="1" lang="en-US" sz="1800"/>
                        <a:t>Թույլ կողմեր</a:t>
                      </a:r>
                      <a:endParaRPr/>
                    </a:p>
                  </a:txBody>
                  <a:tcPr marT="45725" marB="45725" marR="91450" marL="91450"/>
                </a:tc>
              </a:tr>
              <a:tr h="5620525">
                <a:tc>
                  <a:txBody>
                    <a:bodyPr/>
                    <a:lstStyle/>
                    <a:p>
                      <a:pPr indent="0" lvl="0" marL="0" marR="0" rtl="0" algn="l">
                        <a:spcBef>
                          <a:spcPts val="0"/>
                        </a:spcBef>
                        <a:spcAft>
                          <a:spcPts val="0"/>
                        </a:spcAft>
                        <a:buNone/>
                      </a:pPr>
                      <a:r>
                        <a:rPr b="1" i="1" lang="en-US" sz="1200">
                          <a:latin typeface="Merriweather"/>
                          <a:ea typeface="Merriweather"/>
                          <a:cs typeface="Merriweather"/>
                          <a:sym typeface="Merriweather"/>
                        </a:rPr>
                        <a:t>1. Աշխատակազմի գործունեության ուժեղ կողմեր՝ տարանջատել վարչական, ուսումնաօժանդակ և ուսուցչական կազմը </a:t>
                      </a:r>
                      <a:endParaRPr b="1" i="1" sz="1200">
                        <a:latin typeface="Merriweather"/>
                        <a:ea typeface="Merriweather"/>
                        <a:cs typeface="Merriweather"/>
                        <a:sym typeface="Merriweather"/>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Ներդպրոցական վերահսկողություն վարչակազմի կողմից</a:t>
                      </a:r>
                      <a:r>
                        <a:rPr lang="en-US" sz="1200">
                          <a:latin typeface="Calibri"/>
                          <a:ea typeface="Calibri"/>
                          <a:cs typeface="Calibri"/>
                          <a:sym typeface="Calibri"/>
                        </a:rPr>
                        <a:t> </a:t>
                      </a:r>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Մանկավարժական համակազմի</a:t>
                      </a:r>
                      <a:r>
                        <a:rPr i="1" lang="en-US" sz="1200">
                          <a:latin typeface="Merriweather"/>
                          <a:ea typeface="Merriweather"/>
                          <a:cs typeface="Merriweather"/>
                          <a:sym typeface="Merriweather"/>
                        </a:rPr>
                        <a:t> համալրում</a:t>
                      </a:r>
                      <a:endParaRPr sz="1200">
                        <a:latin typeface="Calibri"/>
                        <a:ea typeface="Calibri"/>
                        <a:cs typeface="Calibri"/>
                        <a:sym typeface="Calibri"/>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Մշտադիտարկումներ</a:t>
                      </a:r>
                      <a:r>
                        <a:rPr lang="en-US" sz="1200">
                          <a:latin typeface="Calibri"/>
                          <a:ea typeface="Calibri"/>
                          <a:cs typeface="Calibri"/>
                          <a:sym typeface="Calibri"/>
                        </a:rPr>
                        <a:t> </a:t>
                      </a:r>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Քաղաքացիական դաստիարակություն</a:t>
                      </a:r>
                      <a:r>
                        <a:rPr lang="en-US" sz="1200">
                          <a:latin typeface="Calibri"/>
                          <a:ea typeface="Calibri"/>
                          <a:cs typeface="Calibri"/>
                          <a:sym typeface="Calibri"/>
                        </a:rPr>
                        <a:t> </a:t>
                      </a:r>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Մասնագիտական կողմնորոշում</a:t>
                      </a:r>
                      <a:r>
                        <a:rPr lang="en-US" sz="1200">
                          <a:latin typeface="Calibri"/>
                          <a:ea typeface="Calibri"/>
                          <a:cs typeface="Calibri"/>
                          <a:sym typeface="Calibri"/>
                        </a:rPr>
                        <a:t> </a:t>
                      </a:r>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Արտադասարանական և համադպրոցական միջոցառումներ</a:t>
                      </a:r>
                      <a:r>
                        <a:rPr lang="en-US" sz="1200">
                          <a:latin typeface="Calibri"/>
                          <a:ea typeface="Calibri"/>
                          <a:cs typeface="Calibri"/>
                          <a:sym typeface="Calibri"/>
                        </a:rPr>
                        <a:t> </a:t>
                      </a:r>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Համագործակցային և առողջ բարոյահոգեբանական մթնոլորտի ապահովում</a:t>
                      </a:r>
                      <a:r>
                        <a:rPr lang="en-US" sz="1200">
                          <a:latin typeface="Calibri"/>
                          <a:ea typeface="Calibri"/>
                          <a:cs typeface="Calibri"/>
                          <a:sym typeface="Calibri"/>
                        </a:rPr>
                        <a:t> </a:t>
                      </a:r>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 </a:t>
                      </a:r>
                      <a:r>
                        <a:rPr i="1" lang="en-US" sz="1200">
                          <a:latin typeface="Noto Sans Symbols"/>
                          <a:ea typeface="Noto Sans Symbols"/>
                          <a:cs typeface="Noto Sans Symbols"/>
                          <a:sym typeface="Noto Sans Symbols"/>
                        </a:rPr>
                        <a:t> </a:t>
                      </a:r>
                      <a:r>
                        <a:rPr i="1" lang="en-US" sz="1200">
                          <a:latin typeface="Merriweather"/>
                          <a:ea typeface="Merriweather"/>
                          <a:cs typeface="Merriweather"/>
                          <a:sym typeface="Merriweather"/>
                        </a:rPr>
                        <a:t>Կամավոր ատեստավորված ուսուցիչ</a:t>
                      </a:r>
                      <a:endParaRPr i="1" sz="1200">
                        <a:latin typeface="Noto Sans Symbols"/>
                        <a:ea typeface="Noto Sans Symbols"/>
                        <a:cs typeface="Noto Sans Symbols"/>
                        <a:sym typeface="Noto Sans Symbols"/>
                      </a:endParaRPr>
                    </a:p>
                    <a:p>
                      <a:pPr indent="0" lvl="0" marL="0" marR="0" rtl="0" algn="l">
                        <a:lnSpc>
                          <a:spcPct val="100000"/>
                        </a:lnSpc>
                        <a:spcBef>
                          <a:spcPts val="0"/>
                        </a:spcBef>
                        <a:spcAft>
                          <a:spcPts val="0"/>
                        </a:spcAft>
                        <a:buClr>
                          <a:schemeClr val="dk1"/>
                        </a:buClr>
                        <a:buSzPts val="1200"/>
                        <a:buFont typeface="Noto Sans Symbols"/>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Հանրապետական պարբերականներում տպագրված գիտական կամ մեթոդական հոդվածներ</a:t>
                      </a:r>
                      <a:endParaRPr/>
                    </a:p>
                    <a:p>
                      <a:pPr indent="-117348" lvl="0" marL="0" marR="0" rtl="0" algn="l">
                        <a:spcBef>
                          <a:spcPts val="0"/>
                        </a:spcBef>
                        <a:spcAft>
                          <a:spcPts val="0"/>
                        </a:spcAft>
                        <a:buClr>
                          <a:schemeClr val="dk1"/>
                        </a:buClr>
                        <a:buSzPts val="1848"/>
                        <a:buFont typeface="Arial"/>
                        <a:buChar char="•"/>
                      </a:pPr>
                      <a:r>
                        <a:rPr lang="en-US" sz="1200"/>
                        <a:t> Անհրաժեշտ որակավորում, աշխատանքային</a:t>
                      </a:r>
                      <a:endParaRPr sz="1200"/>
                    </a:p>
                    <a:p>
                      <a:pPr indent="0" lvl="0" marL="0" marR="0" rtl="0" algn="l">
                        <a:spcBef>
                          <a:spcPts val="0"/>
                        </a:spcBef>
                        <a:spcAft>
                          <a:spcPts val="0"/>
                        </a:spcAft>
                        <a:buClr>
                          <a:schemeClr val="dk1"/>
                        </a:buClr>
                        <a:buSzPts val="1848"/>
                        <a:buFont typeface="Arial"/>
                        <a:buNone/>
                      </a:pPr>
                      <a:r>
                        <a:rPr lang="en-US" sz="1200"/>
                        <a:t>   </a:t>
                      </a:r>
                      <a:r>
                        <a:rPr lang="en-US" sz="1200"/>
                        <a:t> փորձ  ունեցող     մանկավարժ-մասնագետները</a:t>
                      </a:r>
                      <a:endParaRPr sz="1200"/>
                    </a:p>
                    <a:p>
                      <a:pPr indent="-117348" lvl="0" marL="0" marR="0" rtl="0" algn="l">
                        <a:spcBef>
                          <a:spcPts val="0"/>
                        </a:spcBef>
                        <a:spcAft>
                          <a:spcPts val="0"/>
                        </a:spcAft>
                        <a:buClr>
                          <a:schemeClr val="dk1"/>
                        </a:buClr>
                        <a:buSzPts val="1848"/>
                        <a:buFont typeface="Arial"/>
                        <a:buChar char="•"/>
                      </a:pPr>
                      <a:r>
                        <a:rPr lang="en-US" sz="1200"/>
                        <a:t>  Բարձր պատասխանատվությունը</a:t>
                      </a:r>
                      <a:endParaRPr sz="1200"/>
                    </a:p>
                    <a:p>
                      <a:pPr indent="-117348" lvl="0" marL="0" marR="0" rtl="0" algn="l">
                        <a:spcBef>
                          <a:spcPts val="0"/>
                        </a:spcBef>
                        <a:spcAft>
                          <a:spcPts val="0"/>
                        </a:spcAft>
                        <a:buClr>
                          <a:schemeClr val="dk1"/>
                        </a:buClr>
                        <a:buSzPts val="1848"/>
                        <a:buFont typeface="Arial"/>
                        <a:buChar char="•"/>
                      </a:pPr>
                      <a:r>
                        <a:rPr lang="en-US" sz="1200"/>
                        <a:t>  Աշակերտակենտրոն մոտեցումները</a:t>
                      </a:r>
                      <a:endParaRPr sz="1200"/>
                    </a:p>
                    <a:p>
                      <a:pPr indent="-117348" lvl="0" marL="0" marR="0" rtl="0" algn="l">
                        <a:spcBef>
                          <a:spcPts val="0"/>
                        </a:spcBef>
                        <a:spcAft>
                          <a:spcPts val="0"/>
                        </a:spcAft>
                        <a:buClr>
                          <a:schemeClr val="dk1"/>
                        </a:buClr>
                        <a:buSzPts val="1848"/>
                        <a:buFont typeface="Arial"/>
                        <a:buChar char="•"/>
                      </a:pPr>
                      <a:r>
                        <a:rPr lang="en-US" sz="1200"/>
                        <a:t>  Սովորողի հաջողության կարևորումը  և   գնահատումը</a:t>
                      </a:r>
                      <a:endParaRPr sz="1200"/>
                    </a:p>
                    <a:p>
                      <a:pPr indent="-117348" lvl="0" marL="0" marR="0" rtl="0" algn="l">
                        <a:spcBef>
                          <a:spcPts val="0"/>
                        </a:spcBef>
                        <a:spcAft>
                          <a:spcPts val="0"/>
                        </a:spcAft>
                        <a:buClr>
                          <a:schemeClr val="dk1"/>
                        </a:buClr>
                        <a:buSzPts val="1848"/>
                        <a:buFont typeface="Arial"/>
                        <a:buChar char="•"/>
                      </a:pPr>
                      <a:r>
                        <a:rPr lang="en-US" sz="1200"/>
                        <a:t>  Մեթոդական միավորումների համակարգված </a:t>
                      </a:r>
                      <a:endParaRPr/>
                    </a:p>
                    <a:p>
                      <a:pPr indent="0" lvl="0" marL="0" marR="0" rtl="0" algn="l">
                        <a:spcBef>
                          <a:spcPts val="0"/>
                        </a:spcBef>
                        <a:spcAft>
                          <a:spcPts val="0"/>
                        </a:spcAft>
                        <a:buClr>
                          <a:schemeClr val="dk1"/>
                        </a:buClr>
                        <a:buSzPts val="1848"/>
                        <a:buFont typeface="Arial"/>
                        <a:buNone/>
                      </a:pPr>
                      <a:r>
                        <a:rPr lang="en-US" sz="1200"/>
                        <a:t>    աշխատանքը</a:t>
                      </a:r>
                      <a:endParaRPr sz="1200"/>
                    </a:p>
                    <a:p>
                      <a:pPr indent="-117348" lvl="0" marL="0" marR="0" rtl="0" algn="l">
                        <a:spcBef>
                          <a:spcPts val="0"/>
                        </a:spcBef>
                        <a:spcAft>
                          <a:spcPts val="0"/>
                        </a:spcAft>
                        <a:buClr>
                          <a:schemeClr val="dk1"/>
                        </a:buClr>
                        <a:buSzPts val="1848"/>
                        <a:buFont typeface="Arial"/>
                        <a:buChar char="•"/>
                      </a:pPr>
                      <a:r>
                        <a:rPr lang="en-US" sz="1200"/>
                        <a:t> Մեթոդական սեմինարներ` միտված ուսուցման որակի </a:t>
                      </a:r>
                      <a:endParaRPr sz="1200"/>
                    </a:p>
                    <a:p>
                      <a:pPr indent="0" lvl="0" marL="0" marR="0" rtl="0" algn="l">
                        <a:spcBef>
                          <a:spcPts val="0"/>
                        </a:spcBef>
                        <a:spcAft>
                          <a:spcPts val="0"/>
                        </a:spcAft>
                        <a:buClr>
                          <a:schemeClr val="dk1"/>
                        </a:buClr>
                        <a:buSzPts val="1848"/>
                        <a:buFont typeface="Arial"/>
                        <a:buNone/>
                      </a:pPr>
                      <a:r>
                        <a:rPr lang="en-US" sz="1200"/>
                        <a:t>  </a:t>
                      </a:r>
                      <a:r>
                        <a:rPr lang="en-US" sz="1200"/>
                        <a:t>  բարձրացմանը </a:t>
                      </a:r>
                      <a:endParaRPr sz="1200"/>
                    </a:p>
                    <a:p>
                      <a:pPr indent="-117348" lvl="0" marL="0" marR="0" rtl="0" algn="l">
                        <a:spcBef>
                          <a:spcPts val="0"/>
                        </a:spcBef>
                        <a:spcAft>
                          <a:spcPts val="0"/>
                        </a:spcAft>
                        <a:buClr>
                          <a:schemeClr val="dk1"/>
                        </a:buClr>
                        <a:buSzPts val="1848"/>
                        <a:buFont typeface="Arial"/>
                        <a:buChar char="•"/>
                      </a:pPr>
                      <a:r>
                        <a:rPr lang="en-US" sz="1200"/>
                        <a:t> Մշտադիտարկումները և առարկայի դասավանդման </a:t>
                      </a:r>
                      <a:endParaRPr sz="1200"/>
                    </a:p>
                    <a:p>
                      <a:pPr indent="0" lvl="0" marL="0" marR="0" rtl="0" algn="l">
                        <a:spcBef>
                          <a:spcPts val="0"/>
                        </a:spcBef>
                        <a:spcAft>
                          <a:spcPts val="0"/>
                        </a:spcAft>
                        <a:buClr>
                          <a:schemeClr val="dk1"/>
                        </a:buClr>
                        <a:buSzPts val="1848"/>
                        <a:buFont typeface="Arial"/>
                        <a:buNone/>
                      </a:pPr>
                      <a:r>
                        <a:rPr lang="en-US" sz="1200"/>
                        <a:t> </a:t>
                      </a:r>
                      <a:r>
                        <a:rPr lang="en-US" sz="1200"/>
                        <a:t>  դրվածքի ուսումնասիրությունները</a:t>
                      </a:r>
                      <a:endParaRPr sz="1200"/>
                    </a:p>
                    <a:p>
                      <a:pPr indent="-117348" lvl="0" marL="0" marR="0" rtl="0" algn="l">
                        <a:spcBef>
                          <a:spcPts val="0"/>
                        </a:spcBef>
                        <a:spcAft>
                          <a:spcPts val="0"/>
                        </a:spcAft>
                        <a:buClr>
                          <a:schemeClr val="dk1"/>
                        </a:buClr>
                        <a:buSzPts val="1848"/>
                        <a:buFont typeface="Arial"/>
                        <a:buChar char="•"/>
                      </a:pPr>
                      <a:r>
                        <a:rPr lang="en-US" sz="1200"/>
                        <a:t> Քաղաքացիական դաստիարակությունը. արժեհամա-     </a:t>
                      </a:r>
                      <a:endParaRPr/>
                    </a:p>
                    <a:p>
                      <a:pPr indent="0" lvl="0" marL="0" marR="0" rtl="0" algn="l">
                        <a:spcBef>
                          <a:spcPts val="0"/>
                        </a:spcBef>
                        <a:spcAft>
                          <a:spcPts val="0"/>
                        </a:spcAft>
                        <a:buClr>
                          <a:schemeClr val="dk1"/>
                        </a:buClr>
                        <a:buSzPts val="1848"/>
                        <a:buFont typeface="Arial"/>
                        <a:buNone/>
                      </a:pPr>
                      <a:r>
                        <a:rPr lang="en-US" sz="1200"/>
                        <a:t>     </a:t>
                      </a:r>
                      <a:r>
                        <a:rPr lang="en-US" sz="1200"/>
                        <a:t>կարգի, կարողունակությունների   ձևավորում, մասնա-</a:t>
                      </a:r>
                      <a:endParaRPr sz="1200"/>
                    </a:p>
                    <a:p>
                      <a:pPr indent="0" lvl="0" marL="0" marR="0" rtl="0" algn="l">
                        <a:spcBef>
                          <a:spcPts val="0"/>
                        </a:spcBef>
                        <a:spcAft>
                          <a:spcPts val="0"/>
                        </a:spcAft>
                        <a:buClr>
                          <a:schemeClr val="dk1"/>
                        </a:buClr>
                        <a:buSzPts val="1848"/>
                        <a:buFont typeface="Arial"/>
                        <a:buNone/>
                      </a:pPr>
                      <a:r>
                        <a:rPr lang="en-US" sz="1200"/>
                        <a:t>     գիտական կողմնորոշման</a:t>
                      </a:r>
                      <a:r>
                        <a:rPr lang="en-US" sz="1200"/>
                        <a:t> </a:t>
                      </a:r>
                      <a:r>
                        <a:rPr lang="en-US" sz="1200"/>
                        <a:t>  ապահովում</a:t>
                      </a:r>
                      <a:endParaRPr sz="1200"/>
                    </a:p>
                    <a:p>
                      <a:pPr indent="-117348" lvl="0" marL="0" marR="0" rtl="0" algn="l">
                        <a:spcBef>
                          <a:spcPts val="0"/>
                        </a:spcBef>
                        <a:spcAft>
                          <a:spcPts val="0"/>
                        </a:spcAft>
                        <a:buClr>
                          <a:schemeClr val="dk1"/>
                        </a:buClr>
                        <a:buSzPts val="1848"/>
                        <a:buFont typeface="Arial"/>
                        <a:buChar char="•"/>
                      </a:pPr>
                      <a:r>
                        <a:rPr lang="en-US" sz="1200"/>
                        <a:t> Արտադասարանական և համադպրոցական </a:t>
                      </a:r>
                      <a:r>
                        <a:rPr lang="en-US" sz="1200"/>
                        <a:t> </a:t>
                      </a:r>
                      <a:r>
                        <a:rPr lang="en-US" sz="1200"/>
                        <a:t>միջոցառումները </a:t>
                      </a:r>
                      <a:endParaRPr sz="1200"/>
                    </a:p>
                    <a:p>
                      <a:pPr indent="-117348" lvl="0" marL="0" marR="0" rtl="0" algn="l">
                        <a:spcBef>
                          <a:spcPts val="0"/>
                        </a:spcBef>
                        <a:spcAft>
                          <a:spcPts val="0"/>
                        </a:spcAft>
                        <a:buClr>
                          <a:schemeClr val="dk1"/>
                        </a:buClr>
                        <a:buSzPts val="1848"/>
                        <a:buFont typeface="Arial"/>
                        <a:buChar char="•"/>
                      </a:pPr>
                      <a:r>
                        <a:rPr lang="en-US" sz="1200"/>
                        <a:t> Հանրապետական պարբերականներում տպագրված </a:t>
                      </a:r>
                      <a:endParaRPr sz="1200"/>
                    </a:p>
                    <a:p>
                      <a:pPr indent="0" lvl="0" marL="0" marR="0" rtl="0" algn="l">
                        <a:spcBef>
                          <a:spcPts val="0"/>
                        </a:spcBef>
                        <a:spcAft>
                          <a:spcPts val="0"/>
                        </a:spcAft>
                        <a:buClr>
                          <a:schemeClr val="dk1"/>
                        </a:buClr>
                        <a:buSzPts val="1848"/>
                        <a:buFont typeface="Arial"/>
                        <a:buNone/>
                      </a:pPr>
                      <a:r>
                        <a:rPr lang="en-US" sz="1200"/>
                        <a:t>   </a:t>
                      </a:r>
                      <a:r>
                        <a:rPr lang="en-US" sz="1200"/>
                        <a:t>գիտական կամ մեթոդական հոդվածները </a:t>
                      </a:r>
                      <a:endParaRPr sz="1200"/>
                    </a:p>
                    <a:p>
                      <a:pPr indent="-117348" lvl="0" marL="0" marR="0" rtl="0" algn="l">
                        <a:spcBef>
                          <a:spcPts val="0"/>
                        </a:spcBef>
                        <a:spcAft>
                          <a:spcPts val="0"/>
                        </a:spcAft>
                        <a:buClr>
                          <a:schemeClr val="dk1"/>
                        </a:buClr>
                        <a:buSzPts val="1848"/>
                        <a:buFont typeface="Arial"/>
                        <a:buChar char="•"/>
                      </a:pPr>
                      <a:r>
                        <a:rPr lang="en-US" sz="1200"/>
                        <a:t> Փորձառու և կոմպետենտ  լաբորանտները</a:t>
                      </a:r>
                      <a:endParaRPr sz="1200"/>
                    </a:p>
                    <a:p>
                      <a:pPr indent="-117348" lvl="0" marL="0" marR="0" rtl="0" algn="l">
                        <a:spcBef>
                          <a:spcPts val="0"/>
                        </a:spcBef>
                        <a:spcAft>
                          <a:spcPts val="0"/>
                        </a:spcAft>
                        <a:buClr>
                          <a:schemeClr val="dk1"/>
                        </a:buClr>
                        <a:buSzPts val="1848"/>
                        <a:buFont typeface="Arial"/>
                        <a:buChar char="•"/>
                      </a:pPr>
                      <a:r>
                        <a:rPr lang="en-US" sz="1200"/>
                        <a:t>  Սպասարկող պատասխանատու անձնակազմը</a:t>
                      </a:r>
                      <a:endParaRPr sz="12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b="1" i="1" lang="en-US" sz="1200">
                          <a:latin typeface="Merriweather"/>
                          <a:ea typeface="Merriweather"/>
                          <a:cs typeface="Merriweather"/>
                          <a:sym typeface="Merriweather"/>
                        </a:rPr>
                        <a:t>1. Աշխատակազմի գործունեության թույլ կողմեր՝ տարանջատել վարչական, ուսումնաօժանդակ և ուսուցչական կազմը </a:t>
                      </a:r>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Միջազգային պարբերականներում հոդվածների տպագրության, միջազգային գիտաժողովներին մասնակցության բացակայություն</a:t>
                      </a:r>
                      <a:r>
                        <a:rPr i="1" lang="en-US" sz="1200">
                          <a:latin typeface="Calibri"/>
                          <a:ea typeface="Calibri"/>
                          <a:cs typeface="Calibri"/>
                          <a:sym typeface="Calibri"/>
                        </a:rPr>
                        <a:t> </a:t>
                      </a:r>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Գիտական կոչումներ ունեցող ուսուցիչների բացակայություն</a:t>
                      </a:r>
                      <a:r>
                        <a:rPr i="1" lang="en-US" sz="1200">
                          <a:latin typeface="Calibri"/>
                          <a:ea typeface="Calibri"/>
                          <a:cs typeface="Calibri"/>
                          <a:sym typeface="Calibri"/>
                        </a:rPr>
                        <a:t> </a:t>
                      </a:r>
                      <a:endParaRPr/>
                    </a:p>
                    <a:p>
                      <a:pPr indent="0" lvl="0" marL="0" marR="0" rtl="0" algn="l">
                        <a:spcBef>
                          <a:spcPts val="0"/>
                        </a:spcBef>
                        <a:spcAft>
                          <a:spcPts val="0"/>
                        </a:spcAft>
                        <a:buNone/>
                      </a:pPr>
                      <a:r>
                        <a:rPr i="1" lang="en-US" sz="1200">
                          <a:latin typeface="Noto Sans Symbols"/>
                          <a:ea typeface="Noto Sans Symbols"/>
                          <a:cs typeface="Noto Sans Symbols"/>
                          <a:sym typeface="Noto Sans Symbols"/>
                        </a:rPr>
                        <a:t>∙</a:t>
                      </a:r>
                      <a:r>
                        <a:rPr i="1" lang="en-US" sz="1200">
                          <a:latin typeface="Merriweather"/>
                          <a:ea typeface="Merriweather"/>
                          <a:cs typeface="Merriweather"/>
                          <a:sym typeface="Merriweather"/>
                        </a:rPr>
                        <a:t>Միջազգային մրցույթներին , սեմինարնների, վեբինարների,</a:t>
                      </a:r>
                      <a:r>
                        <a:rPr i="1" lang="en-US" sz="1200">
                          <a:latin typeface="Merriweather"/>
                          <a:ea typeface="Merriweather"/>
                          <a:cs typeface="Merriweather"/>
                          <a:sym typeface="Merriweather"/>
                        </a:rPr>
                        <a:t> վերապատրաստումների </a:t>
                      </a:r>
                      <a:r>
                        <a:rPr i="1" lang="en-US" sz="1200">
                          <a:latin typeface="Merriweather"/>
                          <a:ea typeface="Merriweather"/>
                          <a:cs typeface="Merriweather"/>
                          <a:sym typeface="Merriweather"/>
                        </a:rPr>
                        <a:t>մասնակցության ցածր տոկոս</a:t>
                      </a:r>
                      <a:r>
                        <a:rPr b="1" i="1" lang="en-US" sz="1200">
                          <a:latin typeface="Calibri"/>
                          <a:ea typeface="Calibri"/>
                          <a:cs typeface="Calibri"/>
                          <a:sym typeface="Calibri"/>
                        </a:rPr>
                        <a:t> </a:t>
                      </a:r>
                      <a:endParaRPr/>
                    </a:p>
                    <a:p>
                      <a:pPr indent="0" lvl="0" marL="0" marR="0" rtl="0" algn="l">
                        <a:spcBef>
                          <a:spcPts val="0"/>
                        </a:spcBef>
                        <a:spcAft>
                          <a:spcPts val="0"/>
                        </a:spcAft>
                        <a:buNone/>
                      </a:pPr>
                      <a:r>
                        <a:t/>
                      </a:r>
                      <a:endParaRPr i="1" sz="1200">
                        <a:latin typeface="Merriweather"/>
                        <a:ea typeface="Merriweather"/>
                        <a:cs typeface="Merriweather"/>
                        <a:sym typeface="Merriweather"/>
                      </a:endParaRPr>
                    </a:p>
                  </a:txBody>
                  <a:tcPr marT="45725" marB="45725" marR="91450" marL="91450"/>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graphicFrame>
        <p:nvGraphicFramePr>
          <p:cNvPr id="663" name="Google Shape;663;p87"/>
          <p:cNvGraphicFramePr/>
          <p:nvPr/>
        </p:nvGraphicFramePr>
        <p:xfrm>
          <a:off x="146981" y="153135"/>
          <a:ext cx="3000000" cy="3000000"/>
        </p:xfrm>
        <a:graphic>
          <a:graphicData uri="http://schemas.openxmlformats.org/drawingml/2006/table">
            <a:tbl>
              <a:tblPr bandRow="1" firstRow="1">
                <a:noFill/>
                <a:tableStyleId>{40B977D2-3903-41EF-8714-5AC59086702B}</a:tableStyleId>
              </a:tblPr>
              <a:tblGrid>
                <a:gridCol w="5818275"/>
                <a:gridCol w="5818275"/>
              </a:tblGrid>
              <a:tr h="6275650">
                <a:tc>
                  <a:txBody>
                    <a:bodyPr/>
                    <a:lstStyle/>
                    <a:p>
                      <a:pPr indent="0" lvl="0" marL="0" marR="0" rtl="0" algn="l">
                        <a:spcBef>
                          <a:spcPts val="0"/>
                        </a:spcBef>
                        <a:spcAft>
                          <a:spcPts val="0"/>
                        </a:spcAft>
                        <a:buNone/>
                      </a:pPr>
                      <a:r>
                        <a:rPr i="1" lang="en-US" sz="1400">
                          <a:latin typeface="Merriweather"/>
                          <a:ea typeface="Merriweather"/>
                          <a:cs typeface="Merriweather"/>
                          <a:sym typeface="Merriweather"/>
                        </a:rPr>
                        <a:t>2.</a:t>
                      </a:r>
                      <a:r>
                        <a:rPr b="1" i="1" lang="en-US" sz="1400">
                          <a:latin typeface="Merriweather"/>
                          <a:ea typeface="Merriweather"/>
                          <a:cs typeface="Merriweather"/>
                          <a:sym typeface="Merriweather"/>
                        </a:rPr>
                        <a:t>Սովորողների ուսումնառության և այլ գործունեության ուժեղ կողմեր</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Միջինից բարձր առաջադիմություն</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  Առարկայական</a:t>
                      </a:r>
                      <a:r>
                        <a:rPr i="1" lang="en-US" sz="1400">
                          <a:latin typeface="Merriweather"/>
                          <a:ea typeface="Merriweather"/>
                          <a:cs typeface="Merriweather"/>
                          <a:sym typeface="Merriweather"/>
                        </a:rPr>
                        <a:t> օլիմպիադաներին մասնակցություն,</a:t>
                      </a:r>
                      <a:endParaRPr i="1" sz="1400">
                        <a:latin typeface="Merriweather"/>
                        <a:ea typeface="Merriweather"/>
                        <a:cs typeface="Merriweather"/>
                        <a:sym typeface="Merriweather"/>
                      </a:endParaRPr>
                    </a:p>
                    <a:p>
                      <a:pPr indent="-88900" lvl="0" marL="0" marR="0" rtl="0" algn="l">
                        <a:lnSpc>
                          <a:spcPct val="100000"/>
                        </a:lnSpc>
                        <a:spcBef>
                          <a:spcPts val="0"/>
                        </a:spcBef>
                        <a:spcAft>
                          <a:spcPts val="0"/>
                        </a:spcAft>
                        <a:buClr>
                          <a:schemeClr val="dk1"/>
                        </a:buClr>
                        <a:buSzPts val="1400"/>
                        <a:buFont typeface="Arial"/>
                        <a:buChar char="•"/>
                      </a:pPr>
                      <a:r>
                        <a:rPr i="0" lang="en-US" sz="1400">
                          <a:latin typeface="Merriweather"/>
                          <a:ea typeface="Merriweather"/>
                          <a:cs typeface="Merriweather"/>
                          <a:sym typeface="Merriweather"/>
                        </a:rPr>
                        <a:t> </a:t>
                      </a:r>
                      <a:r>
                        <a:rPr i="0" lang="en-US" sz="1400"/>
                        <a:t>Բուհեր, այդ թվում և միջազգային, ընդունվելու բարձր ցուցանիշը</a:t>
                      </a:r>
                      <a:endParaRPr i="0" sz="1400">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Century Gothic"/>
                        <a:buNone/>
                      </a:pPr>
                      <a:r>
                        <a:t/>
                      </a:r>
                      <a:endParaRPr i="1" sz="1400">
                        <a:latin typeface="Merriweather"/>
                        <a:ea typeface="Merriweather"/>
                        <a:cs typeface="Merriweather"/>
                        <a:sym typeface="Merriweather"/>
                      </a:endParaRPr>
                    </a:p>
                    <a:p>
                      <a:pPr indent="0" lvl="0" marL="0" marR="0" rtl="0" algn="l">
                        <a:spcBef>
                          <a:spcPts val="0"/>
                        </a:spcBef>
                        <a:spcAft>
                          <a:spcPts val="0"/>
                        </a:spcAft>
                        <a:buNone/>
                      </a:pPr>
                      <a:r>
                        <a:rPr b="1" i="1" lang="en-US" sz="1400">
                          <a:latin typeface="Merriweather"/>
                          <a:ea typeface="Merriweather"/>
                          <a:cs typeface="Merriweather"/>
                          <a:sym typeface="Merriweather"/>
                        </a:rPr>
                        <a:t>3. Ծնողների, համայնքի, կառավարման խորհուրդի, այլ մարմինների գործունեության ուժեղ կողմեր</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Սերտ համագործակցություն</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ԾԽ,</a:t>
                      </a:r>
                      <a:r>
                        <a:rPr i="1" lang="en-US" sz="1400">
                          <a:latin typeface="Merriweather"/>
                          <a:ea typeface="Merriweather"/>
                          <a:cs typeface="Merriweather"/>
                          <a:sym typeface="Merriweather"/>
                        </a:rPr>
                        <a:t> Ա</a:t>
                      </a:r>
                      <a:r>
                        <a:rPr i="1" lang="en-US" sz="1400">
                          <a:latin typeface="Merriweather"/>
                          <a:ea typeface="Merriweather"/>
                          <a:cs typeface="Merriweather"/>
                          <a:sym typeface="Merriweather"/>
                        </a:rPr>
                        <a:t>Խ և շրջանավարտների խորհրդի ակտիվ ներգրավվածություն արտադասարանական և արտադպրոցական միջոցառումներում</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Հաստատության գործունեության թափանցիկություն</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Ամենամյա եռակողմ նիստ, որտեղ ներկայացվում է հաստատության ուսումնադաստիարակչական աշխատանքների հաշվետվություն, ակտիվ ուսուցիչները, ծնողները և աշակերտներն էլ արժանանում են տնօրենի խրախուսաքին /պատվոգիր, շնորհակալագիր/:</a:t>
                      </a:r>
                      <a:endParaRPr i="1" sz="1400">
                        <a:latin typeface="Merriweather"/>
                        <a:ea typeface="Merriweather"/>
                        <a:cs typeface="Merriweather"/>
                        <a:sym typeface="Merriweather"/>
                      </a:endParaRPr>
                    </a:p>
                    <a:p>
                      <a:pPr indent="0" lvl="0" marL="0" marR="0" rtl="0" algn="l">
                        <a:lnSpc>
                          <a:spcPct val="100000"/>
                        </a:lnSpc>
                        <a:spcBef>
                          <a:spcPts val="0"/>
                        </a:spcBef>
                        <a:spcAft>
                          <a:spcPts val="0"/>
                        </a:spcAft>
                        <a:buClr>
                          <a:schemeClr val="dk1"/>
                        </a:buClr>
                        <a:buSzPts val="1400"/>
                        <a:buFont typeface="Noto Sans Symbols"/>
                        <a:buNone/>
                      </a:pPr>
                      <a:r>
                        <a:rPr i="1" lang="en-US" sz="1400">
                          <a:latin typeface="Noto Sans Symbols"/>
                          <a:ea typeface="Noto Sans Symbols"/>
                          <a:cs typeface="Noto Sans Symbols"/>
                          <a:sym typeface="Noto Sans Symbols"/>
                        </a:rPr>
                        <a:t>∙ </a:t>
                      </a:r>
                      <a:r>
                        <a:rPr i="1" lang="en-US" sz="1400">
                          <a:latin typeface="Merriweather"/>
                          <a:ea typeface="Merriweather"/>
                          <a:cs typeface="Merriweather"/>
                          <a:sym typeface="Merriweather"/>
                        </a:rPr>
                        <a:t>Կապը</a:t>
                      </a:r>
                      <a:r>
                        <a:rPr i="1" lang="en-US" sz="1400">
                          <a:latin typeface="Merriweather"/>
                          <a:ea typeface="Merriweather"/>
                          <a:cs typeface="Merriweather"/>
                          <a:sym typeface="Merriweather"/>
                        </a:rPr>
                        <a:t> շրջանավարտների հետ. ամենամյա հանդիպում և պատվոգրերի հանձնում զինծառայող շրջանավարտներին</a:t>
                      </a:r>
                      <a:endParaRPr i="1" sz="1400">
                        <a:latin typeface="Calibri"/>
                        <a:ea typeface="Calibri"/>
                        <a:cs typeface="Calibri"/>
                        <a:sym typeface="Calibri"/>
                      </a:endParaRPr>
                    </a:p>
                    <a:p>
                      <a:pPr indent="0" lvl="0" marL="0" marR="0" rtl="0" algn="l">
                        <a:spcBef>
                          <a:spcPts val="0"/>
                        </a:spcBef>
                        <a:spcAft>
                          <a:spcPts val="0"/>
                        </a:spcAft>
                        <a:buNone/>
                      </a:pP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Merriweather"/>
                          <a:ea typeface="Merriweather"/>
                          <a:cs typeface="Merriweather"/>
                          <a:sym typeface="Merriweather"/>
                        </a:rPr>
                        <a:t>4.</a:t>
                      </a:r>
                      <a:r>
                        <a:rPr b="1" i="1" lang="en-US" sz="1400">
                          <a:latin typeface="Merriweather"/>
                          <a:ea typeface="Merriweather"/>
                          <a:cs typeface="Merriweather"/>
                          <a:sym typeface="Merriweather"/>
                        </a:rPr>
                        <a:t>Ռեսուրսներով ապահովվածությունը</a:t>
                      </a:r>
                      <a:r>
                        <a:rPr i="1" lang="en-US" sz="1400">
                          <a:latin typeface="Calibri"/>
                          <a:ea typeface="Calibri"/>
                          <a:cs typeface="Calibri"/>
                          <a:sym typeface="Calibri"/>
                        </a:rPr>
                        <a:t> </a:t>
                      </a:r>
                      <a:endParaRPr i="1" sz="1400">
                        <a:latin typeface="Calibri"/>
                        <a:ea typeface="Calibri"/>
                        <a:cs typeface="Calibri"/>
                        <a:sym typeface="Calibri"/>
                      </a:endParaRPr>
                    </a:p>
                    <a:p>
                      <a:pPr indent="0" lvl="0" marL="0" marR="0" rtl="0" algn="l">
                        <a:spcBef>
                          <a:spcPts val="0"/>
                        </a:spcBef>
                        <a:spcAft>
                          <a:spcPts val="0"/>
                        </a:spcAft>
                        <a:buNone/>
                      </a:pPr>
                      <a:r>
                        <a:t/>
                      </a:r>
                      <a:endParaRPr i="1" sz="1400">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Noto Sans Symbols"/>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Համակարգչային կաբինետ՝</a:t>
                      </a:r>
                      <a:r>
                        <a:rPr i="1" lang="en-US" sz="1400">
                          <a:latin typeface="Merriweather"/>
                          <a:ea typeface="Merriweather"/>
                          <a:cs typeface="Merriweather"/>
                          <a:sym typeface="Merriweather"/>
                        </a:rPr>
                        <a:t> հ</a:t>
                      </a:r>
                      <a:r>
                        <a:rPr i="1" lang="en-US" sz="1400">
                          <a:latin typeface="Merriweather"/>
                          <a:ea typeface="Merriweather"/>
                          <a:cs typeface="Merriweather"/>
                          <a:sym typeface="Merriweather"/>
                        </a:rPr>
                        <a:t>ամակարգիչներ</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Կենսաբանության վերաբերյալ նոր ուսումնական նյութեր՝մանրադիտակներ և պատվաստուկներ</a:t>
                      </a:r>
                      <a:r>
                        <a:rPr i="1" lang="en-US" sz="1400">
                          <a:latin typeface="Calibri"/>
                          <a:ea typeface="Calibri"/>
                          <a:cs typeface="Calibri"/>
                          <a:sym typeface="Calibri"/>
                        </a:rPr>
                        <a:t>  </a:t>
                      </a:r>
                      <a:endParaRPr i="1" sz="1400">
                        <a:latin typeface="Calibri"/>
                        <a:ea typeface="Calibri"/>
                        <a:cs typeface="Calibri"/>
                        <a:sym typeface="Calibri"/>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Ֆիզիկայի ժամանակակից լաբորատորիա</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Քիմիայի  ժամանակակից լաբորատորիա</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 </a:t>
                      </a:r>
                      <a:r>
                        <a:rPr i="1" lang="en-US" sz="1400">
                          <a:latin typeface="Merriweather"/>
                          <a:ea typeface="Merriweather"/>
                          <a:cs typeface="Merriweather"/>
                          <a:sym typeface="Merriweather"/>
                        </a:rPr>
                        <a:t>Աշխարհագրության</a:t>
                      </a:r>
                      <a:r>
                        <a:rPr i="1" lang="en-US" sz="1400">
                          <a:latin typeface="Merriweather"/>
                          <a:ea typeface="Merriweather"/>
                          <a:cs typeface="Merriweather"/>
                          <a:sym typeface="Merriweather"/>
                        </a:rPr>
                        <a:t> կաբինետ՝ հագեցած ուսումնական նյութերով/գլոբուսներ, քարտեզներ.../</a:t>
                      </a:r>
                      <a:endParaRPr sz="1400"/>
                    </a:p>
                  </a:txBody>
                  <a:tcPr marT="45725" marB="45725" marR="91450" marL="91450"/>
                </a:tc>
                <a:tc>
                  <a:txBody>
                    <a:bodyPr/>
                    <a:lstStyle/>
                    <a:p>
                      <a:pPr indent="0" lvl="0" marL="0" marR="0" rtl="0" algn="l">
                        <a:spcBef>
                          <a:spcPts val="0"/>
                        </a:spcBef>
                        <a:spcAft>
                          <a:spcPts val="0"/>
                        </a:spcAft>
                        <a:buNone/>
                      </a:pPr>
                      <a:r>
                        <a:rPr b="1" i="1" lang="en-US" sz="1400">
                          <a:latin typeface="Merriweather"/>
                          <a:ea typeface="Merriweather"/>
                          <a:cs typeface="Merriweather"/>
                          <a:sym typeface="Merriweather"/>
                        </a:rPr>
                        <a:t>2.Սովորողների ուսումնառության և այլ գործունեության թույլ կողմեր</a:t>
                      </a:r>
                      <a:r>
                        <a:rPr b="1"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Մարզային, հանրապետական, միջազգային օլիմպիադաներում հաղթանակների ցածր ցուցանիշ</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Մասնակցության նվազում «Կենգուրու» , «Ռուսական արջուկ» միջազգային և  «Մեղու» հանրապետական մրցույթներում:</a:t>
                      </a:r>
                      <a:endParaRPr b="1" i="1" sz="1400">
                        <a:latin typeface="Calibri"/>
                        <a:ea typeface="Calibri"/>
                        <a:cs typeface="Calibri"/>
                        <a:sym typeface="Calibri"/>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rPr b="1" i="1" lang="en-US" sz="1400">
                          <a:latin typeface="Merriweather"/>
                          <a:ea typeface="Merriweather"/>
                          <a:cs typeface="Merriweather"/>
                          <a:sym typeface="Merriweather"/>
                        </a:rPr>
                        <a:t>3. Ծնողների, համայնքի, կառավարման խորհուրդի, այլ մարմինների գործունեության թույլ կողմեր</a:t>
                      </a:r>
                      <a:r>
                        <a:rPr b="1" i="1" lang="en-US" sz="1400">
                          <a:latin typeface="Calibri"/>
                          <a:ea typeface="Calibri"/>
                          <a:cs typeface="Calibri"/>
                          <a:sym typeface="Calibri"/>
                        </a:rPr>
                        <a:t> </a:t>
                      </a: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rPr b="1" i="1" lang="en-US" sz="1400">
                          <a:latin typeface="Merriweather"/>
                          <a:ea typeface="Merriweather"/>
                          <a:cs typeface="Merriweather"/>
                          <a:sym typeface="Merriweather"/>
                        </a:rPr>
                        <a:t>4.Ռեսուրսներով ապահովվածության խնդիրները</a:t>
                      </a:r>
                      <a:r>
                        <a:rPr i="1" lang="en-US" sz="1400">
                          <a:latin typeface="Calibri"/>
                          <a:ea typeface="Calibri"/>
                          <a:cs typeface="Calibri"/>
                          <a:sym typeface="Calibri"/>
                        </a:rPr>
                        <a:t> </a:t>
                      </a:r>
                      <a:endParaRPr/>
                    </a:p>
                    <a:p>
                      <a:pPr indent="-285750" lvl="0" marL="285750" marR="0" rtl="0" algn="l">
                        <a:spcBef>
                          <a:spcPts val="0"/>
                        </a:spcBef>
                        <a:spcAft>
                          <a:spcPts val="0"/>
                        </a:spcAft>
                        <a:buClr>
                          <a:schemeClr val="dk1"/>
                        </a:buClr>
                        <a:buSzPts val="1400"/>
                        <a:buFont typeface="Arial"/>
                        <a:buChar char="•"/>
                      </a:pPr>
                      <a:r>
                        <a:rPr i="1" lang="en-US" sz="1400">
                          <a:latin typeface="Merriweather"/>
                          <a:ea typeface="Merriweather"/>
                          <a:cs typeface="Merriweather"/>
                          <a:sym typeface="Merriweather"/>
                        </a:rPr>
                        <a:t>Էլեկտրոնային գրատախտակներ</a:t>
                      </a:r>
                      <a:r>
                        <a:rPr i="1" lang="en-US" sz="1400">
                          <a:latin typeface="Calibri"/>
                          <a:ea typeface="Calibri"/>
                          <a:cs typeface="Calibri"/>
                          <a:sym typeface="Calibri"/>
                        </a:rPr>
                        <a:t> </a:t>
                      </a:r>
                      <a:endParaRPr/>
                    </a:p>
                    <a:p>
                      <a:pPr indent="-285750" lvl="0" marL="285750" marR="0" rtl="0" algn="l">
                        <a:spcBef>
                          <a:spcPts val="0"/>
                        </a:spcBef>
                        <a:spcAft>
                          <a:spcPts val="0"/>
                        </a:spcAft>
                        <a:buClr>
                          <a:schemeClr val="dk1"/>
                        </a:buClr>
                        <a:buSzPts val="1400"/>
                        <a:buFont typeface="Arial"/>
                        <a:buChar char="•"/>
                      </a:pPr>
                      <a:r>
                        <a:rPr i="1" lang="en-US" sz="1400">
                          <a:latin typeface="Merriweather"/>
                          <a:ea typeface="Merriweather"/>
                          <a:cs typeface="Merriweather"/>
                          <a:sym typeface="Merriweather"/>
                        </a:rPr>
                        <a:t>Առարկայական</a:t>
                      </a:r>
                      <a:r>
                        <a:rPr i="1" lang="en-US" sz="1400">
                          <a:latin typeface="Merriweather"/>
                          <a:ea typeface="Merriweather"/>
                          <a:cs typeface="Merriweather"/>
                          <a:sym typeface="Merriweather"/>
                        </a:rPr>
                        <a:t> դասասենյակներ,</a:t>
                      </a:r>
                      <a:endParaRPr/>
                    </a:p>
                    <a:p>
                      <a:pPr indent="-285750" lvl="0" marL="285750" marR="0" rtl="0" algn="l">
                        <a:spcBef>
                          <a:spcPts val="0"/>
                        </a:spcBef>
                        <a:spcAft>
                          <a:spcPts val="0"/>
                        </a:spcAft>
                        <a:buClr>
                          <a:schemeClr val="dk1"/>
                        </a:buClr>
                        <a:buSzPts val="1400"/>
                        <a:buFont typeface="Arial"/>
                        <a:buChar char="•"/>
                      </a:pPr>
                      <a:r>
                        <a:rPr i="1" lang="en-US" sz="1400">
                          <a:latin typeface="Merriweather"/>
                          <a:ea typeface="Merriweather"/>
                          <a:cs typeface="Merriweather"/>
                          <a:sym typeface="Merriweather"/>
                        </a:rPr>
                        <a:t>Ժամանակակից միջոցներով հագեցած գրադարան</a:t>
                      </a:r>
                      <a:endParaRPr i="1" sz="1400">
                        <a:latin typeface="Merriweather"/>
                        <a:ea typeface="Merriweather"/>
                        <a:cs typeface="Merriweather"/>
                        <a:sym typeface="Merriweather"/>
                      </a:endParaRPr>
                    </a:p>
                    <a:p>
                      <a:pPr indent="-285750" lvl="0" marL="285750" marR="0" rtl="0" algn="l">
                        <a:spcBef>
                          <a:spcPts val="0"/>
                        </a:spcBef>
                        <a:spcAft>
                          <a:spcPts val="0"/>
                        </a:spcAft>
                        <a:buClr>
                          <a:schemeClr val="dk1"/>
                        </a:buClr>
                        <a:buSzPts val="1400"/>
                        <a:buFont typeface="Arial"/>
                        <a:buChar char="•"/>
                      </a:pPr>
                      <a:r>
                        <a:rPr i="1" lang="en-US" sz="1400">
                          <a:latin typeface="Merriweather"/>
                          <a:ea typeface="Merriweather"/>
                          <a:cs typeface="Merriweather"/>
                          <a:sym typeface="Merriweather"/>
                        </a:rPr>
                        <a:t> Աշխորհրդի սենյակ</a:t>
                      </a:r>
                      <a:endParaRPr sz="1400">
                        <a:latin typeface="Calibri"/>
                        <a:ea typeface="Calibri"/>
                        <a:cs typeface="Calibri"/>
                        <a:sym typeface="Calibri"/>
                      </a:endParaRPr>
                    </a:p>
                    <a:p>
                      <a:pPr indent="0" lvl="0" marL="0" marR="0" rtl="0" algn="l">
                        <a:spcBef>
                          <a:spcPts val="0"/>
                        </a:spcBef>
                        <a:spcAft>
                          <a:spcPts val="0"/>
                        </a:spcAft>
                        <a:buNone/>
                      </a:pPr>
                      <a:r>
                        <a:t/>
                      </a:r>
                      <a:endParaRPr sz="1400"/>
                    </a:p>
                  </a:txBody>
                  <a:tcPr marT="45725" marB="45725" marR="91450" marL="91450"/>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graphicFrame>
        <p:nvGraphicFramePr>
          <p:cNvPr id="669" name="Google Shape;669;p88"/>
          <p:cNvGraphicFramePr/>
          <p:nvPr/>
        </p:nvGraphicFramePr>
        <p:xfrm>
          <a:off x="270933" y="121980"/>
          <a:ext cx="3000000" cy="3000000"/>
        </p:xfrm>
        <a:graphic>
          <a:graphicData uri="http://schemas.openxmlformats.org/drawingml/2006/table">
            <a:tbl>
              <a:tblPr bandRow="1" firstRow="1">
                <a:noFill/>
                <a:tableStyleId>{40B977D2-3903-41EF-8714-5AC59086702B}</a:tableStyleId>
              </a:tblPr>
              <a:tblGrid>
                <a:gridCol w="5736975"/>
                <a:gridCol w="5736975"/>
              </a:tblGrid>
              <a:tr h="4752425">
                <a:tc>
                  <a:txBody>
                    <a:bodyPr/>
                    <a:lstStyle/>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rPr b="1" i="1" lang="en-US" sz="1400">
                          <a:latin typeface="Merriweather"/>
                          <a:ea typeface="Merriweather"/>
                          <a:cs typeface="Merriweather"/>
                          <a:sym typeface="Merriweather"/>
                        </a:rPr>
                        <a:t>5. Նոր նախաձեռնությունների ուղղությամբ հաջողությունները</a:t>
                      </a:r>
                      <a:r>
                        <a:rPr b="1" i="1" lang="en-US" sz="1400">
                          <a:latin typeface="Calibri"/>
                          <a:ea typeface="Calibri"/>
                          <a:cs typeface="Calibri"/>
                          <a:sym typeface="Calibri"/>
                        </a:rPr>
                        <a:t> </a:t>
                      </a:r>
                      <a:endParaRPr b="1" i="1" sz="1400">
                        <a:latin typeface="Calibri"/>
                        <a:ea typeface="Calibri"/>
                        <a:cs typeface="Calibri"/>
                        <a:sym typeface="Calibri"/>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Էլեկտրոնային</a:t>
                      </a:r>
                      <a:r>
                        <a:rPr i="1" lang="en-US" sz="1400">
                          <a:latin typeface="Merriweather"/>
                          <a:ea typeface="Merriweather"/>
                          <a:cs typeface="Merriweather"/>
                          <a:sym typeface="Merriweather"/>
                        </a:rPr>
                        <a:t> կրթական ռեսուրսների կիրառում</a:t>
                      </a:r>
                      <a:r>
                        <a:rPr i="1" lang="en-US" sz="1400">
                          <a:latin typeface="Merriweather"/>
                          <a:ea typeface="Merriweather"/>
                          <a:cs typeface="Merriweather"/>
                          <a:sym typeface="Merriweather"/>
                        </a:rPr>
                        <a:t> դասապրոցեսում</a:t>
                      </a:r>
                      <a:endParaRPr i="1" sz="1400">
                        <a:latin typeface="Merriweather"/>
                        <a:ea typeface="Merriweather"/>
                        <a:cs typeface="Merriweather"/>
                        <a:sym typeface="Merriweather"/>
                      </a:endParaRPr>
                    </a:p>
                    <a:p>
                      <a:pPr indent="0" lvl="0" marL="0" marR="0" rtl="0" algn="l">
                        <a:lnSpc>
                          <a:spcPct val="100000"/>
                        </a:lnSpc>
                        <a:spcBef>
                          <a:spcPts val="0"/>
                        </a:spcBef>
                        <a:spcAft>
                          <a:spcPts val="0"/>
                        </a:spcAft>
                        <a:buClr>
                          <a:schemeClr val="dk1"/>
                        </a:buClr>
                        <a:buSzPts val="1400"/>
                        <a:buFont typeface="Calibri"/>
                        <a:buNone/>
                      </a:pPr>
                      <a:r>
                        <a:rPr i="1" lang="en-US" sz="1400">
                          <a:latin typeface="Calibri"/>
                          <a:ea typeface="Calibri"/>
                          <a:cs typeface="Calibri"/>
                          <a:sym typeface="Calibri"/>
                        </a:rPr>
                        <a:t> </a:t>
                      </a:r>
                      <a:r>
                        <a:rPr i="1" lang="en-US" sz="1400">
                          <a:latin typeface="Noto Sans Symbols"/>
                          <a:ea typeface="Noto Sans Symbols"/>
                          <a:cs typeface="Noto Sans Symbols"/>
                          <a:sym typeface="Noto Sans Symbols"/>
                        </a:rPr>
                        <a:t>∙ </a:t>
                      </a:r>
                      <a:r>
                        <a:rPr i="1" lang="en-US" sz="1400">
                          <a:latin typeface="Merriweather"/>
                          <a:ea typeface="Merriweather"/>
                          <a:cs typeface="Merriweather"/>
                          <a:sym typeface="Merriweather"/>
                        </a:rPr>
                        <a:t>Հեռավար</a:t>
                      </a:r>
                      <a:r>
                        <a:rPr i="1" lang="en-US" sz="1400">
                          <a:latin typeface="Merriweather"/>
                          <a:ea typeface="Merriweather"/>
                          <a:cs typeface="Merriweather"/>
                          <a:sym typeface="Merriweather"/>
                        </a:rPr>
                        <a:t>  հարթակներում դասավանդելու հմտություններ</a:t>
                      </a:r>
                      <a:endParaRPr i="1" sz="1400">
                        <a:latin typeface="Noto Sans Symbols"/>
                        <a:ea typeface="Noto Sans Symbols"/>
                        <a:cs typeface="Noto Sans Symbols"/>
                        <a:sym typeface="Noto Sans Symbols"/>
                      </a:endParaRPr>
                    </a:p>
                    <a:p>
                      <a:pPr indent="0" lvl="0" marL="0" marR="0" rtl="0" algn="l">
                        <a:spcBef>
                          <a:spcPts val="0"/>
                        </a:spcBef>
                        <a:spcAft>
                          <a:spcPts val="0"/>
                        </a:spcAft>
                        <a:buNone/>
                      </a:pPr>
                      <a:r>
                        <a:rPr b="1" i="1" lang="en-US" sz="1400">
                          <a:latin typeface="Merriweather"/>
                          <a:ea typeface="Merriweather"/>
                          <a:cs typeface="Merriweather"/>
                          <a:sym typeface="Merriweather"/>
                        </a:rPr>
                        <a:t>6. Հաղորդակցության, համագործակցության ուժեղ կողմերը</a:t>
                      </a:r>
                      <a:r>
                        <a:rPr i="1" lang="en-US" sz="1400">
                          <a:latin typeface="Calibri"/>
                          <a:ea typeface="Calibri"/>
                          <a:cs typeface="Calibri"/>
                          <a:sym typeface="Calibri"/>
                        </a:rPr>
                        <a:t> </a:t>
                      </a:r>
                      <a:endParaRPr i="1" sz="1400">
                        <a:latin typeface="Calibri"/>
                        <a:ea typeface="Calibri"/>
                        <a:cs typeface="Calibri"/>
                        <a:sym typeface="Calibri"/>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Համագործակցություն ինչպես ՀՀ, այնպես էլ արտասահմանյան բուհերի ԵՊՀ, ՀՊՄՀ, ՀՊՏՀ, ԵՊԼՀ, МЭСИ/ և այլ կառույցների / «Իրավաբանների եւ հոգեբանների միջազգային ասոցիացիա» , ուկրաինական համայնք, Ուկրաինայի դեսպանատուն, «Россотрудниество» դաշնային գործակալության հայստանյան գրասենյակ, Ռուսաստանում հայերի միություն/ հետ`փորձի փոխանակման, սովորողների մասնագիտական կողմնորոշմանը նպաստելու, արտադպրոցական միջոցառումների անցկացումը խթանելու նպատակով, սովորողին հաղորդակից դարձնելու այլ ազգերի մշակույթին, խթանելու օտար լեզուների իմացությունը, սերմանելու բարեկամական հարաբերությունների պահպանում և հանդուրժողականություն ազգերի, ժողովուրդների միջև:</a:t>
                      </a:r>
                      <a:endParaRPr i="1" sz="1400">
                        <a:latin typeface="Merriweather"/>
                        <a:ea typeface="Merriweather"/>
                        <a:cs typeface="Merriweather"/>
                        <a:sym typeface="Merriweather"/>
                      </a:endParaRPr>
                    </a:p>
                    <a:p>
                      <a:pPr indent="0" lvl="0" marL="0" marR="0" rtl="0" algn="l">
                        <a:spcBef>
                          <a:spcPts val="0"/>
                        </a:spcBef>
                        <a:spcAft>
                          <a:spcPts val="0"/>
                        </a:spcAft>
                        <a:buNone/>
                      </a:pPr>
                      <a:r>
                        <a:rPr b="1" i="1" lang="en-US" sz="1400">
                          <a:latin typeface="Calibri"/>
                          <a:ea typeface="Calibri"/>
                          <a:cs typeface="Calibri"/>
                          <a:sym typeface="Calibri"/>
                        </a:rPr>
                        <a:t> </a:t>
                      </a:r>
                      <a:endParaRPr/>
                    </a:p>
                    <a:p>
                      <a:pPr indent="0" lvl="0" marL="0" marR="0" rtl="0" algn="l">
                        <a:spcBef>
                          <a:spcPts val="0"/>
                        </a:spcBef>
                        <a:spcAft>
                          <a:spcPts val="0"/>
                        </a:spcAft>
                        <a:buNone/>
                      </a:pPr>
                      <a:r>
                        <a:rPr b="1" i="1" lang="en-US" sz="1400">
                          <a:latin typeface="Merriweather"/>
                          <a:ea typeface="Merriweather"/>
                          <a:cs typeface="Merriweather"/>
                          <a:sym typeface="Merriweather"/>
                        </a:rPr>
                        <a:t>7. Բյուջեի, ֆինանսական միջոցների հետ կապված հաջողությունները</a:t>
                      </a:r>
                      <a:r>
                        <a:rPr i="1"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Գրագետ մենեջմենթ/Պարտքեր չունենալը/</a:t>
                      </a:r>
                      <a:r>
                        <a:rPr i="1" lang="en-US" sz="1400">
                          <a:latin typeface="Calibri"/>
                          <a:ea typeface="Calibri"/>
                          <a:cs typeface="Calibri"/>
                          <a:sym typeface="Calibri"/>
                        </a:rPr>
                        <a:t> </a:t>
                      </a:r>
                      <a:endParaRPr i="1" sz="1400">
                        <a:latin typeface="Calibri"/>
                        <a:ea typeface="Calibri"/>
                        <a:cs typeface="Calibri"/>
                        <a:sym typeface="Calibri"/>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Աշխատավարձի և կոմունալ ծախսերի ժամանակին վճարում</a:t>
                      </a:r>
                      <a:endParaRPr sz="14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rPr b="1" i="1" lang="en-US" sz="1400">
                          <a:latin typeface="Merriweather"/>
                          <a:ea typeface="Merriweather"/>
                          <a:cs typeface="Merriweather"/>
                          <a:sym typeface="Merriweather"/>
                        </a:rPr>
                        <a:t>5. Նոր նախաձեռնությունների ուղղությամբ թույլ կողմերը</a:t>
                      </a:r>
                      <a:r>
                        <a:rPr b="1" i="1" lang="en-US" sz="1400">
                          <a:latin typeface="Calibri"/>
                          <a:ea typeface="Calibri"/>
                          <a:cs typeface="Calibri"/>
                          <a:sym typeface="Calibri"/>
                        </a:rPr>
                        <a:t> </a:t>
                      </a:r>
                      <a:endParaRPr b="1" i="1" sz="1400">
                        <a:latin typeface="Calibri"/>
                        <a:ea typeface="Calibri"/>
                        <a:cs typeface="Calibri"/>
                        <a:sym typeface="Calibri"/>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Դրամաշնորհային ծրագրեր</a:t>
                      </a:r>
                      <a:endParaRPr/>
                    </a:p>
                    <a:p>
                      <a:pPr indent="0" lvl="0" marL="0" marR="0" rtl="0" algn="l">
                        <a:spcBef>
                          <a:spcPts val="0"/>
                        </a:spcBef>
                        <a:spcAft>
                          <a:spcPts val="0"/>
                        </a:spcAft>
                        <a:buNone/>
                      </a:pPr>
                      <a:r>
                        <a:rPr b="1" i="1" lang="en-US" sz="1400">
                          <a:latin typeface="Calibri"/>
                          <a:ea typeface="Calibri"/>
                          <a:cs typeface="Calibri"/>
                          <a:sym typeface="Calibri"/>
                        </a:rPr>
                        <a:t> </a:t>
                      </a:r>
                      <a:endParaRPr/>
                    </a:p>
                    <a:p>
                      <a:pPr indent="0" lvl="0" marL="0" marR="0" rtl="0" algn="l">
                        <a:spcBef>
                          <a:spcPts val="0"/>
                        </a:spcBef>
                        <a:spcAft>
                          <a:spcPts val="0"/>
                        </a:spcAft>
                        <a:buNone/>
                      </a:pPr>
                      <a:r>
                        <a:rPr b="1" i="1" lang="en-US" sz="1400">
                          <a:latin typeface="Merriweather"/>
                          <a:ea typeface="Merriweather"/>
                          <a:cs typeface="Merriweather"/>
                          <a:sym typeface="Merriweather"/>
                        </a:rPr>
                        <a:t>6. Հաղորդակցություն, համագործակցության թույլ կողմերը</a:t>
                      </a:r>
                      <a:r>
                        <a:rPr b="1" i="1" lang="en-US" sz="1400">
                          <a:latin typeface="Calibri"/>
                          <a:ea typeface="Calibri"/>
                          <a:cs typeface="Calibri"/>
                          <a:sym typeface="Calibri"/>
                        </a:rPr>
                        <a:t> </a:t>
                      </a:r>
                      <a:endParaRPr b="1" i="1" sz="1400">
                        <a:latin typeface="Calibri"/>
                        <a:ea typeface="Calibri"/>
                        <a:cs typeface="Calibri"/>
                        <a:sym typeface="Calibri"/>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Միջազգային բուհերի և կառույցների հետ համագործակցության ընդլայնում </a:t>
                      </a:r>
                      <a:endParaRPr i="1" sz="1400">
                        <a:latin typeface="Merriweather"/>
                        <a:ea typeface="Merriweather"/>
                        <a:cs typeface="Merriweather"/>
                        <a:sym typeface="Merriweather"/>
                      </a:endParaRPr>
                    </a:p>
                    <a:p>
                      <a:pPr indent="0" lvl="0" marL="0" marR="0" rtl="0" algn="l">
                        <a:spcBef>
                          <a:spcPts val="0"/>
                        </a:spcBef>
                        <a:spcAft>
                          <a:spcPts val="0"/>
                        </a:spcAft>
                        <a:buNone/>
                      </a:pPr>
                      <a:r>
                        <a:rPr b="1" i="1" lang="en-US" sz="1400">
                          <a:latin typeface="Merriweather"/>
                          <a:ea typeface="Merriweather"/>
                          <a:cs typeface="Merriweather"/>
                          <a:sym typeface="Merriweather"/>
                        </a:rPr>
                        <a:t> </a:t>
                      </a:r>
                      <a:endParaRPr/>
                    </a:p>
                    <a:p>
                      <a:pPr indent="0" lvl="0" marL="0" marR="0" rtl="0" algn="l">
                        <a:spcBef>
                          <a:spcPts val="0"/>
                        </a:spcBef>
                        <a:spcAft>
                          <a:spcPts val="0"/>
                        </a:spcAft>
                        <a:buNone/>
                      </a:pPr>
                      <a:r>
                        <a:t/>
                      </a:r>
                      <a:endParaRPr b="1" i="1" sz="1400">
                        <a:latin typeface="Noto Sans Symbols"/>
                        <a:ea typeface="Noto Sans Symbols"/>
                        <a:cs typeface="Noto Sans Symbols"/>
                        <a:sym typeface="Noto Sans Symbols"/>
                      </a:endParaRPr>
                    </a:p>
                    <a:p>
                      <a:pPr indent="0" lvl="0" marL="0" marR="0" rtl="0" algn="l">
                        <a:spcBef>
                          <a:spcPts val="0"/>
                        </a:spcBef>
                        <a:spcAft>
                          <a:spcPts val="0"/>
                        </a:spcAft>
                        <a:buNone/>
                      </a:pPr>
                      <a:r>
                        <a:t/>
                      </a:r>
                      <a:endParaRPr b="1" i="1" sz="1400">
                        <a:latin typeface="Noto Sans Symbols"/>
                        <a:ea typeface="Noto Sans Symbols"/>
                        <a:cs typeface="Noto Sans Symbols"/>
                        <a:sym typeface="Noto Sans Symbols"/>
                      </a:endParaRPr>
                    </a:p>
                    <a:p>
                      <a:pPr indent="0" lvl="0" marL="0" marR="0" rtl="0" algn="l">
                        <a:spcBef>
                          <a:spcPts val="0"/>
                        </a:spcBef>
                        <a:spcAft>
                          <a:spcPts val="0"/>
                        </a:spcAft>
                        <a:buNone/>
                      </a:pPr>
                      <a:r>
                        <a:t/>
                      </a:r>
                      <a:endParaRPr b="1" i="1" sz="1400">
                        <a:latin typeface="Noto Sans Symbols"/>
                        <a:ea typeface="Noto Sans Symbols"/>
                        <a:cs typeface="Noto Sans Symbols"/>
                        <a:sym typeface="Noto Sans Symbols"/>
                      </a:endParaRPr>
                    </a:p>
                    <a:p>
                      <a:pPr indent="0" lvl="0" marL="0" marR="0" rtl="0" algn="l">
                        <a:spcBef>
                          <a:spcPts val="0"/>
                        </a:spcBef>
                        <a:spcAft>
                          <a:spcPts val="0"/>
                        </a:spcAft>
                        <a:buNone/>
                      </a:pPr>
                      <a:r>
                        <a:t/>
                      </a:r>
                      <a:endParaRPr b="1" i="1" sz="1400">
                        <a:latin typeface="Noto Sans Symbols"/>
                        <a:ea typeface="Noto Sans Symbols"/>
                        <a:cs typeface="Noto Sans Symbols"/>
                        <a:sym typeface="Noto Sans Symbols"/>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t/>
                      </a:r>
                      <a:endParaRPr b="1" i="1" sz="1400">
                        <a:latin typeface="Merriweather"/>
                        <a:ea typeface="Merriweather"/>
                        <a:cs typeface="Merriweather"/>
                        <a:sym typeface="Merriweather"/>
                      </a:endParaRPr>
                    </a:p>
                    <a:p>
                      <a:pPr indent="0" lvl="0" marL="0" marR="0" rtl="0" algn="l">
                        <a:spcBef>
                          <a:spcPts val="0"/>
                        </a:spcBef>
                        <a:spcAft>
                          <a:spcPts val="0"/>
                        </a:spcAft>
                        <a:buNone/>
                      </a:pPr>
                      <a:r>
                        <a:rPr b="1" i="1" lang="en-US" sz="1400">
                          <a:latin typeface="Merriweather"/>
                          <a:ea typeface="Merriweather"/>
                          <a:cs typeface="Merriweather"/>
                          <a:sym typeface="Merriweather"/>
                        </a:rPr>
                        <a:t> </a:t>
                      </a:r>
                      <a:endParaRPr/>
                    </a:p>
                    <a:p>
                      <a:pPr indent="0" lvl="0" marL="0" marR="0" rtl="0" algn="l">
                        <a:spcBef>
                          <a:spcPts val="0"/>
                        </a:spcBef>
                        <a:spcAft>
                          <a:spcPts val="0"/>
                        </a:spcAft>
                        <a:buNone/>
                      </a:pPr>
                      <a:r>
                        <a:rPr b="1" i="1" lang="en-US" sz="1400">
                          <a:latin typeface="Merriweather"/>
                          <a:ea typeface="Merriweather"/>
                          <a:cs typeface="Merriweather"/>
                          <a:sym typeface="Merriweather"/>
                        </a:rPr>
                        <a:t>7. Բյուջեի, ֆինանսական միջոցների հետ կապված դժվարությունները և խնդիրները</a:t>
                      </a:r>
                      <a:r>
                        <a:rPr i="1" lang="en-US" sz="1400">
                          <a:latin typeface="Calibri"/>
                          <a:ea typeface="Calibri"/>
                          <a:cs typeface="Calibri"/>
                          <a:sym typeface="Calibri"/>
                        </a:rPr>
                        <a:t> </a:t>
                      </a:r>
                      <a:endParaRPr i="1" sz="1400">
                        <a:latin typeface="Calibri"/>
                        <a:ea typeface="Calibri"/>
                        <a:cs typeface="Calibri"/>
                        <a:sym typeface="Calibri"/>
                      </a:endParaRPr>
                    </a:p>
                    <a:p>
                      <a:pPr indent="0" lvl="0" marL="0" marR="0" rtl="0" algn="l">
                        <a:spcBef>
                          <a:spcPts val="0"/>
                        </a:spcBef>
                        <a:spcAft>
                          <a:spcPts val="0"/>
                        </a:spcAft>
                        <a:buNone/>
                      </a:pPr>
                      <a:r>
                        <a:rPr i="1" lang="en-US" sz="1400">
                          <a:latin typeface="Noto Sans Symbols"/>
                          <a:ea typeface="Noto Sans Symbols"/>
                          <a:cs typeface="Noto Sans Symbols"/>
                          <a:sym typeface="Noto Sans Symbols"/>
                        </a:rPr>
                        <a:t>∙</a:t>
                      </a:r>
                      <a:r>
                        <a:rPr i="1" lang="en-US" sz="1400">
                          <a:latin typeface="Merriweather"/>
                          <a:ea typeface="Merriweather"/>
                          <a:cs typeface="Merriweather"/>
                          <a:sym typeface="Merriweather"/>
                        </a:rPr>
                        <a:t>Նոր</a:t>
                      </a:r>
                      <a:r>
                        <a:rPr i="1" lang="en-US" sz="1400">
                          <a:latin typeface="Merriweather"/>
                          <a:ea typeface="Merriweather"/>
                          <a:cs typeface="Merriweather"/>
                          <a:sym typeface="Merriweather"/>
                        </a:rPr>
                        <a:t> դասասենյակների բացակայության պատճառով դասարանների թիվը հնարավոր չէ ավելացնել:</a:t>
                      </a:r>
                      <a:endParaRPr i="1" sz="1400">
                        <a:latin typeface="Noto Sans Symbols"/>
                        <a:ea typeface="Noto Sans Symbols"/>
                        <a:cs typeface="Noto Sans Symbols"/>
                        <a:sym typeface="Noto Sans Symbols"/>
                      </a:endParaRPr>
                    </a:p>
                  </a:txBody>
                  <a:tcPr marT="45725" marB="45725" marR="91450" marL="91450"/>
                </a:tc>
              </a:tr>
              <a:tr h="1821525">
                <a:tc>
                  <a:txBody>
                    <a:bodyPr/>
                    <a:lstStyle/>
                    <a:p>
                      <a:pPr indent="0" lvl="0" marL="0" marR="0" rtl="0" algn="l">
                        <a:spcBef>
                          <a:spcPts val="0"/>
                        </a:spcBef>
                        <a:spcAft>
                          <a:spcPts val="0"/>
                        </a:spcAft>
                        <a:buNone/>
                      </a:pPr>
                      <a:r>
                        <a:rPr b="1" i="1" lang="en-US" sz="1400">
                          <a:latin typeface="Merriweather"/>
                          <a:ea typeface="Merriweather"/>
                          <a:cs typeface="Merriweather"/>
                          <a:sym typeface="Merriweather"/>
                        </a:rPr>
                        <a:t>Հնարավորություններ</a:t>
                      </a:r>
                      <a:r>
                        <a:rPr lang="en-US" sz="1400">
                          <a:latin typeface="Calibri"/>
                          <a:ea typeface="Calibri"/>
                          <a:cs typeface="Calibri"/>
                          <a:sym typeface="Calibri"/>
                        </a:rPr>
                        <a:t> </a:t>
                      </a:r>
                      <a:endParaRPr sz="1800"/>
                    </a:p>
                    <a:p>
                      <a:pPr indent="0" lvl="0" marL="0" marR="0" rtl="0" algn="l">
                        <a:spcBef>
                          <a:spcPts val="0"/>
                        </a:spcBef>
                        <a:spcAft>
                          <a:spcPts val="0"/>
                        </a:spcAft>
                        <a:buNone/>
                      </a:pPr>
                      <a:r>
                        <a:rPr i="1" lang="en-US" sz="1400">
                          <a:latin typeface="Merriweather"/>
                          <a:ea typeface="Merriweather"/>
                          <a:cs typeface="Merriweather"/>
                          <a:sym typeface="Merriweather"/>
                        </a:rPr>
                        <a:t>1 Միջազգային համագործակցության ընդլայնում</a:t>
                      </a:r>
                      <a:r>
                        <a:rPr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Merriweather"/>
                          <a:ea typeface="Merriweather"/>
                          <a:cs typeface="Merriweather"/>
                          <a:sym typeface="Merriweather"/>
                        </a:rPr>
                        <a:t>2. Նյութատեխնիկական բազայի համալրում</a:t>
                      </a:r>
                      <a:r>
                        <a:rPr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Merriweather"/>
                          <a:ea typeface="Merriweather"/>
                          <a:cs typeface="Merriweather"/>
                          <a:sym typeface="Merriweather"/>
                        </a:rPr>
                        <a:t>3. Ինտերակտիվ դասարաների ավելացում</a:t>
                      </a:r>
                      <a:r>
                        <a:rPr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Merriweather"/>
                          <a:ea typeface="Merriweather"/>
                          <a:cs typeface="Merriweather"/>
                          <a:sym typeface="Merriweather"/>
                        </a:rPr>
                        <a:t>4. Սովորողների առաջընթացի և բարձր առաջադիմության ապահովում</a:t>
                      </a:r>
                      <a:r>
                        <a:rPr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Merriweather"/>
                          <a:ea typeface="Merriweather"/>
                          <a:cs typeface="Merriweather"/>
                          <a:sym typeface="Merriweather"/>
                        </a:rPr>
                        <a:t>5. Տարակարգ ունեցող, կամավոր ատեստավորված, ստեղծագործ ուսուցիչների թվի ավելացում</a:t>
                      </a:r>
                      <a:endParaRPr sz="1400">
                        <a:latin typeface="Merriweather"/>
                        <a:ea typeface="Merriweather"/>
                        <a:cs typeface="Merriweather"/>
                        <a:sym typeface="Merriweather"/>
                      </a:endParaRPr>
                    </a:p>
                  </a:txBody>
                  <a:tcPr marT="45725" marB="45725" marR="91450" marL="91450"/>
                </a:tc>
                <a:tc>
                  <a:txBody>
                    <a:bodyPr/>
                    <a:lstStyle/>
                    <a:p>
                      <a:pPr indent="0" lvl="0" marL="0" marR="0" rtl="0" algn="l">
                        <a:spcBef>
                          <a:spcPts val="0"/>
                        </a:spcBef>
                        <a:spcAft>
                          <a:spcPts val="0"/>
                        </a:spcAft>
                        <a:buNone/>
                      </a:pPr>
                      <a:r>
                        <a:rPr b="1" i="1" lang="en-US" sz="1400">
                          <a:latin typeface="Merriweather"/>
                          <a:ea typeface="Merriweather"/>
                          <a:cs typeface="Merriweather"/>
                          <a:sym typeface="Merriweather"/>
                        </a:rPr>
                        <a:t>Վտանգներ</a:t>
                      </a:r>
                      <a:r>
                        <a:rPr lang="en-US" sz="1400">
                          <a:latin typeface="Calibri"/>
                          <a:ea typeface="Calibri"/>
                          <a:cs typeface="Calibri"/>
                          <a:sym typeface="Calibri"/>
                        </a:rPr>
                        <a:t> </a:t>
                      </a:r>
                      <a:endParaRPr sz="1800"/>
                    </a:p>
                    <a:p>
                      <a:pPr indent="0" lvl="0" marL="0" marR="0" rtl="0" algn="l">
                        <a:spcBef>
                          <a:spcPts val="0"/>
                        </a:spcBef>
                        <a:spcAft>
                          <a:spcPts val="0"/>
                        </a:spcAft>
                        <a:buNone/>
                      </a:pPr>
                      <a:r>
                        <a:rPr i="1" lang="en-US" sz="1400">
                          <a:latin typeface="Merriweather"/>
                          <a:ea typeface="Merriweather"/>
                          <a:cs typeface="Merriweather"/>
                          <a:sym typeface="Merriweather"/>
                        </a:rPr>
                        <a:t>1. Երկրորդ մասնաշենքի և սպորտդահլիճի հիմնանորոգման խնդրի լուծում</a:t>
                      </a:r>
                      <a:r>
                        <a:rPr lang="en-US" sz="1400">
                          <a:latin typeface="Calibri"/>
                          <a:ea typeface="Calibri"/>
                          <a:cs typeface="Calibri"/>
                          <a:sym typeface="Calibri"/>
                        </a:rPr>
                        <a:t> </a:t>
                      </a:r>
                      <a:endParaRPr/>
                    </a:p>
                    <a:p>
                      <a:pPr indent="0" lvl="0" marL="0" marR="0" rtl="0" algn="l">
                        <a:spcBef>
                          <a:spcPts val="0"/>
                        </a:spcBef>
                        <a:spcAft>
                          <a:spcPts val="0"/>
                        </a:spcAft>
                        <a:buNone/>
                      </a:pPr>
                      <a:r>
                        <a:rPr i="1" lang="en-US" sz="1400">
                          <a:latin typeface="Merriweather"/>
                          <a:ea typeface="Merriweather"/>
                          <a:cs typeface="Merriweather"/>
                          <a:sym typeface="Merriweather"/>
                        </a:rPr>
                        <a:t>2.Բյուջեի համալրում, տնտեսումներ/սովորողների թվի աճի ապահովում, աջակցությունների հայթայթում/</a:t>
                      </a:r>
                      <a:r>
                        <a:rPr lang="en-US" sz="1400">
                          <a:latin typeface="Calibri"/>
                          <a:ea typeface="Calibri"/>
                          <a:cs typeface="Calibri"/>
                          <a:sym typeface="Calibri"/>
                        </a:rPr>
                        <a:t> </a:t>
                      </a:r>
                      <a:endParaRPr/>
                    </a:p>
                    <a:p>
                      <a:pPr indent="0" lvl="0" marL="0" marR="0" rtl="0" algn="l">
                        <a:spcBef>
                          <a:spcPts val="0"/>
                        </a:spcBef>
                        <a:spcAft>
                          <a:spcPts val="0"/>
                        </a:spcAft>
                        <a:buNone/>
                      </a:pPr>
                      <a:r>
                        <a:t/>
                      </a:r>
                      <a:endParaRPr sz="1400"/>
                    </a:p>
                  </a:txBody>
                  <a:tcPr marT="45725" marB="45725" marR="91450" marL="91450"/>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graphicFrame>
        <p:nvGraphicFramePr>
          <p:cNvPr id="675" name="Google Shape;675;p89"/>
          <p:cNvGraphicFramePr/>
          <p:nvPr/>
        </p:nvGraphicFramePr>
        <p:xfrm>
          <a:off x="270933" y="121980"/>
          <a:ext cx="3000000" cy="3000000"/>
        </p:xfrm>
        <a:graphic>
          <a:graphicData uri="http://schemas.openxmlformats.org/drawingml/2006/table">
            <a:tbl>
              <a:tblPr bandRow="1" firstRow="1">
                <a:noFill/>
                <a:tableStyleId>{40B977D2-3903-41EF-8714-5AC59086702B}</a:tableStyleId>
              </a:tblPr>
              <a:tblGrid>
                <a:gridCol w="11473950"/>
              </a:tblGrid>
              <a:tr h="6573975">
                <a:tc>
                  <a:txBody>
                    <a:bodyPr/>
                    <a:lstStyle/>
                    <a:p>
                      <a:pPr indent="0" lvl="0" marL="0" marR="0" rtl="0" algn="ctr">
                        <a:spcBef>
                          <a:spcPts val="0"/>
                        </a:spcBef>
                        <a:spcAft>
                          <a:spcPts val="0"/>
                        </a:spcAft>
                        <a:buNone/>
                      </a:pPr>
                      <a:r>
                        <a:t/>
                      </a:r>
                      <a:endParaRPr b="1" i="1" sz="1400">
                        <a:latin typeface="Merriweather"/>
                        <a:ea typeface="Merriweather"/>
                        <a:cs typeface="Merriweather"/>
                        <a:sym typeface="Merriweather"/>
                      </a:endParaRPr>
                    </a:p>
                  </a:txBody>
                  <a:tcPr marT="45725" marB="45725" marR="91450" marL="91450"/>
                </a:tc>
              </a:tr>
            </a:tbl>
          </a:graphicData>
        </a:graphic>
      </p:graphicFrame>
      <p:pic>
        <p:nvPicPr>
          <p:cNvPr id="676" name="Google Shape;676;p89"/>
          <p:cNvPicPr preferRelativeResize="0"/>
          <p:nvPr/>
        </p:nvPicPr>
        <p:blipFill rotWithShape="1">
          <a:blip r:embed="rId3">
            <a:alphaModFix/>
          </a:blip>
          <a:srcRect b="0" l="0" r="0" t="0"/>
          <a:stretch/>
        </p:blipFill>
        <p:spPr>
          <a:xfrm>
            <a:off x="1549257" y="665825"/>
            <a:ext cx="10038267" cy="563732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
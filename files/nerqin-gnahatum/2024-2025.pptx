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ink/ink2.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1"/>
  </p:sldMasterIdLst>
  <p:notesMasterIdLst>
    <p:notesMasterId r:id="rId73"/>
  </p:notesMasterIdLst>
  <p:sldIdLst>
    <p:sldId id="258" r:id="rId2"/>
    <p:sldId id="259" r:id="rId3"/>
    <p:sldId id="260" r:id="rId4"/>
    <p:sldId id="261" r:id="rId5"/>
    <p:sldId id="329" r:id="rId6"/>
    <p:sldId id="264" r:id="rId7"/>
    <p:sldId id="266" r:id="rId8"/>
    <p:sldId id="265" r:id="rId9"/>
    <p:sldId id="267" r:id="rId10"/>
    <p:sldId id="268" r:id="rId11"/>
    <p:sldId id="269" r:id="rId12"/>
    <p:sldId id="270" r:id="rId13"/>
    <p:sldId id="332" r:id="rId14"/>
    <p:sldId id="280" r:id="rId15"/>
    <p:sldId id="281" r:id="rId16"/>
    <p:sldId id="272" r:id="rId17"/>
    <p:sldId id="273" r:id="rId18"/>
    <p:sldId id="276" r:id="rId19"/>
    <p:sldId id="277" r:id="rId20"/>
    <p:sldId id="278" r:id="rId21"/>
    <p:sldId id="274" r:id="rId22"/>
    <p:sldId id="275" r:id="rId23"/>
    <p:sldId id="323" r:id="rId24"/>
    <p:sldId id="324" r:id="rId25"/>
    <p:sldId id="325" r:id="rId26"/>
    <p:sldId id="327" r:id="rId27"/>
    <p:sldId id="284" r:id="rId28"/>
    <p:sldId id="282" r:id="rId29"/>
    <p:sldId id="283" r:id="rId30"/>
    <p:sldId id="286" r:id="rId31"/>
    <p:sldId id="330" r:id="rId32"/>
    <p:sldId id="287" r:id="rId33"/>
    <p:sldId id="290" r:id="rId34"/>
    <p:sldId id="288" r:id="rId35"/>
    <p:sldId id="289" r:id="rId36"/>
    <p:sldId id="291" r:id="rId37"/>
    <p:sldId id="292" r:id="rId38"/>
    <p:sldId id="293" r:id="rId39"/>
    <p:sldId id="294" r:id="rId40"/>
    <p:sldId id="295" r:id="rId41"/>
    <p:sldId id="333" r:id="rId42"/>
    <p:sldId id="334" r:id="rId43"/>
    <p:sldId id="297" r:id="rId44"/>
    <p:sldId id="296" r:id="rId45"/>
    <p:sldId id="298" r:id="rId46"/>
    <p:sldId id="299" r:id="rId47"/>
    <p:sldId id="331" r:id="rId48"/>
    <p:sldId id="320" r:id="rId49"/>
    <p:sldId id="321" r:id="rId50"/>
    <p:sldId id="335" r:id="rId51"/>
    <p:sldId id="336" r:id="rId52"/>
    <p:sldId id="319" r:id="rId53"/>
    <p:sldId id="300" r:id="rId54"/>
    <p:sldId id="301" r:id="rId55"/>
    <p:sldId id="302" r:id="rId56"/>
    <p:sldId id="303" r:id="rId57"/>
    <p:sldId id="304" r:id="rId58"/>
    <p:sldId id="305" r:id="rId59"/>
    <p:sldId id="308" r:id="rId60"/>
    <p:sldId id="309" r:id="rId61"/>
    <p:sldId id="310" r:id="rId62"/>
    <p:sldId id="311" r:id="rId63"/>
    <p:sldId id="312" r:id="rId64"/>
    <p:sldId id="313" r:id="rId65"/>
    <p:sldId id="314" r:id="rId66"/>
    <p:sldId id="315" r:id="rId67"/>
    <p:sldId id="316" r:id="rId68"/>
    <p:sldId id="317" r:id="rId69"/>
    <p:sldId id="318" r:id="rId70"/>
    <p:sldId id="328" r:id="rId71"/>
    <p:sldId id="338"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BF6"/>
    <a:srgbClr val="FDFDFB"/>
    <a:srgbClr val="FAFBF5"/>
    <a:srgbClr val="363736"/>
    <a:srgbClr val="EDEBE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85415-D9CF-41C5-B944-45F915BA9209}" v="34" dt="2019-09-09T11:24:48.851"/>
    <p1510:client id="{0D934070-F4CF-4731-9899-EB1E98CFD092}" v="440" dt="2023-09-13T09:50:59.180"/>
    <p1510:client id="{18EB8441-2E33-4C67-BD2E-B29637049A79}" v="593" dt="2021-09-11T21:10:54.419"/>
    <p1510:client id="{2960E4F6-EFD9-4E3E-85C5-A304EDF917F4}" v="104" dt="2021-09-18T08:51:08.928"/>
    <p1510:client id="{34A7C8AD-9EE9-4EB8-BA9D-DAD9520F86BA}" v="434" dt="2019-09-05T17:11:20.132"/>
    <p1510:client id="{36FCAE80-196C-47AA-99D0-F21507C76DEE}" v="398" dt="2023-09-25T15:13:23.786"/>
    <p1510:client id="{3B7D5419-5C54-4417-BBBE-73DE0D263403}" v="538" dt="2023-09-11T12:04:27.878"/>
    <p1510:client id="{485F7956-6A2F-4DEB-A932-EC2180023264}" v="8" dt="2023-03-13T19:04:24.701"/>
    <p1510:client id="{4F82E150-4EBC-46EB-A9F3-6C5EF071959B}" v="1342" dt="2023-09-29T12:24:49.290"/>
    <p1510:client id="{5A5917F9-7E30-4026-BE1C-AE984DA39D53}" v="11" dt="2020-07-24T18:44:40.414"/>
    <p1510:client id="{5EE0FB1C-16D0-42A2-A097-429DCF35C8D7}" v="117" dt="2020-08-27T09:24:56.462"/>
    <p1510:client id="{6CC97237-2788-4407-8C2B-45FB7300CA43}" v="18" dt="2021-08-25T17:21:36.121"/>
    <p1510:client id="{7B47C4A7-2850-4D73-CE37-2886369CD9F2}" v="1318" dt="2020-09-06T21:53:47.090"/>
    <p1510:client id="{7BC582D0-3F94-496D-A633-2232CFAAD82C}" v="30" dt="2019-09-06T05:18:08.428"/>
    <p1510:client id="{7C38CC55-4266-4A5D-9020-AC8906D0D7B1}" v="8" dt="2020-06-25T07:03:05.638"/>
    <p1510:client id="{7F7C5F1A-4A97-4911-8DD3-C6DE8A8620E0}" v="379" dt="2023-09-25T15:52:59.232"/>
    <p1510:client id="{C632E453-402F-4AB1-9A24-E43C5EA626E9}" v="211" dt="2023-09-26T11:47:29.313"/>
    <p1510:client id="{D2F26D80-E150-4C92-8812-A3B81B9CA692}" v="319" dt="2021-10-31T21:41:30.335"/>
    <p1510:client id="{E375DB02-CB30-4C15-87EA-EF502F9F0125}" v="1374" dt="2020-06-23T11:54:15.811"/>
    <p1510:client id="{ED92748D-2C6E-4C66-AC19-2C3EB709F9E8}" v="663" dt="2021-09-28T16:21:52.741"/>
    <p1510:client id="{EEFE5DDB-432E-4D14-8F89-57087DA47BB8}" v="12" dt="2019-09-10T11:17:47.014"/>
    <p1510:client id="{F4909531-4E2F-4168-AFFA-37D2C2823136}" v="409" dt="2023-09-25T15:35:13.938"/>
    <p1510:client id="{FC82955C-5BC1-4069-834A-D19D7D27F2C7}" v="682" dt="2020-06-23T07:49:20.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F82E150-4EBC-46EB-A9F3-6C5EF071959B}"/>
    <pc:docChg chg="modSld">
      <pc:chgData name="Guest User" userId="" providerId="Windows Live" clId="Web-{4F82E150-4EBC-46EB-A9F3-6C5EF071959B}" dt="2023-09-29T12:24:45.415" v="994"/>
      <pc:docMkLst>
        <pc:docMk/>
      </pc:docMkLst>
      <pc:sldChg chg="modSp">
        <pc:chgData name="Guest User" userId="" providerId="Windows Live" clId="Web-{4F82E150-4EBC-46EB-A9F3-6C5EF071959B}" dt="2023-09-29T11:21:35.137" v="11"/>
        <pc:sldMkLst>
          <pc:docMk/>
          <pc:sldMk cId="1655344682" sldId="265"/>
        </pc:sldMkLst>
        <pc:graphicFrameChg chg="mod modGraphic">
          <ac:chgData name="Guest User" userId="" providerId="Windows Live" clId="Web-{4F82E150-4EBC-46EB-A9F3-6C5EF071959B}" dt="2023-09-29T11:21:35.137" v="11"/>
          <ac:graphicFrameMkLst>
            <pc:docMk/>
            <pc:sldMk cId="1655344682" sldId="265"/>
            <ac:graphicFrameMk id="3" creationId="{00000000-0000-0000-0000-000000000000}"/>
          </ac:graphicFrameMkLst>
        </pc:graphicFrameChg>
      </pc:sldChg>
      <pc:sldChg chg="modSp">
        <pc:chgData name="Guest User" userId="" providerId="Windows Live" clId="Web-{4F82E150-4EBC-46EB-A9F3-6C5EF071959B}" dt="2023-09-29T11:23:35.506" v="37"/>
        <pc:sldMkLst>
          <pc:docMk/>
          <pc:sldMk cId="3709068071" sldId="276"/>
        </pc:sldMkLst>
        <pc:graphicFrameChg chg="mod modGraphic">
          <ac:chgData name="Guest User" userId="" providerId="Windows Live" clId="Web-{4F82E150-4EBC-46EB-A9F3-6C5EF071959B}" dt="2023-09-29T11:23:35.506" v="37"/>
          <ac:graphicFrameMkLst>
            <pc:docMk/>
            <pc:sldMk cId="3709068071" sldId="276"/>
            <ac:graphicFrameMk id="3" creationId="{00000000-0000-0000-0000-000000000000}"/>
          </ac:graphicFrameMkLst>
        </pc:graphicFrameChg>
      </pc:sldChg>
      <pc:sldChg chg="modSp">
        <pc:chgData name="Guest User" userId="" providerId="Windows Live" clId="Web-{4F82E150-4EBC-46EB-A9F3-6C5EF071959B}" dt="2023-09-29T11:25:10.591" v="105"/>
        <pc:sldMkLst>
          <pc:docMk/>
          <pc:sldMk cId="50535109" sldId="277"/>
        </pc:sldMkLst>
        <pc:graphicFrameChg chg="mod modGraphic">
          <ac:chgData name="Guest User" userId="" providerId="Windows Live" clId="Web-{4F82E150-4EBC-46EB-A9F3-6C5EF071959B}" dt="2023-09-29T11:25:10.591" v="105"/>
          <ac:graphicFrameMkLst>
            <pc:docMk/>
            <pc:sldMk cId="50535109" sldId="277"/>
            <ac:graphicFrameMk id="3" creationId="{00000000-0000-0000-0000-000000000000}"/>
          </ac:graphicFrameMkLst>
        </pc:graphicFrameChg>
      </pc:sldChg>
      <pc:sldChg chg="modSp">
        <pc:chgData name="Guest User" userId="" providerId="Windows Live" clId="Web-{4F82E150-4EBC-46EB-A9F3-6C5EF071959B}" dt="2023-09-29T11:27:52.415" v="149"/>
        <pc:sldMkLst>
          <pc:docMk/>
          <pc:sldMk cId="2438352321" sldId="284"/>
        </pc:sldMkLst>
        <pc:graphicFrameChg chg="mod modGraphic">
          <ac:chgData name="Guest User" userId="" providerId="Windows Live" clId="Web-{4F82E150-4EBC-46EB-A9F3-6C5EF071959B}" dt="2023-09-29T11:27:52.415" v="149"/>
          <ac:graphicFrameMkLst>
            <pc:docMk/>
            <pc:sldMk cId="2438352321" sldId="284"/>
            <ac:graphicFrameMk id="3" creationId="{00000000-0000-0000-0000-000000000000}"/>
          </ac:graphicFrameMkLst>
        </pc:graphicFrameChg>
      </pc:sldChg>
      <pc:sldChg chg="modSp">
        <pc:chgData name="Guest User" userId="" providerId="Windows Live" clId="Web-{4F82E150-4EBC-46EB-A9F3-6C5EF071959B}" dt="2023-09-29T11:35:37.856" v="223"/>
        <pc:sldMkLst>
          <pc:docMk/>
          <pc:sldMk cId="3812775024" sldId="286"/>
        </pc:sldMkLst>
        <pc:graphicFrameChg chg="mod modGraphic">
          <ac:chgData name="Guest User" userId="" providerId="Windows Live" clId="Web-{4F82E150-4EBC-46EB-A9F3-6C5EF071959B}" dt="2023-09-29T11:35:37.856" v="223"/>
          <ac:graphicFrameMkLst>
            <pc:docMk/>
            <pc:sldMk cId="3812775024" sldId="286"/>
            <ac:graphicFrameMk id="4" creationId="{00000000-0000-0000-0000-000000000000}"/>
          </ac:graphicFrameMkLst>
        </pc:graphicFrameChg>
      </pc:sldChg>
      <pc:sldChg chg="modSp">
        <pc:chgData name="Guest User" userId="" providerId="Windows Live" clId="Web-{4F82E150-4EBC-46EB-A9F3-6C5EF071959B}" dt="2023-09-29T11:35:55.927" v="233"/>
        <pc:sldMkLst>
          <pc:docMk/>
          <pc:sldMk cId="3825030007" sldId="287"/>
        </pc:sldMkLst>
        <pc:graphicFrameChg chg="mod modGraphic">
          <ac:chgData name="Guest User" userId="" providerId="Windows Live" clId="Web-{4F82E150-4EBC-46EB-A9F3-6C5EF071959B}" dt="2023-09-29T11:35:55.927" v="233"/>
          <ac:graphicFrameMkLst>
            <pc:docMk/>
            <pc:sldMk cId="3825030007" sldId="287"/>
            <ac:graphicFrameMk id="6" creationId="{00000000-0000-0000-0000-000000000000}"/>
          </ac:graphicFrameMkLst>
        </pc:graphicFrameChg>
      </pc:sldChg>
      <pc:sldChg chg="modSp">
        <pc:chgData name="Guest User" userId="" providerId="Windows Live" clId="Web-{4F82E150-4EBC-46EB-A9F3-6C5EF071959B}" dt="2023-09-29T11:42:57.553" v="271"/>
        <pc:sldMkLst>
          <pc:docMk/>
          <pc:sldMk cId="379694268" sldId="288"/>
        </pc:sldMkLst>
        <pc:graphicFrameChg chg="mod modGraphic">
          <ac:chgData name="Guest User" userId="" providerId="Windows Live" clId="Web-{4F82E150-4EBC-46EB-A9F3-6C5EF071959B}" dt="2023-09-29T11:42:57.553" v="271"/>
          <ac:graphicFrameMkLst>
            <pc:docMk/>
            <pc:sldMk cId="379694268" sldId="288"/>
            <ac:graphicFrameMk id="3" creationId="{00000000-0000-0000-0000-000000000000}"/>
          </ac:graphicFrameMkLst>
        </pc:graphicFrameChg>
      </pc:sldChg>
      <pc:sldChg chg="modSp">
        <pc:chgData name="Guest User" userId="" providerId="Windows Live" clId="Web-{4F82E150-4EBC-46EB-A9F3-6C5EF071959B}" dt="2023-09-29T11:47:07.719" v="341"/>
        <pc:sldMkLst>
          <pc:docMk/>
          <pc:sldMk cId="2456902568" sldId="289"/>
        </pc:sldMkLst>
        <pc:graphicFrameChg chg="mod modGraphic">
          <ac:chgData name="Guest User" userId="" providerId="Windows Live" clId="Web-{4F82E150-4EBC-46EB-A9F3-6C5EF071959B}" dt="2023-09-29T11:47:07.719" v="341"/>
          <ac:graphicFrameMkLst>
            <pc:docMk/>
            <pc:sldMk cId="2456902568" sldId="289"/>
            <ac:graphicFrameMk id="4" creationId="{00000000-0000-0000-0000-000000000000}"/>
          </ac:graphicFrameMkLst>
        </pc:graphicFrameChg>
      </pc:sldChg>
      <pc:sldChg chg="modSp">
        <pc:chgData name="Guest User" userId="" providerId="Windows Live" clId="Web-{4F82E150-4EBC-46EB-A9F3-6C5EF071959B}" dt="2023-09-29T11:40:59.658" v="237"/>
        <pc:sldMkLst>
          <pc:docMk/>
          <pc:sldMk cId="1697412144" sldId="290"/>
        </pc:sldMkLst>
        <pc:graphicFrameChg chg="mod modGraphic">
          <ac:chgData name="Guest User" userId="" providerId="Windows Live" clId="Web-{4F82E150-4EBC-46EB-A9F3-6C5EF071959B}" dt="2023-09-29T11:40:59.658" v="237"/>
          <ac:graphicFrameMkLst>
            <pc:docMk/>
            <pc:sldMk cId="1697412144" sldId="290"/>
            <ac:graphicFrameMk id="5" creationId="{00000000-0000-0000-0000-000000000000}"/>
          </ac:graphicFrameMkLst>
        </pc:graphicFrameChg>
      </pc:sldChg>
      <pc:sldChg chg="modSp">
        <pc:chgData name="Guest User" userId="" providerId="Windows Live" clId="Web-{4F82E150-4EBC-46EB-A9F3-6C5EF071959B}" dt="2023-09-29T11:51:33.010" v="431"/>
        <pc:sldMkLst>
          <pc:docMk/>
          <pc:sldMk cId="457319376" sldId="291"/>
        </pc:sldMkLst>
        <pc:graphicFrameChg chg="mod modGraphic">
          <ac:chgData name="Guest User" userId="" providerId="Windows Live" clId="Web-{4F82E150-4EBC-46EB-A9F3-6C5EF071959B}" dt="2023-09-29T11:51:33.010" v="431"/>
          <ac:graphicFrameMkLst>
            <pc:docMk/>
            <pc:sldMk cId="457319376" sldId="291"/>
            <ac:graphicFrameMk id="3" creationId="{00000000-0000-0000-0000-000000000000}"/>
          </ac:graphicFrameMkLst>
        </pc:graphicFrameChg>
      </pc:sldChg>
      <pc:sldChg chg="modSp">
        <pc:chgData name="Guest User" userId="" providerId="Windows Live" clId="Web-{4F82E150-4EBC-46EB-A9F3-6C5EF071959B}" dt="2023-09-29T11:57:25.227" v="574"/>
        <pc:sldMkLst>
          <pc:docMk/>
          <pc:sldMk cId="1426366182" sldId="292"/>
        </pc:sldMkLst>
        <pc:graphicFrameChg chg="mod modGraphic">
          <ac:chgData name="Guest User" userId="" providerId="Windows Live" clId="Web-{4F82E150-4EBC-46EB-A9F3-6C5EF071959B}" dt="2023-09-29T11:57:25.227" v="574"/>
          <ac:graphicFrameMkLst>
            <pc:docMk/>
            <pc:sldMk cId="1426366182" sldId="292"/>
            <ac:graphicFrameMk id="3" creationId="{00000000-0000-0000-0000-000000000000}"/>
          </ac:graphicFrameMkLst>
        </pc:graphicFrameChg>
      </pc:sldChg>
      <pc:sldChg chg="modSp">
        <pc:chgData name="Guest User" userId="" providerId="Windows Live" clId="Web-{4F82E150-4EBC-46EB-A9F3-6C5EF071959B}" dt="2023-09-29T11:58:25.979" v="579" actId="1076"/>
        <pc:sldMkLst>
          <pc:docMk/>
          <pc:sldMk cId="316785942" sldId="295"/>
        </pc:sldMkLst>
        <pc:spChg chg="mod">
          <ac:chgData name="Guest User" userId="" providerId="Windows Live" clId="Web-{4F82E150-4EBC-46EB-A9F3-6C5EF071959B}" dt="2023-09-29T11:58:04.447" v="577" actId="20577"/>
          <ac:spMkLst>
            <pc:docMk/>
            <pc:sldMk cId="316785942" sldId="295"/>
            <ac:spMk id="2" creationId="{00000000-0000-0000-0000-000000000000}"/>
          </ac:spMkLst>
        </pc:spChg>
        <pc:graphicFrameChg chg="mod modGraphic">
          <ac:chgData name="Guest User" userId="" providerId="Windows Live" clId="Web-{4F82E150-4EBC-46EB-A9F3-6C5EF071959B}" dt="2023-09-29T11:58:25.979" v="579" actId="1076"/>
          <ac:graphicFrameMkLst>
            <pc:docMk/>
            <pc:sldMk cId="316785942" sldId="295"/>
            <ac:graphicFrameMk id="3" creationId="{00000000-0000-0000-0000-000000000000}"/>
          </ac:graphicFrameMkLst>
        </pc:graphicFrameChg>
      </pc:sldChg>
      <pc:sldChg chg="modSp">
        <pc:chgData name="Guest User" userId="" providerId="Windows Live" clId="Web-{4F82E150-4EBC-46EB-A9F3-6C5EF071959B}" dt="2023-09-29T12:01:47.190" v="658" actId="20577"/>
        <pc:sldMkLst>
          <pc:docMk/>
          <pc:sldMk cId="3399199223" sldId="296"/>
        </pc:sldMkLst>
        <pc:spChg chg="mod">
          <ac:chgData name="Guest User" userId="" providerId="Windows Live" clId="Web-{4F82E150-4EBC-46EB-A9F3-6C5EF071959B}" dt="2023-09-29T12:01:36.768" v="655" actId="20577"/>
          <ac:spMkLst>
            <pc:docMk/>
            <pc:sldMk cId="3399199223" sldId="296"/>
            <ac:spMk id="2" creationId="{00000000-0000-0000-0000-000000000000}"/>
          </ac:spMkLst>
        </pc:spChg>
        <pc:spChg chg="mod">
          <ac:chgData name="Guest User" userId="" providerId="Windows Live" clId="Web-{4F82E150-4EBC-46EB-A9F3-6C5EF071959B}" dt="2023-09-29T12:01:47.190" v="658" actId="20577"/>
          <ac:spMkLst>
            <pc:docMk/>
            <pc:sldMk cId="3399199223" sldId="296"/>
            <ac:spMk id="3" creationId="{00000000-0000-0000-0000-000000000000}"/>
          </ac:spMkLst>
        </pc:spChg>
      </pc:sldChg>
      <pc:sldChg chg="modSp">
        <pc:chgData name="Guest User" userId="" providerId="Windows Live" clId="Web-{4F82E150-4EBC-46EB-A9F3-6C5EF071959B}" dt="2023-09-29T12:06:36.811" v="692"/>
        <pc:sldMkLst>
          <pc:docMk/>
          <pc:sldMk cId="556419851" sldId="298"/>
        </pc:sldMkLst>
        <pc:graphicFrameChg chg="mod modGraphic">
          <ac:chgData name="Guest User" userId="" providerId="Windows Live" clId="Web-{4F82E150-4EBC-46EB-A9F3-6C5EF071959B}" dt="2023-09-29T12:06:36.811" v="692"/>
          <ac:graphicFrameMkLst>
            <pc:docMk/>
            <pc:sldMk cId="556419851" sldId="298"/>
            <ac:graphicFrameMk id="5" creationId="{00000000-0000-0000-0000-000000000000}"/>
          </ac:graphicFrameMkLst>
        </pc:graphicFrameChg>
      </pc:sldChg>
      <pc:sldChg chg="modSp">
        <pc:chgData name="Guest User" userId="" providerId="Windows Live" clId="Web-{4F82E150-4EBC-46EB-A9F3-6C5EF071959B}" dt="2023-09-29T12:07:25.547" v="707"/>
        <pc:sldMkLst>
          <pc:docMk/>
          <pc:sldMk cId="143401389" sldId="299"/>
        </pc:sldMkLst>
        <pc:graphicFrameChg chg="mod modGraphic">
          <ac:chgData name="Guest User" userId="" providerId="Windows Live" clId="Web-{4F82E150-4EBC-46EB-A9F3-6C5EF071959B}" dt="2023-09-29T12:07:25.547" v="707"/>
          <ac:graphicFrameMkLst>
            <pc:docMk/>
            <pc:sldMk cId="143401389" sldId="299"/>
            <ac:graphicFrameMk id="3" creationId="{00000000-0000-0000-0000-000000000000}"/>
          </ac:graphicFrameMkLst>
        </pc:graphicFrameChg>
      </pc:sldChg>
      <pc:sldChg chg="modSp">
        <pc:chgData name="Guest User" userId="" providerId="Windows Live" clId="Web-{4F82E150-4EBC-46EB-A9F3-6C5EF071959B}" dt="2023-09-29T12:10:57.633" v="750"/>
        <pc:sldMkLst>
          <pc:docMk/>
          <pc:sldMk cId="589607281" sldId="301"/>
        </pc:sldMkLst>
        <pc:graphicFrameChg chg="mod modGraphic">
          <ac:chgData name="Guest User" userId="" providerId="Windows Live" clId="Web-{4F82E150-4EBC-46EB-A9F3-6C5EF071959B}" dt="2023-09-29T12:10:57.633" v="750"/>
          <ac:graphicFrameMkLst>
            <pc:docMk/>
            <pc:sldMk cId="589607281" sldId="301"/>
            <ac:graphicFrameMk id="2" creationId="{00000000-0000-0000-0000-000000000000}"/>
          </ac:graphicFrameMkLst>
        </pc:graphicFrameChg>
      </pc:sldChg>
      <pc:sldChg chg="modSp">
        <pc:chgData name="Guest User" userId="" providerId="Windows Live" clId="Web-{4F82E150-4EBC-46EB-A9F3-6C5EF071959B}" dt="2023-09-29T12:10:37.914" v="746"/>
        <pc:sldMkLst>
          <pc:docMk/>
          <pc:sldMk cId="86092168" sldId="303"/>
        </pc:sldMkLst>
        <pc:graphicFrameChg chg="mod modGraphic">
          <ac:chgData name="Guest User" userId="" providerId="Windows Live" clId="Web-{4F82E150-4EBC-46EB-A9F3-6C5EF071959B}" dt="2023-09-29T12:10:37.914" v="746"/>
          <ac:graphicFrameMkLst>
            <pc:docMk/>
            <pc:sldMk cId="86092168" sldId="303"/>
            <ac:graphicFrameMk id="3" creationId="{00000000-0000-0000-0000-000000000000}"/>
          </ac:graphicFrameMkLst>
        </pc:graphicFrameChg>
      </pc:sldChg>
      <pc:sldChg chg="modSp">
        <pc:chgData name="Guest User" userId="" providerId="Windows Live" clId="Web-{4F82E150-4EBC-46EB-A9F3-6C5EF071959B}" dt="2023-09-29T12:11:39.963" v="762"/>
        <pc:sldMkLst>
          <pc:docMk/>
          <pc:sldMk cId="3439533025" sldId="304"/>
        </pc:sldMkLst>
        <pc:graphicFrameChg chg="mod modGraphic">
          <ac:chgData name="Guest User" userId="" providerId="Windows Live" clId="Web-{4F82E150-4EBC-46EB-A9F3-6C5EF071959B}" dt="2023-09-29T12:11:39.963" v="762"/>
          <ac:graphicFrameMkLst>
            <pc:docMk/>
            <pc:sldMk cId="3439533025" sldId="304"/>
            <ac:graphicFrameMk id="3" creationId="{00000000-0000-0000-0000-000000000000}"/>
          </ac:graphicFrameMkLst>
        </pc:graphicFrameChg>
      </pc:sldChg>
      <pc:sldChg chg="modSp">
        <pc:chgData name="Guest User" userId="" providerId="Windows Live" clId="Web-{4F82E150-4EBC-46EB-A9F3-6C5EF071959B}" dt="2023-09-29T12:13:07.294" v="788"/>
        <pc:sldMkLst>
          <pc:docMk/>
          <pc:sldMk cId="2481028122" sldId="305"/>
        </pc:sldMkLst>
        <pc:graphicFrameChg chg="mod modGraphic">
          <ac:chgData name="Guest User" userId="" providerId="Windows Live" clId="Web-{4F82E150-4EBC-46EB-A9F3-6C5EF071959B}" dt="2023-09-29T12:13:07.294" v="788"/>
          <ac:graphicFrameMkLst>
            <pc:docMk/>
            <pc:sldMk cId="2481028122" sldId="305"/>
            <ac:graphicFrameMk id="3" creationId="{00000000-0000-0000-0000-000000000000}"/>
          </ac:graphicFrameMkLst>
        </pc:graphicFrameChg>
      </pc:sldChg>
      <pc:sldChg chg="modSp">
        <pc:chgData name="Guest User" userId="" providerId="Windows Live" clId="Web-{4F82E150-4EBC-46EB-A9F3-6C5EF071959B}" dt="2023-09-29T12:14:17.875" v="832"/>
        <pc:sldMkLst>
          <pc:docMk/>
          <pc:sldMk cId="2878751444" sldId="308"/>
        </pc:sldMkLst>
        <pc:graphicFrameChg chg="mod modGraphic">
          <ac:chgData name="Guest User" userId="" providerId="Windows Live" clId="Web-{4F82E150-4EBC-46EB-A9F3-6C5EF071959B}" dt="2023-09-29T12:14:17.875" v="832"/>
          <ac:graphicFrameMkLst>
            <pc:docMk/>
            <pc:sldMk cId="2878751444" sldId="308"/>
            <ac:graphicFrameMk id="2" creationId="{00000000-0000-0000-0000-000000000000}"/>
          </ac:graphicFrameMkLst>
        </pc:graphicFrameChg>
      </pc:sldChg>
      <pc:sldChg chg="modSp">
        <pc:chgData name="Guest User" userId="" providerId="Windows Live" clId="Web-{4F82E150-4EBC-46EB-A9F3-6C5EF071959B}" dt="2023-09-29T12:24:45.415" v="994"/>
        <pc:sldMkLst>
          <pc:docMk/>
          <pc:sldMk cId="1655989567" sldId="309"/>
        </pc:sldMkLst>
        <pc:graphicFrameChg chg="mod modGraphic">
          <ac:chgData name="Guest User" userId="" providerId="Windows Live" clId="Web-{4F82E150-4EBC-46EB-A9F3-6C5EF071959B}" dt="2023-09-29T12:24:45.415" v="994"/>
          <ac:graphicFrameMkLst>
            <pc:docMk/>
            <pc:sldMk cId="1655989567" sldId="309"/>
            <ac:graphicFrameMk id="3" creationId="{00000000-0000-0000-0000-000000000000}"/>
          </ac:graphicFrameMkLst>
        </pc:graphicFrameChg>
      </pc:sldChg>
      <pc:sldChg chg="modSp">
        <pc:chgData name="Guest User" userId="" providerId="Windows Live" clId="Web-{4F82E150-4EBC-46EB-A9F3-6C5EF071959B}" dt="2023-09-29T12:18:57.308" v="944"/>
        <pc:sldMkLst>
          <pc:docMk/>
          <pc:sldMk cId="596816496" sldId="310"/>
        </pc:sldMkLst>
        <pc:graphicFrameChg chg="mod modGraphic">
          <ac:chgData name="Guest User" userId="" providerId="Windows Live" clId="Web-{4F82E150-4EBC-46EB-A9F3-6C5EF071959B}" dt="2023-09-29T12:18:57.308" v="944"/>
          <ac:graphicFrameMkLst>
            <pc:docMk/>
            <pc:sldMk cId="596816496" sldId="310"/>
            <ac:graphicFrameMk id="2" creationId="{00000000-0000-0000-0000-000000000000}"/>
          </ac:graphicFrameMkLst>
        </pc:graphicFrameChg>
      </pc:sldChg>
      <pc:sldChg chg="modSp">
        <pc:chgData name="Guest User" userId="" providerId="Windows Live" clId="Web-{4F82E150-4EBC-46EB-A9F3-6C5EF071959B}" dt="2023-09-29T12:20:53.375" v="950"/>
        <pc:sldMkLst>
          <pc:docMk/>
          <pc:sldMk cId="2849064123" sldId="313"/>
        </pc:sldMkLst>
        <pc:graphicFrameChg chg="mod modGraphic">
          <ac:chgData name="Guest User" userId="" providerId="Windows Live" clId="Web-{4F82E150-4EBC-46EB-A9F3-6C5EF071959B}" dt="2023-09-29T12:20:53.375" v="950"/>
          <ac:graphicFrameMkLst>
            <pc:docMk/>
            <pc:sldMk cId="2849064123" sldId="313"/>
            <ac:graphicFrameMk id="2" creationId="{00000000-0000-0000-0000-000000000000}"/>
          </ac:graphicFrameMkLst>
        </pc:graphicFrameChg>
      </pc:sldChg>
      <pc:sldChg chg="modSp">
        <pc:chgData name="Guest User" userId="" providerId="Windows Live" clId="Web-{4F82E150-4EBC-46EB-A9F3-6C5EF071959B}" dt="2023-09-29T12:21:53.116" v="958"/>
        <pc:sldMkLst>
          <pc:docMk/>
          <pc:sldMk cId="504851361" sldId="314"/>
        </pc:sldMkLst>
        <pc:graphicFrameChg chg="mod modGraphic">
          <ac:chgData name="Guest User" userId="" providerId="Windows Live" clId="Web-{4F82E150-4EBC-46EB-A9F3-6C5EF071959B}" dt="2023-09-29T12:21:53.116" v="958"/>
          <ac:graphicFrameMkLst>
            <pc:docMk/>
            <pc:sldMk cId="504851361" sldId="314"/>
            <ac:graphicFrameMk id="2" creationId="{00000000-0000-0000-0000-000000000000}"/>
          </ac:graphicFrameMkLst>
        </pc:graphicFrameChg>
      </pc:sldChg>
      <pc:sldChg chg="modSp">
        <pc:chgData name="Guest User" userId="" providerId="Windows Live" clId="Web-{4F82E150-4EBC-46EB-A9F3-6C5EF071959B}" dt="2023-09-29T11:34:50.728" v="209"/>
        <pc:sldMkLst>
          <pc:docMk/>
          <pc:sldMk cId="4107873533" sldId="330"/>
        </pc:sldMkLst>
        <pc:graphicFrameChg chg="mod modGraphic">
          <ac:chgData name="Guest User" userId="" providerId="Windows Live" clId="Web-{4F82E150-4EBC-46EB-A9F3-6C5EF071959B}" dt="2023-09-29T11:34:50.728" v="209"/>
          <ac:graphicFrameMkLst>
            <pc:docMk/>
            <pc:sldMk cId="4107873533" sldId="330"/>
            <ac:graphicFrameMk id="6" creationId="{00000000-0000-0000-0000-000000000000}"/>
          </ac:graphicFrameMkLst>
        </pc:graphicFrameChg>
      </pc:sldChg>
      <pc:sldChg chg="modSp">
        <pc:chgData name="Guest User" userId="" providerId="Windows Live" clId="Web-{4F82E150-4EBC-46EB-A9F3-6C5EF071959B}" dt="2023-09-29T12:07:54.673" v="710" actId="20577"/>
        <pc:sldMkLst>
          <pc:docMk/>
          <pc:sldMk cId="4271301534" sldId="331"/>
        </pc:sldMkLst>
        <pc:spChg chg="mod">
          <ac:chgData name="Guest User" userId="" providerId="Windows Live" clId="Web-{4F82E150-4EBC-46EB-A9F3-6C5EF071959B}" dt="2023-09-29T12:07:54.673" v="710" actId="20577"/>
          <ac:spMkLst>
            <pc:docMk/>
            <pc:sldMk cId="4271301534" sldId="331"/>
            <ac:spMk id="2" creationId="{00000000-0000-0000-0000-000000000000}"/>
          </ac:spMkLst>
        </pc:spChg>
      </pc:sldChg>
    </pc:docChg>
  </pc:docChgLst>
  <pc:docChgLst>
    <pc:chgData name="Guest User" providerId="Windows Live" clId="Web-{F4909531-4E2F-4168-AFFA-37D2C2823136}"/>
    <pc:docChg chg="modSld">
      <pc:chgData name="Guest User" userId="" providerId="Windows Live" clId="Web-{F4909531-4E2F-4168-AFFA-37D2C2823136}" dt="2023-09-25T15:35:13.938" v="346"/>
      <pc:docMkLst>
        <pc:docMk/>
      </pc:docMkLst>
      <pc:sldChg chg="modSp">
        <pc:chgData name="Guest User" userId="" providerId="Windows Live" clId="Web-{F4909531-4E2F-4168-AFFA-37D2C2823136}" dt="2023-09-25T15:21:02.499" v="27"/>
        <pc:sldMkLst>
          <pc:docMk/>
          <pc:sldMk cId="3553830089" sldId="268"/>
        </pc:sldMkLst>
        <pc:graphicFrameChg chg="mod modGraphic">
          <ac:chgData name="Guest User" userId="" providerId="Windows Live" clId="Web-{F4909531-4E2F-4168-AFFA-37D2C2823136}" dt="2023-09-25T15:21:02.499" v="27"/>
          <ac:graphicFrameMkLst>
            <pc:docMk/>
            <pc:sldMk cId="3553830089" sldId="268"/>
            <ac:graphicFrameMk id="3" creationId="{00000000-0000-0000-0000-000000000000}"/>
          </ac:graphicFrameMkLst>
        </pc:graphicFrameChg>
      </pc:sldChg>
      <pc:sldChg chg="modSp">
        <pc:chgData name="Guest User" userId="" providerId="Windows Live" clId="Web-{F4909531-4E2F-4168-AFFA-37D2C2823136}" dt="2023-09-25T15:21:41.313" v="57"/>
        <pc:sldMkLst>
          <pc:docMk/>
          <pc:sldMk cId="1012136745" sldId="269"/>
        </pc:sldMkLst>
        <pc:graphicFrameChg chg="mod modGraphic">
          <ac:chgData name="Guest User" userId="" providerId="Windows Live" clId="Web-{F4909531-4E2F-4168-AFFA-37D2C2823136}" dt="2023-09-25T15:21:41.313" v="57"/>
          <ac:graphicFrameMkLst>
            <pc:docMk/>
            <pc:sldMk cId="1012136745" sldId="269"/>
            <ac:graphicFrameMk id="3" creationId="{00000000-0000-0000-0000-000000000000}"/>
          </ac:graphicFrameMkLst>
        </pc:graphicFrameChg>
      </pc:sldChg>
      <pc:sldChg chg="modSp">
        <pc:chgData name="Guest User" userId="" providerId="Windows Live" clId="Web-{F4909531-4E2F-4168-AFFA-37D2C2823136}" dt="2023-09-25T15:30:34.323" v="314"/>
        <pc:sldMkLst>
          <pc:docMk/>
          <pc:sldMk cId="187148122" sldId="282"/>
        </pc:sldMkLst>
        <pc:graphicFrameChg chg="mod modGraphic">
          <ac:chgData name="Guest User" userId="" providerId="Windows Live" clId="Web-{F4909531-4E2F-4168-AFFA-37D2C2823136}" dt="2023-09-25T15:30:34.323" v="314"/>
          <ac:graphicFrameMkLst>
            <pc:docMk/>
            <pc:sldMk cId="187148122" sldId="282"/>
            <ac:graphicFrameMk id="3" creationId="{00000000-0000-0000-0000-000000000000}"/>
          </ac:graphicFrameMkLst>
        </pc:graphicFrameChg>
      </pc:sldChg>
      <pc:sldChg chg="modSp">
        <pc:chgData name="Guest User" userId="" providerId="Windows Live" clId="Web-{F4909531-4E2F-4168-AFFA-37D2C2823136}" dt="2023-09-25T15:34:45.172" v="344"/>
        <pc:sldMkLst>
          <pc:docMk/>
          <pc:sldMk cId="3812775024" sldId="286"/>
        </pc:sldMkLst>
        <pc:graphicFrameChg chg="mod modGraphic">
          <ac:chgData name="Guest User" userId="" providerId="Windows Live" clId="Web-{F4909531-4E2F-4168-AFFA-37D2C2823136}" dt="2023-09-25T15:34:45.172" v="344"/>
          <ac:graphicFrameMkLst>
            <pc:docMk/>
            <pc:sldMk cId="3812775024" sldId="286"/>
            <ac:graphicFrameMk id="4" creationId="{00000000-0000-0000-0000-000000000000}"/>
          </ac:graphicFrameMkLst>
        </pc:graphicFrameChg>
      </pc:sldChg>
      <pc:sldChg chg="addSp delSp modSp">
        <pc:chgData name="Guest User" userId="" providerId="Windows Live" clId="Web-{F4909531-4E2F-4168-AFFA-37D2C2823136}" dt="2023-09-25T15:35:13.938" v="346"/>
        <pc:sldMkLst>
          <pc:docMk/>
          <pc:sldMk cId="1697412144" sldId="290"/>
        </pc:sldMkLst>
        <pc:graphicFrameChg chg="modGraphic">
          <ac:chgData name="Guest User" userId="" providerId="Windows Live" clId="Web-{F4909531-4E2F-4168-AFFA-37D2C2823136}" dt="2023-09-25T15:34:08.609" v="334"/>
          <ac:graphicFrameMkLst>
            <pc:docMk/>
            <pc:sldMk cId="1697412144" sldId="290"/>
            <ac:graphicFrameMk id="5" creationId="{00000000-0000-0000-0000-000000000000}"/>
          </ac:graphicFrameMkLst>
        </pc:graphicFrameChg>
        <pc:inkChg chg="add del">
          <ac:chgData name="Guest User" userId="" providerId="Windows Live" clId="Web-{F4909531-4E2F-4168-AFFA-37D2C2823136}" dt="2023-09-25T15:33:22.967" v="323"/>
          <ac:inkMkLst>
            <pc:docMk/>
            <pc:sldMk cId="1697412144" sldId="290"/>
            <ac:inkMk id="3" creationId="{6BF2FAED-6646-CD80-E17D-7FD82FC96125}"/>
          </ac:inkMkLst>
        </pc:inkChg>
        <pc:inkChg chg="add del">
          <ac:chgData name="Guest User" userId="" providerId="Windows Live" clId="Web-{F4909531-4E2F-4168-AFFA-37D2C2823136}" dt="2023-09-25T15:33:40.921" v="327"/>
          <ac:inkMkLst>
            <pc:docMk/>
            <pc:sldMk cId="1697412144" sldId="290"/>
            <ac:inkMk id="4" creationId="{217593E2-C0EC-F599-02C3-D7C9CC5AD46B}"/>
          </ac:inkMkLst>
        </pc:inkChg>
        <pc:inkChg chg="add del">
          <ac:chgData name="Guest User" userId="" providerId="Windows Live" clId="Web-{F4909531-4E2F-4168-AFFA-37D2C2823136}" dt="2023-09-25T15:33:36.342" v="326"/>
          <ac:inkMkLst>
            <pc:docMk/>
            <pc:sldMk cId="1697412144" sldId="290"/>
            <ac:inkMk id="6" creationId="{0EADCF55-D81B-FFFA-5F6F-E22408458DF4}"/>
          </ac:inkMkLst>
        </pc:inkChg>
        <pc:inkChg chg="add del">
          <ac:chgData name="Guest User" userId="" providerId="Windows Live" clId="Web-{F4909531-4E2F-4168-AFFA-37D2C2823136}" dt="2023-09-25T15:33:50.608" v="329"/>
          <ac:inkMkLst>
            <pc:docMk/>
            <pc:sldMk cId="1697412144" sldId="290"/>
            <ac:inkMk id="7" creationId="{D1FA7401-C258-A4CD-CAEA-CB648F4E9715}"/>
          </ac:inkMkLst>
        </pc:inkChg>
        <pc:inkChg chg="add del">
          <ac:chgData name="Guest User" userId="" providerId="Windows Live" clId="Web-{F4909531-4E2F-4168-AFFA-37D2C2823136}" dt="2023-09-25T15:34:00.390" v="332"/>
          <ac:inkMkLst>
            <pc:docMk/>
            <pc:sldMk cId="1697412144" sldId="290"/>
            <ac:inkMk id="8" creationId="{ACBE6583-A13A-21F2-75AA-F896A3A65463}"/>
          </ac:inkMkLst>
        </pc:inkChg>
        <pc:inkChg chg="add del">
          <ac:chgData name="Guest User" userId="" providerId="Windows Live" clId="Web-{F4909531-4E2F-4168-AFFA-37D2C2823136}" dt="2023-09-25T15:34:42.500" v="342"/>
          <ac:inkMkLst>
            <pc:docMk/>
            <pc:sldMk cId="1697412144" sldId="290"/>
            <ac:inkMk id="9" creationId="{B67AC23E-9CD0-DF4F-45B5-723C17829DE2}"/>
          </ac:inkMkLst>
        </pc:inkChg>
        <pc:inkChg chg="add del">
          <ac:chgData name="Guest User" userId="" providerId="Windows Live" clId="Web-{F4909531-4E2F-4168-AFFA-37D2C2823136}" dt="2023-09-25T15:34:39.562" v="341"/>
          <ac:inkMkLst>
            <pc:docMk/>
            <pc:sldMk cId="1697412144" sldId="290"/>
            <ac:inkMk id="10" creationId="{EBC77E03-76BE-140C-8DE3-CA87A2D2C586}"/>
          </ac:inkMkLst>
        </pc:inkChg>
        <pc:inkChg chg="add del">
          <ac:chgData name="Guest User" userId="" providerId="Windows Live" clId="Web-{F4909531-4E2F-4168-AFFA-37D2C2823136}" dt="2023-09-25T15:34:36.906" v="340"/>
          <ac:inkMkLst>
            <pc:docMk/>
            <pc:sldMk cId="1697412144" sldId="290"/>
            <ac:inkMk id="11" creationId="{B27F8BDC-8759-451A-DFC9-1F7B5E11690A}"/>
          </ac:inkMkLst>
        </pc:inkChg>
        <pc:inkChg chg="add">
          <ac:chgData name="Guest User" userId="" providerId="Windows Live" clId="Web-{F4909531-4E2F-4168-AFFA-37D2C2823136}" dt="2023-09-25T15:35:09.860" v="345"/>
          <ac:inkMkLst>
            <pc:docMk/>
            <pc:sldMk cId="1697412144" sldId="290"/>
            <ac:inkMk id="12" creationId="{143AB703-B5B4-68F4-94B2-4BB883DF92F6}"/>
          </ac:inkMkLst>
        </pc:inkChg>
        <pc:inkChg chg="add">
          <ac:chgData name="Guest User" userId="" providerId="Windows Live" clId="Web-{F4909531-4E2F-4168-AFFA-37D2C2823136}" dt="2023-09-25T15:35:13.938" v="346"/>
          <ac:inkMkLst>
            <pc:docMk/>
            <pc:sldMk cId="1697412144" sldId="290"/>
            <ac:inkMk id="13" creationId="{C33605FD-6975-7120-2A6E-EEDC86A98AA6}"/>
          </ac:inkMkLst>
        </pc:inkChg>
      </pc:sldChg>
      <pc:sldChg chg="modSp">
        <pc:chgData name="Guest User" userId="" providerId="Windows Live" clId="Web-{F4909531-4E2F-4168-AFFA-37D2C2823136}" dt="2023-09-25T15:25:42.755" v="198"/>
        <pc:sldMkLst>
          <pc:docMk/>
          <pc:sldMk cId="2552125998" sldId="332"/>
        </pc:sldMkLst>
        <pc:graphicFrameChg chg="mod modGraphic">
          <ac:chgData name="Guest User" userId="" providerId="Windows Live" clId="Web-{F4909531-4E2F-4168-AFFA-37D2C2823136}" dt="2023-09-25T15:25:42.755" v="198"/>
          <ac:graphicFrameMkLst>
            <pc:docMk/>
            <pc:sldMk cId="2552125998" sldId="332"/>
            <ac:graphicFrameMk id="2" creationId="{00000000-0000-0000-0000-000000000000}"/>
          </ac:graphicFrameMkLst>
        </pc:graphicFrameChg>
      </pc:sldChg>
    </pc:docChg>
  </pc:docChgLst>
  <pc:docChgLst>
    <pc:chgData name="Guest User" providerId="Windows Live" clId="Web-{C632E453-402F-4AB1-9A24-E43C5EA626E9}"/>
    <pc:docChg chg="modSld">
      <pc:chgData name="Guest User" userId="" providerId="Windows Live" clId="Web-{C632E453-402F-4AB1-9A24-E43C5EA626E9}" dt="2023-09-26T11:47:26.563" v="170"/>
      <pc:docMkLst>
        <pc:docMk/>
      </pc:docMkLst>
      <pc:sldChg chg="modSp">
        <pc:chgData name="Guest User" userId="" providerId="Windows Live" clId="Web-{C632E453-402F-4AB1-9A24-E43C5EA626E9}" dt="2023-09-26T11:47:26.563" v="170"/>
        <pc:sldMkLst>
          <pc:docMk/>
          <pc:sldMk cId="2726943141" sldId="302"/>
        </pc:sldMkLst>
        <pc:graphicFrameChg chg="mod modGraphic">
          <ac:chgData name="Guest User" userId="" providerId="Windows Live" clId="Web-{C632E453-402F-4AB1-9A24-E43C5EA626E9}" dt="2023-09-26T11:47:26.563" v="170"/>
          <ac:graphicFrameMkLst>
            <pc:docMk/>
            <pc:sldMk cId="2726943141" sldId="302"/>
            <ac:graphicFrameMk id="2" creationId="{00000000-0000-0000-0000-000000000000}"/>
          </ac:graphicFrameMkLst>
        </pc:graphicFrameChg>
      </pc:sldChg>
      <pc:sldChg chg="modSp">
        <pc:chgData name="Guest User" userId="" providerId="Windows Live" clId="Web-{C632E453-402F-4AB1-9A24-E43C5EA626E9}" dt="2023-09-26T11:34:41.332" v="113"/>
        <pc:sldMkLst>
          <pc:docMk/>
          <pc:sldMk cId="2552125998" sldId="332"/>
        </pc:sldMkLst>
        <pc:graphicFrameChg chg="mod modGraphic">
          <ac:chgData name="Guest User" userId="" providerId="Windows Live" clId="Web-{C632E453-402F-4AB1-9A24-E43C5EA626E9}" dt="2023-09-26T11:34:41.332" v="113"/>
          <ac:graphicFrameMkLst>
            <pc:docMk/>
            <pc:sldMk cId="2552125998" sldId="332"/>
            <ac:graphicFrameMk id="2" creationId="{00000000-0000-0000-0000-000000000000}"/>
          </ac:graphicFrameMkLst>
        </pc:graphicFrameChg>
      </pc:sldChg>
      <pc:sldChg chg="modSp">
        <pc:chgData name="Guest User" userId="" providerId="Windows Live" clId="Web-{C632E453-402F-4AB1-9A24-E43C5EA626E9}" dt="2023-09-26T11:45:28.590" v="151"/>
        <pc:sldMkLst>
          <pc:docMk/>
          <pc:sldMk cId="0" sldId="336"/>
        </pc:sldMkLst>
        <pc:graphicFrameChg chg="mod modGraphic">
          <ac:chgData name="Guest User" userId="" providerId="Windows Live" clId="Web-{C632E453-402F-4AB1-9A24-E43C5EA626E9}" dt="2023-09-26T11:45:28.590" v="151"/>
          <ac:graphicFrameMkLst>
            <pc:docMk/>
            <pc:sldMk cId="0" sldId="336"/>
            <ac:graphicFrameMk id="3" creationId="{00000000-0000-0000-0000-000000000000}"/>
          </ac:graphicFrameMkLst>
        </pc:graphicFrameChg>
      </pc:sldChg>
    </pc:docChg>
  </pc:docChgLst>
  <pc:docChgLst>
    <pc:chgData name="Guest User" providerId="Windows Live" clId="Web-{7F7C5F1A-4A97-4911-8DD3-C6DE8A8620E0}"/>
    <pc:docChg chg="modSld">
      <pc:chgData name="Guest User" userId="" providerId="Windows Live" clId="Web-{7F7C5F1A-4A97-4911-8DD3-C6DE8A8620E0}" dt="2023-09-25T15:52:59.232" v="321"/>
      <pc:docMkLst>
        <pc:docMk/>
      </pc:docMkLst>
      <pc:sldChg chg="modSp">
        <pc:chgData name="Guest User" userId="" providerId="Windows Live" clId="Web-{7F7C5F1A-4A97-4911-8DD3-C6DE8A8620E0}" dt="2023-09-25T15:45:19.558" v="189"/>
        <pc:sldMkLst>
          <pc:docMk/>
          <pc:sldMk cId="379694268" sldId="288"/>
        </pc:sldMkLst>
        <pc:graphicFrameChg chg="mod modGraphic">
          <ac:chgData name="Guest User" userId="" providerId="Windows Live" clId="Web-{7F7C5F1A-4A97-4911-8DD3-C6DE8A8620E0}" dt="2023-09-25T15:45:19.558" v="189"/>
          <ac:graphicFrameMkLst>
            <pc:docMk/>
            <pc:sldMk cId="379694268" sldId="288"/>
            <ac:graphicFrameMk id="3" creationId="{00000000-0000-0000-0000-000000000000}"/>
          </ac:graphicFrameMkLst>
        </pc:graphicFrameChg>
      </pc:sldChg>
      <pc:sldChg chg="modSp">
        <pc:chgData name="Guest User" userId="" providerId="Windows Live" clId="Web-{7F7C5F1A-4A97-4911-8DD3-C6DE8A8620E0}" dt="2023-09-25T15:42:02.222" v="61"/>
        <pc:sldMkLst>
          <pc:docMk/>
          <pc:sldMk cId="1697412144" sldId="290"/>
        </pc:sldMkLst>
        <pc:graphicFrameChg chg="mod modGraphic">
          <ac:chgData name="Guest User" userId="" providerId="Windows Live" clId="Web-{7F7C5F1A-4A97-4911-8DD3-C6DE8A8620E0}" dt="2023-09-25T15:42:02.222" v="61"/>
          <ac:graphicFrameMkLst>
            <pc:docMk/>
            <pc:sldMk cId="1697412144" sldId="290"/>
            <ac:graphicFrameMk id="5" creationId="{00000000-0000-0000-0000-000000000000}"/>
          </ac:graphicFrameMkLst>
        </pc:graphicFrameChg>
      </pc:sldChg>
      <pc:sldChg chg="modSp">
        <pc:chgData name="Guest User" userId="" providerId="Windows Live" clId="Web-{7F7C5F1A-4A97-4911-8DD3-C6DE8A8620E0}" dt="2023-09-25T15:48:25.424" v="217"/>
        <pc:sldMkLst>
          <pc:docMk/>
          <pc:sldMk cId="457319376" sldId="291"/>
        </pc:sldMkLst>
        <pc:graphicFrameChg chg="mod modGraphic">
          <ac:chgData name="Guest User" userId="" providerId="Windows Live" clId="Web-{7F7C5F1A-4A97-4911-8DD3-C6DE8A8620E0}" dt="2023-09-25T15:48:25.424" v="217"/>
          <ac:graphicFrameMkLst>
            <pc:docMk/>
            <pc:sldMk cId="457319376" sldId="291"/>
            <ac:graphicFrameMk id="3" creationId="{00000000-0000-0000-0000-000000000000}"/>
          </ac:graphicFrameMkLst>
        </pc:graphicFrameChg>
      </pc:sldChg>
      <pc:sldChg chg="modSp">
        <pc:chgData name="Guest User" userId="" providerId="Windows Live" clId="Web-{7F7C5F1A-4A97-4911-8DD3-C6DE8A8620E0}" dt="2023-09-25T15:52:59.232" v="321"/>
        <pc:sldMkLst>
          <pc:docMk/>
          <pc:sldMk cId="1426366182" sldId="292"/>
        </pc:sldMkLst>
        <pc:graphicFrameChg chg="mod modGraphic">
          <ac:chgData name="Guest User" userId="" providerId="Windows Live" clId="Web-{7F7C5F1A-4A97-4911-8DD3-C6DE8A8620E0}" dt="2023-09-25T15:52:59.232" v="321"/>
          <ac:graphicFrameMkLst>
            <pc:docMk/>
            <pc:sldMk cId="1426366182" sldId="292"/>
            <ac:graphicFrameMk id="3" creationId="{00000000-0000-0000-0000-000000000000}"/>
          </ac:graphicFrameMkLst>
        </pc:graphicFrameChg>
      </pc:sldChg>
    </pc:docChg>
  </pc:docChgLst>
  <pc:docChgLst>
    <pc:chgData name="Guest User" providerId="Windows Live" clId="Web-{3B7D5419-5C54-4417-BBBE-73DE0D263403}"/>
    <pc:docChg chg="modSld">
      <pc:chgData name="Guest User" userId="" providerId="Windows Live" clId="Web-{3B7D5419-5C54-4417-BBBE-73DE0D263403}" dt="2023-09-11T12:04:23.393" v="397"/>
      <pc:docMkLst>
        <pc:docMk/>
      </pc:docMkLst>
      <pc:sldChg chg="modSp">
        <pc:chgData name="Guest User" userId="" providerId="Windows Live" clId="Web-{3B7D5419-5C54-4417-BBBE-73DE0D263403}" dt="2023-09-11T10:36:40.510" v="28"/>
        <pc:sldMkLst>
          <pc:docMk/>
          <pc:sldMk cId="3645807475" sldId="261"/>
        </pc:sldMkLst>
        <pc:graphicFrameChg chg="mod modGraphic">
          <ac:chgData name="Guest User" userId="" providerId="Windows Live" clId="Web-{3B7D5419-5C54-4417-BBBE-73DE0D263403}" dt="2023-09-11T10:36:40.510" v="28"/>
          <ac:graphicFrameMkLst>
            <pc:docMk/>
            <pc:sldMk cId="3645807475" sldId="261"/>
            <ac:graphicFrameMk id="4" creationId="{00000000-0000-0000-0000-000000000000}"/>
          </ac:graphicFrameMkLst>
        </pc:graphicFrameChg>
      </pc:sldChg>
      <pc:sldChg chg="modSp">
        <pc:chgData name="Guest User" userId="" providerId="Windows Live" clId="Web-{3B7D5419-5C54-4417-BBBE-73DE0D263403}" dt="2023-09-11T10:37:44.293" v="58"/>
        <pc:sldMkLst>
          <pc:docMk/>
          <pc:sldMk cId="999710176" sldId="264"/>
        </pc:sldMkLst>
        <pc:graphicFrameChg chg="mod modGraphic">
          <ac:chgData name="Guest User" userId="" providerId="Windows Live" clId="Web-{3B7D5419-5C54-4417-BBBE-73DE0D263403}" dt="2023-09-11T10:37:44.293" v="58"/>
          <ac:graphicFrameMkLst>
            <pc:docMk/>
            <pc:sldMk cId="999710176" sldId="264"/>
            <ac:graphicFrameMk id="4" creationId="{00000000-0000-0000-0000-000000000000}"/>
          </ac:graphicFrameMkLst>
        </pc:graphicFrameChg>
      </pc:sldChg>
      <pc:sldChg chg="modSp">
        <pc:chgData name="Guest User" userId="" providerId="Windows Live" clId="Web-{3B7D5419-5C54-4417-BBBE-73DE0D263403}" dt="2023-09-11T11:13:19.445" v="147"/>
        <pc:sldMkLst>
          <pc:docMk/>
          <pc:sldMk cId="1655344682" sldId="265"/>
        </pc:sldMkLst>
        <pc:graphicFrameChg chg="mod modGraphic">
          <ac:chgData name="Guest User" userId="" providerId="Windows Live" clId="Web-{3B7D5419-5C54-4417-BBBE-73DE0D263403}" dt="2023-09-11T11:13:19.445" v="147"/>
          <ac:graphicFrameMkLst>
            <pc:docMk/>
            <pc:sldMk cId="1655344682" sldId="265"/>
            <ac:graphicFrameMk id="3" creationId="{00000000-0000-0000-0000-000000000000}"/>
          </ac:graphicFrameMkLst>
        </pc:graphicFrameChg>
      </pc:sldChg>
      <pc:sldChg chg="modSp">
        <pc:chgData name="Guest User" userId="" providerId="Windows Live" clId="Web-{3B7D5419-5C54-4417-BBBE-73DE0D263403}" dt="2023-09-11T10:39:15.250" v="90" actId="20577"/>
        <pc:sldMkLst>
          <pc:docMk/>
          <pc:sldMk cId="363548821" sldId="266"/>
        </pc:sldMkLst>
        <pc:spChg chg="mod">
          <ac:chgData name="Guest User" userId="" providerId="Windows Live" clId="Web-{3B7D5419-5C54-4417-BBBE-73DE0D263403}" dt="2023-09-11T10:38:49.827" v="65" actId="20577"/>
          <ac:spMkLst>
            <pc:docMk/>
            <pc:sldMk cId="363548821" sldId="266"/>
            <ac:spMk id="3" creationId="{C364DDD1-45C7-4324-8C4B-0130673CF5B7}"/>
          </ac:spMkLst>
        </pc:spChg>
        <pc:spChg chg="mod">
          <ac:chgData name="Guest User" userId="" providerId="Windows Live" clId="Web-{3B7D5419-5C54-4417-BBBE-73DE0D263403}" dt="2023-09-11T10:39:15.250" v="90" actId="20577"/>
          <ac:spMkLst>
            <pc:docMk/>
            <pc:sldMk cId="363548821" sldId="266"/>
            <ac:spMk id="4" creationId="{00000000-0000-0000-0000-000000000000}"/>
          </ac:spMkLst>
        </pc:spChg>
      </pc:sldChg>
      <pc:sldChg chg="modSp">
        <pc:chgData name="Guest User" userId="" providerId="Windows Live" clId="Web-{3B7D5419-5C54-4417-BBBE-73DE0D263403}" dt="2023-09-11T11:12:14.083" v="109" actId="14100"/>
        <pc:sldMkLst>
          <pc:docMk/>
          <pc:sldMk cId="2975544760" sldId="267"/>
        </pc:sldMkLst>
        <pc:picChg chg="mod">
          <ac:chgData name="Guest User" userId="" providerId="Windows Live" clId="Web-{3B7D5419-5C54-4417-BBBE-73DE0D263403}" dt="2023-09-11T11:12:14.083" v="109" actId="14100"/>
          <ac:picMkLst>
            <pc:docMk/>
            <pc:sldMk cId="2975544760" sldId="267"/>
            <ac:picMk id="4" creationId="{00000000-0000-0000-0000-000000000000}"/>
          </ac:picMkLst>
        </pc:picChg>
      </pc:sldChg>
      <pc:sldChg chg="modSp">
        <pc:chgData name="Guest User" userId="" providerId="Windows Live" clId="Web-{3B7D5419-5C54-4417-BBBE-73DE0D263403}" dt="2023-09-11T11:18:53.209" v="163"/>
        <pc:sldMkLst>
          <pc:docMk/>
          <pc:sldMk cId="3553830089" sldId="268"/>
        </pc:sldMkLst>
        <pc:graphicFrameChg chg="mod modGraphic">
          <ac:chgData name="Guest User" userId="" providerId="Windows Live" clId="Web-{3B7D5419-5C54-4417-BBBE-73DE0D263403}" dt="2023-09-11T11:18:53.209" v="163"/>
          <ac:graphicFrameMkLst>
            <pc:docMk/>
            <pc:sldMk cId="3553830089" sldId="268"/>
            <ac:graphicFrameMk id="3" creationId="{00000000-0000-0000-0000-000000000000}"/>
          </ac:graphicFrameMkLst>
        </pc:graphicFrameChg>
      </pc:sldChg>
      <pc:sldChg chg="modSp">
        <pc:chgData name="Guest User" userId="" providerId="Windows Live" clId="Web-{3B7D5419-5C54-4417-BBBE-73DE0D263403}" dt="2023-09-11T11:21:19.217" v="233"/>
        <pc:sldMkLst>
          <pc:docMk/>
          <pc:sldMk cId="3709068071" sldId="276"/>
        </pc:sldMkLst>
        <pc:graphicFrameChg chg="mod modGraphic">
          <ac:chgData name="Guest User" userId="" providerId="Windows Live" clId="Web-{3B7D5419-5C54-4417-BBBE-73DE0D263403}" dt="2023-09-11T11:21:19.217" v="233"/>
          <ac:graphicFrameMkLst>
            <pc:docMk/>
            <pc:sldMk cId="3709068071" sldId="276"/>
            <ac:graphicFrameMk id="3" creationId="{00000000-0000-0000-0000-000000000000}"/>
          </ac:graphicFrameMkLst>
        </pc:graphicFrameChg>
      </pc:sldChg>
      <pc:sldChg chg="modSp">
        <pc:chgData name="Guest User" userId="" providerId="Windows Live" clId="Web-{3B7D5419-5C54-4417-BBBE-73DE0D263403}" dt="2023-09-11T11:21:56.936" v="263"/>
        <pc:sldMkLst>
          <pc:docMk/>
          <pc:sldMk cId="50535109" sldId="277"/>
        </pc:sldMkLst>
        <pc:graphicFrameChg chg="mod modGraphic">
          <ac:chgData name="Guest User" userId="" providerId="Windows Live" clId="Web-{3B7D5419-5C54-4417-BBBE-73DE0D263403}" dt="2023-09-11T11:21:56.936" v="263"/>
          <ac:graphicFrameMkLst>
            <pc:docMk/>
            <pc:sldMk cId="50535109" sldId="277"/>
            <ac:graphicFrameMk id="3" creationId="{00000000-0000-0000-0000-000000000000}"/>
          </ac:graphicFrameMkLst>
        </pc:graphicFrameChg>
      </pc:sldChg>
      <pc:sldChg chg="modSp">
        <pc:chgData name="Guest User" userId="" providerId="Windows Live" clId="Web-{3B7D5419-5C54-4417-BBBE-73DE0D263403}" dt="2023-09-11T11:26:03.227" v="279"/>
        <pc:sldMkLst>
          <pc:docMk/>
          <pc:sldMk cId="2438352321" sldId="284"/>
        </pc:sldMkLst>
        <pc:graphicFrameChg chg="mod modGraphic">
          <ac:chgData name="Guest User" userId="" providerId="Windows Live" clId="Web-{3B7D5419-5C54-4417-BBBE-73DE0D263403}" dt="2023-09-11T11:26:03.227" v="279"/>
          <ac:graphicFrameMkLst>
            <pc:docMk/>
            <pc:sldMk cId="2438352321" sldId="284"/>
            <ac:graphicFrameMk id="3" creationId="{00000000-0000-0000-0000-000000000000}"/>
          </ac:graphicFrameMkLst>
        </pc:graphicFrameChg>
      </pc:sldChg>
      <pc:sldChg chg="modSp">
        <pc:chgData name="Guest User" userId="" providerId="Windows Live" clId="Web-{3B7D5419-5C54-4417-BBBE-73DE0D263403}" dt="2023-09-11T11:48:29.940" v="313"/>
        <pc:sldMkLst>
          <pc:docMk/>
          <pc:sldMk cId="3812775024" sldId="286"/>
        </pc:sldMkLst>
        <pc:graphicFrameChg chg="mod modGraphic">
          <ac:chgData name="Guest User" userId="" providerId="Windows Live" clId="Web-{3B7D5419-5C54-4417-BBBE-73DE0D263403}" dt="2023-09-11T11:48:29.940" v="313"/>
          <ac:graphicFrameMkLst>
            <pc:docMk/>
            <pc:sldMk cId="3812775024" sldId="286"/>
            <ac:graphicFrameMk id="4" creationId="{00000000-0000-0000-0000-000000000000}"/>
          </ac:graphicFrameMkLst>
        </pc:graphicFrameChg>
      </pc:sldChg>
      <pc:sldChg chg="modSp">
        <pc:chgData name="Guest User" userId="" providerId="Windows Live" clId="Web-{3B7D5419-5C54-4417-BBBE-73DE0D263403}" dt="2023-09-11T11:50:02.319" v="361"/>
        <pc:sldMkLst>
          <pc:docMk/>
          <pc:sldMk cId="3825030007" sldId="287"/>
        </pc:sldMkLst>
        <pc:graphicFrameChg chg="mod modGraphic">
          <ac:chgData name="Guest User" userId="" providerId="Windows Live" clId="Web-{3B7D5419-5C54-4417-BBBE-73DE0D263403}" dt="2023-09-11T11:50:02.319" v="361"/>
          <ac:graphicFrameMkLst>
            <pc:docMk/>
            <pc:sldMk cId="3825030007" sldId="287"/>
            <ac:graphicFrameMk id="6" creationId="{00000000-0000-0000-0000-000000000000}"/>
          </ac:graphicFrameMkLst>
        </pc:graphicFrameChg>
      </pc:sldChg>
      <pc:sldChg chg="modSp">
        <pc:chgData name="Guest User" userId="" providerId="Windows Live" clId="Web-{3B7D5419-5C54-4417-BBBE-73DE0D263403}" dt="2023-09-11T12:04:23.393" v="397"/>
        <pc:sldMkLst>
          <pc:docMk/>
          <pc:sldMk cId="2456902568" sldId="289"/>
        </pc:sldMkLst>
        <pc:graphicFrameChg chg="mod modGraphic">
          <ac:chgData name="Guest User" userId="" providerId="Windows Live" clId="Web-{3B7D5419-5C54-4417-BBBE-73DE0D263403}" dt="2023-09-11T12:04:23.393" v="397"/>
          <ac:graphicFrameMkLst>
            <pc:docMk/>
            <pc:sldMk cId="2456902568" sldId="289"/>
            <ac:graphicFrameMk id="4" creationId="{00000000-0000-0000-0000-000000000000}"/>
          </ac:graphicFrameMkLst>
        </pc:graphicFrameChg>
      </pc:sldChg>
      <pc:sldChg chg="modSp">
        <pc:chgData name="Guest User" userId="" providerId="Windows Live" clId="Web-{3B7D5419-5C54-4417-BBBE-73DE0D263403}" dt="2023-09-11T11:49:08.910" v="335"/>
        <pc:sldMkLst>
          <pc:docMk/>
          <pc:sldMk cId="4107873533" sldId="330"/>
        </pc:sldMkLst>
        <pc:graphicFrameChg chg="mod modGraphic">
          <ac:chgData name="Guest User" userId="" providerId="Windows Live" clId="Web-{3B7D5419-5C54-4417-BBBE-73DE0D263403}" dt="2023-09-11T11:49:08.910" v="335"/>
          <ac:graphicFrameMkLst>
            <pc:docMk/>
            <pc:sldMk cId="4107873533" sldId="330"/>
            <ac:graphicFrameMk id="6" creationId="{00000000-0000-0000-0000-000000000000}"/>
          </ac:graphicFrameMkLst>
        </pc:graphicFrameChg>
      </pc:sldChg>
      <pc:sldChg chg="modSp">
        <pc:chgData name="Guest User" userId="" providerId="Windows Live" clId="Web-{3B7D5419-5C54-4417-BBBE-73DE0D263403}" dt="2023-09-11T11:20:14.385" v="219"/>
        <pc:sldMkLst>
          <pc:docMk/>
          <pc:sldMk cId="2552125998" sldId="332"/>
        </pc:sldMkLst>
        <pc:graphicFrameChg chg="mod modGraphic">
          <ac:chgData name="Guest User" userId="" providerId="Windows Live" clId="Web-{3B7D5419-5C54-4417-BBBE-73DE0D263403}" dt="2023-09-11T11:20:14.385" v="219"/>
          <ac:graphicFrameMkLst>
            <pc:docMk/>
            <pc:sldMk cId="2552125998" sldId="332"/>
            <ac:graphicFrameMk id="2" creationId="{00000000-0000-0000-0000-000000000000}"/>
          </ac:graphicFrameMkLst>
        </pc:graphicFrameChg>
      </pc:sldChg>
    </pc:docChg>
  </pc:docChgLst>
  <pc:docChgLst>
    <pc:chgData name="Guest User" providerId="Windows Live" clId="Web-{36FCAE80-196C-47AA-99D0-F21507C76DEE}"/>
    <pc:docChg chg="modSld">
      <pc:chgData name="Guest User" userId="" providerId="Windows Live" clId="Web-{36FCAE80-196C-47AA-99D0-F21507C76DEE}" dt="2023-09-25T15:13:23.786" v="219"/>
      <pc:docMkLst>
        <pc:docMk/>
      </pc:docMkLst>
      <pc:sldChg chg="modSp">
        <pc:chgData name="Guest User" userId="" providerId="Windows Live" clId="Web-{36FCAE80-196C-47AA-99D0-F21507C76DEE}" dt="2023-09-25T15:06:54.105" v="3"/>
        <pc:sldMkLst>
          <pc:docMk/>
          <pc:sldMk cId="3553830089" sldId="268"/>
        </pc:sldMkLst>
        <pc:graphicFrameChg chg="mod modGraphic">
          <ac:chgData name="Guest User" userId="" providerId="Windows Live" clId="Web-{36FCAE80-196C-47AA-99D0-F21507C76DEE}" dt="2023-09-25T15:06:54.105" v="3"/>
          <ac:graphicFrameMkLst>
            <pc:docMk/>
            <pc:sldMk cId="3553830089" sldId="268"/>
            <ac:graphicFrameMk id="3" creationId="{00000000-0000-0000-0000-000000000000}"/>
          </ac:graphicFrameMkLst>
        </pc:graphicFrameChg>
      </pc:sldChg>
      <pc:sldChg chg="modSp">
        <pc:chgData name="Guest User" userId="" providerId="Windows Live" clId="Web-{36FCAE80-196C-47AA-99D0-F21507C76DEE}" dt="2023-09-25T15:12:30.519" v="216" actId="20577"/>
        <pc:sldMkLst>
          <pc:docMk/>
          <pc:sldMk cId="1012136745" sldId="269"/>
        </pc:sldMkLst>
        <pc:spChg chg="mod">
          <ac:chgData name="Guest User" userId="" providerId="Windows Live" clId="Web-{36FCAE80-196C-47AA-99D0-F21507C76DEE}" dt="2023-09-25T15:12:30.519" v="216" actId="20577"/>
          <ac:spMkLst>
            <pc:docMk/>
            <pc:sldMk cId="1012136745" sldId="269"/>
            <ac:spMk id="4" creationId="{00000000-0000-0000-0000-000000000000}"/>
          </ac:spMkLst>
        </pc:spChg>
        <pc:graphicFrameChg chg="mod modGraphic">
          <ac:chgData name="Guest User" userId="" providerId="Windows Live" clId="Web-{36FCAE80-196C-47AA-99D0-F21507C76DEE}" dt="2023-09-25T15:08:20.404" v="43"/>
          <ac:graphicFrameMkLst>
            <pc:docMk/>
            <pc:sldMk cId="1012136745" sldId="269"/>
            <ac:graphicFrameMk id="3" creationId="{00000000-0000-0000-0000-000000000000}"/>
          </ac:graphicFrameMkLst>
        </pc:graphicFrameChg>
      </pc:sldChg>
      <pc:sldChg chg="modSp">
        <pc:chgData name="Guest User" userId="" providerId="Windows Live" clId="Web-{36FCAE80-196C-47AA-99D0-F21507C76DEE}" dt="2023-09-25T15:13:23.786" v="219"/>
        <pc:sldMkLst>
          <pc:docMk/>
          <pc:sldMk cId="2552125998" sldId="332"/>
        </pc:sldMkLst>
        <pc:graphicFrameChg chg="mod modGraphic">
          <ac:chgData name="Guest User" userId="" providerId="Windows Live" clId="Web-{36FCAE80-196C-47AA-99D0-F21507C76DEE}" dt="2023-09-25T15:13:23.786" v="219"/>
          <ac:graphicFrameMkLst>
            <pc:docMk/>
            <pc:sldMk cId="2552125998" sldId="332"/>
            <ac:graphicFrameMk id="2" creationId="{00000000-0000-0000-0000-000000000000}"/>
          </ac:graphicFrameMkLst>
        </pc:graphicFrameChg>
      </pc:sldChg>
    </pc:docChg>
  </pc:docChgLst>
  <pc:docChgLst>
    <pc:chgData name="Guest User" providerId="Windows Live" clId="Web-{0D934070-F4CF-4731-9899-EB1E98CFD092}"/>
    <pc:docChg chg="modSld">
      <pc:chgData name="Guest User" userId="" providerId="Windows Live" clId="Web-{0D934070-F4CF-4731-9899-EB1E98CFD092}" dt="2023-09-13T09:50:56.008" v="333"/>
      <pc:docMkLst>
        <pc:docMk/>
      </pc:docMkLst>
      <pc:sldChg chg="modSp">
        <pc:chgData name="Guest User" userId="" providerId="Windows Live" clId="Web-{0D934070-F4CF-4731-9899-EB1E98CFD092}" dt="2023-09-13T09:05:51.477" v="303" actId="20577"/>
        <pc:sldMkLst>
          <pc:docMk/>
          <pc:sldMk cId="1487245910" sldId="258"/>
        </pc:sldMkLst>
        <pc:spChg chg="mod">
          <ac:chgData name="Guest User" userId="" providerId="Windows Live" clId="Web-{0D934070-F4CF-4731-9899-EB1E98CFD092}" dt="2023-09-13T09:05:51.477" v="303" actId="20577"/>
          <ac:spMkLst>
            <pc:docMk/>
            <pc:sldMk cId="1487245910" sldId="258"/>
            <ac:spMk id="5" creationId="{00000000-0000-0000-0000-000000000000}"/>
          </ac:spMkLst>
        </pc:spChg>
      </pc:sldChg>
      <pc:sldChg chg="modSp">
        <pc:chgData name="Guest User" userId="" providerId="Windows Live" clId="Web-{0D934070-F4CF-4731-9899-EB1E98CFD092}" dt="2023-09-13T09:02:50.301" v="256"/>
        <pc:sldMkLst>
          <pc:docMk/>
          <pc:sldMk cId="1012136745" sldId="269"/>
        </pc:sldMkLst>
        <pc:graphicFrameChg chg="mod modGraphic">
          <ac:chgData name="Guest User" userId="" providerId="Windows Live" clId="Web-{0D934070-F4CF-4731-9899-EB1E98CFD092}" dt="2023-09-13T09:02:50.301" v="256"/>
          <ac:graphicFrameMkLst>
            <pc:docMk/>
            <pc:sldMk cId="1012136745" sldId="269"/>
            <ac:graphicFrameMk id="3" creationId="{00000000-0000-0000-0000-000000000000}"/>
          </ac:graphicFrameMkLst>
        </pc:graphicFrameChg>
      </pc:sldChg>
      <pc:sldChg chg="modSp">
        <pc:chgData name="Guest User" userId="" providerId="Windows Live" clId="Web-{0D934070-F4CF-4731-9899-EB1E98CFD092}" dt="2023-09-13T09:50:56.008" v="333"/>
        <pc:sldMkLst>
          <pc:docMk/>
          <pc:sldMk cId="313891348" sldId="293"/>
        </pc:sldMkLst>
        <pc:graphicFrameChg chg="mod modGraphic">
          <ac:chgData name="Guest User" userId="" providerId="Windows Live" clId="Web-{0D934070-F4CF-4731-9899-EB1E98CFD092}" dt="2023-09-13T09:50:56.008" v="333"/>
          <ac:graphicFrameMkLst>
            <pc:docMk/>
            <pc:sldMk cId="313891348" sldId="293"/>
            <ac:graphicFrameMk id="3" creationId="{00000000-0000-0000-0000-000000000000}"/>
          </ac:graphicFrameMkLst>
        </pc:graphicFrameChg>
      </pc:sldChg>
      <pc:sldChg chg="modSp">
        <pc:chgData name="Guest User" userId="" providerId="Windows Live" clId="Web-{0D934070-F4CF-4731-9899-EB1E98CFD092}" dt="2023-09-13T08:40:09.931" v="131"/>
        <pc:sldMkLst>
          <pc:docMk/>
          <pc:sldMk cId="556419851" sldId="298"/>
        </pc:sldMkLst>
        <pc:graphicFrameChg chg="mod modGraphic">
          <ac:chgData name="Guest User" userId="" providerId="Windows Live" clId="Web-{0D934070-F4CF-4731-9899-EB1E98CFD092}" dt="2023-09-13T08:40:09.931" v="131"/>
          <ac:graphicFrameMkLst>
            <pc:docMk/>
            <pc:sldMk cId="556419851" sldId="298"/>
            <ac:graphicFrameMk id="5" creationId="{00000000-0000-0000-0000-000000000000}"/>
          </ac:graphicFrameMkLst>
        </pc:graphicFrameChg>
      </pc:sldChg>
      <pc:sldChg chg="addSp delSp modSp">
        <pc:chgData name="Guest User" userId="" providerId="Windows Live" clId="Web-{0D934070-F4CF-4731-9899-EB1E98CFD092}" dt="2023-09-13T08:52:44.055" v="232"/>
        <pc:sldMkLst>
          <pc:docMk/>
          <pc:sldMk cId="143401389" sldId="299"/>
        </pc:sldMkLst>
        <pc:graphicFrameChg chg="mod modGraphic">
          <ac:chgData name="Guest User" userId="" providerId="Windows Live" clId="Web-{0D934070-F4CF-4731-9899-EB1E98CFD092}" dt="2023-09-13T08:52:44.055" v="232"/>
          <ac:graphicFrameMkLst>
            <pc:docMk/>
            <pc:sldMk cId="143401389" sldId="299"/>
            <ac:graphicFrameMk id="3" creationId="{00000000-0000-0000-0000-000000000000}"/>
          </ac:graphicFrameMkLst>
        </pc:graphicFrameChg>
        <pc:graphicFrameChg chg="add del">
          <ac:chgData name="Guest User" userId="" providerId="Windows Live" clId="Web-{0D934070-F4CF-4731-9899-EB1E98CFD092}" dt="2023-09-13T08:41:17.838" v="133"/>
          <ac:graphicFrameMkLst>
            <pc:docMk/>
            <pc:sldMk cId="143401389" sldId="299"/>
            <ac:graphicFrameMk id="4" creationId="{E433ED20-00FF-FB96-4347-45D47877693E}"/>
          </ac:graphicFrameMkLst>
        </pc:graphicFrameChg>
      </pc:sldChg>
      <pc:sldChg chg="modSp">
        <pc:chgData name="Guest User" userId="" providerId="Windows Live" clId="Web-{0D934070-F4CF-4731-9899-EB1E98CFD092}" dt="2023-09-13T09:12:02.140" v="305"/>
        <pc:sldMkLst>
          <pc:docMk/>
          <pc:sldMk cId="4107873533" sldId="330"/>
        </pc:sldMkLst>
        <pc:graphicFrameChg chg="mod modGraphic">
          <ac:chgData name="Guest User" userId="" providerId="Windows Live" clId="Web-{0D934070-F4CF-4731-9899-EB1E98CFD092}" dt="2023-09-13T09:12:02.140" v="305"/>
          <ac:graphicFrameMkLst>
            <pc:docMk/>
            <pc:sldMk cId="4107873533" sldId="330"/>
            <ac:graphicFrameMk id="6" creationId="{00000000-0000-0000-0000-000000000000}"/>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25T15:37:24.055"/>
    </inkml:context>
    <inkml:brush xml:id="br0">
      <inkml:brushProperty name="width" value="0.1" units="cm"/>
      <inkml:brushProperty name="height" value="0.1" units="cm"/>
    </inkml:brush>
  </inkml:definitions>
  <inkml:trace contextRef="#ctx0" brushRef="#br0">0 0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25T15:37:24.056"/>
    </inkml:context>
    <inkml:brush xml:id="br0">
      <inkml:brushProperty name="width" value="0.1" units="cm"/>
      <inkml:brushProperty name="height" value="0.1" units="cm"/>
    </inkml:brush>
  </inkml:definitions>
  <inkml:trace contextRef="#ctx0" brushRef="#br0">0-2147483648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EEE05-FCB9-4D98-A317-F39D45F101D6}" type="datetimeFigureOut">
              <a:rPr lang="en-US"/>
              <a:pPr/>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968E9-D625-4458-9D42-1B55C71A807F}" type="slidenum">
              <a:rPr lang="en-US"/>
              <a:pPr/>
              <a:t>‹#›</a:t>
            </a:fld>
            <a:endParaRPr lang="en-US"/>
          </a:p>
        </p:txBody>
      </p:sp>
    </p:spTree>
    <p:extLst>
      <p:ext uri="{BB962C8B-B14F-4D97-AF65-F5344CB8AC3E}">
        <p14:creationId xmlns:p14="http://schemas.microsoft.com/office/powerpoint/2010/main" val="53550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1</a:t>
            </a:fld>
            <a:endParaRPr lang="en-US"/>
          </a:p>
        </p:txBody>
      </p:sp>
    </p:spTree>
    <p:extLst>
      <p:ext uri="{BB962C8B-B14F-4D97-AF65-F5344CB8AC3E}">
        <p14:creationId xmlns:p14="http://schemas.microsoft.com/office/powerpoint/2010/main" val="1254152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a:t>
            </a:fld>
            <a:endParaRPr lang="en-US"/>
          </a:p>
        </p:txBody>
      </p:sp>
    </p:spTree>
    <p:extLst>
      <p:ext uri="{BB962C8B-B14F-4D97-AF65-F5344CB8AC3E}">
        <p14:creationId xmlns:p14="http://schemas.microsoft.com/office/powerpoint/2010/main" val="4979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a:t>
            </a:fld>
            <a:endParaRPr lang="en-US"/>
          </a:p>
        </p:txBody>
      </p:sp>
    </p:spTree>
    <p:extLst>
      <p:ext uri="{BB962C8B-B14F-4D97-AF65-F5344CB8AC3E}">
        <p14:creationId xmlns:p14="http://schemas.microsoft.com/office/powerpoint/2010/main" val="1533852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a:t>
            </a:fld>
            <a:endParaRPr lang="en-US"/>
          </a:p>
        </p:txBody>
      </p:sp>
    </p:spTree>
    <p:extLst>
      <p:ext uri="{BB962C8B-B14F-4D97-AF65-F5344CB8AC3E}">
        <p14:creationId xmlns:p14="http://schemas.microsoft.com/office/powerpoint/2010/main" val="1613121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a:t>
            </a:fld>
            <a:endParaRPr lang="en-US"/>
          </a:p>
        </p:txBody>
      </p:sp>
    </p:spTree>
    <p:extLst>
      <p:ext uri="{BB962C8B-B14F-4D97-AF65-F5344CB8AC3E}">
        <p14:creationId xmlns:p14="http://schemas.microsoft.com/office/powerpoint/2010/main" val="2519459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7</a:t>
            </a:fld>
            <a:endParaRPr lang="en-US"/>
          </a:p>
        </p:txBody>
      </p:sp>
    </p:spTree>
    <p:extLst>
      <p:ext uri="{BB962C8B-B14F-4D97-AF65-F5344CB8AC3E}">
        <p14:creationId xmlns:p14="http://schemas.microsoft.com/office/powerpoint/2010/main" val="1536674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8</a:t>
            </a:fld>
            <a:endParaRPr lang="en-US"/>
          </a:p>
        </p:txBody>
      </p:sp>
    </p:spTree>
    <p:extLst>
      <p:ext uri="{BB962C8B-B14F-4D97-AF65-F5344CB8AC3E}">
        <p14:creationId xmlns:p14="http://schemas.microsoft.com/office/powerpoint/2010/main" val="1243425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9</a:t>
            </a:fld>
            <a:endParaRPr lang="en-US"/>
          </a:p>
        </p:txBody>
      </p:sp>
    </p:spTree>
    <p:extLst>
      <p:ext uri="{BB962C8B-B14F-4D97-AF65-F5344CB8AC3E}">
        <p14:creationId xmlns:p14="http://schemas.microsoft.com/office/powerpoint/2010/main" val="3154904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10</a:t>
            </a:fld>
            <a:endParaRPr lang="en-US"/>
          </a:p>
        </p:txBody>
      </p:sp>
    </p:spTree>
    <p:extLst>
      <p:ext uri="{BB962C8B-B14F-4D97-AF65-F5344CB8AC3E}">
        <p14:creationId xmlns:p14="http://schemas.microsoft.com/office/powerpoint/2010/main" val="361069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11</a:t>
            </a:fld>
            <a:endParaRPr lang="en-US"/>
          </a:p>
        </p:txBody>
      </p:sp>
    </p:spTree>
    <p:extLst>
      <p:ext uri="{BB962C8B-B14F-4D97-AF65-F5344CB8AC3E}">
        <p14:creationId xmlns:p14="http://schemas.microsoft.com/office/powerpoint/2010/main" val="3328926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12</a:t>
            </a:fld>
            <a:endParaRPr lang="en-US"/>
          </a:p>
        </p:txBody>
      </p:sp>
    </p:spTree>
    <p:extLst>
      <p:ext uri="{BB962C8B-B14F-4D97-AF65-F5344CB8AC3E}">
        <p14:creationId xmlns:p14="http://schemas.microsoft.com/office/powerpoint/2010/main" val="356950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13</a:t>
            </a:fld>
            <a:endParaRPr lang="en-US"/>
          </a:p>
        </p:txBody>
      </p:sp>
    </p:spTree>
    <p:extLst>
      <p:ext uri="{BB962C8B-B14F-4D97-AF65-F5344CB8AC3E}">
        <p14:creationId xmlns:p14="http://schemas.microsoft.com/office/powerpoint/2010/main" val="821157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a:solidFill>
                  <a:srgbClr val="0BD0D9"/>
                </a:solidFill>
                <a:latin typeface="Sylfaen"/>
              </a:rPr>
              <a:t>    </a:t>
            </a:r>
            <a:r>
              <a:rPr lang="ru-RU" sz="1400">
                <a:latin typeface="Sylfaen"/>
              </a:rPr>
              <a:t>Դասարաններում աշակերտական նստարանները դասավորված են ավանդական  շարքով: Խմբային աշխատանքի կազմակերպման ժամանակ աշակերտական սեղանները վերադասավորվում են չորս կամ վեց աշակերտի աշխատանքին հարմար ձևով: Վերադասավորությունը մեծ ժամանակ չի խլում դասից: Վերադասավորումները ուսուցիչը հիմնականում կազմակերպում է դասամիջոցին՝ դասից առաջ: Դաերը կազմակերպվում են նաև էլեկտրոնային միջոցների կիրառմամբ, երբ դասի ընթացքում աշակերտները ինքնուրույն աշխատանքի ժամանակ օգտագործում են համակարգիչներ: Այս դեպքում դասասենյակում նստարանները վերադասավորվում են կազմակերպվող աշխատանքի համապատասխան ձևով:</a:t>
            </a:r>
          </a:p>
          <a:p>
            <a:r>
              <a:rPr lang="ru-RU">
                <a:latin typeface="Calibri"/>
              </a:rPr>
              <a:t/>
            </a:r>
            <a:br>
              <a:rPr lang="ru-RU">
                <a:latin typeface="Calibri"/>
              </a:rPr>
            </a:br>
            <a:endParaRPr lang="ru-RU">
              <a:latin typeface="Calibri"/>
            </a:endParaRPr>
          </a:p>
        </p:txBody>
      </p:sp>
      <p:sp>
        <p:nvSpPr>
          <p:cNvPr id="4" name="Номер слайда 3"/>
          <p:cNvSpPr>
            <a:spLocks noGrp="1"/>
          </p:cNvSpPr>
          <p:nvPr>
            <p:ph type="sldNum" sz="quarter" idx="10"/>
          </p:nvPr>
        </p:nvSpPr>
        <p:spPr/>
        <p:txBody>
          <a:bodyPr/>
          <a:lstStyle/>
          <a:p>
            <a:fld id="{6AD968E9-D625-4458-9D42-1B55C71A807F}" type="slidenum">
              <a:rPr lang="en-US"/>
              <a:pPr/>
              <a:t>14</a:t>
            </a:fld>
            <a:endParaRPr lang="en-US"/>
          </a:p>
        </p:txBody>
      </p:sp>
    </p:spTree>
    <p:extLst>
      <p:ext uri="{BB962C8B-B14F-4D97-AF65-F5344CB8AC3E}">
        <p14:creationId xmlns:p14="http://schemas.microsoft.com/office/powerpoint/2010/main" val="1755874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15</a:t>
            </a:fld>
            <a:endParaRPr lang="en-US"/>
          </a:p>
        </p:txBody>
      </p:sp>
    </p:spTree>
    <p:extLst>
      <p:ext uri="{BB962C8B-B14F-4D97-AF65-F5344CB8AC3E}">
        <p14:creationId xmlns:p14="http://schemas.microsoft.com/office/powerpoint/2010/main" val="624376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16</a:t>
            </a:fld>
            <a:endParaRPr lang="en-US"/>
          </a:p>
        </p:txBody>
      </p:sp>
    </p:spTree>
    <p:extLst>
      <p:ext uri="{BB962C8B-B14F-4D97-AF65-F5344CB8AC3E}">
        <p14:creationId xmlns:p14="http://schemas.microsoft.com/office/powerpoint/2010/main" val="2662885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17</a:t>
            </a:fld>
            <a:endParaRPr lang="en-US"/>
          </a:p>
        </p:txBody>
      </p:sp>
    </p:spTree>
    <p:extLst>
      <p:ext uri="{BB962C8B-B14F-4D97-AF65-F5344CB8AC3E}">
        <p14:creationId xmlns:p14="http://schemas.microsoft.com/office/powerpoint/2010/main" val="247476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18</a:t>
            </a:fld>
            <a:endParaRPr lang="en-US"/>
          </a:p>
        </p:txBody>
      </p:sp>
    </p:spTree>
    <p:extLst>
      <p:ext uri="{BB962C8B-B14F-4D97-AF65-F5344CB8AC3E}">
        <p14:creationId xmlns:p14="http://schemas.microsoft.com/office/powerpoint/2010/main" val="2283830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19</a:t>
            </a:fld>
            <a:endParaRPr lang="en-US"/>
          </a:p>
        </p:txBody>
      </p:sp>
    </p:spTree>
    <p:extLst>
      <p:ext uri="{BB962C8B-B14F-4D97-AF65-F5344CB8AC3E}">
        <p14:creationId xmlns:p14="http://schemas.microsoft.com/office/powerpoint/2010/main" val="491025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20</a:t>
            </a:fld>
            <a:endParaRPr lang="en-US"/>
          </a:p>
        </p:txBody>
      </p:sp>
    </p:spTree>
    <p:extLst>
      <p:ext uri="{BB962C8B-B14F-4D97-AF65-F5344CB8AC3E}">
        <p14:creationId xmlns:p14="http://schemas.microsoft.com/office/powerpoint/2010/main" val="3507396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21</a:t>
            </a:fld>
            <a:endParaRPr lang="en-US"/>
          </a:p>
        </p:txBody>
      </p:sp>
    </p:spTree>
    <p:extLst>
      <p:ext uri="{BB962C8B-B14F-4D97-AF65-F5344CB8AC3E}">
        <p14:creationId xmlns:p14="http://schemas.microsoft.com/office/powerpoint/2010/main" val="928063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22</a:t>
            </a:fld>
            <a:endParaRPr lang="en-US"/>
          </a:p>
        </p:txBody>
      </p:sp>
    </p:spTree>
    <p:extLst>
      <p:ext uri="{BB962C8B-B14F-4D97-AF65-F5344CB8AC3E}">
        <p14:creationId xmlns:p14="http://schemas.microsoft.com/office/powerpoint/2010/main" val="3665457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23</a:t>
            </a:fld>
            <a:endParaRPr lang="en-US"/>
          </a:p>
        </p:txBody>
      </p:sp>
    </p:spTree>
    <p:extLst>
      <p:ext uri="{BB962C8B-B14F-4D97-AF65-F5344CB8AC3E}">
        <p14:creationId xmlns:p14="http://schemas.microsoft.com/office/powerpoint/2010/main" val="6049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rPr>
              <a:t>Ընդհանուր</a:t>
            </a:r>
            <a:r>
              <a:rPr lang="en-US">
                <a:latin typeface="Calibri"/>
              </a:rPr>
              <a:t> </a:t>
            </a:r>
            <a:r>
              <a:rPr lang="en-US" err="1">
                <a:latin typeface="Calibri"/>
              </a:rPr>
              <a:t>առմամբ</a:t>
            </a:r>
            <a:r>
              <a:rPr lang="en-US">
                <a:latin typeface="Calibri"/>
              </a:rPr>
              <a:t> </a:t>
            </a:r>
            <a:r>
              <a:rPr lang="en-US" err="1">
                <a:latin typeface="Calibri"/>
              </a:rPr>
              <a:t>ուսումնական</a:t>
            </a:r>
            <a:r>
              <a:rPr lang="en-US">
                <a:latin typeface="Calibri"/>
              </a:rPr>
              <a:t> </a:t>
            </a:r>
            <a:r>
              <a:rPr lang="en-US" err="1">
                <a:latin typeface="Calibri"/>
              </a:rPr>
              <a:t>հաստատությունում</a:t>
            </a:r>
            <a:r>
              <a:rPr lang="en-US">
                <a:latin typeface="Calibri"/>
              </a:rPr>
              <a:t> </a:t>
            </a:r>
            <a:r>
              <a:rPr lang="en-US" err="1">
                <a:latin typeface="Calibri"/>
              </a:rPr>
              <a:t>պահպանված</a:t>
            </a:r>
            <a:r>
              <a:rPr lang="en-US">
                <a:latin typeface="Calibri"/>
              </a:rPr>
              <a:t> </a:t>
            </a:r>
            <a:r>
              <a:rPr lang="en-US" err="1">
                <a:latin typeface="Calibri"/>
              </a:rPr>
              <a:t>են</a:t>
            </a:r>
            <a:r>
              <a:rPr lang="en-US">
                <a:latin typeface="Calibri"/>
              </a:rPr>
              <a:t> </a:t>
            </a:r>
            <a:r>
              <a:rPr lang="en-US" err="1">
                <a:latin typeface="Calibri"/>
              </a:rPr>
              <a:t>սովորողների</a:t>
            </a:r>
            <a:r>
              <a:rPr lang="en-US">
                <a:latin typeface="Calibri"/>
              </a:rPr>
              <a:t> և </a:t>
            </a:r>
            <a:r>
              <a:rPr lang="en-US" err="1">
                <a:latin typeface="Calibri"/>
              </a:rPr>
              <a:t>աշխատակազմի</a:t>
            </a:r>
            <a:r>
              <a:rPr lang="en-US">
                <a:latin typeface="Calibri"/>
              </a:rPr>
              <a:t> </a:t>
            </a:r>
            <a:r>
              <a:rPr lang="en-US" err="1">
                <a:latin typeface="Calibri"/>
              </a:rPr>
              <a:t>համար</a:t>
            </a:r>
            <a:r>
              <a:rPr lang="en-US">
                <a:latin typeface="Calibri"/>
              </a:rPr>
              <a:t> </a:t>
            </a:r>
            <a:r>
              <a:rPr lang="en-US" err="1">
                <a:latin typeface="Calibri"/>
              </a:rPr>
              <a:t>ուսումնական</a:t>
            </a:r>
            <a:r>
              <a:rPr lang="en-US">
                <a:latin typeface="Calibri"/>
              </a:rPr>
              <a:t> </a:t>
            </a:r>
            <a:r>
              <a:rPr lang="en-US" err="1">
                <a:latin typeface="Calibri"/>
              </a:rPr>
              <a:t>գործընթացի</a:t>
            </a:r>
            <a:r>
              <a:rPr lang="en-US">
                <a:latin typeface="Calibri"/>
              </a:rPr>
              <a:t> և </a:t>
            </a:r>
            <a:r>
              <a:rPr lang="en-US" err="1">
                <a:latin typeface="Calibri"/>
              </a:rPr>
              <a:t>աշխատանքի</a:t>
            </a:r>
            <a:r>
              <a:rPr lang="en-US">
                <a:latin typeface="Calibri"/>
              </a:rPr>
              <a:t> </a:t>
            </a:r>
            <a:r>
              <a:rPr lang="en-US" err="1">
                <a:latin typeface="Calibri"/>
              </a:rPr>
              <a:t>կազմակերպման</a:t>
            </a:r>
            <a:r>
              <a:rPr lang="en-US">
                <a:latin typeface="Calibri"/>
              </a:rPr>
              <a:t> </a:t>
            </a:r>
            <a:r>
              <a:rPr lang="en-US" err="1">
                <a:latin typeface="Calibri"/>
              </a:rPr>
              <a:t>համար</a:t>
            </a:r>
            <a:r>
              <a:rPr lang="en-US">
                <a:latin typeface="Calibri"/>
              </a:rPr>
              <a:t> </a:t>
            </a:r>
            <a:r>
              <a:rPr lang="en-US" err="1">
                <a:latin typeface="Calibri"/>
              </a:rPr>
              <a:t>անվտանգության</a:t>
            </a:r>
            <a:r>
              <a:rPr lang="en-US">
                <a:latin typeface="Calibri"/>
              </a:rPr>
              <a:t> և </a:t>
            </a:r>
            <a:r>
              <a:rPr lang="en-US" err="1">
                <a:latin typeface="Calibri"/>
              </a:rPr>
              <a:t>սանիտարահիգենիկ</a:t>
            </a:r>
            <a:r>
              <a:rPr lang="en-US">
                <a:latin typeface="Calibri"/>
              </a:rPr>
              <a:t> </a:t>
            </a:r>
            <a:r>
              <a:rPr lang="en-US" err="1">
                <a:latin typeface="Calibri"/>
              </a:rPr>
              <a:t>նորմերը</a:t>
            </a:r>
            <a:r>
              <a:rPr lang="en-US">
                <a:latin typeface="Calibri"/>
              </a:rPr>
              <a:t>, </a:t>
            </a:r>
            <a:r>
              <a:rPr lang="en-US" err="1">
                <a:latin typeface="Calibri"/>
              </a:rPr>
              <a:t>կազմակերպված</a:t>
            </a:r>
            <a:r>
              <a:rPr lang="en-US">
                <a:latin typeface="Calibri"/>
              </a:rPr>
              <a:t> </a:t>
            </a:r>
            <a:r>
              <a:rPr lang="en-US" err="1">
                <a:latin typeface="Calibri"/>
              </a:rPr>
              <a:t>են</a:t>
            </a:r>
            <a:r>
              <a:rPr lang="en-US">
                <a:latin typeface="Calibri"/>
              </a:rPr>
              <a:t> և </a:t>
            </a:r>
            <a:r>
              <a:rPr lang="en-US" err="1">
                <a:latin typeface="Calibri"/>
              </a:rPr>
              <a:t>իրականցվում</a:t>
            </a:r>
            <a:r>
              <a:rPr lang="en-US">
                <a:latin typeface="Calibri"/>
              </a:rPr>
              <a:t> </a:t>
            </a:r>
            <a:r>
              <a:rPr lang="en-US" err="1">
                <a:latin typeface="Calibri"/>
              </a:rPr>
              <a:t>են</a:t>
            </a:r>
            <a:r>
              <a:rPr lang="en-US">
                <a:latin typeface="Calibri"/>
              </a:rPr>
              <a:t> </a:t>
            </a:r>
            <a:r>
              <a:rPr lang="en-US" err="1">
                <a:latin typeface="Calibri"/>
              </a:rPr>
              <a:t>համապատասխան</a:t>
            </a:r>
            <a:r>
              <a:rPr lang="en-US">
                <a:latin typeface="Calibri"/>
              </a:rPr>
              <a:t> </a:t>
            </a:r>
            <a:r>
              <a:rPr lang="en-US" err="1">
                <a:latin typeface="Calibri"/>
              </a:rPr>
              <a:t>ծառայություններ</a:t>
            </a:r>
            <a:r>
              <a:rPr lang="en-US">
                <a:latin typeface="Calibri"/>
              </a:rPr>
              <a:t>:</a:t>
            </a:r>
          </a:p>
        </p:txBody>
      </p:sp>
      <p:sp>
        <p:nvSpPr>
          <p:cNvPr id="4" name="Slide Number Placeholder 3"/>
          <p:cNvSpPr>
            <a:spLocks noGrp="1"/>
          </p:cNvSpPr>
          <p:nvPr>
            <p:ph type="sldNum" sz="quarter" idx="10"/>
          </p:nvPr>
        </p:nvSpPr>
        <p:spPr/>
        <p:txBody>
          <a:bodyPr/>
          <a:lstStyle/>
          <a:p>
            <a:fld id="{6AD968E9-D625-4458-9D42-1B55C71A807F}" type="slidenum">
              <a:rPr lang="en-US"/>
              <a:pPr/>
              <a:t>24</a:t>
            </a:fld>
            <a:endParaRPr lang="en-US"/>
          </a:p>
        </p:txBody>
      </p:sp>
    </p:spTree>
    <p:extLst>
      <p:ext uri="{BB962C8B-B14F-4D97-AF65-F5344CB8AC3E}">
        <p14:creationId xmlns:p14="http://schemas.microsoft.com/office/powerpoint/2010/main" val="4148165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25</a:t>
            </a:fld>
            <a:endParaRPr lang="en-US"/>
          </a:p>
        </p:txBody>
      </p:sp>
    </p:spTree>
    <p:extLst>
      <p:ext uri="{BB962C8B-B14F-4D97-AF65-F5344CB8AC3E}">
        <p14:creationId xmlns:p14="http://schemas.microsoft.com/office/powerpoint/2010/main" val="1113778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26</a:t>
            </a:fld>
            <a:endParaRPr lang="en-US"/>
          </a:p>
        </p:txBody>
      </p:sp>
    </p:spTree>
    <p:extLst>
      <p:ext uri="{BB962C8B-B14F-4D97-AF65-F5344CB8AC3E}">
        <p14:creationId xmlns:p14="http://schemas.microsoft.com/office/powerpoint/2010/main" val="1075624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27</a:t>
            </a:fld>
            <a:endParaRPr lang="en-US"/>
          </a:p>
        </p:txBody>
      </p:sp>
    </p:spTree>
    <p:extLst>
      <p:ext uri="{BB962C8B-B14F-4D97-AF65-F5344CB8AC3E}">
        <p14:creationId xmlns:p14="http://schemas.microsoft.com/office/powerpoint/2010/main" val="1714234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28</a:t>
            </a:fld>
            <a:endParaRPr lang="en-US"/>
          </a:p>
        </p:txBody>
      </p:sp>
    </p:spTree>
    <p:extLst>
      <p:ext uri="{BB962C8B-B14F-4D97-AF65-F5344CB8AC3E}">
        <p14:creationId xmlns:p14="http://schemas.microsoft.com/office/powerpoint/2010/main" val="3817184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29</a:t>
            </a:fld>
            <a:endParaRPr lang="en-US"/>
          </a:p>
        </p:txBody>
      </p:sp>
    </p:spTree>
    <p:extLst>
      <p:ext uri="{BB962C8B-B14F-4D97-AF65-F5344CB8AC3E}">
        <p14:creationId xmlns:p14="http://schemas.microsoft.com/office/powerpoint/2010/main" val="4104004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30</a:t>
            </a:fld>
            <a:endParaRPr lang="en-US"/>
          </a:p>
        </p:txBody>
      </p:sp>
    </p:spTree>
    <p:extLst>
      <p:ext uri="{BB962C8B-B14F-4D97-AF65-F5344CB8AC3E}">
        <p14:creationId xmlns:p14="http://schemas.microsoft.com/office/powerpoint/2010/main" val="23996357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31</a:t>
            </a:fld>
            <a:endParaRPr lang="en-US"/>
          </a:p>
        </p:txBody>
      </p:sp>
    </p:spTree>
    <p:extLst>
      <p:ext uri="{BB962C8B-B14F-4D97-AF65-F5344CB8AC3E}">
        <p14:creationId xmlns:p14="http://schemas.microsoft.com/office/powerpoint/2010/main" val="632968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b="1"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32</a:t>
            </a:fld>
            <a:endParaRPr lang="en-US"/>
          </a:p>
        </p:txBody>
      </p:sp>
    </p:spTree>
    <p:extLst>
      <p:ext uri="{BB962C8B-B14F-4D97-AF65-F5344CB8AC3E}">
        <p14:creationId xmlns:p14="http://schemas.microsoft.com/office/powerpoint/2010/main" val="6289810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33</a:t>
            </a:fld>
            <a:endParaRPr lang="en-US"/>
          </a:p>
        </p:txBody>
      </p:sp>
    </p:spTree>
    <p:extLst>
      <p:ext uri="{BB962C8B-B14F-4D97-AF65-F5344CB8AC3E}">
        <p14:creationId xmlns:p14="http://schemas.microsoft.com/office/powerpoint/2010/main" val="3505870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34</a:t>
            </a:fld>
            <a:endParaRPr lang="en-US"/>
          </a:p>
        </p:txBody>
      </p:sp>
    </p:spTree>
    <p:extLst>
      <p:ext uri="{BB962C8B-B14F-4D97-AF65-F5344CB8AC3E}">
        <p14:creationId xmlns:p14="http://schemas.microsoft.com/office/powerpoint/2010/main" val="14931931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35</a:t>
            </a:fld>
            <a:endParaRPr lang="en-US"/>
          </a:p>
        </p:txBody>
      </p:sp>
    </p:spTree>
    <p:extLst>
      <p:ext uri="{BB962C8B-B14F-4D97-AF65-F5344CB8AC3E}">
        <p14:creationId xmlns:p14="http://schemas.microsoft.com/office/powerpoint/2010/main" val="1591316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rPr>
              <a:t>Տարեցտարի</a:t>
            </a:r>
            <a:r>
              <a:rPr lang="en-US">
                <a:latin typeface="Calibri"/>
              </a:rPr>
              <a:t> </a:t>
            </a:r>
            <a:r>
              <a:rPr lang="en-US" err="1">
                <a:latin typeface="Calibri"/>
              </a:rPr>
              <a:t>աճում</a:t>
            </a:r>
            <a:r>
              <a:rPr lang="en-US">
                <a:latin typeface="Calibri"/>
              </a:rPr>
              <a:t> է </a:t>
            </a:r>
            <a:r>
              <a:rPr lang="en-US" err="1">
                <a:latin typeface="Calibri"/>
              </a:rPr>
              <a:t>միջազգային</a:t>
            </a:r>
            <a:r>
              <a:rPr lang="en-US">
                <a:latin typeface="Calibri"/>
              </a:rPr>
              <a:t> և </a:t>
            </a:r>
            <a:r>
              <a:rPr lang="en-US" err="1">
                <a:latin typeface="Calibri"/>
              </a:rPr>
              <a:t>հանրապետական</a:t>
            </a:r>
            <a:r>
              <a:rPr lang="en-US">
                <a:latin typeface="Calibri"/>
              </a:rPr>
              <a:t> </a:t>
            </a:r>
            <a:r>
              <a:rPr lang="en-US" err="1">
                <a:latin typeface="Calibri"/>
              </a:rPr>
              <a:t>հատկապես</a:t>
            </a:r>
            <a:r>
              <a:rPr lang="en-US">
                <a:latin typeface="Calibri"/>
              </a:rPr>
              <a:t> </a:t>
            </a:r>
            <a:r>
              <a:rPr lang="en-US" err="1">
                <a:latin typeface="Calibri"/>
              </a:rPr>
              <a:t>ստեղծագործական</a:t>
            </a:r>
            <a:r>
              <a:rPr lang="en-US">
                <a:latin typeface="Calibri"/>
              </a:rPr>
              <a:t> / </a:t>
            </a:r>
            <a:r>
              <a:rPr lang="en-US" err="1">
                <a:latin typeface="Calibri"/>
              </a:rPr>
              <a:t>շարադրություններ</a:t>
            </a:r>
            <a:r>
              <a:rPr lang="en-US">
                <a:latin typeface="Calibri"/>
              </a:rPr>
              <a:t>, </a:t>
            </a:r>
            <a:r>
              <a:rPr lang="en-US" err="1">
                <a:latin typeface="Calibri"/>
              </a:rPr>
              <a:t>նկարներ</a:t>
            </a:r>
            <a:r>
              <a:rPr lang="en-US">
                <a:latin typeface="Calibri"/>
              </a:rPr>
              <a:t> և </a:t>
            </a:r>
            <a:r>
              <a:rPr lang="en-US" err="1">
                <a:latin typeface="Calibri"/>
              </a:rPr>
              <a:t>այլն</a:t>
            </a:r>
            <a:r>
              <a:rPr lang="en-US">
                <a:latin typeface="Calibri"/>
              </a:rPr>
              <a:t>/ </a:t>
            </a:r>
            <a:r>
              <a:rPr lang="en-US" err="1">
                <a:latin typeface="Calibri"/>
              </a:rPr>
              <a:t>մրցույթների</a:t>
            </a:r>
            <a:r>
              <a:rPr lang="en-US">
                <a:latin typeface="Calibri"/>
              </a:rPr>
              <a:t> </a:t>
            </a:r>
            <a:r>
              <a:rPr lang="en-US" err="1">
                <a:latin typeface="Calibri"/>
              </a:rPr>
              <a:t>մասնակիցների</a:t>
            </a:r>
            <a:r>
              <a:rPr lang="en-US">
                <a:latin typeface="Calibri"/>
              </a:rPr>
              <a:t> </a:t>
            </a:r>
            <a:r>
              <a:rPr lang="en-US" err="1">
                <a:latin typeface="Calibri"/>
              </a:rPr>
              <a:t>թիվը</a:t>
            </a:r>
            <a:r>
              <a:rPr lang="en-US">
                <a:latin typeface="Calibri"/>
              </a:rPr>
              <a:t>:</a:t>
            </a:r>
          </a:p>
          <a:p>
            <a:r>
              <a:rPr lang="en-US" err="1">
                <a:latin typeface="Calibri"/>
              </a:rPr>
              <a:t>Առարկայական</a:t>
            </a:r>
            <a:r>
              <a:rPr lang="en-US">
                <a:latin typeface="Calibri"/>
              </a:rPr>
              <a:t> </a:t>
            </a:r>
            <a:r>
              <a:rPr lang="en-US" err="1">
                <a:latin typeface="Calibri"/>
              </a:rPr>
              <a:t>օլիմպիադաների</a:t>
            </a:r>
            <a:r>
              <a:rPr lang="en-US">
                <a:latin typeface="Calibri"/>
              </a:rPr>
              <a:t> </a:t>
            </a:r>
            <a:r>
              <a:rPr lang="en-US" err="1">
                <a:latin typeface="Calibri"/>
              </a:rPr>
              <a:t>ցուցանիշները</a:t>
            </a:r>
            <a:r>
              <a:rPr lang="en-US">
                <a:latin typeface="Calibri"/>
              </a:rPr>
              <a:t> </a:t>
            </a:r>
            <a:r>
              <a:rPr lang="en-US" err="1">
                <a:latin typeface="Calibri"/>
              </a:rPr>
              <a:t>մնում</a:t>
            </a:r>
            <a:r>
              <a:rPr lang="en-US">
                <a:latin typeface="Calibri"/>
              </a:rPr>
              <a:t> </a:t>
            </a:r>
            <a:r>
              <a:rPr lang="en-US" err="1">
                <a:latin typeface="Calibri"/>
              </a:rPr>
              <a:t>են</a:t>
            </a:r>
            <a:r>
              <a:rPr lang="en-US">
                <a:latin typeface="Calibri"/>
              </a:rPr>
              <a:t> </a:t>
            </a:r>
            <a:r>
              <a:rPr lang="en-US" err="1">
                <a:latin typeface="Calibri"/>
              </a:rPr>
              <a:t>դպրոցի</a:t>
            </a:r>
            <a:r>
              <a:rPr lang="en-US">
                <a:latin typeface="Calibri"/>
              </a:rPr>
              <a:t> </a:t>
            </a:r>
            <a:r>
              <a:rPr lang="en-US" err="1">
                <a:latin typeface="Calibri"/>
              </a:rPr>
              <a:t>թույլ</a:t>
            </a:r>
            <a:r>
              <a:rPr lang="en-US">
                <a:latin typeface="Calibri"/>
              </a:rPr>
              <a:t> և </a:t>
            </a:r>
            <a:r>
              <a:rPr lang="en-US" err="1">
                <a:latin typeface="Calibri"/>
              </a:rPr>
              <a:t>խոցելի</a:t>
            </a:r>
            <a:r>
              <a:rPr lang="en-US">
                <a:latin typeface="Calibri"/>
              </a:rPr>
              <a:t> </a:t>
            </a:r>
            <a:r>
              <a:rPr lang="en-US" err="1">
                <a:latin typeface="Calibri"/>
              </a:rPr>
              <a:t>տեղը</a:t>
            </a:r>
            <a:r>
              <a:rPr lang="en-US">
                <a:latin typeface="Calibri"/>
              </a:rPr>
              <a:t>: </a:t>
            </a:r>
            <a:r>
              <a:rPr lang="en-US" err="1">
                <a:latin typeface="Calibri"/>
              </a:rPr>
              <a:t>Այդ</a:t>
            </a:r>
            <a:r>
              <a:rPr lang="en-US">
                <a:latin typeface="Calibri"/>
              </a:rPr>
              <a:t> </a:t>
            </a:r>
            <a:r>
              <a:rPr lang="en-US" err="1">
                <a:latin typeface="Calibri"/>
              </a:rPr>
              <a:t>իսկ</a:t>
            </a:r>
            <a:r>
              <a:rPr lang="en-US">
                <a:latin typeface="Calibri"/>
              </a:rPr>
              <a:t> </a:t>
            </a:r>
            <a:r>
              <a:rPr lang="en-US" err="1">
                <a:latin typeface="Calibri"/>
              </a:rPr>
              <a:t>պատճառով</a:t>
            </a:r>
            <a:r>
              <a:rPr lang="en-US">
                <a:latin typeface="Calibri"/>
              </a:rPr>
              <a:t> </a:t>
            </a:r>
            <a:r>
              <a:rPr lang="en-US" err="1">
                <a:latin typeface="Calibri"/>
              </a:rPr>
              <a:t>դպրոցում</a:t>
            </a:r>
            <a:r>
              <a:rPr lang="en-US">
                <a:latin typeface="Calibri"/>
              </a:rPr>
              <a:t> </a:t>
            </a:r>
            <a:r>
              <a:rPr lang="en-US" err="1">
                <a:latin typeface="Calibri"/>
              </a:rPr>
              <a:t>շեշտադրվել</a:t>
            </a:r>
            <a:r>
              <a:rPr lang="en-US">
                <a:latin typeface="Calibri"/>
              </a:rPr>
              <a:t> է </a:t>
            </a:r>
            <a:r>
              <a:rPr lang="en-US" err="1">
                <a:latin typeface="Calibri"/>
              </a:rPr>
              <a:t>ներդպրոցական</a:t>
            </a:r>
            <a:r>
              <a:rPr lang="en-US">
                <a:latin typeface="Calibri"/>
              </a:rPr>
              <a:t> </a:t>
            </a:r>
            <a:r>
              <a:rPr lang="en-US" err="1">
                <a:latin typeface="Calibri"/>
              </a:rPr>
              <a:t>վերահսկողությունը</a:t>
            </a:r>
            <a:r>
              <a:rPr lang="en-US">
                <a:latin typeface="Calibri"/>
              </a:rPr>
              <a:t> </a:t>
            </a:r>
            <a:r>
              <a:rPr lang="en-US" err="1">
                <a:latin typeface="Calibri"/>
              </a:rPr>
              <a:t>հոսքային</a:t>
            </a:r>
            <a:r>
              <a:rPr lang="en-US">
                <a:latin typeface="Calibri"/>
              </a:rPr>
              <a:t> </a:t>
            </a:r>
            <a:r>
              <a:rPr lang="en-US" err="1">
                <a:latin typeface="Calibri"/>
              </a:rPr>
              <a:t>բաղադրիչների</a:t>
            </a:r>
            <a:r>
              <a:rPr lang="en-US">
                <a:latin typeface="Calibri"/>
              </a:rPr>
              <a:t> </a:t>
            </a:r>
            <a:r>
              <a:rPr lang="en-US" err="1">
                <a:latin typeface="Calibri"/>
              </a:rPr>
              <a:t>արդյունավետ</a:t>
            </a:r>
            <a:r>
              <a:rPr lang="en-US">
                <a:latin typeface="Calibri"/>
              </a:rPr>
              <a:t> </a:t>
            </a:r>
            <a:r>
              <a:rPr lang="en-US" err="1">
                <a:latin typeface="Calibri"/>
              </a:rPr>
              <a:t>կիրառման</a:t>
            </a:r>
            <a:r>
              <a:rPr lang="en-US">
                <a:latin typeface="Calibri"/>
              </a:rPr>
              <a:t> </a:t>
            </a:r>
            <a:r>
              <a:rPr lang="en-US" err="1">
                <a:latin typeface="Calibri"/>
              </a:rPr>
              <a:t>ուղղությամբ</a:t>
            </a:r>
            <a:r>
              <a:rPr lang="en-US">
                <a:latin typeface="Calibri"/>
              </a:rPr>
              <a:t>. </a:t>
            </a:r>
            <a:r>
              <a:rPr lang="en-US" err="1">
                <a:latin typeface="Calibri"/>
              </a:rPr>
              <a:t>հոսքային</a:t>
            </a:r>
            <a:r>
              <a:rPr lang="en-US">
                <a:latin typeface="Calibri"/>
              </a:rPr>
              <a:t> </a:t>
            </a:r>
            <a:r>
              <a:rPr lang="en-US" err="1">
                <a:latin typeface="Calibri"/>
              </a:rPr>
              <a:t>դասարաններում</a:t>
            </a:r>
            <a:r>
              <a:rPr lang="en-US">
                <a:latin typeface="Calibri"/>
              </a:rPr>
              <a:t> </a:t>
            </a:r>
            <a:r>
              <a:rPr lang="en-US" err="1">
                <a:latin typeface="Calibri"/>
              </a:rPr>
              <a:t>պարբերաբար</a:t>
            </a:r>
            <a:r>
              <a:rPr lang="en-US">
                <a:latin typeface="Calibri"/>
              </a:rPr>
              <a:t> </a:t>
            </a:r>
            <a:r>
              <a:rPr lang="en-US" err="1">
                <a:latin typeface="Calibri"/>
              </a:rPr>
              <a:t>տնօրինության</a:t>
            </a:r>
            <a:r>
              <a:rPr lang="en-US">
                <a:latin typeface="Calibri"/>
              </a:rPr>
              <a:t> </a:t>
            </a:r>
            <a:r>
              <a:rPr lang="en-US" err="1">
                <a:latin typeface="Calibri"/>
              </a:rPr>
              <a:t>կողմից</a:t>
            </a:r>
            <a:r>
              <a:rPr lang="en-US">
                <a:latin typeface="Calibri"/>
              </a:rPr>
              <a:t> </a:t>
            </a:r>
            <a:r>
              <a:rPr lang="en-US" err="1">
                <a:latin typeface="Calibri"/>
              </a:rPr>
              <a:t>անցկացվում</a:t>
            </a:r>
            <a:r>
              <a:rPr lang="en-US">
                <a:latin typeface="Calibri"/>
              </a:rPr>
              <a:t> </a:t>
            </a:r>
            <a:r>
              <a:rPr lang="en-US" err="1">
                <a:latin typeface="Calibri"/>
              </a:rPr>
              <a:t>են</a:t>
            </a:r>
            <a:r>
              <a:rPr lang="en-US">
                <a:latin typeface="Calibri"/>
              </a:rPr>
              <a:t> </a:t>
            </a:r>
            <a:r>
              <a:rPr lang="en-US" err="1">
                <a:latin typeface="Calibri"/>
              </a:rPr>
              <a:t>գրավոր</a:t>
            </a:r>
            <a:r>
              <a:rPr lang="en-US">
                <a:latin typeface="Calibri"/>
              </a:rPr>
              <a:t> </a:t>
            </a:r>
            <a:r>
              <a:rPr lang="en-US" err="1">
                <a:latin typeface="Calibri"/>
              </a:rPr>
              <a:t>աշխատանքներ</a:t>
            </a:r>
            <a:r>
              <a:rPr lang="en-US">
                <a:latin typeface="Calibri"/>
              </a:rPr>
              <a:t>, </a:t>
            </a:r>
            <a:r>
              <a:rPr lang="en-US" err="1">
                <a:latin typeface="Calibri"/>
              </a:rPr>
              <a:t>կազմակերպվում</a:t>
            </a:r>
            <a:r>
              <a:rPr lang="en-US">
                <a:latin typeface="Calibri"/>
              </a:rPr>
              <a:t> </a:t>
            </a:r>
            <a:r>
              <a:rPr lang="en-US" err="1">
                <a:latin typeface="Calibri"/>
              </a:rPr>
              <a:t>են</a:t>
            </a:r>
            <a:r>
              <a:rPr lang="en-US">
                <a:latin typeface="Calibri"/>
              </a:rPr>
              <a:t> </a:t>
            </a:r>
            <a:r>
              <a:rPr lang="en-US" err="1">
                <a:latin typeface="Calibri"/>
              </a:rPr>
              <a:t>մրցույթներ</a:t>
            </a:r>
            <a:r>
              <a:rPr lang="en-US">
                <a:latin typeface="Calibri"/>
              </a:rPr>
              <a:t> և </a:t>
            </a:r>
            <a:r>
              <a:rPr lang="en-US" err="1">
                <a:latin typeface="Calibri"/>
              </a:rPr>
              <a:t>միջոցառումներ`խթանելու</a:t>
            </a:r>
            <a:r>
              <a:rPr lang="en-US">
                <a:latin typeface="Calibri"/>
              </a:rPr>
              <a:t> </a:t>
            </a:r>
            <a:r>
              <a:rPr lang="en-US" err="1">
                <a:latin typeface="Calibri"/>
              </a:rPr>
              <a:t>սովորողների</a:t>
            </a:r>
            <a:r>
              <a:rPr lang="en-US">
                <a:latin typeface="Calibri"/>
              </a:rPr>
              <a:t> </a:t>
            </a:r>
            <a:r>
              <a:rPr lang="en-US" err="1">
                <a:latin typeface="Calibri"/>
              </a:rPr>
              <a:t>մասնագիտական</a:t>
            </a:r>
            <a:r>
              <a:rPr lang="en-US">
                <a:latin typeface="Calibri"/>
              </a:rPr>
              <a:t> </a:t>
            </a:r>
            <a:r>
              <a:rPr lang="en-US" err="1">
                <a:latin typeface="Calibri"/>
              </a:rPr>
              <a:t>գիտելիքների</a:t>
            </a:r>
            <a:r>
              <a:rPr lang="en-US">
                <a:latin typeface="Calibri"/>
              </a:rPr>
              <a:t> </a:t>
            </a:r>
            <a:r>
              <a:rPr lang="en-US" err="1">
                <a:latin typeface="Calibri"/>
              </a:rPr>
              <a:t>յուրացումն</a:t>
            </a:r>
            <a:r>
              <a:rPr lang="en-US">
                <a:latin typeface="Calibri"/>
              </a:rPr>
              <a:t> </a:t>
            </a:r>
            <a:r>
              <a:rPr lang="en-US" err="1">
                <a:latin typeface="Calibri"/>
              </a:rPr>
              <a:t>ու</a:t>
            </a:r>
            <a:r>
              <a:rPr lang="en-US">
                <a:latin typeface="Calibri"/>
              </a:rPr>
              <a:t> </a:t>
            </a:r>
            <a:r>
              <a:rPr lang="en-US" err="1">
                <a:latin typeface="Calibri"/>
              </a:rPr>
              <a:t>համապատասխան</a:t>
            </a:r>
            <a:r>
              <a:rPr lang="en-US">
                <a:latin typeface="Calibri"/>
              </a:rPr>
              <a:t> </a:t>
            </a:r>
            <a:r>
              <a:rPr lang="en-US" err="1">
                <a:latin typeface="Calibri"/>
              </a:rPr>
              <a:t>կարողությունների</a:t>
            </a:r>
            <a:r>
              <a:rPr lang="en-US">
                <a:latin typeface="Calibri"/>
              </a:rPr>
              <a:t> </a:t>
            </a:r>
            <a:r>
              <a:rPr lang="en-US" err="1">
                <a:latin typeface="Calibri"/>
              </a:rPr>
              <a:t>ու</a:t>
            </a:r>
            <a:r>
              <a:rPr lang="en-US">
                <a:latin typeface="Calibri"/>
              </a:rPr>
              <a:t> </a:t>
            </a:r>
            <a:r>
              <a:rPr lang="en-US" err="1">
                <a:latin typeface="Calibri"/>
              </a:rPr>
              <a:t>հմտությունների</a:t>
            </a:r>
            <a:r>
              <a:rPr lang="en-US">
                <a:latin typeface="Calibri"/>
              </a:rPr>
              <a:t> </a:t>
            </a:r>
            <a:r>
              <a:rPr lang="en-US" err="1">
                <a:latin typeface="Calibri"/>
              </a:rPr>
              <a:t>զարգացումը</a:t>
            </a:r>
            <a:r>
              <a:rPr lang="en-US">
                <a:latin typeface="Calibri"/>
              </a:rPr>
              <a:t>;</a:t>
            </a:r>
          </a:p>
          <a:p>
            <a:endParaRPr lang="en-US">
              <a:latin typeface="Calibri"/>
            </a:endParaRPr>
          </a:p>
        </p:txBody>
      </p:sp>
      <p:sp>
        <p:nvSpPr>
          <p:cNvPr id="4" name="Slide Number Placeholder 3"/>
          <p:cNvSpPr>
            <a:spLocks noGrp="1"/>
          </p:cNvSpPr>
          <p:nvPr>
            <p:ph type="sldNum" sz="quarter" idx="10"/>
          </p:nvPr>
        </p:nvSpPr>
        <p:spPr/>
        <p:txBody>
          <a:bodyPr/>
          <a:lstStyle/>
          <a:p>
            <a:fld id="{6AD968E9-D625-4458-9D42-1B55C71A807F}" type="slidenum">
              <a:rPr lang="en-US"/>
              <a:pPr/>
              <a:t>36</a:t>
            </a:fld>
            <a:endParaRPr lang="en-US"/>
          </a:p>
        </p:txBody>
      </p:sp>
    </p:spTree>
    <p:extLst>
      <p:ext uri="{BB962C8B-B14F-4D97-AF65-F5344CB8AC3E}">
        <p14:creationId xmlns:p14="http://schemas.microsoft.com/office/powerpoint/2010/main" val="24457983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Ուսումնական հաստատությունում ստեղծված է որակյալ կրթական միջավայր, տարեց տարի աճում է վերապատրաստված և ատեստավորված ուսուցիչների, տարակարգ ունեցող ուսուցիչների, նորագույն մեթոդներով դասավանդող և ՏՀՏ-ներ կիրառող ուսուցիչների  թիվը:</a:t>
            </a:r>
          </a:p>
          <a:p>
            <a:r>
              <a:rPr lang="en-US">
                <a:latin typeface="Calibri"/>
              </a:rPr>
              <a:t/>
            </a:r>
            <a:br>
              <a:rPr lang="en-US">
                <a:latin typeface="Calibri"/>
              </a:rPr>
            </a:br>
            <a:endParaRPr lang="en-US">
              <a:latin typeface="Calibri"/>
            </a:endParaRPr>
          </a:p>
          <a:p>
            <a:r>
              <a:rPr lang="en-US">
                <a:latin typeface="Calibri"/>
              </a:rPr>
              <a:t/>
            </a:r>
            <a:br>
              <a:rPr lang="en-US">
                <a:latin typeface="Calibri"/>
              </a:rPr>
            </a:br>
            <a:endParaRPr lang="en-US">
              <a:latin typeface="Calibri"/>
            </a:endParaRPr>
          </a:p>
          <a:p>
            <a:r>
              <a:rPr lang="en-US">
                <a:latin typeface="Calibri"/>
              </a:rPr>
              <a:t/>
            </a:r>
            <a:br>
              <a:rPr lang="en-US">
                <a:latin typeface="Calibri"/>
              </a:rPr>
            </a:br>
            <a:endParaRPr lang="en-US">
              <a:latin typeface="Calibri"/>
            </a:endParaRPr>
          </a:p>
        </p:txBody>
      </p:sp>
      <p:sp>
        <p:nvSpPr>
          <p:cNvPr id="4" name="Slide Number Placeholder 3"/>
          <p:cNvSpPr>
            <a:spLocks noGrp="1"/>
          </p:cNvSpPr>
          <p:nvPr>
            <p:ph type="sldNum" sz="quarter" idx="10"/>
          </p:nvPr>
        </p:nvSpPr>
        <p:spPr/>
        <p:txBody>
          <a:bodyPr/>
          <a:lstStyle/>
          <a:p>
            <a:fld id="{6AD968E9-D625-4458-9D42-1B55C71A807F}" type="slidenum">
              <a:rPr lang="en-US"/>
              <a:pPr/>
              <a:t>37</a:t>
            </a:fld>
            <a:endParaRPr lang="en-US"/>
          </a:p>
        </p:txBody>
      </p:sp>
    </p:spTree>
    <p:extLst>
      <p:ext uri="{BB962C8B-B14F-4D97-AF65-F5344CB8AC3E}">
        <p14:creationId xmlns:p14="http://schemas.microsoft.com/office/powerpoint/2010/main" val="32986232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38</a:t>
            </a:fld>
            <a:endParaRPr lang="en-US"/>
          </a:p>
        </p:txBody>
      </p:sp>
    </p:spTree>
    <p:extLst>
      <p:ext uri="{BB962C8B-B14F-4D97-AF65-F5344CB8AC3E}">
        <p14:creationId xmlns:p14="http://schemas.microsoft.com/office/powerpoint/2010/main" val="21713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Ուսումնական հաստատությունն ունի գործող գրադարան, որը հագեցած է ուսումնաօժանդակ գրականությամբ: Գրադարանից կանոնավոր կերպով օգտվում են  սովորողները, ուսուցիչները, վարչական կազմը, ինչպես նաև համայնքի բնակիչները:</a:t>
            </a:r>
          </a:p>
        </p:txBody>
      </p:sp>
      <p:sp>
        <p:nvSpPr>
          <p:cNvPr id="4" name="Slide Number Placeholder 3"/>
          <p:cNvSpPr>
            <a:spLocks noGrp="1"/>
          </p:cNvSpPr>
          <p:nvPr>
            <p:ph type="sldNum" sz="quarter" idx="10"/>
          </p:nvPr>
        </p:nvSpPr>
        <p:spPr/>
        <p:txBody>
          <a:bodyPr/>
          <a:lstStyle/>
          <a:p>
            <a:fld id="{6AD968E9-D625-4458-9D42-1B55C71A807F}" type="slidenum">
              <a:rPr lang="en-US"/>
              <a:pPr/>
              <a:t>39</a:t>
            </a:fld>
            <a:endParaRPr lang="en-US"/>
          </a:p>
        </p:txBody>
      </p:sp>
    </p:spTree>
    <p:extLst>
      <p:ext uri="{BB962C8B-B14F-4D97-AF65-F5344CB8AC3E}">
        <p14:creationId xmlns:p14="http://schemas.microsoft.com/office/powerpoint/2010/main" val="21894017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40</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41</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42</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43</a:t>
            </a:fld>
            <a:endParaRPr lang="en-US"/>
          </a:p>
        </p:txBody>
      </p:sp>
    </p:spTree>
    <p:extLst>
      <p:ext uri="{BB962C8B-B14F-4D97-AF65-F5344CB8AC3E}">
        <p14:creationId xmlns:p14="http://schemas.microsoft.com/office/powerpoint/2010/main" val="22101467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44</a:t>
            </a:fld>
            <a:endParaRPr lang="en-US"/>
          </a:p>
        </p:txBody>
      </p:sp>
    </p:spTree>
    <p:extLst>
      <p:ext uri="{BB962C8B-B14F-4D97-AF65-F5344CB8AC3E}">
        <p14:creationId xmlns:p14="http://schemas.microsoft.com/office/powerpoint/2010/main" val="14644237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45</a:t>
            </a:fld>
            <a:endParaRPr lang="en-US"/>
          </a:p>
        </p:txBody>
      </p:sp>
    </p:spTree>
    <p:extLst>
      <p:ext uri="{BB962C8B-B14F-4D97-AF65-F5344CB8AC3E}">
        <p14:creationId xmlns:p14="http://schemas.microsoft.com/office/powerpoint/2010/main" val="4840624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Աշակերտ թվի նվազման հետևանքով բյուջեն նվազել է, հնարավոր չեն տնտեսումներ, բայց բյուջեն կառավարվում է հմտորեն և չկան գոյացած պարտքեր:</a:t>
            </a:r>
          </a:p>
        </p:txBody>
      </p:sp>
      <p:sp>
        <p:nvSpPr>
          <p:cNvPr id="4" name="Slide Number Placeholder 3"/>
          <p:cNvSpPr>
            <a:spLocks noGrp="1"/>
          </p:cNvSpPr>
          <p:nvPr>
            <p:ph type="sldNum" sz="quarter" idx="10"/>
          </p:nvPr>
        </p:nvSpPr>
        <p:spPr/>
        <p:txBody>
          <a:bodyPr/>
          <a:lstStyle/>
          <a:p>
            <a:fld id="{6AD968E9-D625-4458-9D42-1B55C71A807F}" type="slidenum">
              <a:rPr lang="en-US"/>
              <a:pPr/>
              <a:t>46</a:t>
            </a:fld>
            <a:endParaRPr lang="en-US"/>
          </a:p>
        </p:txBody>
      </p:sp>
    </p:spTree>
    <p:extLst>
      <p:ext uri="{BB962C8B-B14F-4D97-AF65-F5344CB8AC3E}">
        <p14:creationId xmlns:p14="http://schemas.microsoft.com/office/powerpoint/2010/main" val="39168777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48</a:t>
            </a:fld>
            <a:endParaRPr lang="en-US"/>
          </a:p>
        </p:txBody>
      </p:sp>
    </p:spTree>
    <p:extLst>
      <p:ext uri="{BB962C8B-B14F-4D97-AF65-F5344CB8AC3E}">
        <p14:creationId xmlns:p14="http://schemas.microsoft.com/office/powerpoint/2010/main" val="19292407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49</a:t>
            </a:fld>
            <a:endParaRPr lang="en-US"/>
          </a:p>
        </p:txBody>
      </p:sp>
    </p:spTree>
    <p:extLst>
      <p:ext uri="{BB962C8B-B14F-4D97-AF65-F5344CB8AC3E}">
        <p14:creationId xmlns:p14="http://schemas.microsoft.com/office/powerpoint/2010/main" val="1052625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52</a:t>
            </a:fld>
            <a:endParaRPr lang="en-US"/>
          </a:p>
        </p:txBody>
      </p:sp>
    </p:spTree>
    <p:extLst>
      <p:ext uri="{BB962C8B-B14F-4D97-AF65-F5344CB8AC3E}">
        <p14:creationId xmlns:p14="http://schemas.microsoft.com/office/powerpoint/2010/main" val="24462397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53</a:t>
            </a:fld>
            <a:endParaRPr lang="en-US"/>
          </a:p>
        </p:txBody>
      </p:sp>
    </p:spTree>
    <p:extLst>
      <p:ext uri="{BB962C8B-B14F-4D97-AF65-F5344CB8AC3E}">
        <p14:creationId xmlns:p14="http://schemas.microsoft.com/office/powerpoint/2010/main" val="2697161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54</a:t>
            </a:fld>
            <a:endParaRPr lang="en-US"/>
          </a:p>
        </p:txBody>
      </p:sp>
    </p:spTree>
    <p:extLst>
      <p:ext uri="{BB962C8B-B14F-4D97-AF65-F5344CB8AC3E}">
        <p14:creationId xmlns:p14="http://schemas.microsoft.com/office/powerpoint/2010/main" val="5950183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D968E9-D625-4458-9D42-1B55C71A807F}" type="slidenum">
              <a:rPr lang="en-US"/>
              <a:pPr/>
              <a:t>55</a:t>
            </a:fld>
            <a:endParaRPr lang="en-US"/>
          </a:p>
        </p:txBody>
      </p:sp>
    </p:spTree>
    <p:extLst>
      <p:ext uri="{BB962C8B-B14F-4D97-AF65-F5344CB8AC3E}">
        <p14:creationId xmlns:p14="http://schemas.microsoft.com/office/powerpoint/2010/main" val="10025644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56</a:t>
            </a:fld>
            <a:endParaRPr lang="en-US"/>
          </a:p>
        </p:txBody>
      </p:sp>
    </p:spTree>
    <p:extLst>
      <p:ext uri="{BB962C8B-B14F-4D97-AF65-F5344CB8AC3E}">
        <p14:creationId xmlns:p14="http://schemas.microsoft.com/office/powerpoint/2010/main" val="23092041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57</a:t>
            </a:fld>
            <a:endParaRPr lang="en-US"/>
          </a:p>
        </p:txBody>
      </p:sp>
    </p:spTree>
    <p:extLst>
      <p:ext uri="{BB962C8B-B14F-4D97-AF65-F5344CB8AC3E}">
        <p14:creationId xmlns:p14="http://schemas.microsoft.com/office/powerpoint/2010/main" val="3310743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58</a:t>
            </a:fld>
            <a:endParaRPr lang="en-US"/>
          </a:p>
        </p:txBody>
      </p:sp>
    </p:spTree>
    <p:extLst>
      <p:ext uri="{BB962C8B-B14F-4D97-AF65-F5344CB8AC3E}">
        <p14:creationId xmlns:p14="http://schemas.microsoft.com/office/powerpoint/2010/main" val="36692267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59</a:t>
            </a:fld>
            <a:endParaRPr lang="en-US"/>
          </a:p>
        </p:txBody>
      </p:sp>
    </p:spTree>
    <p:extLst>
      <p:ext uri="{BB962C8B-B14F-4D97-AF65-F5344CB8AC3E}">
        <p14:creationId xmlns:p14="http://schemas.microsoft.com/office/powerpoint/2010/main" val="39550480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60</a:t>
            </a:fld>
            <a:endParaRPr lang="en-US"/>
          </a:p>
        </p:txBody>
      </p:sp>
    </p:spTree>
    <p:extLst>
      <p:ext uri="{BB962C8B-B14F-4D97-AF65-F5344CB8AC3E}">
        <p14:creationId xmlns:p14="http://schemas.microsoft.com/office/powerpoint/2010/main" val="560905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61</a:t>
            </a:fld>
            <a:endParaRPr lang="en-US"/>
          </a:p>
        </p:txBody>
      </p:sp>
    </p:spTree>
    <p:extLst>
      <p:ext uri="{BB962C8B-B14F-4D97-AF65-F5344CB8AC3E}">
        <p14:creationId xmlns:p14="http://schemas.microsoft.com/office/powerpoint/2010/main" val="15446127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62</a:t>
            </a:fld>
            <a:endParaRPr lang="en-US"/>
          </a:p>
        </p:txBody>
      </p:sp>
    </p:spTree>
    <p:extLst>
      <p:ext uri="{BB962C8B-B14F-4D97-AF65-F5344CB8AC3E}">
        <p14:creationId xmlns:p14="http://schemas.microsoft.com/office/powerpoint/2010/main" val="10553119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63</a:t>
            </a:fld>
            <a:endParaRPr lang="en-US"/>
          </a:p>
        </p:txBody>
      </p:sp>
    </p:spTree>
    <p:extLst>
      <p:ext uri="{BB962C8B-B14F-4D97-AF65-F5344CB8AC3E}">
        <p14:creationId xmlns:p14="http://schemas.microsoft.com/office/powerpoint/2010/main" val="21036376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64</a:t>
            </a:fld>
            <a:endParaRPr lang="en-US"/>
          </a:p>
        </p:txBody>
      </p:sp>
    </p:spTree>
    <p:extLst>
      <p:ext uri="{BB962C8B-B14F-4D97-AF65-F5344CB8AC3E}">
        <p14:creationId xmlns:p14="http://schemas.microsoft.com/office/powerpoint/2010/main" val="39747517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65</a:t>
            </a:fld>
            <a:endParaRPr lang="en-US"/>
          </a:p>
        </p:txBody>
      </p:sp>
    </p:spTree>
    <p:extLst>
      <p:ext uri="{BB962C8B-B14F-4D97-AF65-F5344CB8AC3E}">
        <p14:creationId xmlns:p14="http://schemas.microsoft.com/office/powerpoint/2010/main" val="42763654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66</a:t>
            </a:fld>
            <a:endParaRPr lang="en-US"/>
          </a:p>
        </p:txBody>
      </p:sp>
    </p:spTree>
    <p:extLst>
      <p:ext uri="{BB962C8B-B14F-4D97-AF65-F5344CB8AC3E}">
        <p14:creationId xmlns:p14="http://schemas.microsoft.com/office/powerpoint/2010/main" val="31461302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a:rPr>
              <a:t>Ոսումնական հաստատությունն ու hամայնքը  համագործակցում են, իրազեկ են մեկը մյուսի խնդիրներին և հնարավորության սահմաններում աջակցում են միմյանց: Գնալով մեծանում են համագործակցության ոլորտը և  ավանդույթ դարձած համատեղ անցկացվող ամենամյա միջոցառումների ցանկը:</a:t>
            </a:r>
          </a:p>
        </p:txBody>
      </p:sp>
      <p:sp>
        <p:nvSpPr>
          <p:cNvPr id="4" name="Slide Number Placeholder 3"/>
          <p:cNvSpPr>
            <a:spLocks noGrp="1"/>
          </p:cNvSpPr>
          <p:nvPr>
            <p:ph type="sldNum" sz="quarter" idx="10"/>
          </p:nvPr>
        </p:nvSpPr>
        <p:spPr/>
        <p:txBody>
          <a:bodyPr/>
          <a:lstStyle/>
          <a:p>
            <a:fld id="{6AD968E9-D625-4458-9D42-1B55C71A807F}" type="slidenum">
              <a:rPr lang="en-US"/>
              <a:pPr/>
              <a:t>67</a:t>
            </a:fld>
            <a:endParaRPr lang="en-US"/>
          </a:p>
        </p:txBody>
      </p:sp>
    </p:spTree>
    <p:extLst>
      <p:ext uri="{BB962C8B-B14F-4D97-AF65-F5344CB8AC3E}">
        <p14:creationId xmlns:p14="http://schemas.microsoft.com/office/powerpoint/2010/main" val="1285631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68</a:t>
            </a:fld>
            <a:endParaRPr lang="en-US"/>
          </a:p>
        </p:txBody>
      </p:sp>
    </p:spTree>
    <p:extLst>
      <p:ext uri="{BB962C8B-B14F-4D97-AF65-F5344CB8AC3E}">
        <p14:creationId xmlns:p14="http://schemas.microsoft.com/office/powerpoint/2010/main" val="36961078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69</a:t>
            </a:fld>
            <a:endParaRPr lang="en-US"/>
          </a:p>
        </p:txBody>
      </p:sp>
    </p:spTree>
    <p:extLst>
      <p:ext uri="{BB962C8B-B14F-4D97-AF65-F5344CB8AC3E}">
        <p14:creationId xmlns:p14="http://schemas.microsoft.com/office/powerpoint/2010/main" val="7964163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70</a:t>
            </a:fld>
            <a:endParaRPr lang="en-US"/>
          </a:p>
        </p:txBody>
      </p:sp>
    </p:spTree>
    <p:extLst>
      <p:ext uri="{BB962C8B-B14F-4D97-AF65-F5344CB8AC3E}">
        <p14:creationId xmlns:p14="http://schemas.microsoft.com/office/powerpoint/2010/main" val="389037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5876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69077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38281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6845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9/12/2025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5788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9/12/2025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047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55406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2797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7330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4267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596685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99000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990700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46889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47509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08907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46CE7D5-CF57-46EF-B807-FDD0502418D4}"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08934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9/12/2025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057662401"/>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chool-42.am" TargetMode="External"/><Relationship Id="rId5" Type="http://schemas.openxmlformats.org/officeDocument/2006/relationships/hyperlink" Target="mailto:school42@schools.am" TargetMode="External"/><Relationship Id="rId4" Type="http://schemas.openxmlformats.org/officeDocument/2006/relationships/hyperlink" Target="mailto:42school@rambler.ru"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customXml" Target="../ink/ink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https://e-diary.emis.am/" TargetMode="External"/><Relationship Id="rId7" Type="http://schemas.openxmlformats.org/officeDocument/2006/relationships/hyperlink" Target="http://lib.armedu.am/" TargetMode="External"/><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hyperlink" Target="http://forum.armedu.am/" TargetMode="External"/><Relationship Id="rId5" Type="http://schemas.openxmlformats.org/officeDocument/2006/relationships/hyperlink" Target="http://www.armedu.am/" TargetMode="External"/><Relationship Id="rId4" Type="http://schemas.openxmlformats.org/officeDocument/2006/relationships/hyperlink" Target="http://ktak.am/"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www.aniedu.am/attachments/school/normativ/minister_orders/Pokhadrman_ev_avartman_karg_2012-2014.rar" TargetMode="External"/><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hyperlink" Target="http://lib.armedu.am/" TargetMode="External"/><Relationship Id="rId3" Type="http://schemas.openxmlformats.org/officeDocument/2006/relationships/hyperlink" Target="https://e-diary.emis.am/" TargetMode="External"/><Relationship Id="rId7" Type="http://schemas.openxmlformats.org/officeDocument/2006/relationships/hyperlink" Target="http://forum.armedu.am/" TargetMode="External"/><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hyperlink" Target="http://www.armedu.am/" TargetMode="External"/><Relationship Id="rId11" Type="http://schemas.openxmlformats.org/officeDocument/2006/relationships/hyperlink" Target="https://www.facebook.com/pages/Yerevan-High-School-N42-after-Taras-Shevchenko/238683539584695?pnref=lhc" TargetMode="External"/><Relationship Id="rId5" Type="http://schemas.openxmlformats.org/officeDocument/2006/relationships/hyperlink" Target="http://ktak.am/" TargetMode="External"/><Relationship Id="rId10" Type="http://schemas.openxmlformats.org/officeDocument/2006/relationships/hyperlink" Target="http://school-42.am/" TargetMode="External"/><Relationship Id="rId4" Type="http://schemas.openxmlformats.org/officeDocument/2006/relationships/hyperlink" Target="https://e-school.am/lessons" TargetMode="External"/><Relationship Id="rId9" Type="http://schemas.openxmlformats.org/officeDocument/2006/relationships/hyperlink" Target="http://www.atc.am/" TargetMode="Externa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2636749" y="1604363"/>
            <a:ext cx="8159471" cy="2308324"/>
          </a:xfrm>
          <a:prstGeom prst="rect">
            <a:avLst/>
          </a:prstGeom>
          <a:noFill/>
        </p:spPr>
        <p:txBody>
          <a:bodyPr wrap="square" lIns="91440" tIns="45720" rIns="91440" bIns="45720" rtlCol="0" anchor="t">
            <a:spAutoFit/>
          </a:bodyPr>
          <a:lstStyle/>
          <a:p>
            <a:pPr algn="ctr"/>
            <a:r>
              <a:rPr lang="ru-RU" sz="3600" b="1" dirty="0" err="1">
                <a:ln w="12700" cmpd="sng">
                  <a:solidFill>
                    <a:schemeClr val="accent4"/>
                  </a:solidFill>
                  <a:prstDash val="solid"/>
                </a:ln>
                <a:solidFill>
                  <a:schemeClr val="accent1"/>
                </a:solidFill>
                <a:latin typeface="Sylfaen"/>
              </a:rPr>
              <a:t>Երևանի</a:t>
            </a:r>
            <a:r>
              <a:rPr lang="ru-RU" sz="3600" b="1" dirty="0">
                <a:ln w="12700" cmpd="sng">
                  <a:solidFill>
                    <a:schemeClr val="accent4"/>
                  </a:solidFill>
                  <a:prstDash val="solid"/>
                </a:ln>
                <a:solidFill>
                  <a:schemeClr val="accent1"/>
                </a:solidFill>
                <a:latin typeface="Sylfaen"/>
              </a:rPr>
              <a:t> Տ. </a:t>
            </a:r>
            <a:r>
              <a:rPr lang="ru-RU" sz="3600" b="1" dirty="0" err="1">
                <a:ln w="12700" cmpd="sng">
                  <a:solidFill>
                    <a:schemeClr val="accent4"/>
                  </a:solidFill>
                  <a:prstDash val="solid"/>
                </a:ln>
                <a:solidFill>
                  <a:schemeClr val="accent1"/>
                </a:solidFill>
                <a:latin typeface="Sylfaen"/>
              </a:rPr>
              <a:t>Շևչենկոյի</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անվան</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թիվ</a:t>
            </a:r>
            <a:r>
              <a:rPr lang="ru-RU" sz="3600" b="1" dirty="0">
                <a:ln w="12700" cmpd="sng">
                  <a:solidFill>
                    <a:schemeClr val="accent4"/>
                  </a:solidFill>
                  <a:prstDash val="solid"/>
                </a:ln>
                <a:solidFill>
                  <a:schemeClr val="accent1"/>
                </a:solidFill>
                <a:latin typeface="Sylfaen"/>
              </a:rPr>
              <a:t> 42 </a:t>
            </a:r>
            <a:r>
              <a:rPr lang="ru-RU" sz="3600" b="1" dirty="0" err="1">
                <a:ln w="12700" cmpd="sng">
                  <a:solidFill>
                    <a:schemeClr val="accent4"/>
                  </a:solidFill>
                  <a:prstDash val="solid"/>
                </a:ln>
                <a:solidFill>
                  <a:schemeClr val="accent1"/>
                </a:solidFill>
                <a:latin typeface="Sylfaen"/>
              </a:rPr>
              <a:t>ավագ</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դպրոցի</a:t>
            </a:r>
            <a:r>
              <a:rPr lang="ru-RU" sz="3600" b="1" dirty="0">
                <a:ln w="12700" cmpd="sng">
                  <a:solidFill>
                    <a:schemeClr val="accent4"/>
                  </a:solidFill>
                  <a:prstDash val="solid"/>
                </a:ln>
                <a:solidFill>
                  <a:schemeClr val="accent1"/>
                </a:solidFill>
                <a:latin typeface="Sylfaen"/>
              </a:rPr>
              <a:t> </a:t>
            </a:r>
            <a:endParaRPr lang="ru-RU" sz="3600" b="1" dirty="0">
              <a:ln w="12700" cmpd="sng">
                <a:solidFill>
                  <a:srgbClr val="728653"/>
                </a:solidFill>
                <a:prstDash val="solid"/>
              </a:ln>
              <a:solidFill>
                <a:schemeClr val="accent1"/>
              </a:solidFill>
              <a:latin typeface="Sylfaen" panose="010A0502050306030303" pitchFamily="18" charset="0"/>
            </a:endParaRPr>
          </a:p>
          <a:p>
            <a:pPr algn="ctr"/>
            <a:r>
              <a:rPr lang="ru-RU" sz="3600" b="1" dirty="0">
                <a:ln w="12700" cmpd="sng">
                  <a:solidFill>
                    <a:schemeClr val="accent4"/>
                  </a:solidFill>
                  <a:prstDash val="solid"/>
                </a:ln>
                <a:solidFill>
                  <a:schemeClr val="accent1"/>
                </a:solidFill>
                <a:latin typeface="Sylfaen"/>
              </a:rPr>
              <a:t>20</a:t>
            </a:r>
            <a:r>
              <a:rPr lang="en-US" sz="3600" b="1" dirty="0" smtClean="0">
                <a:ln w="12700" cmpd="sng">
                  <a:solidFill>
                    <a:schemeClr val="accent4"/>
                  </a:solidFill>
                  <a:prstDash val="solid"/>
                </a:ln>
                <a:solidFill>
                  <a:schemeClr val="accent1"/>
                </a:solidFill>
                <a:latin typeface="Sylfaen"/>
              </a:rPr>
              <a:t>24</a:t>
            </a:r>
            <a:r>
              <a:rPr lang="ru-RU" sz="3600" b="1" dirty="0" smtClean="0">
                <a:ln w="12700" cmpd="sng">
                  <a:solidFill>
                    <a:schemeClr val="accent4"/>
                  </a:solidFill>
                  <a:prstDash val="solid"/>
                </a:ln>
                <a:solidFill>
                  <a:schemeClr val="accent1"/>
                </a:solidFill>
                <a:latin typeface="Sylfaen"/>
              </a:rPr>
              <a:t>-202</a:t>
            </a:r>
            <a:r>
              <a:rPr lang="en-US" sz="3600" b="1" dirty="0" smtClean="0">
                <a:ln w="12700" cmpd="sng">
                  <a:solidFill>
                    <a:schemeClr val="accent4"/>
                  </a:solidFill>
                  <a:prstDash val="solid"/>
                </a:ln>
                <a:solidFill>
                  <a:schemeClr val="accent1"/>
                </a:solidFill>
                <a:latin typeface="Sylfaen"/>
              </a:rPr>
              <a:t>5</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ուստարվա</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ներքին</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գնահատման</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հաշվետվություն</a:t>
            </a:r>
            <a:endParaRPr lang="ru-RU" sz="3600" b="1" dirty="0">
              <a:ln w="12700" cmpd="sng">
                <a:solidFill>
                  <a:srgbClr val="2E946B"/>
                </a:solidFill>
                <a:prstDash val="solid"/>
              </a:ln>
              <a:solidFill>
                <a:schemeClr val="accent1"/>
              </a:solidFill>
              <a:latin typeface="Sylfaen"/>
            </a:endParaRPr>
          </a:p>
        </p:txBody>
      </p:sp>
      <p:sp>
        <p:nvSpPr>
          <p:cNvPr id="5" name="TextBox 4"/>
          <p:cNvSpPr txBox="1"/>
          <p:nvPr/>
        </p:nvSpPr>
        <p:spPr>
          <a:xfrm>
            <a:off x="4083485" y="5198301"/>
            <a:ext cx="6969213" cy="461665"/>
          </a:xfrm>
          <a:prstGeom prst="rect">
            <a:avLst/>
          </a:prstGeom>
          <a:noFill/>
        </p:spPr>
        <p:txBody>
          <a:bodyPr wrap="square" lIns="91440" tIns="45720" rIns="91440" bIns="45720" rtlCol="0" anchor="t">
            <a:spAutoFit/>
          </a:bodyPr>
          <a:lstStyle/>
          <a:p>
            <a:r>
              <a:rPr lang="ru-RU" sz="2400" b="1" dirty="0" err="1">
                <a:solidFill>
                  <a:schemeClr val="accent1"/>
                </a:solidFill>
                <a:latin typeface="Sylfaen"/>
              </a:rPr>
              <a:t>Դպրոցի</a:t>
            </a:r>
            <a:r>
              <a:rPr lang="ru-RU" sz="2400" b="1" dirty="0">
                <a:solidFill>
                  <a:schemeClr val="accent1"/>
                </a:solidFill>
                <a:latin typeface="Sylfaen"/>
              </a:rPr>
              <a:t> </a:t>
            </a:r>
            <a:r>
              <a:rPr lang="ru-RU" sz="2400" b="1" dirty="0" err="1" smtClean="0">
                <a:solidFill>
                  <a:schemeClr val="accent1"/>
                </a:solidFill>
                <a:latin typeface="Sylfaen"/>
              </a:rPr>
              <a:t>տնօրեն</a:t>
            </a:r>
            <a:r>
              <a:rPr lang="ru-RU" sz="2400" b="1" dirty="0" smtClean="0">
                <a:solidFill>
                  <a:schemeClr val="accent1"/>
                </a:solidFill>
                <a:latin typeface="Sylfaen"/>
              </a:rPr>
              <a:t>՝</a:t>
            </a:r>
            <a:r>
              <a:rPr lang="ru-RU" sz="2400" b="1" dirty="0">
                <a:solidFill>
                  <a:schemeClr val="accent1"/>
                </a:solidFill>
                <a:latin typeface="Sylfaen"/>
              </a:rPr>
              <a:t>  </a:t>
            </a:r>
            <a:r>
              <a:rPr lang="ru-RU" sz="2400" b="1" dirty="0" err="1">
                <a:solidFill>
                  <a:schemeClr val="accent1"/>
                </a:solidFill>
                <a:latin typeface="Sylfaen"/>
              </a:rPr>
              <a:t>Մարիաննա</a:t>
            </a:r>
            <a:r>
              <a:rPr lang="ru-RU" sz="2400" b="1" dirty="0">
                <a:solidFill>
                  <a:schemeClr val="accent1"/>
                </a:solidFill>
                <a:latin typeface="Sylfaen"/>
              </a:rPr>
              <a:t> </a:t>
            </a:r>
            <a:r>
              <a:rPr lang="ru-RU" sz="2400" b="1" dirty="0" err="1">
                <a:solidFill>
                  <a:schemeClr val="accent1"/>
                </a:solidFill>
                <a:latin typeface="Sylfaen"/>
              </a:rPr>
              <a:t>Նավասարդյան</a:t>
            </a:r>
            <a:endParaRPr lang="ru-RU" sz="2400" b="1" dirty="0">
              <a:solidFill>
                <a:schemeClr val="accent1"/>
              </a:solidFill>
              <a:latin typeface="Sylfaen" panose="010A0502050306030303" pitchFamily="18" charset="0"/>
            </a:endParaRPr>
          </a:p>
        </p:txBody>
      </p:sp>
    </p:spTree>
    <p:extLst>
      <p:ext uri="{BB962C8B-B14F-4D97-AF65-F5344CB8AC3E}">
        <p14:creationId xmlns:p14="http://schemas.microsoft.com/office/powerpoint/2010/main" val="1487245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3866" t="54918" r="36422" b="-820"/>
          <a:stretch/>
        </p:blipFill>
        <p:spPr>
          <a:xfrm>
            <a:off x="5195888" y="939706"/>
            <a:ext cx="2084289" cy="626464"/>
          </a:xfrm>
          <a:prstGeom prst="rect">
            <a:avLst/>
          </a:prstGeom>
          <a:ln>
            <a:noFill/>
          </a:ln>
          <a:effectLst>
            <a:softEdge rad="112500"/>
          </a:effectLst>
        </p:spPr>
      </p:pic>
      <p:pic>
        <p:nvPicPr>
          <p:cNvPr id="3" name="Picture 2"/>
          <p:cNvPicPr>
            <a:picLocks noChangeAspect="1"/>
          </p:cNvPicPr>
          <p:nvPr/>
        </p:nvPicPr>
        <p:blipFill rotWithShape="1">
          <a:blip r:embed="rId4" cstate="print"/>
          <a:srcRect t="7080" b="43363"/>
          <a:stretch/>
        </p:blipFill>
        <p:spPr>
          <a:xfrm>
            <a:off x="1143934" y="2431584"/>
            <a:ext cx="10801672" cy="1204826"/>
          </a:xfrm>
          <a:prstGeom prst="rect">
            <a:avLst/>
          </a:prstGeom>
          <a:ln>
            <a:noFill/>
          </a:ln>
          <a:effectLst>
            <a:softEdge rad="112500"/>
          </a:effectLst>
        </p:spPr>
      </p:pic>
    </p:spTree>
    <p:extLst>
      <p:ext uri="{BB962C8B-B14F-4D97-AF65-F5344CB8AC3E}">
        <p14:creationId xmlns:p14="http://schemas.microsoft.com/office/powerpoint/2010/main" val="3456392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1930" t="12264" r="28185" b="-943"/>
          <a:stretch/>
        </p:blipFill>
        <p:spPr>
          <a:xfrm>
            <a:off x="1901849" y="615050"/>
            <a:ext cx="8713686" cy="1508467"/>
          </a:xfrm>
          <a:prstGeom prst="rect">
            <a:avLst/>
          </a:prstGeom>
          <a:ln>
            <a:noFill/>
          </a:ln>
          <a:effectLst>
            <a:softEdge rad="112500"/>
          </a:effectLst>
        </p:spPr>
      </p:pic>
      <p:sp>
        <p:nvSpPr>
          <p:cNvPr id="4" name="TextBox 3">
            <a:extLst>
              <a:ext uri="{FF2B5EF4-FFF2-40B4-BE49-F238E27FC236}">
                <a16:creationId xmlns:a16="http://schemas.microsoft.com/office/drawing/2014/main" id="{7DD4B286-6CC2-46D7-9270-60588091B7A6}"/>
              </a:ext>
            </a:extLst>
          </p:cNvPr>
          <p:cNvSpPr txBox="1"/>
          <p:nvPr/>
        </p:nvSpPr>
        <p:spPr>
          <a:xfrm>
            <a:off x="670200" y="2770367"/>
            <a:ext cx="1117412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Հաստատության</a:t>
            </a:r>
            <a:r>
              <a:rPr lang="en-US" dirty="0"/>
              <a:t> </a:t>
            </a:r>
            <a:r>
              <a:rPr lang="en-US" dirty="0" err="1"/>
              <a:t>անվանումը</a:t>
            </a:r>
            <a:r>
              <a:rPr lang="en-US" dirty="0"/>
              <a:t>, </a:t>
            </a:r>
            <a:r>
              <a:rPr lang="en-US" dirty="0" err="1"/>
              <a:t>համարը</a:t>
            </a:r>
            <a:r>
              <a:rPr lang="en-US" dirty="0"/>
              <a:t> ՝  </a:t>
            </a:r>
            <a:r>
              <a:rPr lang="en-US" b="1" dirty="0"/>
              <a:t>   </a:t>
            </a:r>
            <a:r>
              <a:rPr lang="en-US" b="1" dirty="0" smtClean="0"/>
              <a:t> </a:t>
            </a:r>
            <a:r>
              <a:rPr lang="en-US" b="1" dirty="0" err="1" smtClean="0"/>
              <a:t>Երևանի</a:t>
            </a:r>
            <a:r>
              <a:rPr lang="en-US" b="1" dirty="0" smtClean="0"/>
              <a:t> </a:t>
            </a:r>
            <a:r>
              <a:rPr lang="en-US" b="1" dirty="0"/>
              <a:t>Տ. </a:t>
            </a:r>
            <a:r>
              <a:rPr lang="en-US" b="1" dirty="0" err="1"/>
              <a:t>Շևչենկոյի</a:t>
            </a:r>
            <a:r>
              <a:rPr lang="en-US" b="1" dirty="0"/>
              <a:t> </a:t>
            </a:r>
            <a:r>
              <a:rPr lang="en-US" b="1" dirty="0" err="1"/>
              <a:t>անվան</a:t>
            </a:r>
            <a:r>
              <a:rPr lang="en-US" b="1" dirty="0"/>
              <a:t> </a:t>
            </a:r>
            <a:r>
              <a:rPr lang="en-US" b="1" dirty="0" err="1"/>
              <a:t>թիվ</a:t>
            </a:r>
            <a:r>
              <a:rPr lang="en-US" b="1" dirty="0"/>
              <a:t> 42 </a:t>
            </a:r>
            <a:r>
              <a:rPr lang="en-US" b="1" dirty="0" err="1"/>
              <a:t>ավագ</a:t>
            </a:r>
            <a:r>
              <a:rPr lang="en-US" b="1" dirty="0"/>
              <a:t> </a:t>
            </a:r>
            <a:r>
              <a:rPr lang="en-US" b="1" dirty="0" err="1"/>
              <a:t>դպրոց</a:t>
            </a:r>
            <a:r>
              <a:rPr lang="en-US" b="1" dirty="0"/>
              <a:t> </a:t>
            </a:r>
          </a:p>
          <a:p>
            <a:r>
              <a:rPr lang="en-US" dirty="0" err="1"/>
              <a:t>Հաստատության</a:t>
            </a:r>
            <a:r>
              <a:rPr lang="en-US" dirty="0"/>
              <a:t> </a:t>
            </a:r>
            <a:r>
              <a:rPr lang="en-US" dirty="0" err="1"/>
              <a:t>հասցեն</a:t>
            </a:r>
            <a:r>
              <a:rPr lang="en-US" dirty="0"/>
              <a:t>՝                             </a:t>
            </a:r>
            <a:r>
              <a:rPr lang="en-US" b="1" dirty="0" err="1" smtClean="0"/>
              <a:t>Երևան</a:t>
            </a:r>
            <a:r>
              <a:rPr lang="en-US" b="1" dirty="0"/>
              <a:t>, 0015, </a:t>
            </a:r>
            <a:r>
              <a:rPr lang="en-US" b="1" dirty="0" err="1"/>
              <a:t>Մաշտոցի</a:t>
            </a:r>
            <a:r>
              <a:rPr lang="en-US" b="1" dirty="0"/>
              <a:t> 5/2</a:t>
            </a:r>
            <a:r>
              <a:rPr lang="en-US" dirty="0"/>
              <a:t>                     </a:t>
            </a:r>
            <a:endParaRPr lang="en-US" b="1" dirty="0"/>
          </a:p>
          <a:p>
            <a:r>
              <a:rPr lang="en-US" dirty="0" err="1"/>
              <a:t>Հաստատության</a:t>
            </a:r>
            <a:r>
              <a:rPr lang="en-US" dirty="0"/>
              <a:t> </a:t>
            </a:r>
            <a:r>
              <a:rPr lang="en-US" dirty="0" err="1"/>
              <a:t>հեռախոսահամարը</a:t>
            </a:r>
            <a:r>
              <a:rPr lang="en-US" dirty="0"/>
              <a:t>՝         </a:t>
            </a:r>
            <a:r>
              <a:rPr lang="en-US" b="1" dirty="0"/>
              <a:t>010535641</a:t>
            </a:r>
            <a:endParaRPr lang="en-US" dirty="0"/>
          </a:p>
          <a:p>
            <a:r>
              <a:rPr lang="en-US" dirty="0" err="1"/>
              <a:t>Էլեկտրոնային</a:t>
            </a:r>
            <a:r>
              <a:rPr lang="en-US" dirty="0"/>
              <a:t> </a:t>
            </a:r>
            <a:r>
              <a:rPr lang="en-US" dirty="0" err="1"/>
              <a:t>փոստի</a:t>
            </a:r>
            <a:r>
              <a:rPr lang="en-US" dirty="0"/>
              <a:t>  </a:t>
            </a:r>
            <a:r>
              <a:rPr lang="en-US" dirty="0" err="1"/>
              <a:t>հասցե</a:t>
            </a:r>
            <a:r>
              <a:rPr lang="en-US" dirty="0"/>
              <a:t>՝                    </a:t>
            </a:r>
            <a:r>
              <a:rPr lang="en-US" dirty="0">
                <a:hlinkClick r:id="rId4"/>
              </a:rPr>
              <a:t>42school@rambler.ru</a:t>
            </a:r>
            <a:r>
              <a:rPr lang="en-US" dirty="0"/>
              <a:t>, </a:t>
            </a:r>
            <a:r>
              <a:rPr lang="en-US" dirty="0">
                <a:hlinkClick r:id="rId5"/>
              </a:rPr>
              <a:t>school42@schools.am</a:t>
            </a:r>
          </a:p>
          <a:p>
            <a:r>
              <a:rPr lang="en-US" dirty="0" err="1"/>
              <a:t>Ինտերնետային</a:t>
            </a:r>
            <a:r>
              <a:rPr lang="en-US" dirty="0"/>
              <a:t> </a:t>
            </a:r>
            <a:r>
              <a:rPr lang="en-US" dirty="0" err="1"/>
              <a:t>կայքի</a:t>
            </a:r>
            <a:r>
              <a:rPr lang="en-US" dirty="0"/>
              <a:t> </a:t>
            </a:r>
            <a:r>
              <a:rPr lang="en-US" dirty="0" err="1"/>
              <a:t>հասցեն</a:t>
            </a:r>
            <a:r>
              <a:rPr lang="en-US" dirty="0"/>
              <a:t>՝                   </a:t>
            </a:r>
            <a:r>
              <a:rPr lang="en-US" dirty="0">
                <a:ea typeface="+mn-lt"/>
                <a:cs typeface="+mn-lt"/>
                <a:hlinkClick r:id="rId6"/>
              </a:rPr>
              <a:t>http://school-42.am</a:t>
            </a:r>
            <a:endParaRPr lang="en-US" dirty="0">
              <a:hlinkClick r:id="rId6"/>
            </a:endParaRPr>
          </a:p>
          <a:p>
            <a:r>
              <a:rPr lang="en-US" dirty="0"/>
              <a:t>              </a:t>
            </a:r>
          </a:p>
        </p:txBody>
      </p:sp>
    </p:spTree>
    <p:extLst>
      <p:ext uri="{BB962C8B-B14F-4D97-AF65-F5344CB8AC3E}">
        <p14:creationId xmlns:p14="http://schemas.microsoft.com/office/powerpoint/2010/main" val="900119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047" y="325677"/>
            <a:ext cx="9244208" cy="369332"/>
          </a:xfrm>
          <a:prstGeom prst="rect">
            <a:avLst/>
          </a:prstGeom>
          <a:noFill/>
        </p:spPr>
        <p:txBody>
          <a:bodyPr wrap="square" rtlCol="0">
            <a:spAutoFit/>
          </a:bodyPr>
          <a:lstStyle/>
          <a:p>
            <a:r>
              <a:rPr lang="en-US" b="1" err="1">
                <a:latin typeface="Sylfaen" panose="010A0502050306030303" pitchFamily="18" charset="0"/>
              </a:rPr>
              <a:t>Աղյուսակ</a:t>
            </a:r>
            <a:r>
              <a:rPr lang="en-US" b="1">
                <a:latin typeface="Sylfaen" panose="010A0502050306030303" pitchFamily="18" charset="0"/>
              </a:rPr>
              <a:t> 1՝ </a:t>
            </a:r>
            <a:r>
              <a:rPr lang="en-US" b="1" err="1">
                <a:latin typeface="Sylfaen" panose="010A0502050306030303" pitchFamily="18" charset="0"/>
              </a:rPr>
              <a:t>Դասարանների</a:t>
            </a:r>
            <a:r>
              <a:rPr lang="en-US" b="1">
                <a:latin typeface="Sylfaen" panose="010A0502050306030303" pitchFamily="18" charset="0"/>
              </a:rPr>
              <a:t> </a:t>
            </a:r>
            <a:r>
              <a:rPr lang="en-US" b="1" err="1">
                <a:latin typeface="Sylfaen" panose="010A0502050306030303" pitchFamily="18" charset="0"/>
              </a:rPr>
              <a:t>թիվը</a:t>
            </a:r>
            <a:r>
              <a:rPr lang="en-US" b="1">
                <a:latin typeface="Sylfaen" panose="010A0502050306030303" pitchFamily="18" charset="0"/>
              </a:rPr>
              <a:t>՝ </a:t>
            </a:r>
            <a:r>
              <a:rPr lang="en-US" b="1" err="1">
                <a:latin typeface="Sylfaen" panose="010A0502050306030303" pitchFamily="18" charset="0"/>
              </a:rPr>
              <a:t>ընթացիկ</a:t>
            </a:r>
            <a:r>
              <a:rPr lang="en-US" b="1">
                <a:latin typeface="Sylfaen" panose="010A0502050306030303" pitchFamily="18" charset="0"/>
              </a:rPr>
              <a:t> և </a:t>
            </a:r>
            <a:r>
              <a:rPr lang="en-US" b="1" err="1">
                <a:latin typeface="Sylfaen" panose="010A0502050306030303" pitchFamily="18" charset="0"/>
              </a:rPr>
              <a:t>նախորդ</a:t>
            </a:r>
            <a:r>
              <a:rPr lang="en-US" b="1">
                <a:latin typeface="Sylfaen" panose="010A0502050306030303" pitchFamily="18" charset="0"/>
              </a:rPr>
              <a:t> </a:t>
            </a:r>
            <a:r>
              <a:rPr lang="en-US" b="1" err="1">
                <a:latin typeface="Sylfaen" panose="010A0502050306030303" pitchFamily="18" charset="0"/>
              </a:rPr>
              <a:t>ուստարիների</a:t>
            </a:r>
            <a:r>
              <a:rPr lang="en-US" b="1">
                <a:latin typeface="Sylfaen" panose="010A0502050306030303" pitchFamily="18" charset="0"/>
              </a:rPr>
              <a:t> </a:t>
            </a:r>
            <a:r>
              <a:rPr lang="en-US" b="1" err="1">
                <a:latin typeface="Sylfaen" panose="010A0502050306030303" pitchFamily="18" charset="0"/>
              </a:rPr>
              <a:t>համար</a:t>
            </a:r>
            <a:endParaRPr lang="ru-RU" b="1">
              <a:latin typeface="Sylfaen" panose="010A0502050306030303" pitchFamily="18" charset="0"/>
            </a:endParaRPr>
          </a:p>
        </p:txBody>
      </p:sp>
      <p:graphicFrame>
        <p:nvGraphicFramePr>
          <p:cNvPr id="4" name="Таблица 3"/>
          <p:cNvGraphicFramePr>
            <a:graphicFrameLocks noGrp="1"/>
          </p:cNvGraphicFramePr>
          <p:nvPr>
            <p:extLst>
              <p:ext uri="{D42A27DB-BD31-4B8C-83A1-F6EECF244321}">
                <p14:modId xmlns:p14="http://schemas.microsoft.com/office/powerpoint/2010/main" val="1035292337"/>
              </p:ext>
            </p:extLst>
          </p:nvPr>
        </p:nvGraphicFramePr>
        <p:xfrm>
          <a:off x="1513500" y="1519548"/>
          <a:ext cx="9999424" cy="4113953"/>
        </p:xfrm>
        <a:graphic>
          <a:graphicData uri="http://schemas.openxmlformats.org/drawingml/2006/table">
            <a:tbl>
              <a:tblPr firstRow="1" bandRow="1">
                <a:tableStyleId>{5940675A-B579-460E-94D1-54222C63F5DA}</a:tableStyleId>
              </a:tblPr>
              <a:tblGrid>
                <a:gridCol w="2246247">
                  <a:extLst>
                    <a:ext uri="{9D8B030D-6E8A-4147-A177-3AD203B41FA5}">
                      <a16:colId xmlns:a16="http://schemas.microsoft.com/office/drawing/2014/main" val="20000"/>
                    </a:ext>
                  </a:extLst>
                </a:gridCol>
                <a:gridCol w="1619077">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07350">
                  <a:extLst>
                    <a:ext uri="{9D8B030D-6E8A-4147-A177-3AD203B41FA5}">
                      <a16:colId xmlns:a16="http://schemas.microsoft.com/office/drawing/2014/main" val="20003"/>
                    </a:ext>
                  </a:extLst>
                </a:gridCol>
                <a:gridCol w="2869400">
                  <a:extLst>
                    <a:ext uri="{9D8B030D-6E8A-4147-A177-3AD203B41FA5}">
                      <a16:colId xmlns:a16="http://schemas.microsoft.com/office/drawing/2014/main" val="20004"/>
                    </a:ext>
                  </a:extLst>
                </a:gridCol>
              </a:tblGrid>
              <a:tr h="1494117">
                <a:tc>
                  <a:txBody>
                    <a:bodyPr/>
                    <a:lstStyle/>
                    <a:p>
                      <a:r>
                        <a:rPr lang="en-US" sz="1600" b="1" err="1">
                          <a:latin typeface="Sylfaen"/>
                        </a:rPr>
                        <a:t>Դասարանների</a:t>
                      </a:r>
                      <a:r>
                        <a:rPr lang="en-US" sz="1600" b="1">
                          <a:latin typeface="Sylfaen"/>
                        </a:rPr>
                        <a:t> </a:t>
                      </a:r>
                      <a:r>
                        <a:rPr lang="en-US" sz="1600" b="1" err="1">
                          <a:latin typeface="Sylfaen"/>
                        </a:rPr>
                        <a:t>թիվը</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dirty="0" smtClean="0">
                          <a:latin typeface="Sylfaen"/>
                        </a:rPr>
                        <a:t>2022-2023</a:t>
                      </a:r>
                      <a:r>
                        <a:rPr lang="en-US" sz="1600" b="1" baseline="0" dirty="0" smtClean="0">
                          <a:latin typeface="Sylfaen"/>
                        </a:rPr>
                        <a:t> </a:t>
                      </a:r>
                      <a:r>
                        <a:rPr lang="en-US" sz="1600" b="1" dirty="0" err="1">
                          <a:latin typeface="Sylfaen"/>
                        </a:rPr>
                        <a:t>ուստարի</a:t>
                      </a:r>
                      <a:endParaRPr lang="ru-RU" sz="1600" b="1" dirty="0">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dirty="0" smtClean="0">
                          <a:latin typeface="Sylfaen"/>
                        </a:rPr>
                        <a:t>2023-2024</a:t>
                      </a:r>
                      <a:r>
                        <a:rPr lang="en-US" sz="1600" b="1" baseline="0" dirty="0" smtClean="0">
                          <a:latin typeface="Sylfaen"/>
                        </a:rPr>
                        <a:t> </a:t>
                      </a:r>
                      <a:r>
                        <a:rPr lang="en-US" sz="1600" b="1" dirty="0" err="1">
                          <a:latin typeface="Sylfaen"/>
                        </a:rPr>
                        <a:t>ուստարի</a:t>
                      </a:r>
                      <a:endParaRPr lang="ru-RU" sz="1600" b="1" dirty="0">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smtClean="0">
                          <a:latin typeface="Sylfaen"/>
                        </a:rPr>
                        <a:t>2024-2025</a:t>
                      </a:r>
                      <a:r>
                        <a:rPr lang="en-US" sz="1800" b="1" baseline="0" dirty="0" smtClean="0">
                          <a:latin typeface="Sylfaen"/>
                        </a:rPr>
                        <a:t> </a:t>
                      </a:r>
                      <a:r>
                        <a:rPr lang="en-US" sz="1800" b="1" dirty="0" err="1" smtClean="0">
                          <a:latin typeface="Sylfaen"/>
                        </a:rPr>
                        <a:t>ուստարի</a:t>
                      </a:r>
                      <a:endParaRPr lang="ru-RU" sz="1800" b="1" dirty="0" smtClean="0">
                        <a:latin typeface="Sylfaen"/>
                      </a:endParaRPr>
                    </a:p>
                    <a:p>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dirty="0" err="1">
                          <a:latin typeface="Sylfaen"/>
                        </a:rPr>
                        <a:t>Փո</a:t>
                      </a:r>
                      <a:r>
                        <a:rPr lang="hy" sz="1400" b="1" i="0" u="none" strike="noStrike" noProof="0" dirty="0"/>
                        <a:t>փ</a:t>
                      </a:r>
                      <a:r>
                        <a:rPr lang="en-US" sz="1600" b="1" dirty="0" err="1">
                          <a:latin typeface="Sylfaen"/>
                        </a:rPr>
                        <a:t>ոխությունների</a:t>
                      </a:r>
                      <a:r>
                        <a:rPr lang="en-US" sz="1600" b="1" dirty="0">
                          <a:latin typeface="Sylfaen"/>
                        </a:rPr>
                        <a:t> </a:t>
                      </a:r>
                      <a:r>
                        <a:rPr lang="en-US" sz="1600" b="1" dirty="0" err="1">
                          <a:latin typeface="Sylfaen"/>
                        </a:rPr>
                        <a:t>դինամիկան</a:t>
                      </a:r>
                      <a:r>
                        <a:rPr lang="en-US" sz="1600" b="1" dirty="0">
                          <a:latin typeface="Sylfaen"/>
                        </a:rPr>
                        <a:t> </a:t>
                      </a:r>
                      <a:r>
                        <a:rPr lang="ru-RU" sz="1600" b="1" dirty="0">
                          <a:latin typeface="Sylfaen"/>
                        </a:rPr>
                        <a:t>(</a:t>
                      </a:r>
                      <a:r>
                        <a:rPr lang="en-US" sz="1600" b="1" dirty="0" err="1">
                          <a:latin typeface="Sylfaen"/>
                        </a:rPr>
                        <a:t>աճ</a:t>
                      </a:r>
                      <a:r>
                        <a:rPr lang="en-US" sz="1600" b="1" dirty="0">
                          <a:latin typeface="Sylfaen"/>
                        </a:rPr>
                        <a:t>  </a:t>
                      </a:r>
                      <a:r>
                        <a:rPr lang="en-US" sz="1600" b="1" dirty="0" err="1">
                          <a:latin typeface="Sylfaen"/>
                        </a:rPr>
                        <a:t>կամ</a:t>
                      </a:r>
                      <a:r>
                        <a:rPr lang="en-US" sz="1600" b="1" dirty="0">
                          <a:latin typeface="Sylfaen"/>
                        </a:rPr>
                        <a:t> </a:t>
                      </a:r>
                      <a:r>
                        <a:rPr lang="en-US" sz="1600" b="1" dirty="0" err="1">
                          <a:latin typeface="Sylfaen"/>
                        </a:rPr>
                        <a:t>նվազում</a:t>
                      </a:r>
                      <a:r>
                        <a:rPr lang="ru-RU" sz="1600" b="1" dirty="0">
                          <a:latin typeface="Sylfaen"/>
                        </a:rPr>
                        <a: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54959">
                <a:tc>
                  <a:txBody>
                    <a:bodyPr/>
                    <a:lstStyle/>
                    <a:p>
                      <a:r>
                        <a:rPr lang="en-US" sz="1600" b="1">
                          <a:latin typeface="Sylfaen"/>
                        </a:rPr>
                        <a:t>10-րդ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4</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6</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dirty="0" err="1" smtClean="0">
                          <a:ln>
                            <a:noFill/>
                          </a:ln>
                          <a:effectLst/>
                          <a:uLnTx/>
                          <a:uFillTx/>
                          <a:latin typeface="Sylfaen"/>
                          <a:ea typeface="+mn-ea"/>
                          <a:cs typeface="+mn-cs"/>
                        </a:rPr>
                        <a:t>աճ</a:t>
                      </a:r>
                      <a:endParaRPr lang="en-US" sz="1600" b="1" i="0" u="none" strike="noStrike" kern="1200" cap="none" spc="0" normalizeH="0" baseline="0" noProof="0" dirty="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54959">
                <a:tc>
                  <a:txBody>
                    <a:bodyPr/>
                    <a:lstStyle/>
                    <a:p>
                      <a:r>
                        <a:rPr lang="en-US" sz="1600" b="1">
                          <a:latin typeface="Sylfaen"/>
                        </a:rPr>
                        <a:t>11-րդ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6</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4</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dirty="0" err="1" smtClean="0">
                          <a:ln>
                            <a:noFill/>
                          </a:ln>
                          <a:effectLst/>
                          <a:uLnTx/>
                          <a:uFillTx/>
                          <a:latin typeface="Sylfaen"/>
                          <a:ea typeface="+mn-ea"/>
                          <a:cs typeface="+mn-cs"/>
                        </a:rPr>
                        <a:t>նվազում</a:t>
                      </a:r>
                      <a:endParaRPr lang="en-US" sz="1600" b="1" i="0" u="none" strike="noStrike" kern="1200" cap="none" spc="0" normalizeH="0" baseline="0" noProof="0" dirty="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654959">
                <a:tc>
                  <a:txBody>
                    <a:bodyPr/>
                    <a:lstStyle/>
                    <a:p>
                      <a:r>
                        <a:rPr lang="en-US" sz="1600" b="1">
                          <a:latin typeface="Sylfaen"/>
                        </a:rPr>
                        <a:t>12-րդ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4</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6</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dirty="0" err="1">
                          <a:ln>
                            <a:noFill/>
                          </a:ln>
                          <a:effectLst/>
                          <a:uLnTx/>
                          <a:uFillTx/>
                          <a:latin typeface="Sylfaen"/>
                          <a:ea typeface="+mn-ea"/>
                          <a:cs typeface="+mn-cs"/>
                        </a:rPr>
                        <a:t>աճ</a:t>
                      </a:r>
                      <a:endParaRPr lang="en-US" sz="1600" b="1" i="0" u="none" strike="noStrike" kern="1200" cap="none" spc="0" normalizeH="0" baseline="0" noProof="0" dirty="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654959">
                <a:tc>
                  <a:txBody>
                    <a:bodyPr/>
                    <a:lstStyle/>
                    <a:p>
                      <a:r>
                        <a:rPr lang="en-US" sz="1600" b="1" err="1">
                          <a:latin typeface="Sylfaen" panose="010A0502050306030303" pitchFamily="18" charset="0"/>
                        </a:rPr>
                        <a:t>Ընդամենը</a:t>
                      </a:r>
                      <a:endParaRPr lang="ru-RU" sz="1600" b="1">
                        <a:latin typeface="Sylfaen" panose="010A0502050306030303"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1</a:t>
                      </a:r>
                      <a:r>
                        <a:rPr lang="hy-AM"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dirty="0"/>
                        <a:t>18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18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dirty="0" err="1" smtClean="0">
                          <a:ln>
                            <a:noFill/>
                          </a:ln>
                          <a:effectLst/>
                          <a:uLnTx/>
                          <a:uFillTx/>
                          <a:latin typeface="Sylfaen"/>
                          <a:ea typeface="+mn-ea"/>
                          <a:cs typeface="+mn-cs"/>
                        </a:rPr>
                        <a:t>անփոփոխ</a:t>
                      </a:r>
                      <a:endParaRPr lang="en-US" sz="1600" b="1" i="0" u="none" strike="noStrike" kern="1200" cap="none" spc="0" normalizeH="0" baseline="0" noProof="0" dirty="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4580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819" y="231820"/>
            <a:ext cx="10450488" cy="1586087"/>
          </a:xfrm>
        </p:spPr>
        <p:txBody>
          <a:bodyPr>
            <a:noAutofit/>
          </a:bodyPr>
          <a:lstStyle/>
          <a:p>
            <a:pPr algn="ctr"/>
            <a:r>
              <a:rPr lang="en-US" sz="3600" err="1">
                <a:solidFill>
                  <a:schemeClr val="accent2">
                    <a:lumMod val="75000"/>
                  </a:schemeClr>
                </a:solidFill>
              </a:rPr>
              <a:t>Դասարանների</a:t>
            </a:r>
            <a:r>
              <a:rPr lang="en-US" sz="3600">
                <a:solidFill>
                  <a:schemeClr val="accent2">
                    <a:lumMod val="75000"/>
                  </a:schemeClr>
                </a:solidFill>
              </a:rPr>
              <a:t> </a:t>
            </a:r>
            <a:r>
              <a:rPr lang="en-US" sz="3600" err="1">
                <a:solidFill>
                  <a:schemeClr val="accent2">
                    <a:lumMod val="75000"/>
                  </a:schemeClr>
                </a:solidFill>
              </a:rPr>
              <a:t>թվաքանակի</a:t>
            </a:r>
            <a:r>
              <a:rPr lang="en-US" sz="3600">
                <a:solidFill>
                  <a:schemeClr val="accent2">
                    <a:lumMod val="75000"/>
                  </a:schemeClr>
                </a:solidFill>
              </a:rPr>
              <a:t> </a:t>
            </a:r>
            <a:r>
              <a:rPr lang="en-US" sz="3600" err="1">
                <a:solidFill>
                  <a:schemeClr val="accent2">
                    <a:lumMod val="75000"/>
                  </a:schemeClr>
                </a:solidFill>
              </a:rPr>
              <a:t>փոփոխության</a:t>
            </a:r>
            <a:r>
              <a:rPr lang="en-US" sz="3600">
                <a:solidFill>
                  <a:schemeClr val="accent2">
                    <a:lumMod val="75000"/>
                  </a:schemeClr>
                </a:solidFill>
              </a:rPr>
              <a:t> </a:t>
            </a:r>
            <a:r>
              <a:rPr lang="en-US" sz="3600" err="1">
                <a:solidFill>
                  <a:schemeClr val="accent2">
                    <a:lumMod val="75000"/>
                  </a:schemeClr>
                </a:solidFill>
              </a:rPr>
              <a:t>պատճառները</a:t>
            </a:r>
            <a:endParaRPr lang="en-US" sz="3600">
              <a:solidFill>
                <a:schemeClr val="accent2">
                  <a:lumMod val="75000"/>
                </a:schemeClr>
              </a:solidFill>
            </a:endParaRPr>
          </a:p>
        </p:txBody>
      </p:sp>
      <p:sp>
        <p:nvSpPr>
          <p:cNvPr id="3" name="Text Placeholder 2"/>
          <p:cNvSpPr>
            <a:spLocks noGrp="1"/>
          </p:cNvSpPr>
          <p:nvPr>
            <p:ph type="body" idx="1"/>
          </p:nvPr>
        </p:nvSpPr>
        <p:spPr>
          <a:xfrm>
            <a:off x="734095" y="1712890"/>
            <a:ext cx="10452743" cy="3876013"/>
          </a:xfrm>
        </p:spPr>
        <p:txBody>
          <a:bodyPr>
            <a:normAutofit/>
          </a:bodyPr>
          <a:lstStyle/>
          <a:p>
            <a:pPr marL="342900" indent="-342900" algn="just">
              <a:lnSpc>
                <a:spcPct val="150000"/>
              </a:lnSpc>
              <a:spcBef>
                <a:spcPts val="0"/>
              </a:spcBef>
              <a:buFont typeface="Wingdings" pitchFamily="2" charset="2"/>
              <a:buChar char="v"/>
            </a:pPr>
            <a:r>
              <a:rPr lang="en-US" sz="1900" i="1" dirty="0" err="1"/>
              <a:t>Դասարանների</a:t>
            </a:r>
            <a:r>
              <a:rPr lang="en-US" sz="1900" i="1" dirty="0"/>
              <a:t> </a:t>
            </a:r>
            <a:r>
              <a:rPr lang="en-US" sz="1900" i="1" dirty="0" err="1"/>
              <a:t>թվի</a:t>
            </a:r>
            <a:r>
              <a:rPr lang="en-US" sz="1900" i="1" dirty="0"/>
              <a:t> </a:t>
            </a:r>
            <a:r>
              <a:rPr lang="en-US" sz="1900" i="1" dirty="0" err="1"/>
              <a:t>աճը</a:t>
            </a:r>
            <a:r>
              <a:rPr lang="en-US" sz="1900" i="1" dirty="0"/>
              <a:t> </a:t>
            </a:r>
            <a:r>
              <a:rPr lang="en-US" sz="1900" i="1" dirty="0" err="1"/>
              <a:t>պայմանավորված</a:t>
            </a:r>
            <a:r>
              <a:rPr lang="en-US" sz="1900" i="1" dirty="0"/>
              <a:t> է  </a:t>
            </a:r>
            <a:r>
              <a:rPr lang="en-US" sz="1900" i="1" dirty="0" err="1"/>
              <a:t>դպրոցի</a:t>
            </a:r>
            <a:r>
              <a:rPr lang="en-US" sz="1900" i="1" dirty="0"/>
              <a:t> </a:t>
            </a:r>
            <a:r>
              <a:rPr lang="en-US" sz="1900" i="1" dirty="0" err="1"/>
              <a:t>շենքի</a:t>
            </a:r>
            <a:r>
              <a:rPr lang="en-US" sz="1900" i="1" dirty="0"/>
              <a:t> </a:t>
            </a:r>
            <a:r>
              <a:rPr lang="en-US" sz="1900" i="1" dirty="0" err="1"/>
              <a:t>հիմնանորոգմամբ</a:t>
            </a:r>
            <a:r>
              <a:rPr lang="en-US" sz="1900" i="1" dirty="0"/>
              <a:t> և </a:t>
            </a:r>
            <a:r>
              <a:rPr lang="en-US" sz="1900" i="1" dirty="0" err="1"/>
              <a:t>ուսումնադաստիարակչական</a:t>
            </a:r>
            <a:r>
              <a:rPr lang="en-US" sz="1900" i="1" dirty="0"/>
              <a:t> </a:t>
            </a:r>
            <a:r>
              <a:rPr lang="en-US" sz="1900" i="1" dirty="0" err="1"/>
              <a:t>աշխատանքների</a:t>
            </a:r>
            <a:r>
              <a:rPr lang="en-US" sz="1900" i="1" dirty="0"/>
              <a:t> </a:t>
            </a:r>
            <a:r>
              <a:rPr lang="en-US" sz="1900" i="1" dirty="0" err="1"/>
              <a:t>արդյունավետությամբ</a:t>
            </a:r>
            <a:r>
              <a:rPr lang="en-US" sz="1900" i="1" dirty="0" smtClean="0"/>
              <a:t>:</a:t>
            </a:r>
            <a:endParaRPr lang="hy-AM" sz="1900" i="1" dirty="0" smtClean="0"/>
          </a:p>
          <a:p>
            <a:pPr marL="342900" indent="-342900" algn="just">
              <a:lnSpc>
                <a:spcPct val="150000"/>
              </a:lnSpc>
              <a:spcBef>
                <a:spcPts val="0"/>
              </a:spcBef>
              <a:buFont typeface="Wingdings" pitchFamily="2" charset="2"/>
              <a:buChar char="v"/>
            </a:pPr>
            <a:r>
              <a:rPr lang="hy-AM" sz="1900" i="1" dirty="0" smtClean="0"/>
              <a:t>1</a:t>
            </a:r>
            <a:r>
              <a:rPr lang="en-US" sz="1900" i="1" dirty="0" smtClean="0"/>
              <a:t>1</a:t>
            </a:r>
            <a:r>
              <a:rPr lang="hy-AM" sz="1900" i="1" dirty="0" smtClean="0"/>
              <a:t>-րդ դասարանների նվազման պատճառը</a:t>
            </a:r>
            <a:r>
              <a:rPr lang="en-US" sz="1900" i="1" dirty="0" smtClean="0"/>
              <a:t> </a:t>
            </a:r>
            <a:r>
              <a:rPr lang="hy-AM" sz="1900" i="1" dirty="0" smtClean="0"/>
              <a:t>2-րդ մասնաշենքի վերանորոգման բացակայությունն է  և, դրանով պայմանավորված,  դասասենյակների պակասությունը</a:t>
            </a:r>
            <a:endParaRPr lang="en-US" dirty="0"/>
          </a:p>
          <a:p>
            <a:pPr marL="342900" indent="-342900" algn="just">
              <a:lnSpc>
                <a:spcPct val="150000"/>
              </a:lnSpc>
              <a:spcBef>
                <a:spcPts val="0"/>
              </a:spcBef>
              <a:buFont typeface="Wingdings" pitchFamily="2" charset="2"/>
              <a:buChar char="v"/>
            </a:pPr>
            <a:endParaRPr lang="ru-RU" sz="1900" i="1" dirty="0"/>
          </a:p>
        </p:txBody>
      </p:sp>
    </p:spTree>
    <p:extLst>
      <p:ext uri="{BB962C8B-B14F-4D97-AF65-F5344CB8AC3E}">
        <p14:creationId xmlns:p14="http://schemas.microsoft.com/office/powerpoint/2010/main" val="3223605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stretch>
            <a:fillRect/>
          </a:stretch>
        </p:blipFill>
        <p:spPr>
          <a:xfrm>
            <a:off x="1669529" y="567662"/>
            <a:ext cx="9230206" cy="765789"/>
          </a:xfrm>
          <a:prstGeom prst="rect">
            <a:avLst/>
          </a:prstGeom>
        </p:spPr>
      </p:pic>
      <p:graphicFrame>
        <p:nvGraphicFramePr>
          <p:cNvPr id="4" name="Table 3"/>
          <p:cNvGraphicFramePr/>
          <p:nvPr>
            <p:extLst>
              <p:ext uri="{D42A27DB-BD31-4B8C-83A1-F6EECF244321}">
                <p14:modId xmlns:p14="http://schemas.microsoft.com/office/powerpoint/2010/main" val="3945875694"/>
              </p:ext>
            </p:extLst>
          </p:nvPr>
        </p:nvGraphicFramePr>
        <p:xfrm>
          <a:off x="1167236" y="1596578"/>
          <a:ext cx="9988102" cy="4569650"/>
        </p:xfrm>
        <a:graphic>
          <a:graphicData uri="http://schemas.openxmlformats.org/drawingml/2006/table">
            <a:tbl>
              <a:tblPr>
                <a:tableStyleId>{5940675A-B579-460E-94D1-54222C63F5DA}</a:tableStyleId>
              </a:tblPr>
              <a:tblGrid>
                <a:gridCol w="2307663">
                  <a:extLst>
                    <a:ext uri="{9D8B030D-6E8A-4147-A177-3AD203B41FA5}">
                      <a16:colId xmlns:a16="http://schemas.microsoft.com/office/drawing/2014/main" val="3851692570"/>
                    </a:ext>
                  </a:extLst>
                </a:gridCol>
                <a:gridCol w="1554141">
                  <a:extLst>
                    <a:ext uri="{9D8B030D-6E8A-4147-A177-3AD203B41FA5}">
                      <a16:colId xmlns:a16="http://schemas.microsoft.com/office/drawing/2014/main" val="442424418"/>
                    </a:ext>
                  </a:extLst>
                </a:gridCol>
                <a:gridCol w="1538442">
                  <a:extLst>
                    <a:ext uri="{9D8B030D-6E8A-4147-A177-3AD203B41FA5}">
                      <a16:colId xmlns:a16="http://schemas.microsoft.com/office/drawing/2014/main" val="1428800498"/>
                    </a:ext>
                  </a:extLst>
                </a:gridCol>
                <a:gridCol w="1636558">
                  <a:extLst>
                    <a:ext uri="{9D8B030D-6E8A-4147-A177-3AD203B41FA5}">
                      <a16:colId xmlns:a16="http://schemas.microsoft.com/office/drawing/2014/main" val="1546766097"/>
                    </a:ext>
                  </a:extLst>
                </a:gridCol>
                <a:gridCol w="2951298">
                  <a:extLst>
                    <a:ext uri="{9D8B030D-6E8A-4147-A177-3AD203B41FA5}">
                      <a16:colId xmlns:a16="http://schemas.microsoft.com/office/drawing/2014/main" val="2365187059"/>
                    </a:ext>
                  </a:extLst>
                </a:gridCol>
              </a:tblGrid>
              <a:tr h="1928557">
                <a:tc>
                  <a:txBody>
                    <a:bodyPr/>
                    <a:lstStyle/>
                    <a:p>
                      <a:pPr marL="0" marR="0" algn="ctr" rtl="0" latinLnBrk="0">
                        <a:lnSpc>
                          <a:spcPct val="150000"/>
                        </a:lnSpc>
                        <a:spcBef>
                          <a:spcPts val="0"/>
                        </a:spcBef>
                        <a:spcAft>
                          <a:spcPts val="0"/>
                        </a:spcAft>
                      </a:pPr>
                      <a:r>
                        <a:rPr lang="hy-AM" sz="1600" dirty="0">
                          <a:effectLst/>
                        </a:rPr>
                        <a:t>Սովորողների թիվը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2-202</a:t>
                      </a:r>
                      <a:r>
                        <a:rPr lang="hy-AM" sz="1600" dirty="0">
                          <a:effectLst/>
                        </a:rPr>
                        <a:t>3</a:t>
                      </a:r>
                      <a:r>
                        <a:rPr lang="en-US" sz="1600" dirty="0" smtClean="0">
                          <a:effectLst/>
                        </a:rPr>
                        <a:t> </a:t>
                      </a:r>
                      <a:r>
                        <a:rPr lang="hy-AM" sz="1600" dirty="0">
                          <a:effectLst/>
                        </a:rPr>
                        <a:t>ուստարի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3-202</a:t>
                      </a:r>
                      <a:r>
                        <a:rPr lang="hy-AM" sz="1600" dirty="0">
                          <a:effectLst/>
                        </a:rPr>
                        <a:t>4</a:t>
                      </a:r>
                      <a:r>
                        <a:rPr lang="en-US" sz="1600" dirty="0" smtClean="0">
                          <a:effectLst/>
                        </a:rPr>
                        <a:t> </a:t>
                      </a:r>
                      <a:r>
                        <a:rPr lang="hy-AM" sz="1600" dirty="0">
                          <a:effectLst/>
                        </a:rPr>
                        <a:t>ուստարի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dirty="0" smtClean="0">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hy-AM" sz="1800" dirty="0" smtClean="0">
                          <a:effectLst/>
                        </a:rPr>
                        <a:t>20</a:t>
                      </a:r>
                      <a:r>
                        <a:rPr lang="ru-RU" sz="1800" dirty="0" smtClean="0">
                          <a:effectLst/>
                        </a:rPr>
                        <a:t>2</a:t>
                      </a:r>
                      <a:r>
                        <a:rPr lang="en-US" sz="1800" dirty="0" smtClean="0">
                          <a:effectLst/>
                        </a:rPr>
                        <a:t>4</a:t>
                      </a:r>
                      <a:r>
                        <a:rPr lang="hy-AM" sz="1800" dirty="0" smtClean="0">
                          <a:effectLst/>
                        </a:rPr>
                        <a:t>-202</a:t>
                      </a:r>
                      <a:r>
                        <a:rPr lang="en-US" sz="1800" dirty="0" smtClean="0">
                          <a:effectLst/>
                        </a:rPr>
                        <a:t>5 </a:t>
                      </a:r>
                      <a:r>
                        <a:rPr lang="hy-AM" sz="1800" dirty="0" smtClean="0">
                          <a:effectLst/>
                        </a:rPr>
                        <a:t>ուստարի </a:t>
                      </a:r>
                      <a:endParaRPr lang="hy-AM" dirty="0" smtClean="0">
                        <a:effectLst/>
                      </a:endParaRPr>
                    </a:p>
                    <a:p>
                      <a:endParaRPr lang="ru-RU" dirty="0"/>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Փոփոխությունների դինամիկան (աճ կամ նվազում)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796287"/>
                  </a:ext>
                </a:extLst>
              </a:tr>
              <a:tr h="640265">
                <a:tc>
                  <a:txBody>
                    <a:bodyPr/>
                    <a:lstStyle/>
                    <a:p>
                      <a:pPr marL="0" marR="0" algn="ctr" rtl="0" latinLnBrk="0">
                        <a:spcBef>
                          <a:spcPts val="0"/>
                        </a:spcBef>
                        <a:spcAft>
                          <a:spcPts val="0"/>
                        </a:spcAft>
                      </a:pPr>
                      <a:r>
                        <a:rPr lang="hy-AM" sz="1600">
                          <a:effectLst/>
                        </a:rPr>
                        <a:t>10-րդ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189</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dirty="0" smtClean="0">
                          <a:latin typeface="Sylfaen"/>
                        </a:rPr>
                        <a:t>1</a:t>
                      </a:r>
                      <a:r>
                        <a:rPr lang="hy-AM" sz="1600" dirty="0" smtClean="0">
                          <a:latin typeface="Sylfaen"/>
                        </a:rPr>
                        <a:t>01</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latin typeface="Sylfaen" panose="010A0502050306030303" pitchFamily="18" charset="0"/>
                        </a:rPr>
                        <a:t> 134</a:t>
                      </a:r>
                      <a:endParaRPr lang="ru-RU" dirty="0">
                        <a:latin typeface="Sylfaen" panose="010A0502050306030303" pitchFamily="18" charset="0"/>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en-US" sz="1600" err="1">
                          <a:effectLst/>
                        </a:rPr>
                        <a:t>աճ</a:t>
                      </a:r>
                      <a:endParaRPr lang="en-US" sz="160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557268"/>
                  </a:ext>
                </a:extLst>
              </a:tr>
              <a:tr h="720298">
                <a:tc>
                  <a:txBody>
                    <a:bodyPr/>
                    <a:lstStyle/>
                    <a:p>
                      <a:pPr marL="0" marR="0" algn="ctr" rtl="0" latinLnBrk="0">
                        <a:spcBef>
                          <a:spcPts val="0"/>
                        </a:spcBef>
                        <a:spcAft>
                          <a:spcPts val="0"/>
                        </a:spcAft>
                      </a:pPr>
                      <a:r>
                        <a:rPr lang="hy-AM" sz="1600">
                          <a:effectLst/>
                        </a:rPr>
                        <a:t>11-րդ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133</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dirty="0" smtClean="0">
                          <a:latin typeface="Sylfaen"/>
                        </a:rPr>
                        <a:t>1</a:t>
                      </a:r>
                      <a:r>
                        <a:rPr lang="hy-AM" sz="1600" dirty="0" smtClean="0">
                          <a:latin typeface="Sylfaen"/>
                        </a:rPr>
                        <a:t>88</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latin typeface="Sylfaen" panose="010A0502050306030303" pitchFamily="18" charset="0"/>
                        </a:rPr>
                        <a:t>103</a:t>
                      </a:r>
                      <a:endParaRPr lang="ru-RU" dirty="0">
                        <a:latin typeface="Sylfaen" panose="010A0502050306030303" pitchFamily="18" charset="0"/>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rtl="0" eaLnBrk="1" fontAlgn="auto" latinLnBrk="0" hangingPunct="1">
                        <a:lnSpc>
                          <a:spcPct val="150000"/>
                        </a:lnSpc>
                        <a:spcBef>
                          <a:spcPts val="0"/>
                        </a:spcBef>
                        <a:spcAft>
                          <a:spcPts val="0"/>
                        </a:spcAft>
                        <a:buFontTx/>
                        <a:buNone/>
                      </a:pPr>
                      <a:r>
                        <a:rPr lang="en-US" sz="1600" dirty="0" err="1" smtClean="0">
                          <a:effectLst/>
                        </a:rPr>
                        <a:t>նվազում</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335662"/>
                  </a:ext>
                </a:extLst>
              </a:tr>
              <a:tr h="640265">
                <a:tc>
                  <a:txBody>
                    <a:bodyPr/>
                    <a:lstStyle/>
                    <a:p>
                      <a:pPr marL="0" marR="0" algn="ctr" rtl="0" latinLnBrk="0">
                        <a:spcBef>
                          <a:spcPts val="0"/>
                        </a:spcBef>
                        <a:spcAft>
                          <a:spcPts val="0"/>
                        </a:spcAft>
                      </a:pPr>
                      <a:r>
                        <a:rPr lang="hy-AM" sz="1600">
                          <a:effectLst/>
                        </a:rPr>
                        <a:t>12-րդ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80</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135</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latin typeface="Sylfaen" panose="010A0502050306030303" pitchFamily="18" charset="0"/>
                        </a:rPr>
                        <a:t>190</a:t>
                      </a:r>
                      <a:endParaRPr lang="ru-RU" dirty="0">
                        <a:latin typeface="Sylfaen" panose="010A0502050306030303" pitchFamily="18" charset="0"/>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600" dirty="0" err="1">
                          <a:effectLst/>
                        </a:rPr>
                        <a:t>աճ</a:t>
                      </a:r>
                      <a:endParaRPr lang="en-US" sz="1600"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403195"/>
                  </a:ext>
                </a:extLst>
              </a:tr>
              <a:tr h="640265">
                <a:tc>
                  <a:txBody>
                    <a:bodyPr/>
                    <a:lstStyle/>
                    <a:p>
                      <a:pPr marL="0" marR="0" algn="ctr" rtl="0" latinLnBrk="0">
                        <a:lnSpc>
                          <a:spcPct val="150000"/>
                        </a:lnSpc>
                        <a:spcBef>
                          <a:spcPts val="0"/>
                        </a:spcBef>
                        <a:spcAft>
                          <a:spcPts val="0"/>
                        </a:spcAft>
                      </a:pPr>
                      <a:r>
                        <a:rPr lang="hy-AM" sz="1600">
                          <a:effectLst/>
                        </a:rPr>
                        <a:t>Ընդամենը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402</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dirty="0" smtClean="0">
                          <a:latin typeface="Sylfaen"/>
                        </a:rPr>
                        <a:t>4</a:t>
                      </a:r>
                      <a:r>
                        <a:rPr lang="hy-AM" sz="1600" dirty="0" smtClean="0">
                          <a:latin typeface="Sylfaen"/>
                        </a:rPr>
                        <a:t>24</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latin typeface="Sylfaen" panose="010A0502050306030303" pitchFamily="18" charset="0"/>
                        </a:rPr>
                        <a:t>427</a:t>
                      </a:r>
                      <a:endParaRPr lang="ru-RU" dirty="0">
                        <a:latin typeface="Sylfaen" panose="010A0502050306030303" pitchFamily="18" charset="0"/>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600" dirty="0" err="1" smtClean="0">
                          <a:effectLst/>
                        </a:rPr>
                        <a:t>աճ</a:t>
                      </a:r>
                      <a:endParaRPr lang="en-US" sz="1600"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74331"/>
                  </a:ext>
                </a:extLst>
              </a:tr>
            </a:tbl>
          </a:graphicData>
        </a:graphic>
      </p:graphicFrame>
    </p:spTree>
    <p:extLst>
      <p:ext uri="{BB962C8B-B14F-4D97-AF65-F5344CB8AC3E}">
        <p14:creationId xmlns:p14="http://schemas.microsoft.com/office/powerpoint/2010/main" val="99971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59554" y="316955"/>
            <a:ext cx="8572575" cy="1178662"/>
          </a:xfrm>
          <a:prstGeom prst="rect">
            <a:avLst/>
          </a:prstGeom>
        </p:spPr>
      </p:pic>
      <p:sp>
        <p:nvSpPr>
          <p:cNvPr id="4" name="TextBox 3"/>
          <p:cNvSpPr txBox="1"/>
          <p:nvPr/>
        </p:nvSpPr>
        <p:spPr>
          <a:xfrm>
            <a:off x="659375" y="1721614"/>
            <a:ext cx="9511862" cy="2431435"/>
          </a:xfrm>
          <a:prstGeom prst="rect">
            <a:avLst/>
          </a:prstGeom>
          <a:noFill/>
        </p:spPr>
        <p:txBody>
          <a:bodyPr wrap="square" lIns="91440" tIns="45720" rIns="91440" bIns="45720" rtlCol="0" anchor="t">
            <a:spAutoFit/>
          </a:bodyPr>
          <a:lstStyle/>
          <a:p>
            <a:pPr>
              <a:buClr>
                <a:schemeClr val="accent3"/>
              </a:buClr>
              <a:defRPr/>
            </a:pPr>
            <a:r>
              <a:rPr lang="hy-AM" sz="2400" i="1" dirty="0">
                <a:solidFill>
                  <a:srgbClr val="000000"/>
                </a:solidFill>
                <a:latin typeface="Sylfaen"/>
              </a:rPr>
              <a:t>Ըստ դասար</a:t>
            </a:r>
            <a:r>
              <a:rPr lang="en-US" sz="2000" i="1" dirty="0">
                <a:ea typeface="+mn-lt"/>
                <a:cs typeface="+mn-lt"/>
              </a:rPr>
              <a:t>ա</a:t>
            </a:r>
            <a:r>
              <a:rPr lang="hy-AM" sz="2400" i="1" dirty="0">
                <a:solidFill>
                  <a:srgbClr val="000000"/>
                </a:solidFill>
                <a:latin typeface="Sylfaen"/>
              </a:rPr>
              <a:t>նների՝ սովորողների թվի փոփոխության պատճառները </a:t>
            </a:r>
            <a:r>
              <a:rPr lang="en-US" sz="2400" i="1" dirty="0" err="1">
                <a:solidFill>
                  <a:srgbClr val="000000"/>
                </a:solidFill>
                <a:latin typeface="Sylfaen"/>
              </a:rPr>
              <a:t>պայմանավորված</a:t>
            </a:r>
            <a:r>
              <a:rPr lang="en-US" sz="2400" i="1" dirty="0">
                <a:solidFill>
                  <a:srgbClr val="000000"/>
                </a:solidFill>
                <a:latin typeface="Sylfaen"/>
              </a:rPr>
              <a:t> </a:t>
            </a:r>
            <a:r>
              <a:rPr lang="hy-AM" sz="2400" i="1" dirty="0">
                <a:solidFill>
                  <a:srgbClr val="000000"/>
                </a:solidFill>
                <a:latin typeface="Sylfaen"/>
              </a:rPr>
              <a:t> են</a:t>
            </a:r>
            <a:r>
              <a:rPr lang="en-US" sz="2400" i="1" dirty="0">
                <a:solidFill>
                  <a:srgbClr val="000000"/>
                </a:solidFill>
                <a:latin typeface="Sylfaen"/>
              </a:rPr>
              <a:t>.</a:t>
            </a:r>
            <a:r>
              <a:rPr lang="hy-AM" sz="2400" i="1" dirty="0">
                <a:solidFill>
                  <a:srgbClr val="000000"/>
                </a:solidFill>
                <a:latin typeface="Sylfaen"/>
              </a:rPr>
              <a:t> </a:t>
            </a:r>
            <a:endParaRPr lang="en-US" sz="2400" i="1" dirty="0">
              <a:solidFill>
                <a:srgbClr val="000000"/>
              </a:solidFill>
              <a:latin typeface="Sylfaen" charset="0"/>
            </a:endParaRPr>
          </a:p>
          <a:p>
            <a:pPr>
              <a:defRPr/>
            </a:pPr>
            <a:endParaRPr lang="hy-AM" sz="1900" i="1" dirty="0">
              <a:solidFill>
                <a:srgbClr val="000000"/>
              </a:solidFill>
              <a:latin typeface="Sylfaen"/>
            </a:endParaRPr>
          </a:p>
          <a:p>
            <a:pPr>
              <a:buFont typeface="Wingdings"/>
              <a:defRPr/>
            </a:pPr>
            <a:r>
              <a:rPr lang="en-US" sz="1900" dirty="0" err="1">
                <a:solidFill>
                  <a:srgbClr val="000000"/>
                </a:solidFill>
                <a:latin typeface="Sylfaen"/>
              </a:rPr>
              <a:t>Դպրոցի</a:t>
            </a:r>
            <a:r>
              <a:rPr lang="en-US" sz="1900" dirty="0">
                <a:solidFill>
                  <a:srgbClr val="000000"/>
                </a:solidFill>
                <a:latin typeface="Sylfaen"/>
              </a:rPr>
              <a:t> </a:t>
            </a:r>
            <a:r>
              <a:rPr lang="hy-AM" sz="1900" dirty="0" smtClean="0">
                <a:solidFill>
                  <a:srgbClr val="000000"/>
                </a:solidFill>
                <a:latin typeface="Sylfaen"/>
              </a:rPr>
              <a:t>միայն մեկ մասնաշենքի </a:t>
            </a:r>
            <a:r>
              <a:rPr lang="en-US" sz="1900" dirty="0" err="1" smtClean="0">
                <a:solidFill>
                  <a:srgbClr val="000000"/>
                </a:solidFill>
                <a:latin typeface="Sylfaen"/>
              </a:rPr>
              <a:t>հիմնանորոգմամբ</a:t>
            </a:r>
            <a:r>
              <a:rPr lang="en-US" sz="1900" dirty="0" smtClean="0">
                <a:solidFill>
                  <a:srgbClr val="000000"/>
                </a:solidFill>
                <a:latin typeface="Sylfaen"/>
              </a:rPr>
              <a:t>:</a:t>
            </a:r>
            <a:endParaRPr lang="en-US" sz="1900" dirty="0">
              <a:solidFill>
                <a:srgbClr val="000000"/>
              </a:solidFill>
              <a:latin typeface="Sylfaen" charset="0"/>
            </a:endParaRPr>
          </a:p>
          <a:p>
            <a:pPr marL="274320" indent="-274320" fontAlgn="auto">
              <a:spcAft>
                <a:spcPts val="0"/>
              </a:spcAft>
              <a:buClr>
                <a:schemeClr val="accent3"/>
              </a:buClr>
              <a:buFont typeface="Wingdings 2"/>
              <a:buChar char=""/>
              <a:defRPr/>
            </a:pPr>
            <a:endParaRPr lang="en-US" sz="2400" i="1" dirty="0">
              <a:solidFill>
                <a:srgbClr val="000000"/>
              </a:solidFill>
              <a:latin typeface="Sylfaen" charset="0"/>
            </a:endParaRPr>
          </a:p>
          <a:p>
            <a:pPr marL="274320" indent="-274320" fontAlgn="auto">
              <a:spcAft>
                <a:spcPts val="0"/>
              </a:spcAft>
              <a:buClr>
                <a:schemeClr val="accent3"/>
              </a:buClr>
              <a:buFont typeface="Wingdings 2"/>
              <a:buChar char=""/>
              <a:defRPr/>
            </a:pPr>
            <a:endParaRPr lang="en-US" sz="2400" i="1" dirty="0">
              <a:solidFill>
                <a:srgbClr val="000000"/>
              </a:solidFill>
              <a:latin typeface="Sylfaen" charset="0"/>
            </a:endParaRPr>
          </a:p>
          <a:p>
            <a:endParaRPr lang="en-US" dirty="0"/>
          </a:p>
        </p:txBody>
      </p:sp>
      <p:sp>
        <p:nvSpPr>
          <p:cNvPr id="3" name="Text Placeholder 2">
            <a:extLst>
              <a:ext uri="{FF2B5EF4-FFF2-40B4-BE49-F238E27FC236}">
                <a16:creationId xmlns:a16="http://schemas.microsoft.com/office/drawing/2014/main" id="{C364DDD1-45C7-4324-8C4B-0130673CF5B7}"/>
              </a:ext>
            </a:extLst>
          </p:cNvPr>
          <p:cNvSpPr txBox="1">
            <a:spLocks/>
          </p:cNvSpPr>
          <p:nvPr/>
        </p:nvSpPr>
        <p:spPr>
          <a:xfrm>
            <a:off x="593970" y="3088180"/>
            <a:ext cx="9053848" cy="2863805"/>
          </a:xfrm>
          <a:prstGeom prst="rect">
            <a:avLst/>
          </a:prstGeom>
        </p:spPr>
        <p:txBody>
          <a:bodyPr lIns="91440" tIns="45720" rIns="91440" bIns="4572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spcBef>
                <a:spcPts val="0"/>
              </a:spcBef>
              <a:buFont typeface="Wingdings" pitchFamily="2" charset="2"/>
              <a:buChar char="v"/>
            </a:pPr>
            <a:endParaRPr lang="en-US" sz="1900" i="1">
              <a:latin typeface="Sylfaen"/>
            </a:endParaRPr>
          </a:p>
        </p:txBody>
      </p:sp>
    </p:spTree>
    <p:extLst>
      <p:ext uri="{BB962C8B-B14F-4D97-AF65-F5344CB8AC3E}">
        <p14:creationId xmlns:p14="http://schemas.microsoft.com/office/powerpoint/2010/main" val="363548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56865" y="537500"/>
            <a:ext cx="9448800" cy="693566"/>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1147817332"/>
              </p:ext>
            </p:extLst>
          </p:nvPr>
        </p:nvGraphicFramePr>
        <p:xfrm>
          <a:off x="1070637" y="1536730"/>
          <a:ext cx="7227745" cy="4979797"/>
        </p:xfrm>
        <a:graphic>
          <a:graphicData uri="http://schemas.openxmlformats.org/drawingml/2006/table">
            <a:tbl>
              <a:tblPr>
                <a:tableStyleId>{5940675A-B579-460E-94D1-54222C63F5DA}</a:tableStyleId>
              </a:tblPr>
              <a:tblGrid>
                <a:gridCol w="3401290">
                  <a:extLst>
                    <a:ext uri="{9D8B030D-6E8A-4147-A177-3AD203B41FA5}">
                      <a16:colId xmlns:a16="http://schemas.microsoft.com/office/drawing/2014/main" val="2012464783"/>
                    </a:ext>
                  </a:extLst>
                </a:gridCol>
                <a:gridCol w="1275485">
                  <a:extLst>
                    <a:ext uri="{9D8B030D-6E8A-4147-A177-3AD203B41FA5}">
                      <a16:colId xmlns:a16="http://schemas.microsoft.com/office/drawing/2014/main" val="171689161"/>
                    </a:ext>
                  </a:extLst>
                </a:gridCol>
                <a:gridCol w="1275485">
                  <a:extLst>
                    <a:ext uri="{9D8B030D-6E8A-4147-A177-3AD203B41FA5}">
                      <a16:colId xmlns:a16="http://schemas.microsoft.com/office/drawing/2014/main" val="4159559128"/>
                    </a:ext>
                  </a:extLst>
                </a:gridCol>
                <a:gridCol w="1275485">
                  <a:extLst>
                    <a:ext uri="{9D8B030D-6E8A-4147-A177-3AD203B41FA5}">
                      <a16:colId xmlns:a16="http://schemas.microsoft.com/office/drawing/2014/main" val="4255548676"/>
                    </a:ext>
                  </a:extLst>
                </a:gridCol>
              </a:tblGrid>
              <a:tr h="1261999">
                <a:tc>
                  <a:txBody>
                    <a:bodyPr/>
                    <a:lstStyle/>
                    <a:p>
                      <a:pPr marL="0" marR="0" algn="ctr" rtl="0" latinLnBrk="0">
                        <a:lnSpc>
                          <a:spcPct val="150000"/>
                        </a:lnSpc>
                        <a:spcBef>
                          <a:spcPts val="0"/>
                        </a:spcBef>
                        <a:spcAft>
                          <a:spcPts val="0"/>
                        </a:spcAft>
                      </a:pPr>
                      <a:r>
                        <a:rPr lang="hy-AM" sz="1400" dirty="0">
                          <a:effectLst/>
                        </a:rPr>
                        <a:t>Ցուցանիշը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smtClean="0">
                          <a:effectLst/>
                        </a:rPr>
                        <a:t>2</a:t>
                      </a:r>
                      <a:r>
                        <a:rPr lang="hy-AM" sz="1400" dirty="0" smtClean="0">
                          <a:effectLst/>
                        </a:rPr>
                        <a:t>2-202</a:t>
                      </a:r>
                      <a:r>
                        <a:rPr lang="hy-AM" sz="1400" dirty="0">
                          <a:effectLst/>
                        </a:rPr>
                        <a:t>3 </a:t>
                      </a:r>
                      <a:endParaRPr lang="hy-AM" dirty="0">
                        <a:effectLst/>
                      </a:endParaRPr>
                    </a:p>
                    <a:p>
                      <a:pPr marL="0" marR="0" algn="ctr" rtl="0" latinLnBrk="0">
                        <a:lnSpc>
                          <a:spcPct val="150000"/>
                        </a:lnSpc>
                        <a:spcBef>
                          <a:spcPts val="0"/>
                        </a:spcBef>
                        <a:spcAft>
                          <a:spcPts val="0"/>
                        </a:spcAft>
                      </a:pPr>
                      <a:r>
                        <a:rPr lang="hy-AM" sz="14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smtClean="0">
                          <a:effectLst/>
                        </a:rPr>
                        <a:t>2</a:t>
                      </a:r>
                      <a:r>
                        <a:rPr lang="hy-AM" sz="1400" dirty="0" smtClean="0">
                          <a:effectLst/>
                        </a:rPr>
                        <a:t>3-202</a:t>
                      </a:r>
                      <a:r>
                        <a:rPr lang="hy-AM" sz="1400" dirty="0">
                          <a:effectLst/>
                        </a:rPr>
                        <a:t>4</a:t>
                      </a:r>
                      <a:endParaRPr lang="hy-AM" dirty="0">
                        <a:effectLst/>
                      </a:endParaRPr>
                    </a:p>
                    <a:p>
                      <a:pPr marL="0" marR="0" algn="ctr" rtl="0" latinLnBrk="0">
                        <a:lnSpc>
                          <a:spcPct val="150000"/>
                        </a:lnSpc>
                        <a:spcBef>
                          <a:spcPts val="0"/>
                        </a:spcBef>
                        <a:spcAft>
                          <a:spcPts val="0"/>
                        </a:spcAft>
                      </a:pPr>
                      <a:r>
                        <a:rPr lang="hy-AM" sz="14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smtClean="0">
                          <a:effectLst/>
                        </a:rPr>
                        <a:t>2</a:t>
                      </a:r>
                      <a:r>
                        <a:rPr lang="en-US" sz="1400" dirty="0" smtClean="0">
                          <a:effectLst/>
                        </a:rPr>
                        <a:t>4</a:t>
                      </a:r>
                      <a:r>
                        <a:rPr lang="hy-AM" sz="1400" dirty="0" smtClean="0">
                          <a:effectLst/>
                        </a:rPr>
                        <a:t>-202</a:t>
                      </a:r>
                      <a:r>
                        <a:rPr lang="en-US" sz="1400" dirty="0" smtClean="0">
                          <a:effectLst/>
                        </a:rPr>
                        <a:t>5</a:t>
                      </a:r>
                      <a:endParaRPr lang="hy-AM" dirty="0">
                        <a:effectLst/>
                      </a:endParaRPr>
                    </a:p>
                    <a:p>
                      <a:pPr marL="0" marR="0" algn="ctr" rtl="0" latinLnBrk="0">
                        <a:lnSpc>
                          <a:spcPct val="150000"/>
                        </a:lnSpc>
                        <a:spcBef>
                          <a:spcPts val="0"/>
                        </a:spcBef>
                        <a:spcAft>
                          <a:spcPts val="0"/>
                        </a:spcAft>
                      </a:pPr>
                      <a:r>
                        <a:rPr lang="hy-AM" sz="1400" dirty="0">
                          <a:effectLst/>
                        </a:rPr>
                        <a:t>ուստարի </a:t>
                      </a:r>
                      <a:endParaRPr lang="hy-AM" dirty="0">
                        <a:effectLst/>
                      </a:endParaRPr>
                    </a:p>
                  </a:txBody>
                  <a:tcPr marL="0" marR="0" marT="0" marB="0" anchor="ctr"/>
                </a:tc>
                <a:extLst>
                  <a:ext uri="{0D108BD9-81ED-4DB2-BD59-A6C34878D82A}">
                    <a16:rowId xmlns:a16="http://schemas.microsoft.com/office/drawing/2014/main" val="1437873059"/>
                  </a:ext>
                </a:extLst>
              </a:tr>
              <a:tr h="1062228">
                <a:tc>
                  <a:txBody>
                    <a:bodyPr/>
                    <a:lstStyle/>
                    <a:p>
                      <a:pPr marL="0" marR="0" algn="ctr" rtl="0" latinLnBrk="0">
                        <a:lnSpc>
                          <a:spcPct val="150000"/>
                        </a:lnSpc>
                        <a:spcBef>
                          <a:spcPts val="0"/>
                        </a:spcBef>
                        <a:spcAft>
                          <a:spcPts val="0"/>
                        </a:spcAft>
                      </a:pPr>
                      <a:r>
                        <a:rPr lang="hy-AM" sz="1400" dirty="0">
                          <a:effectLst/>
                        </a:rPr>
                        <a:t>Սովորողների ընդհանուր թիվը ուսումնական տարվա սկզբին` տվյալ ուստարվա սեպտեմբերի 1-ի դրությամբ </a:t>
                      </a:r>
                      <a:endParaRPr lang="hy-AM" dirty="0">
                        <a:effectLst/>
                      </a:endParaRPr>
                    </a:p>
                  </a:txBody>
                  <a:tcPr marL="0" marR="0" marT="0" marB="0" anchor="ctr"/>
                </a:tc>
                <a:tc>
                  <a:txBody>
                    <a:bodyPr/>
                    <a:lstStyle/>
                    <a:p>
                      <a:pPr algn="ctr"/>
                      <a:r>
                        <a:rPr lang="hy-AM" sz="1200" dirty="0" smtClean="0">
                          <a:latin typeface="Sylfaen"/>
                        </a:rPr>
                        <a:t>402</a:t>
                      </a:r>
                      <a:endParaRPr lang="en-US" sz="1200" dirty="0">
                        <a:latin typeface="Sylfaen"/>
                      </a:endParaRPr>
                    </a:p>
                  </a:txBody>
                  <a:tcPr marL="0" marR="0" marT="0" marB="0" anchor="ctr"/>
                </a:tc>
                <a:tc>
                  <a:txBody>
                    <a:bodyPr/>
                    <a:lstStyle/>
                    <a:p>
                      <a:pPr algn="ctr"/>
                      <a:r>
                        <a:rPr lang="hy-AM" sz="1200" dirty="0" smtClean="0">
                          <a:latin typeface="Sylfaen"/>
                        </a:rPr>
                        <a:t>416</a:t>
                      </a:r>
                      <a:endParaRPr lang="en-US" sz="1200" dirty="0">
                        <a:latin typeface="Sylfaen"/>
                      </a:endParaRPr>
                    </a:p>
                  </a:txBody>
                  <a:tcPr marL="0" marR="0" marT="0" marB="0" anchor="ctr"/>
                </a:tc>
                <a:tc>
                  <a:txBody>
                    <a:bodyPr/>
                    <a:lstStyle/>
                    <a:p>
                      <a:pPr algn="ctr"/>
                      <a:r>
                        <a:rPr lang="en-US" sz="1200" dirty="0" smtClean="0">
                          <a:latin typeface="Sylfaen"/>
                        </a:rPr>
                        <a:t>427</a:t>
                      </a:r>
                      <a:endParaRPr lang="en-US" sz="1200" dirty="0">
                        <a:latin typeface="Sylfaen"/>
                      </a:endParaRPr>
                    </a:p>
                  </a:txBody>
                  <a:tcPr marL="0" marR="0" marT="0" marB="0" anchor="ctr"/>
                </a:tc>
                <a:extLst>
                  <a:ext uri="{0D108BD9-81ED-4DB2-BD59-A6C34878D82A}">
                    <a16:rowId xmlns:a16="http://schemas.microsoft.com/office/drawing/2014/main" val="2110119743"/>
                  </a:ext>
                </a:extLst>
              </a:tr>
              <a:tr h="1062228">
                <a:tc>
                  <a:txBody>
                    <a:bodyPr/>
                    <a:lstStyle/>
                    <a:p>
                      <a:pPr marL="0" marR="0" algn="ctr" rtl="0" latinLnBrk="0">
                        <a:lnSpc>
                          <a:spcPct val="150000"/>
                        </a:lnSpc>
                        <a:spcBef>
                          <a:spcPts val="0"/>
                        </a:spcBef>
                        <a:spcAft>
                          <a:spcPts val="0"/>
                        </a:spcAft>
                      </a:pPr>
                      <a:r>
                        <a:rPr lang="hy-AM" sz="1400">
                          <a:effectLst/>
                        </a:rPr>
                        <a:t>Սովորողների ընդհանուր թիվը ուսումնական տարվա վերջին` տվյալ ուստարվա </a:t>
                      </a:r>
                      <a:r>
                        <a:rPr lang="ru-RU" sz="1400">
                          <a:effectLst/>
                        </a:rPr>
                        <a:t>հունիսի</a:t>
                      </a:r>
                      <a:r>
                        <a:rPr lang="hy-AM" sz="1400">
                          <a:effectLst/>
                        </a:rPr>
                        <a:t> </a:t>
                      </a:r>
                      <a:r>
                        <a:rPr lang="ru-RU" sz="1400">
                          <a:effectLst/>
                        </a:rPr>
                        <a:t>3</a:t>
                      </a:r>
                      <a:r>
                        <a:rPr lang="hy-AM" sz="1400">
                          <a:effectLst/>
                        </a:rPr>
                        <a:t>-ի դրությամբ </a:t>
                      </a:r>
                      <a:endParaRPr lang="hy-AM">
                        <a:effectLst/>
                      </a:endParaRPr>
                    </a:p>
                  </a:txBody>
                  <a:tcPr marL="0" marR="0" marT="0" marB="0" anchor="ctr"/>
                </a:tc>
                <a:tc>
                  <a:txBody>
                    <a:bodyPr/>
                    <a:lstStyle/>
                    <a:p>
                      <a:pPr algn="ctr"/>
                      <a:r>
                        <a:rPr lang="hy-AM" sz="1200" dirty="0" smtClean="0">
                          <a:latin typeface="Sylfaen"/>
                        </a:rPr>
                        <a:t>402</a:t>
                      </a:r>
                      <a:endParaRPr lang="en-US" sz="1200" dirty="0">
                        <a:latin typeface="Sylfaen"/>
                      </a:endParaRPr>
                    </a:p>
                  </a:txBody>
                  <a:tcPr marL="0" marR="0" marT="0" marB="0" anchor="ctr"/>
                </a:tc>
                <a:tc>
                  <a:txBody>
                    <a:bodyPr/>
                    <a:lstStyle/>
                    <a:p>
                      <a:pPr algn="ctr"/>
                      <a:r>
                        <a:rPr lang="hy-AM" sz="1200" dirty="0" smtClean="0">
                          <a:latin typeface="Sylfaen"/>
                        </a:rPr>
                        <a:t>424</a:t>
                      </a:r>
                      <a:endParaRPr lang="en-US" sz="1200" dirty="0">
                        <a:latin typeface="Sylfaen"/>
                      </a:endParaRPr>
                    </a:p>
                  </a:txBody>
                  <a:tcPr marL="0" marR="0" marT="0" marB="0" anchor="ctr"/>
                </a:tc>
                <a:tc>
                  <a:txBody>
                    <a:bodyPr/>
                    <a:lstStyle/>
                    <a:p>
                      <a:pPr algn="ctr"/>
                      <a:r>
                        <a:rPr lang="en-US" sz="1200" dirty="0" smtClean="0">
                          <a:latin typeface="Sylfaen"/>
                        </a:rPr>
                        <a:t>434</a:t>
                      </a:r>
                      <a:endParaRPr lang="en-US" sz="1200" dirty="0">
                        <a:latin typeface="Sylfaen"/>
                      </a:endParaRPr>
                    </a:p>
                  </a:txBody>
                  <a:tcPr marL="0" marR="0" marT="0" marB="0" anchor="ctr"/>
                </a:tc>
                <a:extLst>
                  <a:ext uri="{0D108BD9-81ED-4DB2-BD59-A6C34878D82A}">
                    <a16:rowId xmlns:a16="http://schemas.microsoft.com/office/drawing/2014/main" val="1956956955"/>
                  </a:ext>
                </a:extLst>
              </a:tr>
              <a:tr h="796671">
                <a:tc>
                  <a:txBody>
                    <a:bodyPr/>
                    <a:lstStyle/>
                    <a:p>
                      <a:pPr marL="0" marR="0" algn="ctr" rtl="0" latinLnBrk="0">
                        <a:lnSpc>
                          <a:spcPct val="150000"/>
                        </a:lnSpc>
                        <a:spcBef>
                          <a:spcPts val="0"/>
                        </a:spcBef>
                        <a:spcAft>
                          <a:spcPts val="0"/>
                        </a:spcAft>
                      </a:pPr>
                      <a:r>
                        <a:rPr lang="hy-AM" sz="1400">
                          <a:effectLst/>
                        </a:rPr>
                        <a:t>Ուսումնական տարվա ընթացքում ընդունված սովորողների թիվը </a:t>
                      </a:r>
                      <a:endParaRPr lang="hy-AM">
                        <a:effectLst/>
                      </a:endParaRPr>
                    </a:p>
                  </a:txBody>
                  <a:tcPr marL="0" marR="0" marT="0" marB="0" anchor="ctr"/>
                </a:tc>
                <a:tc>
                  <a:txBody>
                    <a:bodyPr/>
                    <a:lstStyle/>
                    <a:p>
                      <a:pPr algn="ctr"/>
                      <a:r>
                        <a:rPr lang="hy-AM" sz="1200" dirty="0" smtClean="0">
                          <a:solidFill>
                            <a:schemeClr val="tx1"/>
                          </a:solidFill>
                          <a:latin typeface="Sylfaen"/>
                        </a:rPr>
                        <a:t>35</a:t>
                      </a:r>
                      <a:endParaRPr lang="en-US" sz="1200" dirty="0">
                        <a:solidFill>
                          <a:schemeClr val="tx1"/>
                        </a:solidFill>
                        <a:latin typeface="Sylfaen"/>
                      </a:endParaRPr>
                    </a:p>
                  </a:txBody>
                  <a:tcPr marL="0" marR="0" marT="0" marB="0" anchor="ctr"/>
                </a:tc>
                <a:tc>
                  <a:txBody>
                    <a:bodyPr/>
                    <a:lstStyle/>
                    <a:p>
                      <a:pPr algn="ctr"/>
                      <a:r>
                        <a:rPr lang="en-US" sz="1200" dirty="0" smtClean="0">
                          <a:solidFill>
                            <a:schemeClr val="tx1"/>
                          </a:solidFill>
                          <a:latin typeface="Sylfaen"/>
                        </a:rPr>
                        <a:t>32</a:t>
                      </a:r>
                      <a:endParaRPr lang="en-US" sz="1200" dirty="0">
                        <a:solidFill>
                          <a:schemeClr val="tx1"/>
                        </a:solidFill>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smtClean="0">
                          <a:effectLst/>
                          <a:latin typeface="Sylfaen" panose="010A0502050306030303" pitchFamily="18" charset="0"/>
                        </a:rPr>
                        <a:t>15</a:t>
                      </a:r>
                      <a:endParaRPr lang="hy-AM" sz="1200" dirty="0">
                        <a:effectLst/>
                        <a:latin typeface="Sylfaen" panose="010A0502050306030303" pitchFamily="18" charset="0"/>
                      </a:endParaRPr>
                    </a:p>
                  </a:txBody>
                  <a:tcPr marL="0" marR="0" marT="0" marB="0" anchor="ctr"/>
                </a:tc>
                <a:extLst>
                  <a:ext uri="{0D108BD9-81ED-4DB2-BD59-A6C34878D82A}">
                    <a16:rowId xmlns:a16="http://schemas.microsoft.com/office/drawing/2014/main" val="1639876958"/>
                  </a:ext>
                </a:extLst>
              </a:tr>
              <a:tr h="796671">
                <a:tc>
                  <a:txBody>
                    <a:bodyPr/>
                    <a:lstStyle/>
                    <a:p>
                      <a:pPr marL="0" marR="0" algn="ctr" rtl="0" latinLnBrk="0">
                        <a:lnSpc>
                          <a:spcPct val="150000"/>
                        </a:lnSpc>
                        <a:spcBef>
                          <a:spcPts val="0"/>
                        </a:spcBef>
                        <a:spcAft>
                          <a:spcPts val="0"/>
                        </a:spcAft>
                      </a:pPr>
                      <a:r>
                        <a:rPr lang="hy-AM" sz="1400" dirty="0">
                          <a:effectLst/>
                        </a:rPr>
                        <a:t>Ուսումնական տարվա ընթացքում </a:t>
                      </a:r>
                      <a:r>
                        <a:rPr lang="en-US" sz="1400" dirty="0" err="1" smtClean="0">
                          <a:effectLst/>
                        </a:rPr>
                        <a:t>հեռացած</a:t>
                      </a:r>
                      <a:r>
                        <a:rPr lang="hy-AM" sz="1400" dirty="0" smtClean="0">
                          <a:effectLst/>
                        </a:rPr>
                        <a:t> </a:t>
                      </a:r>
                      <a:r>
                        <a:rPr lang="hy-AM" sz="1400" dirty="0">
                          <a:effectLst/>
                        </a:rPr>
                        <a:t>սովորողների թիվը </a:t>
                      </a:r>
                      <a:endParaRPr lang="hy-AM" dirty="0">
                        <a:effectLst/>
                      </a:endParaRPr>
                    </a:p>
                  </a:txBody>
                  <a:tcPr marL="0" marR="0" marT="0" marB="0" anchor="ctr"/>
                </a:tc>
                <a:tc>
                  <a:txBody>
                    <a:bodyPr/>
                    <a:lstStyle/>
                    <a:p>
                      <a:pPr algn="ctr"/>
                      <a:r>
                        <a:rPr lang="hy-AM" sz="1200" dirty="0" smtClean="0">
                          <a:solidFill>
                            <a:schemeClr val="tx1"/>
                          </a:solidFill>
                          <a:latin typeface="Sylfaen"/>
                        </a:rPr>
                        <a:t>2</a:t>
                      </a:r>
                      <a:r>
                        <a:rPr lang="en-US" sz="1200" dirty="0" smtClean="0">
                          <a:solidFill>
                            <a:schemeClr val="tx1"/>
                          </a:solidFill>
                          <a:latin typeface="Sylfaen"/>
                        </a:rPr>
                        <a:t>9</a:t>
                      </a:r>
                      <a:endParaRPr lang="en-US" sz="1200" dirty="0">
                        <a:solidFill>
                          <a:schemeClr val="tx1"/>
                        </a:solidFill>
                        <a:latin typeface="Sylfaen"/>
                      </a:endParaRPr>
                    </a:p>
                  </a:txBody>
                  <a:tcPr marL="0" marR="0" marT="0" marB="0" anchor="ctr"/>
                </a:tc>
                <a:tc>
                  <a:txBody>
                    <a:bodyPr/>
                    <a:lstStyle/>
                    <a:p>
                      <a:pPr algn="ctr"/>
                      <a:r>
                        <a:rPr lang="en-US" sz="1200" dirty="0" smtClean="0">
                          <a:solidFill>
                            <a:schemeClr val="tx1"/>
                          </a:solidFill>
                          <a:latin typeface="Sylfaen"/>
                        </a:rPr>
                        <a:t>24</a:t>
                      </a:r>
                      <a:endParaRPr lang="en-US" sz="1200" dirty="0">
                        <a:solidFill>
                          <a:schemeClr val="tx1"/>
                        </a:solidFill>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b="0" i="0" u="none" strike="noStrike" kern="1200" cap="none" spc="0" normalizeH="0" baseline="0" noProof="0" dirty="0" smtClean="0">
                          <a:ln>
                            <a:noFill/>
                          </a:ln>
                          <a:effectLst/>
                          <a:uLnTx/>
                          <a:uFillTx/>
                          <a:ea typeface="+mn-ea"/>
                          <a:cs typeface="+mn-cs"/>
                        </a:rPr>
                        <a:t>19</a:t>
                      </a:r>
                      <a:endParaRPr lang="hy-AM" sz="1200" b="0" i="0" u="none" strike="noStrike" kern="1200" cap="none" spc="0" normalizeH="0" baseline="0" noProof="0" dirty="0">
                        <a:ln>
                          <a:noFill/>
                        </a:ln>
                        <a:effectLst/>
                        <a:uLnTx/>
                        <a:uFillTx/>
                        <a:ea typeface="+mn-ea"/>
                        <a:cs typeface="+mn-cs"/>
                      </a:endParaRPr>
                    </a:p>
                  </a:txBody>
                  <a:tcPr marL="0" marR="0" marT="0" marB="0" anchor="ctr"/>
                </a:tc>
                <a:extLst>
                  <a:ext uri="{0D108BD9-81ED-4DB2-BD59-A6C34878D82A}">
                    <a16:rowId xmlns:a16="http://schemas.microsoft.com/office/drawing/2014/main" val="2053645577"/>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3146554313"/>
              </p:ext>
            </p:extLst>
          </p:nvPr>
        </p:nvGraphicFramePr>
        <p:xfrm>
          <a:off x="8298382" y="1536730"/>
          <a:ext cx="2095130" cy="4979797"/>
        </p:xfrm>
        <a:graphic>
          <a:graphicData uri="http://schemas.openxmlformats.org/drawingml/2006/table">
            <a:tbl>
              <a:tblPr>
                <a:tableStyleId>{5940675A-B579-460E-94D1-54222C63F5DA}</a:tableStyleId>
              </a:tblPr>
              <a:tblGrid>
                <a:gridCol w="2095130">
                  <a:extLst>
                    <a:ext uri="{9D8B030D-6E8A-4147-A177-3AD203B41FA5}">
                      <a16:colId xmlns:a16="http://schemas.microsoft.com/office/drawing/2014/main" val="2716899168"/>
                    </a:ext>
                  </a:extLst>
                </a:gridCol>
              </a:tblGrid>
              <a:tr h="1261999">
                <a:tc>
                  <a:txBody>
                    <a:bodyPr/>
                    <a:lstStyle/>
                    <a:p>
                      <a:pPr marL="0" marR="0" algn="ctr" rtl="0" latinLnBrk="0">
                        <a:lnSpc>
                          <a:spcPct val="150000"/>
                        </a:lnSpc>
                        <a:spcBef>
                          <a:spcPts val="0"/>
                        </a:spcBef>
                        <a:spcAft>
                          <a:spcPts val="0"/>
                        </a:spcAft>
                      </a:pPr>
                      <a:r>
                        <a:rPr lang="hy-AM" sz="1400" dirty="0">
                          <a:effectLst/>
                        </a:rPr>
                        <a:t>Փոփոխությունների դինամիկան (աճ կամ նվազում) </a:t>
                      </a:r>
                      <a:endParaRPr lang="hy-AM" dirty="0">
                        <a:effectLst/>
                      </a:endParaRPr>
                    </a:p>
                  </a:txBody>
                  <a:tcPr marL="0" marR="0" marT="0" marB="0" anchor="ctr"/>
                </a:tc>
                <a:extLst>
                  <a:ext uri="{0D108BD9-81ED-4DB2-BD59-A6C34878D82A}">
                    <a16:rowId xmlns:a16="http://schemas.microsoft.com/office/drawing/2014/main" val="4180018650"/>
                  </a:ext>
                </a:extLst>
              </a:tr>
              <a:tr h="1062228">
                <a:tc>
                  <a:txBody>
                    <a:bodyPr/>
                    <a:lstStyle/>
                    <a:p>
                      <a:pPr marL="0" marR="0" algn="ctr" rtl="0" eaLnBrk="1" latinLnBrk="0" hangingPunct="1">
                        <a:lnSpc>
                          <a:spcPct val="150000"/>
                        </a:lnSpc>
                        <a:spcBef>
                          <a:spcPts val="0"/>
                        </a:spcBef>
                        <a:spcAft>
                          <a:spcPts val="0"/>
                        </a:spcAft>
                      </a:pPr>
                      <a:r>
                        <a:rPr lang="hy-AM" sz="1400" dirty="0">
                          <a:effectLst/>
                        </a:rPr>
                        <a:t>աճ</a:t>
                      </a:r>
                    </a:p>
                  </a:txBody>
                  <a:tcPr marL="0" marR="0" marT="0" marB="0" anchor="ctr"/>
                </a:tc>
                <a:extLst>
                  <a:ext uri="{0D108BD9-81ED-4DB2-BD59-A6C34878D82A}">
                    <a16:rowId xmlns:a16="http://schemas.microsoft.com/office/drawing/2014/main" val="2262515548"/>
                  </a:ext>
                </a:extLst>
              </a:tr>
              <a:tr h="1062228">
                <a:tc>
                  <a:txBody>
                    <a:bodyPr/>
                    <a:lstStyle/>
                    <a:p>
                      <a:pPr marL="0" marR="0" algn="ctr" rtl="0" eaLnBrk="1" latinLnBrk="0" hangingPunct="1">
                        <a:lnSpc>
                          <a:spcPct val="150000"/>
                        </a:lnSpc>
                        <a:spcBef>
                          <a:spcPts val="0"/>
                        </a:spcBef>
                        <a:spcAft>
                          <a:spcPts val="0"/>
                        </a:spcAft>
                      </a:pPr>
                      <a:r>
                        <a:rPr lang="hy-AM" sz="1400" dirty="0">
                          <a:effectLst/>
                        </a:rPr>
                        <a:t>աճ</a:t>
                      </a:r>
                    </a:p>
                  </a:txBody>
                  <a:tcPr marL="0" marR="0" marT="0" marB="0" anchor="ctr"/>
                </a:tc>
                <a:extLst>
                  <a:ext uri="{0D108BD9-81ED-4DB2-BD59-A6C34878D82A}">
                    <a16:rowId xmlns:a16="http://schemas.microsoft.com/office/drawing/2014/main" val="2902142549"/>
                  </a:ext>
                </a:extLst>
              </a:tr>
              <a:tr h="796671">
                <a:tc>
                  <a:txBody>
                    <a:bodyPr/>
                    <a:lstStyle/>
                    <a:p>
                      <a:pPr marL="0" marR="0" algn="ctr" rtl="0" eaLnBrk="1" latinLnBrk="0" hangingPunct="1">
                        <a:lnSpc>
                          <a:spcPct val="150000"/>
                        </a:lnSpc>
                        <a:spcBef>
                          <a:spcPts val="0"/>
                        </a:spcBef>
                        <a:spcAft>
                          <a:spcPts val="0"/>
                        </a:spcAft>
                      </a:pPr>
                      <a:r>
                        <a:rPr lang="ru-RU" sz="1400" b="0" i="0" u="none" strike="noStrike" kern="1200" cap="none" spc="0" normalizeH="0" baseline="0" noProof="0" dirty="0" err="1">
                          <a:ln>
                            <a:noFill/>
                          </a:ln>
                          <a:effectLst/>
                          <a:uLnTx/>
                          <a:uFillTx/>
                          <a:ea typeface="+mn-ea"/>
                          <a:cs typeface="+mn-cs"/>
                        </a:rPr>
                        <a:t>նվազում</a:t>
                      </a:r>
                      <a:endParaRPr lang="hy-AM" dirty="0">
                        <a:effectLst/>
                      </a:endParaRPr>
                    </a:p>
                  </a:txBody>
                  <a:tcPr marL="0" marR="0" marT="0" marB="0" anchor="ctr"/>
                </a:tc>
                <a:extLst>
                  <a:ext uri="{0D108BD9-81ED-4DB2-BD59-A6C34878D82A}">
                    <a16:rowId xmlns:a16="http://schemas.microsoft.com/office/drawing/2014/main" val="246065126"/>
                  </a:ext>
                </a:extLst>
              </a:tr>
              <a:tr h="796671">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ru-RU" sz="1400" b="0" i="0" u="none" strike="noStrike" kern="1200" cap="none" spc="0" normalizeH="0" baseline="0" noProof="0" dirty="0" err="1" smtClean="0">
                          <a:ln>
                            <a:noFill/>
                          </a:ln>
                          <a:effectLst/>
                          <a:uLnTx/>
                          <a:uFillTx/>
                          <a:ea typeface="+mn-ea"/>
                          <a:cs typeface="+mn-cs"/>
                        </a:rPr>
                        <a:t>նվազում</a:t>
                      </a:r>
                      <a:endParaRPr lang="hy-AM" sz="1400" dirty="0" smtClean="0">
                        <a:effectLst/>
                      </a:endParaRPr>
                    </a:p>
                    <a:p>
                      <a:pPr marL="0" marR="0" algn="ctr" rtl="0" eaLnBrk="1" latinLnBrk="0" hangingPunct="1">
                        <a:lnSpc>
                          <a:spcPct val="150000"/>
                        </a:lnSpc>
                        <a:spcBef>
                          <a:spcPts val="0"/>
                        </a:spcBef>
                        <a:spcAft>
                          <a:spcPts val="0"/>
                        </a:spcAft>
                      </a:pPr>
                      <a:endParaRPr lang="hy-AM" sz="1400" dirty="0">
                        <a:effectLst/>
                      </a:endParaRPr>
                    </a:p>
                  </a:txBody>
                  <a:tcPr marL="0" marR="0" marT="0" marB="0" anchor="ctr"/>
                </a:tc>
                <a:extLst>
                  <a:ext uri="{0D108BD9-81ED-4DB2-BD59-A6C34878D82A}">
                    <a16:rowId xmlns:a16="http://schemas.microsoft.com/office/drawing/2014/main" val="3207128250"/>
                  </a:ext>
                </a:extLst>
              </a:tr>
            </a:tbl>
          </a:graphicData>
        </a:graphic>
      </p:graphicFrame>
    </p:spTree>
    <p:extLst>
      <p:ext uri="{BB962C8B-B14F-4D97-AF65-F5344CB8AC3E}">
        <p14:creationId xmlns:p14="http://schemas.microsoft.com/office/powerpoint/2010/main" val="165534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54202" y="504974"/>
            <a:ext cx="9751239" cy="954087"/>
          </a:xfrm>
          <a:prstGeom prst="rect">
            <a:avLst/>
          </a:prstGeom>
        </p:spPr>
        <p:txBody>
          <a:bodyPr lIns="91440" tIns="45720" rIns="91440" bIns="45720" rtlCol="0" anchor="t">
            <a:spAutoFit/>
          </a:bodyPr>
          <a:lstStyle/>
          <a:p>
            <a:pPr algn="ctr"/>
            <a:r>
              <a:rPr lang="hy-AM" sz="2800" b="1">
                <a:solidFill>
                  <a:schemeClr val="tx2"/>
                </a:solidFill>
                <a:latin typeface="Sylfaen"/>
                <a:ea typeface="+mj-ea"/>
                <a:cs typeface="+mj-cs"/>
              </a:rPr>
              <a:t>Սովորողների թվաքանակի փոփոխության պատճառները </a:t>
            </a:r>
            <a:r>
              <a:rPr lang="en-US" sz="2800" b="1">
                <a:solidFill>
                  <a:schemeClr val="tx2"/>
                </a:solidFill>
                <a:latin typeface="Sylfaen"/>
                <a:ea typeface="+mj-ea"/>
                <a:cs typeface="+mj-cs"/>
              </a:rPr>
              <a:t/>
            </a:r>
            <a:br>
              <a:rPr lang="en-US" sz="2800" b="1">
                <a:solidFill>
                  <a:schemeClr val="tx2"/>
                </a:solidFill>
                <a:latin typeface="Sylfaen"/>
                <a:ea typeface="+mj-ea"/>
                <a:cs typeface="+mj-cs"/>
              </a:rPr>
            </a:br>
            <a:r>
              <a:rPr lang="hy-AM" sz="2800" b="1">
                <a:solidFill>
                  <a:schemeClr val="tx2"/>
                </a:solidFill>
                <a:latin typeface="Sylfaen"/>
                <a:ea typeface="+mj-ea"/>
                <a:cs typeface="+mj-cs"/>
              </a:rPr>
              <a:t>ուսումնական տարվա ընթացքում</a:t>
            </a:r>
            <a:endParaRPr lang="en-US"/>
          </a:p>
        </p:txBody>
      </p:sp>
      <p:pic>
        <p:nvPicPr>
          <p:cNvPr id="4" name="Picture 3"/>
          <p:cNvPicPr>
            <a:picLocks noChangeAspect="1"/>
          </p:cNvPicPr>
          <p:nvPr/>
        </p:nvPicPr>
        <p:blipFill rotWithShape="1">
          <a:blip r:embed="rId3" cstate="print"/>
          <a:srcRect r="155" b="39592"/>
          <a:stretch/>
        </p:blipFill>
        <p:spPr>
          <a:xfrm>
            <a:off x="1286388" y="1710064"/>
            <a:ext cx="9225895" cy="2385510"/>
          </a:xfrm>
          <a:prstGeom prst="rect">
            <a:avLst/>
          </a:prstGeom>
          <a:ln>
            <a:noFill/>
          </a:ln>
          <a:effectLst>
            <a:softEdge rad="112500"/>
          </a:effectLst>
        </p:spPr>
      </p:pic>
    </p:spTree>
    <p:extLst>
      <p:ext uri="{BB962C8B-B14F-4D97-AF65-F5344CB8AC3E}">
        <p14:creationId xmlns:p14="http://schemas.microsoft.com/office/powerpoint/2010/main" val="2975544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772408" y="467413"/>
            <a:ext cx="9236075" cy="920298"/>
          </a:xfrm>
          <a:prstGeom prst="rect">
            <a:avLst/>
          </a:prstGeom>
          <a:ln>
            <a:noFill/>
          </a:ln>
          <a:effectLst>
            <a:softEdge rad="112500"/>
          </a:effectLst>
        </p:spPr>
      </p:pic>
      <p:graphicFrame>
        <p:nvGraphicFramePr>
          <p:cNvPr id="3" name="Таблица 2"/>
          <p:cNvGraphicFramePr/>
          <p:nvPr>
            <p:extLst>
              <p:ext uri="{D42A27DB-BD31-4B8C-83A1-F6EECF244321}">
                <p14:modId xmlns:p14="http://schemas.microsoft.com/office/powerpoint/2010/main" val="1257463957"/>
              </p:ext>
            </p:extLst>
          </p:nvPr>
        </p:nvGraphicFramePr>
        <p:xfrm>
          <a:off x="1871610" y="1684156"/>
          <a:ext cx="7313491" cy="2958829"/>
        </p:xfrm>
        <a:graphic>
          <a:graphicData uri="http://schemas.openxmlformats.org/drawingml/2006/table">
            <a:tbl>
              <a:tblPr>
                <a:tableStyleId>{5940675A-B579-460E-94D1-54222C63F5DA}</a:tableStyleId>
              </a:tblPr>
              <a:tblGrid>
                <a:gridCol w="3515449">
                  <a:extLst>
                    <a:ext uri="{9D8B030D-6E8A-4147-A177-3AD203B41FA5}">
                      <a16:colId xmlns:a16="http://schemas.microsoft.com/office/drawing/2014/main" val="2451668503"/>
                    </a:ext>
                  </a:extLst>
                </a:gridCol>
                <a:gridCol w="1266014">
                  <a:extLst>
                    <a:ext uri="{9D8B030D-6E8A-4147-A177-3AD203B41FA5}">
                      <a16:colId xmlns:a16="http://schemas.microsoft.com/office/drawing/2014/main" val="4044532173"/>
                    </a:ext>
                  </a:extLst>
                </a:gridCol>
                <a:gridCol w="1266014">
                  <a:extLst>
                    <a:ext uri="{9D8B030D-6E8A-4147-A177-3AD203B41FA5}">
                      <a16:colId xmlns:a16="http://schemas.microsoft.com/office/drawing/2014/main" val="2432485678"/>
                    </a:ext>
                  </a:extLst>
                </a:gridCol>
                <a:gridCol w="1266014">
                  <a:extLst>
                    <a:ext uri="{9D8B030D-6E8A-4147-A177-3AD203B41FA5}">
                      <a16:colId xmlns:a16="http://schemas.microsoft.com/office/drawing/2014/main" val="1098359380"/>
                    </a:ext>
                  </a:extLst>
                </a:gridCol>
              </a:tblGrid>
              <a:tr h="1338518">
                <a:tc>
                  <a:txBody>
                    <a:bodyPr/>
                    <a:lstStyle/>
                    <a:p>
                      <a:pPr marL="0" marR="0" algn="ctr" rtl="0" latinLnBrk="0">
                        <a:lnSpc>
                          <a:spcPct val="150000"/>
                        </a:lnSpc>
                        <a:spcBef>
                          <a:spcPts val="0"/>
                        </a:spcBef>
                        <a:spcAft>
                          <a:spcPts val="0"/>
                        </a:spcAft>
                      </a:pPr>
                      <a:r>
                        <a:rPr lang="hy-AM" sz="1600" dirty="0">
                          <a:effectLst/>
                        </a:rPr>
                        <a:t>              Ցուցանիշը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2-202</a:t>
                      </a:r>
                      <a:r>
                        <a:rPr lang="hy-AM" sz="1600" dirty="0">
                          <a:effectLst/>
                        </a:rPr>
                        <a:t>3</a:t>
                      </a:r>
                      <a:endParaRPr lang="hy-AM" dirty="0">
                        <a:effectLst/>
                      </a:endParaRPr>
                    </a:p>
                    <a:p>
                      <a:pPr marL="0" marR="0" algn="ctr" rtl="0" latinLnBrk="0">
                        <a:lnSpc>
                          <a:spcPct val="150000"/>
                        </a:lnSpc>
                        <a:spcBef>
                          <a:spcPts val="0"/>
                        </a:spcBef>
                        <a:spcAft>
                          <a:spcPts val="0"/>
                        </a:spcAft>
                      </a:pPr>
                      <a:r>
                        <a:rPr lang="hy-AM" sz="16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3-202</a:t>
                      </a:r>
                      <a:r>
                        <a:rPr lang="hy-AM" sz="1600" dirty="0">
                          <a:effectLst/>
                        </a:rPr>
                        <a:t>4</a:t>
                      </a:r>
                      <a:endParaRPr lang="hy-AM" dirty="0">
                        <a:effectLst/>
                      </a:endParaRPr>
                    </a:p>
                    <a:p>
                      <a:pPr marL="0" marR="0" algn="ctr" rtl="0" latinLnBrk="0">
                        <a:lnSpc>
                          <a:spcPct val="150000"/>
                        </a:lnSpc>
                        <a:spcBef>
                          <a:spcPts val="0"/>
                        </a:spcBef>
                        <a:spcAft>
                          <a:spcPts val="0"/>
                        </a:spcAft>
                      </a:pPr>
                      <a:r>
                        <a:rPr lang="hy-AM" sz="16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en-US" sz="1600" dirty="0" smtClean="0">
                          <a:effectLst/>
                        </a:rPr>
                        <a:t>4</a:t>
                      </a:r>
                      <a:r>
                        <a:rPr lang="hy-AM" sz="1600" dirty="0" smtClean="0">
                          <a:effectLst/>
                        </a:rPr>
                        <a:t>-202</a:t>
                      </a:r>
                      <a:r>
                        <a:rPr lang="en-US" sz="1600" dirty="0" smtClean="0">
                          <a:effectLst/>
                        </a:rPr>
                        <a:t>5</a:t>
                      </a:r>
                      <a:endParaRPr lang="hy-AM" dirty="0">
                        <a:effectLst/>
                      </a:endParaRPr>
                    </a:p>
                    <a:p>
                      <a:pPr marL="0" marR="0" algn="ctr" rtl="0" latinLnBrk="0">
                        <a:lnSpc>
                          <a:spcPct val="150000"/>
                        </a:lnSpc>
                        <a:spcBef>
                          <a:spcPts val="0"/>
                        </a:spcBef>
                        <a:spcAft>
                          <a:spcPts val="0"/>
                        </a:spcAft>
                      </a:pPr>
                      <a:r>
                        <a:rPr lang="hy-AM" sz="1600" dirty="0">
                          <a:effectLst/>
                        </a:rPr>
                        <a:t>ուստարի </a:t>
                      </a:r>
                      <a:endParaRPr lang="hy-AM" dirty="0">
                        <a:effectLst/>
                      </a:endParaRPr>
                    </a:p>
                  </a:txBody>
                  <a:tcPr marL="0" marR="0" marT="0" marB="0" anchor="ctr"/>
                </a:tc>
                <a:extLst>
                  <a:ext uri="{0D108BD9-81ED-4DB2-BD59-A6C34878D82A}">
                    <a16:rowId xmlns:a16="http://schemas.microsoft.com/office/drawing/2014/main" val="2791123330"/>
                  </a:ext>
                </a:extLst>
              </a:tr>
              <a:tr h="545974">
                <a:tc>
                  <a:txBody>
                    <a:bodyPr/>
                    <a:lstStyle/>
                    <a:p>
                      <a:pPr marL="0" marR="0" algn="ctr" rtl="0" latinLnBrk="0">
                        <a:spcBef>
                          <a:spcPts val="0"/>
                        </a:spcBef>
                        <a:spcAft>
                          <a:spcPts val="0"/>
                        </a:spcAft>
                      </a:pPr>
                      <a:r>
                        <a:rPr lang="hy-AM" sz="1600" dirty="0">
                          <a:effectLst/>
                        </a:rPr>
                        <a:t>  Ուսուցիչների ընդհանուր թիվը </a:t>
                      </a:r>
                      <a:endParaRPr lang="hy-AM" dirty="0">
                        <a:effectLst/>
                      </a:endParaRPr>
                    </a:p>
                  </a:txBody>
                  <a:tcPr marL="0" marR="0" marT="0" marB="0" anchor="ctr"/>
                </a:tc>
                <a:tc>
                  <a:txBody>
                    <a:bodyPr/>
                    <a:lstStyle/>
                    <a:p>
                      <a:pPr algn="ctr"/>
                      <a:r>
                        <a:rPr lang="hy-AM" sz="1400" dirty="0" smtClean="0"/>
                        <a:t>31</a:t>
                      </a:r>
                      <a:endParaRPr lang="en-US" sz="1400" dirty="0"/>
                    </a:p>
                  </a:txBody>
                  <a:tcPr marL="0" marR="0" marT="0" marB="0" anchor="ctr"/>
                </a:tc>
                <a:tc>
                  <a:txBody>
                    <a:bodyPr/>
                    <a:lstStyle/>
                    <a:p>
                      <a:pPr algn="ctr"/>
                      <a:r>
                        <a:rPr lang="en-US" sz="1400" dirty="0"/>
                        <a:t>31</a:t>
                      </a:r>
                    </a:p>
                  </a:txBody>
                  <a:tcPr marL="0" marR="0" marT="0" marB="0" anchor="ctr"/>
                </a:tc>
                <a:tc>
                  <a:txBody>
                    <a:bodyPr/>
                    <a:lstStyle/>
                    <a:p>
                      <a:pPr algn="ctr"/>
                      <a:r>
                        <a:rPr lang="en-US" sz="1400" dirty="0" smtClean="0"/>
                        <a:t>27</a:t>
                      </a:r>
                      <a:endParaRPr lang="en-US" sz="1400" dirty="0"/>
                    </a:p>
                  </a:txBody>
                  <a:tcPr marL="0" marR="0" marT="0" marB="0" anchor="ctr"/>
                </a:tc>
                <a:extLst>
                  <a:ext uri="{0D108BD9-81ED-4DB2-BD59-A6C34878D82A}">
                    <a16:rowId xmlns:a16="http://schemas.microsoft.com/office/drawing/2014/main" val="1352653376"/>
                  </a:ext>
                </a:extLst>
              </a:tr>
              <a:tr h="1074337">
                <a:tc>
                  <a:txBody>
                    <a:bodyPr/>
                    <a:lstStyle/>
                    <a:p>
                      <a:pPr marL="0" marR="0" algn="ctr" rtl="0" latinLnBrk="0">
                        <a:spcBef>
                          <a:spcPts val="0"/>
                        </a:spcBef>
                        <a:spcAft>
                          <a:spcPts val="0"/>
                        </a:spcAft>
                      </a:pPr>
                      <a:r>
                        <a:rPr lang="hy-AM" sz="1600">
                          <a:effectLst/>
                        </a:rPr>
                        <a:t>Ուսուցիչների միջին շաբաթական ծանրաբեռնվածությունը կամ դրույքաչափը </a:t>
                      </a:r>
                      <a:endParaRPr lang="hy-AM">
                        <a:effectLst/>
                      </a:endParaRPr>
                    </a:p>
                  </a:txBody>
                  <a:tcPr marL="0" marR="0" marT="0" marB="0" anchor="ctr"/>
                </a:tc>
                <a:tc>
                  <a:txBody>
                    <a:bodyPr/>
                    <a:lstStyle/>
                    <a:p>
                      <a:pPr algn="ctr"/>
                      <a:r>
                        <a:rPr lang="en-US" sz="1400" dirty="0">
                          <a:solidFill>
                            <a:srgbClr val="FF0000"/>
                          </a:solidFill>
                        </a:rPr>
                        <a:t>18.2</a:t>
                      </a:r>
                    </a:p>
                  </a:txBody>
                  <a:tcPr marL="0" marR="0" marT="0" marB="0" anchor="ctr"/>
                </a:tc>
                <a:tc>
                  <a:txBody>
                    <a:bodyPr/>
                    <a:lstStyle/>
                    <a:p>
                      <a:pPr algn="ctr"/>
                      <a:r>
                        <a:rPr lang="en-US" sz="1400" dirty="0" smtClean="0">
                          <a:solidFill>
                            <a:srgbClr val="FF0000"/>
                          </a:solidFill>
                        </a:rPr>
                        <a:t>1</a:t>
                      </a:r>
                      <a:r>
                        <a:rPr lang="hy-AM" sz="1400" dirty="0" smtClean="0">
                          <a:solidFill>
                            <a:srgbClr val="FF0000"/>
                          </a:solidFill>
                        </a:rPr>
                        <a:t>9</a:t>
                      </a:r>
                      <a:r>
                        <a:rPr lang="en-US" sz="1400" dirty="0" smtClean="0">
                          <a:solidFill>
                            <a:srgbClr val="FF0000"/>
                          </a:solidFill>
                        </a:rPr>
                        <a:t>․2</a:t>
                      </a:r>
                      <a:endParaRPr lang="en-US" sz="1400" dirty="0">
                        <a:solidFill>
                          <a:srgbClr val="FF0000"/>
                        </a:solidFill>
                      </a:endParaRPr>
                    </a:p>
                  </a:txBody>
                  <a:tcPr marL="0" marR="0" marT="0" marB="0" anchor="ctr"/>
                </a:tc>
                <a:tc>
                  <a:txBody>
                    <a:bodyPr/>
                    <a:lstStyle/>
                    <a:p>
                      <a:pPr algn="ctr"/>
                      <a:r>
                        <a:rPr lang="en-US" sz="1400" dirty="0" smtClean="0">
                          <a:solidFill>
                            <a:srgbClr val="FF0000"/>
                          </a:solidFill>
                        </a:rPr>
                        <a:t>20</a:t>
                      </a:r>
                      <a:endParaRPr lang="en-US" sz="1400" dirty="0">
                        <a:solidFill>
                          <a:srgbClr val="FF0000"/>
                        </a:solidFill>
                      </a:endParaRPr>
                    </a:p>
                  </a:txBody>
                  <a:tcPr marL="0" marR="0" marT="0" marB="0" anchor="ctr"/>
                </a:tc>
                <a:extLst>
                  <a:ext uri="{0D108BD9-81ED-4DB2-BD59-A6C34878D82A}">
                    <a16:rowId xmlns:a16="http://schemas.microsoft.com/office/drawing/2014/main" val="3886612158"/>
                  </a:ext>
                </a:extLst>
              </a:tr>
            </a:tbl>
          </a:graphicData>
        </a:graphic>
      </p:graphicFrame>
      <p:sp>
        <p:nvSpPr>
          <p:cNvPr id="6" name="TextBox 5"/>
          <p:cNvSpPr txBox="1"/>
          <p:nvPr/>
        </p:nvSpPr>
        <p:spPr>
          <a:xfrm>
            <a:off x="794354" y="4842456"/>
            <a:ext cx="8684497" cy="923330"/>
          </a:xfrm>
          <a:prstGeom prst="rect">
            <a:avLst/>
          </a:prstGeom>
          <a:noFill/>
        </p:spPr>
        <p:txBody>
          <a:bodyPr wrap="square" lIns="91440" tIns="45720" rIns="91440" bIns="45720" rtlCol="0" anchor="t">
            <a:spAutoFit/>
          </a:bodyPr>
          <a:lstStyle/>
          <a:p>
            <a:r>
              <a:rPr lang="hy-AM" dirty="0"/>
              <a:t>Ուսուցիչների միջին շաբաթական ծանրաբեռնվածությունը կամ դրույքաչափ</a:t>
            </a:r>
            <a:r>
              <a:rPr lang="hy-AM" dirty="0">
                <a:ea typeface="+mn-lt"/>
                <a:cs typeface="+mn-lt"/>
              </a:rPr>
              <a:t>ը</a:t>
            </a:r>
            <a:r>
              <a:rPr lang="ru-RU" dirty="0"/>
              <a:t> </a:t>
            </a:r>
            <a:r>
              <a:rPr lang="en-US" dirty="0" err="1">
                <a:ea typeface="+mn-lt"/>
                <a:cs typeface="+mn-lt"/>
              </a:rPr>
              <a:t>աճել</a:t>
            </a:r>
            <a:r>
              <a:rPr lang="en-US" dirty="0">
                <a:ea typeface="+mn-lt"/>
                <a:cs typeface="+mn-lt"/>
              </a:rPr>
              <a:t> </a:t>
            </a:r>
            <a:r>
              <a:rPr lang="ru-RU" dirty="0"/>
              <a:t>է, </a:t>
            </a:r>
            <a:r>
              <a:rPr lang="ru-RU" dirty="0" err="1"/>
              <a:t>պայմանավորված</a:t>
            </a:r>
            <a:r>
              <a:rPr lang="ru-RU" dirty="0"/>
              <a:t> </a:t>
            </a:r>
            <a:r>
              <a:rPr lang="ru-RU" dirty="0" err="1"/>
              <a:t>դասարանների</a:t>
            </a:r>
            <a:r>
              <a:rPr lang="ru-RU" dirty="0"/>
              <a:t> </a:t>
            </a:r>
            <a:r>
              <a:rPr lang="ru-RU" dirty="0" err="1"/>
              <a:t>թվի</a:t>
            </a:r>
            <a:r>
              <a:rPr lang="ru-RU" dirty="0"/>
              <a:t> </a:t>
            </a:r>
            <a:r>
              <a:rPr lang="en-US" dirty="0" err="1"/>
              <a:t>աճմա</a:t>
            </a:r>
            <a:r>
              <a:rPr lang="ru-RU" dirty="0" err="1"/>
              <a:t>մբ</a:t>
            </a:r>
            <a:r>
              <a:rPr lang="ru-RU" dirty="0"/>
              <a:t>:</a:t>
            </a:r>
            <a:r>
              <a:rPr lang="hy-AM" dirty="0"/>
              <a:t> </a:t>
            </a:r>
          </a:p>
          <a:p>
            <a:endParaRPr lang="ru-RU" dirty="0"/>
          </a:p>
        </p:txBody>
      </p:sp>
      <p:graphicFrame>
        <p:nvGraphicFramePr>
          <p:cNvPr id="4" name="Таблица 3"/>
          <p:cNvGraphicFramePr>
            <a:graphicFrameLocks noGrp="1"/>
          </p:cNvGraphicFramePr>
          <p:nvPr>
            <p:extLst>
              <p:ext uri="{D42A27DB-BD31-4B8C-83A1-F6EECF244321}">
                <p14:modId xmlns:p14="http://schemas.microsoft.com/office/powerpoint/2010/main" val="1869222495"/>
              </p:ext>
            </p:extLst>
          </p:nvPr>
        </p:nvGraphicFramePr>
        <p:xfrm>
          <a:off x="9185101" y="1684156"/>
          <a:ext cx="1642369" cy="2962772"/>
        </p:xfrm>
        <a:graphic>
          <a:graphicData uri="http://schemas.openxmlformats.org/drawingml/2006/table">
            <a:tbl>
              <a:tblPr>
                <a:tableStyleId>{5940675A-B579-460E-94D1-54222C63F5DA}</a:tableStyleId>
              </a:tblPr>
              <a:tblGrid>
                <a:gridCol w="1642369">
                  <a:extLst>
                    <a:ext uri="{9D8B030D-6E8A-4147-A177-3AD203B41FA5}">
                      <a16:colId xmlns:a16="http://schemas.microsoft.com/office/drawing/2014/main" val="333055606"/>
                    </a:ext>
                  </a:extLst>
                </a:gridCol>
              </a:tblGrid>
              <a:tr h="1334253">
                <a:tc>
                  <a:txBody>
                    <a:bodyPr/>
                    <a:lstStyle/>
                    <a:p>
                      <a:pPr marL="0" marR="0" algn="ctr" rtl="0" latinLnBrk="0">
                        <a:spcBef>
                          <a:spcPts val="0"/>
                        </a:spcBef>
                        <a:spcAft>
                          <a:spcPts val="0"/>
                        </a:spcAft>
                      </a:pPr>
                      <a:r>
                        <a:rPr lang="hy-AM" sz="1600" dirty="0">
                          <a:effectLst/>
                        </a:rPr>
                        <a:t>Փոփոխություն ների դինամիկան (աճ կամ նվազում) </a:t>
                      </a:r>
                      <a:endParaRPr lang="hy-AM" dirty="0">
                        <a:effectLst/>
                      </a:endParaRPr>
                    </a:p>
                  </a:txBody>
                  <a:tcPr marL="0" marR="0" marT="0" marB="0" anchor="ctr"/>
                </a:tc>
                <a:extLst>
                  <a:ext uri="{0D108BD9-81ED-4DB2-BD59-A6C34878D82A}">
                    <a16:rowId xmlns:a16="http://schemas.microsoft.com/office/drawing/2014/main" val="739334259"/>
                  </a:ext>
                </a:extLst>
              </a:tr>
              <a:tr h="548740">
                <a:tc>
                  <a:txBody>
                    <a:bodyPr/>
                    <a:lstStyle/>
                    <a:p>
                      <a:pPr marL="0" marR="0" algn="ctr" rtl="0" eaLnBrk="1" latinLnBrk="0" hangingPunct="1">
                        <a:lnSpc>
                          <a:spcPct val="150000"/>
                        </a:lnSpc>
                        <a:spcBef>
                          <a:spcPts val="0"/>
                        </a:spcBef>
                        <a:spcAft>
                          <a:spcPts val="0"/>
                        </a:spcAft>
                      </a:pPr>
                      <a:r>
                        <a:rPr lang="hy-AM" sz="1600" dirty="0">
                          <a:effectLst/>
                        </a:rPr>
                        <a:t>աճ</a:t>
                      </a:r>
                    </a:p>
                  </a:txBody>
                  <a:tcPr marL="0" marR="0" marT="0" marB="0" anchor="ctr"/>
                </a:tc>
                <a:extLst>
                  <a:ext uri="{0D108BD9-81ED-4DB2-BD59-A6C34878D82A}">
                    <a16:rowId xmlns:a16="http://schemas.microsoft.com/office/drawing/2014/main" val="4269766977"/>
                  </a:ext>
                </a:extLst>
              </a:tr>
              <a:tr h="1079779">
                <a:tc>
                  <a:txBody>
                    <a:bodyPr/>
                    <a:lstStyle/>
                    <a:p>
                      <a:pPr marL="0" marR="0" lvl="0" algn="ctr">
                        <a:lnSpc>
                          <a:spcPct val="150000"/>
                        </a:lnSpc>
                        <a:spcBef>
                          <a:spcPts val="0"/>
                        </a:spcBef>
                        <a:spcAft>
                          <a:spcPts val="0"/>
                        </a:spcAft>
                        <a:buNone/>
                      </a:pPr>
                      <a:r>
                        <a:rPr lang="hy-AM" sz="1600" b="0" i="0" u="none" strike="noStrike" noProof="0" dirty="0">
                          <a:effectLst/>
                          <a:latin typeface="Trebuchet MS"/>
                        </a:rPr>
                        <a:t>աճ</a:t>
                      </a:r>
                    </a:p>
                  </a:txBody>
                  <a:tcPr marL="0" marR="0" marT="0" marB="0" anchor="ctr"/>
                </a:tc>
                <a:extLst>
                  <a:ext uri="{0D108BD9-81ED-4DB2-BD59-A6C34878D82A}">
                    <a16:rowId xmlns:a16="http://schemas.microsoft.com/office/drawing/2014/main" val="752419868"/>
                  </a:ext>
                </a:extLst>
              </a:tr>
            </a:tbl>
          </a:graphicData>
        </a:graphic>
      </p:graphicFrame>
    </p:spTree>
    <p:extLst>
      <p:ext uri="{BB962C8B-B14F-4D97-AF65-F5344CB8AC3E}">
        <p14:creationId xmlns:p14="http://schemas.microsoft.com/office/powerpoint/2010/main" val="3553830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843585" y="432179"/>
            <a:ext cx="8610600" cy="908960"/>
          </a:xfrm>
          <a:prstGeom prst="rect">
            <a:avLst/>
          </a:prstGeom>
          <a:ln>
            <a:noFill/>
          </a:ln>
          <a:effectLst>
            <a:softEdge rad="112500"/>
          </a:effectLst>
        </p:spPr>
      </p:pic>
      <p:graphicFrame>
        <p:nvGraphicFramePr>
          <p:cNvPr id="3" name="Таблица 2"/>
          <p:cNvGraphicFramePr/>
          <p:nvPr>
            <p:extLst>
              <p:ext uri="{D42A27DB-BD31-4B8C-83A1-F6EECF244321}">
                <p14:modId xmlns:p14="http://schemas.microsoft.com/office/powerpoint/2010/main" val="2157607156"/>
              </p:ext>
            </p:extLst>
          </p:nvPr>
        </p:nvGraphicFramePr>
        <p:xfrm>
          <a:off x="1497356" y="1822392"/>
          <a:ext cx="6623968" cy="3434374"/>
        </p:xfrm>
        <a:graphic>
          <a:graphicData uri="http://schemas.openxmlformats.org/drawingml/2006/table">
            <a:tbl>
              <a:tblPr>
                <a:tableStyleId>{5940675A-B579-460E-94D1-54222C63F5DA}</a:tableStyleId>
              </a:tblPr>
              <a:tblGrid>
                <a:gridCol w="2560620">
                  <a:extLst>
                    <a:ext uri="{9D8B030D-6E8A-4147-A177-3AD203B41FA5}">
                      <a16:colId xmlns:a16="http://schemas.microsoft.com/office/drawing/2014/main" val="2340342135"/>
                    </a:ext>
                  </a:extLst>
                </a:gridCol>
                <a:gridCol w="1296019">
                  <a:extLst>
                    <a:ext uri="{9D8B030D-6E8A-4147-A177-3AD203B41FA5}">
                      <a16:colId xmlns:a16="http://schemas.microsoft.com/office/drawing/2014/main" val="1396885299"/>
                    </a:ext>
                  </a:extLst>
                </a:gridCol>
                <a:gridCol w="1417924">
                  <a:extLst>
                    <a:ext uri="{9D8B030D-6E8A-4147-A177-3AD203B41FA5}">
                      <a16:colId xmlns:a16="http://schemas.microsoft.com/office/drawing/2014/main" val="2105563563"/>
                    </a:ext>
                  </a:extLst>
                </a:gridCol>
                <a:gridCol w="1349405">
                  <a:extLst>
                    <a:ext uri="{9D8B030D-6E8A-4147-A177-3AD203B41FA5}">
                      <a16:colId xmlns:a16="http://schemas.microsoft.com/office/drawing/2014/main" val="1341536518"/>
                    </a:ext>
                  </a:extLst>
                </a:gridCol>
              </a:tblGrid>
              <a:tr h="1258159">
                <a:tc>
                  <a:txBody>
                    <a:bodyPr/>
                    <a:lstStyle/>
                    <a:p>
                      <a:pPr marL="0" marR="0" algn="ctr" rtl="0" latinLnBrk="0">
                        <a:lnSpc>
                          <a:spcPct val="150000"/>
                        </a:lnSpc>
                        <a:spcBef>
                          <a:spcPts val="0"/>
                        </a:spcBef>
                        <a:spcAft>
                          <a:spcPts val="0"/>
                        </a:spcAft>
                      </a:pPr>
                      <a:r>
                        <a:rPr lang="hy-AM" sz="1400" dirty="0">
                          <a:effectLst/>
                        </a:rPr>
                        <a:t>Ուսուցիչն</a:t>
                      </a:r>
                      <a:r>
                        <a:rPr lang="hy-AM" dirty="0">
                          <a:effectLst/>
                        </a:rPr>
                        <a:t>երի թիվը </a:t>
                      </a:r>
                    </a:p>
                  </a:txBody>
                  <a:tcPr marL="0" marR="0" marT="0" marB="0" anchor="ctr"/>
                </a:tc>
                <a:tc>
                  <a:txBody>
                    <a:bodyPr/>
                    <a:lstStyle/>
                    <a:p>
                      <a:pPr marL="0" marR="0" algn="ctr" rtl="0" latinLnBrk="0">
                        <a:lnSpc>
                          <a:spcPct val="150000"/>
                        </a:lnSpc>
                        <a:spcBef>
                          <a:spcPts val="0"/>
                        </a:spcBef>
                        <a:spcAft>
                          <a:spcPts val="0"/>
                        </a:spcAft>
                      </a:pPr>
                      <a:r>
                        <a:rPr lang="hy-AM" dirty="0">
                          <a:effectLst/>
                        </a:rPr>
                        <a:t>20</a:t>
                      </a:r>
                      <a:r>
                        <a:rPr lang="ru-RU" dirty="0" smtClean="0">
                          <a:effectLst/>
                        </a:rPr>
                        <a:t>2</a:t>
                      </a:r>
                      <a:r>
                        <a:rPr lang="hy-AM" dirty="0" smtClean="0">
                          <a:effectLst/>
                        </a:rPr>
                        <a:t>2-2023</a:t>
                      </a:r>
                      <a:endParaRPr lang="hy-AM" dirty="0">
                        <a:effectLst/>
                      </a:endParaRPr>
                    </a:p>
                    <a:p>
                      <a:pPr marL="0" marR="0" algn="ctr" rtl="0" latinLnBrk="0">
                        <a:lnSpc>
                          <a:spcPct val="150000"/>
                        </a:lnSpc>
                        <a:spcBef>
                          <a:spcPts val="0"/>
                        </a:spcBef>
                        <a:spcAft>
                          <a:spcPts val="0"/>
                        </a:spcAft>
                      </a:pPr>
                      <a:r>
                        <a:rPr lang="hy-AM" dirty="0">
                          <a:effectLst/>
                        </a:rPr>
                        <a:t>ուստարի </a:t>
                      </a:r>
                    </a:p>
                  </a:txBody>
                  <a:tcPr marL="0" marR="0" marT="0" marB="0" anchor="ctr"/>
                </a:tc>
                <a:tc>
                  <a:txBody>
                    <a:bodyPr/>
                    <a:lstStyle/>
                    <a:p>
                      <a:pPr marL="0" marR="0" algn="ctr" rtl="0" latinLnBrk="0">
                        <a:lnSpc>
                          <a:spcPct val="150000"/>
                        </a:lnSpc>
                        <a:spcBef>
                          <a:spcPts val="0"/>
                        </a:spcBef>
                        <a:spcAft>
                          <a:spcPts val="0"/>
                        </a:spcAft>
                      </a:pPr>
                      <a:r>
                        <a:rPr lang="hy-AM" dirty="0">
                          <a:effectLst/>
                        </a:rPr>
                        <a:t>20</a:t>
                      </a:r>
                      <a:r>
                        <a:rPr lang="ru-RU" dirty="0" smtClean="0">
                          <a:effectLst/>
                        </a:rPr>
                        <a:t>2</a:t>
                      </a:r>
                      <a:r>
                        <a:rPr lang="hy-AM" dirty="0" smtClean="0">
                          <a:effectLst/>
                        </a:rPr>
                        <a:t>3-202</a:t>
                      </a:r>
                      <a:r>
                        <a:rPr lang="en-US" dirty="0" smtClean="0">
                          <a:effectLst/>
                        </a:rPr>
                        <a:t>4</a:t>
                      </a:r>
                      <a:r>
                        <a:rPr lang="hy-AM" dirty="0">
                          <a:effectLst/>
                        </a:rPr>
                        <a:t> </a:t>
                      </a:r>
                    </a:p>
                    <a:p>
                      <a:pPr marL="0" marR="0" algn="ctr" rtl="0" latinLnBrk="0">
                        <a:lnSpc>
                          <a:spcPct val="150000"/>
                        </a:lnSpc>
                        <a:spcBef>
                          <a:spcPts val="0"/>
                        </a:spcBef>
                        <a:spcAft>
                          <a:spcPts val="0"/>
                        </a:spcAft>
                      </a:pPr>
                      <a:r>
                        <a:rPr lang="hy-AM" dirty="0">
                          <a:effectLst/>
                        </a:rPr>
                        <a:t>ուստարի </a:t>
                      </a:r>
                    </a:p>
                  </a:txBody>
                  <a:tcPr marL="0" marR="0" marT="0" marB="0" anchor="ctr"/>
                </a:tc>
                <a:tc>
                  <a:txBody>
                    <a:bodyPr/>
                    <a:lstStyle/>
                    <a:p>
                      <a:pPr marL="0" marR="0" algn="ctr" rtl="0" latinLnBrk="0">
                        <a:lnSpc>
                          <a:spcPct val="150000"/>
                        </a:lnSpc>
                        <a:spcBef>
                          <a:spcPts val="0"/>
                        </a:spcBef>
                        <a:spcAft>
                          <a:spcPts val="0"/>
                        </a:spcAft>
                      </a:pPr>
                      <a:r>
                        <a:rPr lang="hy-AM" dirty="0">
                          <a:effectLst/>
                        </a:rPr>
                        <a:t>20</a:t>
                      </a:r>
                      <a:r>
                        <a:rPr lang="ru-RU" dirty="0" smtClean="0">
                          <a:effectLst/>
                        </a:rPr>
                        <a:t>2</a:t>
                      </a:r>
                      <a:r>
                        <a:rPr lang="en-US" dirty="0" smtClean="0">
                          <a:effectLst/>
                        </a:rPr>
                        <a:t>4</a:t>
                      </a:r>
                      <a:r>
                        <a:rPr lang="hy-AM" dirty="0" smtClean="0">
                          <a:effectLst/>
                        </a:rPr>
                        <a:t>-202</a:t>
                      </a:r>
                      <a:r>
                        <a:rPr lang="en-US" dirty="0" smtClean="0">
                          <a:effectLst/>
                        </a:rPr>
                        <a:t>5</a:t>
                      </a:r>
                      <a:r>
                        <a:rPr lang="hy-AM" dirty="0">
                          <a:effectLst/>
                        </a:rPr>
                        <a:t> </a:t>
                      </a:r>
                    </a:p>
                    <a:p>
                      <a:pPr marL="0" marR="0" algn="ctr" rtl="0" latinLnBrk="0">
                        <a:lnSpc>
                          <a:spcPct val="150000"/>
                        </a:lnSpc>
                        <a:spcBef>
                          <a:spcPts val="0"/>
                        </a:spcBef>
                        <a:spcAft>
                          <a:spcPts val="0"/>
                        </a:spcAft>
                      </a:pPr>
                      <a:r>
                        <a:rPr lang="hy-AM" dirty="0">
                          <a:effectLst/>
                        </a:rPr>
                        <a:t>ուստարի </a:t>
                      </a:r>
                    </a:p>
                  </a:txBody>
                  <a:tcPr marL="0" marR="0" marT="0" marB="0" anchor="ctr"/>
                </a:tc>
                <a:extLst>
                  <a:ext uri="{0D108BD9-81ED-4DB2-BD59-A6C34878D82A}">
                    <a16:rowId xmlns:a16="http://schemas.microsoft.com/office/drawing/2014/main" val="322720639"/>
                  </a:ext>
                </a:extLst>
              </a:tr>
              <a:tr h="435243">
                <a:tc>
                  <a:txBody>
                    <a:bodyPr/>
                    <a:lstStyle/>
                    <a:p>
                      <a:pPr marL="0" marR="0" algn="ctr" rtl="0" latinLnBrk="0">
                        <a:lnSpc>
                          <a:spcPct val="150000"/>
                        </a:lnSpc>
                        <a:spcBef>
                          <a:spcPts val="0"/>
                        </a:spcBef>
                        <a:spcAft>
                          <a:spcPts val="0"/>
                        </a:spcAft>
                      </a:pPr>
                      <a:r>
                        <a:rPr lang="hy-AM" dirty="0">
                          <a:effectLst/>
                        </a:rPr>
                        <a:t>Մինչև 30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5</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2</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2</a:t>
                      </a:r>
                    </a:p>
                  </a:txBody>
                  <a:tcPr marL="0" marR="0" marT="0" marB="0" anchor="ctr"/>
                </a:tc>
                <a:extLst>
                  <a:ext uri="{0D108BD9-81ED-4DB2-BD59-A6C34878D82A}">
                    <a16:rowId xmlns:a16="http://schemas.microsoft.com/office/drawing/2014/main" val="1305704280"/>
                  </a:ext>
                </a:extLst>
              </a:tr>
              <a:tr h="435243">
                <a:tc>
                  <a:txBody>
                    <a:bodyPr/>
                    <a:lstStyle/>
                    <a:p>
                      <a:pPr marL="0" marR="0" algn="ctr" rtl="0" latinLnBrk="0">
                        <a:lnSpc>
                          <a:spcPct val="150000"/>
                        </a:lnSpc>
                        <a:spcBef>
                          <a:spcPts val="0"/>
                        </a:spcBef>
                        <a:spcAft>
                          <a:spcPts val="0"/>
                        </a:spcAft>
                      </a:pPr>
                      <a:r>
                        <a:rPr lang="hy-AM" dirty="0">
                          <a:effectLst/>
                        </a:rPr>
                        <a:t>31-ից 40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5</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4</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2</a:t>
                      </a:r>
                      <a:endParaRPr lang="en-US" sz="1600" dirty="0">
                        <a:effectLst/>
                        <a:latin typeface="Sylfaen"/>
                      </a:endParaRPr>
                    </a:p>
                  </a:txBody>
                  <a:tcPr marL="0" marR="0" marT="0" marB="0" anchor="ctr"/>
                </a:tc>
                <a:extLst>
                  <a:ext uri="{0D108BD9-81ED-4DB2-BD59-A6C34878D82A}">
                    <a16:rowId xmlns:a16="http://schemas.microsoft.com/office/drawing/2014/main" val="3132918855"/>
                  </a:ext>
                </a:extLst>
              </a:tr>
              <a:tr h="435243">
                <a:tc>
                  <a:txBody>
                    <a:bodyPr/>
                    <a:lstStyle/>
                    <a:p>
                      <a:pPr marL="0" marR="0" algn="ctr" rtl="0" latinLnBrk="0">
                        <a:lnSpc>
                          <a:spcPct val="150000"/>
                        </a:lnSpc>
                        <a:spcBef>
                          <a:spcPts val="0"/>
                        </a:spcBef>
                        <a:spcAft>
                          <a:spcPts val="0"/>
                        </a:spcAft>
                      </a:pPr>
                      <a:r>
                        <a:rPr lang="hy-AM" dirty="0">
                          <a:effectLst/>
                        </a:rPr>
                        <a:t>41ից -50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5</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8</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9</a:t>
                      </a:r>
                      <a:endParaRPr lang="en-US" sz="1600" dirty="0">
                        <a:effectLst/>
                        <a:latin typeface="Sylfaen"/>
                      </a:endParaRPr>
                    </a:p>
                  </a:txBody>
                  <a:tcPr marL="0" marR="0" marT="0" marB="0" anchor="ctr"/>
                </a:tc>
                <a:extLst>
                  <a:ext uri="{0D108BD9-81ED-4DB2-BD59-A6C34878D82A}">
                    <a16:rowId xmlns:a16="http://schemas.microsoft.com/office/drawing/2014/main" val="295726014"/>
                  </a:ext>
                </a:extLst>
              </a:tr>
              <a:tr h="435243">
                <a:tc>
                  <a:txBody>
                    <a:bodyPr/>
                    <a:lstStyle/>
                    <a:p>
                      <a:pPr marL="0" marR="0" algn="ctr" rtl="0" latinLnBrk="0">
                        <a:lnSpc>
                          <a:spcPct val="150000"/>
                        </a:lnSpc>
                        <a:spcBef>
                          <a:spcPts val="0"/>
                        </a:spcBef>
                        <a:spcAft>
                          <a:spcPts val="0"/>
                        </a:spcAft>
                      </a:pPr>
                      <a:r>
                        <a:rPr lang="hy-AM" dirty="0">
                          <a:effectLst/>
                        </a:rPr>
                        <a:t>51-ից -55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2</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1</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2</a:t>
                      </a:r>
                      <a:endParaRPr lang="en-US" sz="1600" dirty="0">
                        <a:effectLst/>
                        <a:latin typeface="Sylfaen"/>
                      </a:endParaRPr>
                    </a:p>
                  </a:txBody>
                  <a:tcPr marL="0" marR="0" marT="0" marB="0" anchor="ctr"/>
                </a:tc>
                <a:extLst>
                  <a:ext uri="{0D108BD9-81ED-4DB2-BD59-A6C34878D82A}">
                    <a16:rowId xmlns:a16="http://schemas.microsoft.com/office/drawing/2014/main" val="181139862"/>
                  </a:ext>
                </a:extLst>
              </a:tr>
              <a:tr h="435243">
                <a:tc>
                  <a:txBody>
                    <a:bodyPr/>
                    <a:lstStyle/>
                    <a:p>
                      <a:pPr marL="0" marR="0" algn="ctr" rtl="0" latinLnBrk="0">
                        <a:lnSpc>
                          <a:spcPct val="150000"/>
                        </a:lnSpc>
                        <a:spcBef>
                          <a:spcPts val="0"/>
                        </a:spcBef>
                        <a:spcAft>
                          <a:spcPts val="0"/>
                        </a:spcAft>
                      </a:pPr>
                      <a:r>
                        <a:rPr lang="hy-AM" dirty="0">
                          <a:effectLst/>
                        </a:rPr>
                        <a:t>56 տարեկան և ավելի </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1</a:t>
                      </a:r>
                      <a:r>
                        <a:rPr lang="hy-AM" sz="1600" dirty="0" smtClean="0">
                          <a:effectLst/>
                          <a:latin typeface="Sylfaen"/>
                        </a:rPr>
                        <a:t>7</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1</a:t>
                      </a:r>
                      <a:r>
                        <a:rPr lang="hy-AM" sz="1600" dirty="0" smtClean="0">
                          <a:effectLst/>
                          <a:latin typeface="Sylfaen"/>
                        </a:rPr>
                        <a:t>6</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1</a:t>
                      </a:r>
                      <a:r>
                        <a:rPr lang="hy-AM" sz="1600" dirty="0" smtClean="0">
                          <a:effectLst/>
                          <a:latin typeface="Sylfaen"/>
                        </a:rPr>
                        <a:t>6</a:t>
                      </a:r>
                      <a:endParaRPr lang="en-US" sz="1600" dirty="0">
                        <a:effectLst/>
                        <a:latin typeface="Sylfaen"/>
                      </a:endParaRPr>
                    </a:p>
                  </a:txBody>
                  <a:tcPr marL="0" marR="0" marT="0" marB="0" anchor="ctr"/>
                </a:tc>
                <a:extLst>
                  <a:ext uri="{0D108BD9-81ED-4DB2-BD59-A6C34878D82A}">
                    <a16:rowId xmlns:a16="http://schemas.microsoft.com/office/drawing/2014/main" val="1502821703"/>
                  </a:ext>
                </a:extLst>
              </a:tr>
            </a:tbl>
          </a:graphicData>
        </a:graphic>
      </p:graphicFrame>
      <p:sp>
        <p:nvSpPr>
          <p:cNvPr id="4" name="TextBox 3"/>
          <p:cNvSpPr txBox="1"/>
          <p:nvPr/>
        </p:nvSpPr>
        <p:spPr>
          <a:xfrm>
            <a:off x="1738935" y="5598112"/>
            <a:ext cx="8950817" cy="646331"/>
          </a:xfrm>
          <a:prstGeom prst="rect">
            <a:avLst/>
          </a:prstGeom>
          <a:noFill/>
        </p:spPr>
        <p:txBody>
          <a:bodyPr wrap="square" lIns="91440" tIns="45720" rIns="91440" bIns="45720" rtlCol="0" anchor="t">
            <a:spAutoFit/>
          </a:bodyPr>
          <a:lstStyle/>
          <a:p>
            <a:r>
              <a:rPr lang="ru-RU" err="1"/>
              <a:t>Ուսուցչական</a:t>
            </a:r>
            <a:r>
              <a:rPr lang="ru-RU"/>
              <a:t> </a:t>
            </a:r>
            <a:r>
              <a:rPr lang="ru-RU" err="1"/>
              <a:t>կազմը</a:t>
            </a:r>
            <a:r>
              <a:rPr lang="ru-RU"/>
              <a:t> </a:t>
            </a:r>
            <a:r>
              <a:rPr lang="ru-RU" err="1"/>
              <a:t>հիմնականում</a:t>
            </a:r>
            <a:r>
              <a:rPr lang="ru-RU"/>
              <a:t> 56 </a:t>
            </a:r>
            <a:r>
              <a:rPr lang="ru-RU" err="1"/>
              <a:t>տարեկան</a:t>
            </a:r>
            <a:r>
              <a:rPr lang="ru-RU"/>
              <a:t> և </a:t>
            </a:r>
            <a:r>
              <a:rPr lang="ru-RU" err="1"/>
              <a:t>ավելի</a:t>
            </a:r>
            <a:r>
              <a:rPr lang="ru-RU"/>
              <a:t> </a:t>
            </a:r>
            <a:r>
              <a:rPr lang="ru-RU" err="1"/>
              <a:t>տարիքային</a:t>
            </a:r>
            <a:r>
              <a:rPr lang="ru-RU"/>
              <a:t> </a:t>
            </a:r>
            <a:r>
              <a:rPr lang="ru-RU" err="1"/>
              <a:t>խումբն</a:t>
            </a:r>
            <a:r>
              <a:rPr lang="ru-RU"/>
              <a:t> է,  </a:t>
            </a:r>
            <a:r>
              <a:rPr lang="ru-RU" err="1"/>
              <a:t>նոր</a:t>
            </a:r>
            <a:r>
              <a:rPr lang="ru-RU"/>
              <a:t> </a:t>
            </a:r>
            <a:r>
              <a:rPr lang="ru-RU" err="1"/>
              <a:t>կադրեր</a:t>
            </a:r>
            <a:r>
              <a:rPr lang="ru-RU"/>
              <a:t> </a:t>
            </a:r>
            <a:r>
              <a:rPr lang="ru-RU" err="1"/>
              <a:t>ընդունվել</a:t>
            </a:r>
            <a:r>
              <a:rPr lang="ru-RU"/>
              <a:t> </a:t>
            </a:r>
            <a:r>
              <a:rPr lang="ru-RU" err="1"/>
              <a:t>են</a:t>
            </a:r>
            <a:r>
              <a:rPr lang="ru-RU"/>
              <a:t> </a:t>
            </a:r>
            <a:r>
              <a:rPr lang="ru-RU" err="1"/>
              <a:t>են</a:t>
            </a:r>
            <a:r>
              <a:rPr lang="ru-RU"/>
              <a:t>, </a:t>
            </a:r>
            <a:r>
              <a:rPr lang="ru-RU" err="1"/>
              <a:t>սակայն</a:t>
            </a:r>
            <a:r>
              <a:rPr lang="ru-RU"/>
              <a:t> </a:t>
            </a:r>
            <a:r>
              <a:rPr lang="ru-RU" err="1"/>
              <a:t>քիչ</a:t>
            </a:r>
            <a:r>
              <a:rPr lang="ru-RU"/>
              <a:t> </a:t>
            </a:r>
            <a:r>
              <a:rPr lang="ru-RU" err="1"/>
              <a:t>են</a:t>
            </a:r>
            <a:r>
              <a:rPr lang="ru-RU"/>
              <a:t> </a:t>
            </a:r>
            <a:r>
              <a:rPr lang="ru-RU" err="1"/>
              <a:t>երիտասարդները</a:t>
            </a:r>
            <a:r>
              <a:rPr lang="ru-RU"/>
              <a:t>:</a:t>
            </a:r>
          </a:p>
        </p:txBody>
      </p:sp>
      <p:graphicFrame>
        <p:nvGraphicFramePr>
          <p:cNvPr id="5" name="Таблица 4"/>
          <p:cNvGraphicFramePr>
            <a:graphicFrameLocks noGrp="1"/>
          </p:cNvGraphicFramePr>
          <p:nvPr>
            <p:extLst>
              <p:ext uri="{D42A27DB-BD31-4B8C-83A1-F6EECF244321}">
                <p14:modId xmlns:p14="http://schemas.microsoft.com/office/powerpoint/2010/main" val="891039003"/>
              </p:ext>
            </p:extLst>
          </p:nvPr>
        </p:nvGraphicFramePr>
        <p:xfrm>
          <a:off x="8121324" y="1827030"/>
          <a:ext cx="2388093" cy="3429736"/>
        </p:xfrm>
        <a:graphic>
          <a:graphicData uri="http://schemas.openxmlformats.org/drawingml/2006/table">
            <a:tbl>
              <a:tblPr>
                <a:tableStyleId>{5940675A-B579-460E-94D1-54222C63F5DA}</a:tableStyleId>
              </a:tblPr>
              <a:tblGrid>
                <a:gridCol w="2388093">
                  <a:extLst>
                    <a:ext uri="{9D8B030D-6E8A-4147-A177-3AD203B41FA5}">
                      <a16:colId xmlns:a16="http://schemas.microsoft.com/office/drawing/2014/main" val="1895550734"/>
                    </a:ext>
                  </a:extLst>
                </a:gridCol>
              </a:tblGrid>
              <a:tr h="1253521">
                <a:tc>
                  <a:txBody>
                    <a:bodyPr/>
                    <a:lstStyle/>
                    <a:p>
                      <a:pPr marL="0" marR="0" algn="ctr" rtl="0" latinLnBrk="0">
                        <a:lnSpc>
                          <a:spcPct val="150000"/>
                        </a:lnSpc>
                        <a:spcBef>
                          <a:spcPts val="0"/>
                        </a:spcBef>
                        <a:spcAft>
                          <a:spcPts val="0"/>
                        </a:spcAft>
                      </a:pPr>
                      <a:r>
                        <a:rPr lang="hy-AM" dirty="0">
                          <a:effectLst/>
                        </a:rPr>
                        <a:t>Փոփոխությունների դինամիկան (աճ կամ նվազում) </a:t>
                      </a:r>
                    </a:p>
                  </a:txBody>
                  <a:tcPr marL="0" marR="0" marT="0" marB="0" anchor="ctr"/>
                </a:tc>
                <a:extLst>
                  <a:ext uri="{0D108BD9-81ED-4DB2-BD59-A6C34878D82A}">
                    <a16:rowId xmlns:a16="http://schemas.microsoft.com/office/drawing/2014/main" val="460447616"/>
                  </a:ext>
                </a:extLst>
              </a:tr>
              <a:tr h="435243">
                <a:tc>
                  <a:txBody>
                    <a:bodyPr/>
                    <a:lstStyle/>
                    <a:p>
                      <a:pPr marL="0" marR="0" lvl="0" algn="ctr">
                        <a:lnSpc>
                          <a:spcPct val="150000"/>
                        </a:lnSpc>
                        <a:spcBef>
                          <a:spcPts val="0"/>
                        </a:spcBef>
                        <a:spcAft>
                          <a:spcPts val="0"/>
                        </a:spcAft>
                        <a:buNone/>
                      </a:pPr>
                      <a:r>
                        <a:rPr lang="en-US" sz="1800" b="0" i="0" u="none" strike="noStrike" noProof="0" dirty="0" err="1" smtClean="0">
                          <a:effectLst/>
                        </a:rPr>
                        <a:t>անփոփոխ</a:t>
                      </a:r>
                      <a:endParaRPr lang="hy-AM" sz="1800" b="0" i="0" u="none" strike="noStrike" noProof="0" dirty="0">
                        <a:effectLst/>
                      </a:endParaRPr>
                    </a:p>
                  </a:txBody>
                  <a:tcPr marL="0" marR="0" marT="0" marB="0" anchor="ctr"/>
                </a:tc>
                <a:extLst>
                  <a:ext uri="{0D108BD9-81ED-4DB2-BD59-A6C34878D82A}">
                    <a16:rowId xmlns:a16="http://schemas.microsoft.com/office/drawing/2014/main" val="2473533298"/>
                  </a:ext>
                </a:extLst>
              </a:tr>
              <a:tr h="435243">
                <a:tc>
                  <a:txBody>
                    <a:bodyPr/>
                    <a:lstStyle/>
                    <a:p>
                      <a:pPr marL="0" marR="0" lvl="0" algn="ctr">
                        <a:lnSpc>
                          <a:spcPct val="150000"/>
                        </a:lnSpc>
                        <a:spcBef>
                          <a:spcPts val="0"/>
                        </a:spcBef>
                        <a:spcAft>
                          <a:spcPts val="0"/>
                        </a:spcAft>
                        <a:buNone/>
                      </a:pPr>
                      <a:r>
                        <a:rPr lang="hy-AM" sz="1800" b="0" i="0" u="none" strike="noStrike" noProof="0" dirty="0" smtClean="0">
                          <a:effectLst/>
                          <a:latin typeface="Century Gothic"/>
                        </a:rPr>
                        <a:t>նվազում</a:t>
                      </a:r>
                      <a:endParaRPr lang="ru-RU" sz="1800" b="0" i="0" u="none" strike="noStrike" noProof="0" dirty="0">
                        <a:effectLst/>
                        <a:latin typeface="Century Gothic"/>
                      </a:endParaRPr>
                    </a:p>
                  </a:txBody>
                  <a:tcPr marL="0" marR="0" marT="0" marB="0" anchor="ctr"/>
                </a:tc>
                <a:extLst>
                  <a:ext uri="{0D108BD9-81ED-4DB2-BD59-A6C34878D82A}">
                    <a16:rowId xmlns:a16="http://schemas.microsoft.com/office/drawing/2014/main" val="3708955032"/>
                  </a:ext>
                </a:extLst>
              </a:tr>
              <a:tr h="435243">
                <a:tc>
                  <a:txBody>
                    <a:bodyPr/>
                    <a:lstStyle/>
                    <a:p>
                      <a:pPr marL="0" marR="0" algn="ctr" rtl="0" eaLnBrk="1" latinLnBrk="0" hangingPunct="1">
                        <a:lnSpc>
                          <a:spcPct val="150000"/>
                        </a:lnSpc>
                        <a:spcBef>
                          <a:spcPts val="0"/>
                        </a:spcBef>
                        <a:spcAft>
                          <a:spcPts val="0"/>
                        </a:spcAft>
                      </a:pPr>
                      <a:r>
                        <a:rPr lang="hy-AM" dirty="0" smtClean="0">
                          <a:effectLst/>
                        </a:rPr>
                        <a:t>աճ</a:t>
                      </a:r>
                      <a:endParaRPr lang="hy-AM" dirty="0">
                        <a:effectLst/>
                      </a:endParaRPr>
                    </a:p>
                  </a:txBody>
                  <a:tcPr marL="0" marR="0" marT="0" marB="0" anchor="ctr"/>
                </a:tc>
                <a:extLst>
                  <a:ext uri="{0D108BD9-81ED-4DB2-BD59-A6C34878D82A}">
                    <a16:rowId xmlns:a16="http://schemas.microsoft.com/office/drawing/2014/main" val="2017511100"/>
                  </a:ext>
                </a:extLst>
              </a:tr>
              <a:tr h="435243">
                <a:tc>
                  <a:txBody>
                    <a:bodyPr/>
                    <a:lstStyle/>
                    <a:p>
                      <a:pPr marL="0" marR="0" algn="ctr" rtl="0" eaLnBrk="1" latinLnBrk="0" hangingPunct="1">
                        <a:lnSpc>
                          <a:spcPct val="150000"/>
                        </a:lnSpc>
                        <a:spcBef>
                          <a:spcPts val="0"/>
                        </a:spcBef>
                        <a:spcAft>
                          <a:spcPts val="0"/>
                        </a:spcAft>
                      </a:pPr>
                      <a:r>
                        <a:rPr lang="hy-AM" dirty="0" smtClean="0">
                          <a:effectLst/>
                        </a:rPr>
                        <a:t>աճ</a:t>
                      </a:r>
                      <a:endParaRPr lang="hy-AM" dirty="0">
                        <a:effectLst/>
                      </a:endParaRPr>
                    </a:p>
                  </a:txBody>
                  <a:tcPr marL="0" marR="0" marT="0" marB="0" anchor="ctr"/>
                </a:tc>
                <a:extLst>
                  <a:ext uri="{0D108BD9-81ED-4DB2-BD59-A6C34878D82A}">
                    <a16:rowId xmlns:a16="http://schemas.microsoft.com/office/drawing/2014/main" val="2102778206"/>
                  </a:ext>
                </a:extLst>
              </a:tr>
              <a:tr h="435243">
                <a:tc>
                  <a:txBody>
                    <a:bodyPr/>
                    <a:lstStyle/>
                    <a:p>
                      <a:pPr marL="0" marR="0" lvl="0" algn="ctr">
                        <a:lnSpc>
                          <a:spcPct val="150000"/>
                        </a:lnSpc>
                        <a:spcBef>
                          <a:spcPts val="0"/>
                        </a:spcBef>
                        <a:spcAft>
                          <a:spcPts val="0"/>
                        </a:spcAft>
                        <a:buNone/>
                      </a:pPr>
                      <a:r>
                        <a:rPr lang="en-US" sz="1800" b="0" i="0" u="none" strike="noStrike" noProof="0" dirty="0" err="1" smtClean="0">
                          <a:effectLst/>
                        </a:rPr>
                        <a:t>անփոփոխ</a:t>
                      </a:r>
                      <a:endParaRPr lang="hy-AM" sz="1800" b="0" i="0" u="none" strike="noStrike" noProof="0" dirty="0">
                        <a:effectLst/>
                      </a:endParaRPr>
                    </a:p>
                  </a:txBody>
                  <a:tcPr marL="0" marR="0" marT="0" marB="0" anchor="ctr"/>
                </a:tc>
                <a:extLst>
                  <a:ext uri="{0D108BD9-81ED-4DB2-BD59-A6C34878D82A}">
                    <a16:rowId xmlns:a16="http://schemas.microsoft.com/office/drawing/2014/main" val="202095632"/>
                  </a:ext>
                </a:extLst>
              </a:tr>
            </a:tbl>
          </a:graphicData>
        </a:graphic>
      </p:graphicFrame>
    </p:spTree>
    <p:extLst>
      <p:ext uri="{BB962C8B-B14F-4D97-AF65-F5344CB8AC3E}">
        <p14:creationId xmlns:p14="http://schemas.microsoft.com/office/powerpoint/2010/main" val="1012136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771813" y="163872"/>
            <a:ext cx="9043988" cy="841092"/>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2043566876"/>
              </p:ext>
            </p:extLst>
          </p:nvPr>
        </p:nvGraphicFramePr>
        <p:xfrm>
          <a:off x="899600" y="1093741"/>
          <a:ext cx="10788414" cy="5627738"/>
        </p:xfrm>
        <a:graphic>
          <a:graphicData uri="http://schemas.openxmlformats.org/drawingml/2006/table">
            <a:tbl>
              <a:tblPr>
                <a:tableStyleId>{5940675A-B579-460E-94D1-54222C63F5DA}</a:tableStyleId>
              </a:tblPr>
              <a:tblGrid>
                <a:gridCol w="2476869">
                  <a:extLst>
                    <a:ext uri="{9D8B030D-6E8A-4147-A177-3AD203B41FA5}">
                      <a16:colId xmlns:a16="http://schemas.microsoft.com/office/drawing/2014/main" val="2952469572"/>
                    </a:ext>
                  </a:extLst>
                </a:gridCol>
                <a:gridCol w="2808282">
                  <a:extLst>
                    <a:ext uri="{9D8B030D-6E8A-4147-A177-3AD203B41FA5}">
                      <a16:colId xmlns:a16="http://schemas.microsoft.com/office/drawing/2014/main" val="285192454"/>
                    </a:ext>
                  </a:extLst>
                </a:gridCol>
                <a:gridCol w="1636476">
                  <a:extLst>
                    <a:ext uri="{9D8B030D-6E8A-4147-A177-3AD203B41FA5}">
                      <a16:colId xmlns:a16="http://schemas.microsoft.com/office/drawing/2014/main" val="3509002949"/>
                    </a:ext>
                  </a:extLst>
                </a:gridCol>
                <a:gridCol w="1926455">
                  <a:extLst>
                    <a:ext uri="{9D8B030D-6E8A-4147-A177-3AD203B41FA5}">
                      <a16:colId xmlns:a16="http://schemas.microsoft.com/office/drawing/2014/main" val="3602738557"/>
                    </a:ext>
                  </a:extLst>
                </a:gridCol>
                <a:gridCol w="1940332">
                  <a:extLst>
                    <a:ext uri="{9D8B030D-6E8A-4147-A177-3AD203B41FA5}">
                      <a16:colId xmlns:a16="http://schemas.microsoft.com/office/drawing/2014/main" val="1493953762"/>
                    </a:ext>
                  </a:extLst>
                </a:gridCol>
              </a:tblGrid>
              <a:tr h="924909">
                <a:tc>
                  <a:txBody>
                    <a:bodyPr/>
                    <a:lstStyle/>
                    <a:p>
                      <a:pPr marL="0" marR="0" algn="ctr" rtl="0" latinLnBrk="0">
                        <a:lnSpc>
                          <a:spcPct val="115000"/>
                        </a:lnSpc>
                        <a:spcBef>
                          <a:spcPts val="0"/>
                        </a:spcBef>
                        <a:spcAft>
                          <a:spcPts val="0"/>
                        </a:spcAft>
                      </a:pPr>
                      <a:r>
                        <a:rPr lang="hy-AM" sz="1400" b="1">
                          <a:effectLst/>
                        </a:rPr>
                        <a:t>Պաշտոնը </a:t>
                      </a:r>
                      <a:endParaRPr lang="hy-AM" b="1">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Անունը, ազգանունը, հայրանունը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Տվյալ պաշտոնում աշխատելու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Տվյալ </a:t>
                      </a:r>
                      <a:r>
                        <a:rPr lang="hy-AM" sz="1400" err="1">
                          <a:effectLst/>
                        </a:rPr>
                        <a:t>հաստատությու-նում</a:t>
                      </a:r>
                      <a:r>
                        <a:rPr lang="hy-AM" sz="1400">
                          <a:effectLst/>
                        </a:rPr>
                        <a:t> աշխատելու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Պետական </a:t>
                      </a:r>
                      <a:r>
                        <a:rPr lang="hy-AM" sz="1400" err="1">
                          <a:effectLst/>
                        </a:rPr>
                        <a:t>պարգևները</a:t>
                      </a:r>
                      <a:r>
                        <a:rPr lang="hy-AM" sz="1400">
                          <a:effectLst/>
                        </a:rPr>
                        <a:t>, կոչումները և այլն</a:t>
                      </a:r>
                      <a:endParaRPr lang="hy-AM">
                        <a:effectLst/>
                      </a:endParaRPr>
                    </a:p>
                  </a:txBody>
                  <a:tcPr marL="0" marR="0" marT="0" marB="0" anchor="ctr"/>
                </a:tc>
                <a:extLst>
                  <a:ext uri="{0D108BD9-81ED-4DB2-BD59-A6C34878D82A}">
                    <a16:rowId xmlns:a16="http://schemas.microsoft.com/office/drawing/2014/main" val="1409183577"/>
                  </a:ext>
                </a:extLst>
              </a:tr>
              <a:tr h="969844">
                <a:tc>
                  <a:txBody>
                    <a:bodyPr/>
                    <a:lstStyle/>
                    <a:p>
                      <a:pPr marL="0" marR="0" algn="ctr" rtl="0" latinLnBrk="0">
                        <a:lnSpc>
                          <a:spcPct val="115000"/>
                        </a:lnSpc>
                        <a:spcBef>
                          <a:spcPts val="0"/>
                        </a:spcBef>
                        <a:spcAft>
                          <a:spcPts val="0"/>
                        </a:spcAft>
                      </a:pPr>
                      <a:r>
                        <a:rPr lang="hy-AM" sz="1400" b="1" dirty="0">
                          <a:effectLst/>
                        </a:rPr>
                        <a:t>Տնօրեն </a:t>
                      </a:r>
                      <a:endParaRPr lang="hy-AM" b="1" dirty="0">
                        <a:effectLst/>
                      </a:endParaRPr>
                    </a:p>
                  </a:txBody>
                  <a:tcPr marL="0" marR="0" marT="0" marB="0" anchor="ctr"/>
                </a:tc>
                <a:tc>
                  <a:txBody>
                    <a:bodyPr/>
                    <a:lstStyle/>
                    <a:p>
                      <a:pPr marL="0" marR="0" algn="ctr" rtl="0" latinLnBrk="0">
                        <a:lnSpc>
                          <a:spcPct val="115000"/>
                        </a:lnSpc>
                        <a:spcBef>
                          <a:spcPts val="0"/>
                        </a:spcBef>
                        <a:spcAft>
                          <a:spcPts val="0"/>
                        </a:spcAft>
                      </a:pPr>
                      <a:r>
                        <a:rPr lang="hy-AM" sz="1400" dirty="0" smtClean="0">
                          <a:effectLst/>
                        </a:rPr>
                        <a:t>Մարիաննա Սպարտակի Նավասարդյան</a:t>
                      </a:r>
                    </a:p>
                    <a:p>
                      <a:pPr marL="0" marR="0" algn="ctr" rtl="0" latinLnBrk="0">
                        <a:lnSpc>
                          <a:spcPct val="115000"/>
                        </a:lnSpc>
                        <a:spcBef>
                          <a:spcPts val="0"/>
                        </a:spcBef>
                        <a:spcAft>
                          <a:spcPts val="0"/>
                        </a:spcAft>
                      </a:pP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2023 թվականի նոյեմբերի 3-ից  </a:t>
                      </a:r>
                      <a:r>
                        <a:rPr lang="hy-AM" sz="1400" dirty="0">
                          <a:effectLst/>
                        </a:rPr>
                        <a:t>մինչ օրս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2012</a:t>
                      </a:r>
                      <a:r>
                        <a:rPr lang="hy-AM" sz="1400" baseline="0" dirty="0" smtClean="0">
                          <a:effectLst/>
                        </a:rPr>
                        <a:t> </a:t>
                      </a:r>
                      <a:r>
                        <a:rPr lang="hy-AM" sz="1400" dirty="0" smtClean="0">
                          <a:effectLst/>
                        </a:rPr>
                        <a:t>թվականից </a:t>
                      </a:r>
                      <a:r>
                        <a:rPr lang="hy-AM" sz="1400" dirty="0">
                          <a:effectLst/>
                        </a:rPr>
                        <a:t>մինչ օրս </a:t>
                      </a:r>
                      <a:endParaRPr lang="hy-AM" dirty="0">
                        <a:effectLst/>
                      </a:endParaRPr>
                    </a:p>
                  </a:txBody>
                  <a:tcPr marL="0" marR="0" marT="0" marB="0" anchor="ctr"/>
                </a:tc>
                <a:tc>
                  <a:txBody>
                    <a:bodyPr/>
                    <a:lstStyle/>
                    <a:p>
                      <a:pPr marL="0" marR="0" indent="0" algn="ctr" rtl="0" eaLnBrk="1" fontAlgn="auto" latinLnBrk="0" hangingPunct="1">
                        <a:lnSpc>
                          <a:spcPct val="115000"/>
                        </a:lnSpc>
                        <a:spcBef>
                          <a:spcPts val="0"/>
                        </a:spcBef>
                        <a:spcAft>
                          <a:spcPts val="0"/>
                        </a:spcAft>
                        <a:buClrTx/>
                        <a:buSzTx/>
                        <a:buFontTx/>
                        <a:buNone/>
                      </a:pPr>
                      <a:r>
                        <a:rPr lang="en-US" sz="1400" dirty="0" smtClean="0">
                          <a:effectLst/>
                        </a:rPr>
                        <a:t>I </a:t>
                      </a:r>
                      <a:r>
                        <a:rPr lang="hy-AM" sz="1400" dirty="0">
                          <a:effectLst/>
                        </a:rPr>
                        <a:t>աստիճանի տարակարգ </a:t>
                      </a:r>
                    </a:p>
                  </a:txBody>
                  <a:tcPr marL="0" marR="0" marT="0" marB="0" anchor="ctr"/>
                </a:tc>
                <a:extLst>
                  <a:ext uri="{0D108BD9-81ED-4DB2-BD59-A6C34878D82A}">
                    <a16:rowId xmlns:a16="http://schemas.microsoft.com/office/drawing/2014/main" val="4268756460"/>
                  </a:ext>
                </a:extLst>
              </a:tr>
              <a:tr h="969844">
                <a:tc>
                  <a:txBody>
                    <a:bodyPr/>
                    <a:lstStyle/>
                    <a:p>
                      <a:pPr marL="0" marR="0" algn="ctr" rtl="0" latinLnBrk="0">
                        <a:lnSpc>
                          <a:spcPct val="115000"/>
                        </a:lnSpc>
                        <a:spcBef>
                          <a:spcPts val="0"/>
                        </a:spcBef>
                        <a:spcAft>
                          <a:spcPts val="0"/>
                        </a:spcAft>
                      </a:pPr>
                      <a:r>
                        <a:rPr lang="hy-AM" sz="1400" b="1" dirty="0" smtClean="0">
                          <a:effectLst/>
                        </a:rPr>
                        <a:t>Վարչատնտեսական</a:t>
                      </a:r>
                      <a:r>
                        <a:rPr lang="hy-AM" sz="1400" b="1" baseline="0" dirty="0" smtClean="0">
                          <a:effectLst/>
                        </a:rPr>
                        <a:t> համակարգող</a:t>
                      </a:r>
                      <a:endParaRPr lang="hy-AM" sz="1400" b="1" dirty="0">
                        <a:effectLst/>
                      </a:endParaRPr>
                    </a:p>
                  </a:txBody>
                  <a:tcPr marL="0" marR="0" marT="0" marB="0" anchor="ctr"/>
                </a:tc>
                <a:tc>
                  <a:txBody>
                    <a:bodyPr/>
                    <a:lstStyle/>
                    <a:p>
                      <a:pPr marL="0" marR="0" algn="ctr" rtl="0" latinLnBrk="0">
                        <a:lnSpc>
                          <a:spcPct val="115000"/>
                        </a:lnSpc>
                        <a:spcBef>
                          <a:spcPts val="0"/>
                        </a:spcBef>
                        <a:spcAft>
                          <a:spcPts val="0"/>
                        </a:spcAft>
                      </a:pPr>
                      <a:r>
                        <a:rPr lang="hy-AM" sz="1400" dirty="0" smtClean="0">
                          <a:effectLst/>
                        </a:rPr>
                        <a:t>Կարինե</a:t>
                      </a:r>
                      <a:r>
                        <a:rPr lang="hy-AM" sz="1400" baseline="0" dirty="0" smtClean="0">
                          <a:effectLst/>
                        </a:rPr>
                        <a:t> Ժորիկի Ստեփանյան</a:t>
                      </a:r>
                      <a:endParaRPr lang="hy-AM" sz="1400"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2023 թվականի մայիսի 24-ից</a:t>
                      </a:r>
                      <a:endParaRPr lang="hy-AM" sz="1400"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2023 թվականի մայիսի 24-ից</a:t>
                      </a:r>
                    </a:p>
                    <a:p>
                      <a:pPr marL="0" marR="0" algn="ctr" rtl="0" eaLnBrk="1" latinLnBrk="0" hangingPunct="1">
                        <a:lnSpc>
                          <a:spcPct val="115000"/>
                        </a:lnSpc>
                        <a:spcBef>
                          <a:spcPts val="0"/>
                        </a:spcBef>
                        <a:spcAft>
                          <a:spcPts val="0"/>
                        </a:spcAft>
                      </a:pPr>
                      <a:endParaRPr lang="hy-AM" sz="1400" dirty="0">
                        <a:effectLst/>
                      </a:endParaRPr>
                    </a:p>
                  </a:txBody>
                  <a:tcPr marL="0" marR="0" marT="0" marB="0" anchor="ctr"/>
                </a:tc>
                <a:tc>
                  <a:txBody>
                    <a:bodyPr/>
                    <a:lstStyle/>
                    <a:p>
                      <a:pPr marL="0" marR="0" indent="0" algn="ctr" rtl="0" eaLnBrk="1" fontAlgn="auto" latinLnBrk="0" hangingPunct="1">
                        <a:lnSpc>
                          <a:spcPct val="115000"/>
                        </a:lnSpc>
                        <a:spcBef>
                          <a:spcPts val="0"/>
                        </a:spcBef>
                        <a:spcAft>
                          <a:spcPts val="0"/>
                        </a:spcAft>
                        <a:buClrTx/>
                        <a:buSzTx/>
                        <a:buFontTx/>
                        <a:buNone/>
                      </a:pPr>
                      <a:endParaRPr lang="hy-AM" sz="1400" dirty="0">
                        <a:effectLst/>
                      </a:endParaRPr>
                    </a:p>
                  </a:txBody>
                  <a:tcPr marL="0" marR="0" marT="0" marB="0" anchor="ctr"/>
                </a:tc>
                <a:extLst>
                  <a:ext uri="{0D108BD9-81ED-4DB2-BD59-A6C34878D82A}">
                    <a16:rowId xmlns:a16="http://schemas.microsoft.com/office/drawing/2014/main" val="3284172170"/>
                  </a:ext>
                </a:extLst>
              </a:tr>
              <a:tr h="1038687">
                <a:tc>
                  <a:txBody>
                    <a:bodyPr/>
                    <a:lstStyle/>
                    <a:p>
                      <a:pPr marL="0" marR="0" algn="ctr" rtl="0" latinLnBrk="0">
                        <a:spcBef>
                          <a:spcPts val="0"/>
                        </a:spcBef>
                        <a:spcAft>
                          <a:spcPts val="0"/>
                        </a:spcAft>
                      </a:pPr>
                      <a:r>
                        <a:rPr lang="hy-AM" sz="1400" b="1" dirty="0">
                          <a:effectLst/>
                        </a:rPr>
                        <a:t>Տնօրենի տեղակալ </a:t>
                      </a:r>
                      <a:r>
                        <a:rPr lang="ru-RU" sz="1400" b="1" dirty="0">
                          <a:effectLst/>
                        </a:rPr>
                        <a:t>        </a:t>
                      </a:r>
                      <a:endParaRPr lang="hy-AM" b="1" dirty="0">
                        <a:effectLst/>
                      </a:endParaRPr>
                    </a:p>
                  </a:txBody>
                  <a:tcPr marL="0" marR="0" marT="0" marB="0" anchor="ctr"/>
                </a:tc>
                <a:tc>
                  <a:txBody>
                    <a:bodyPr/>
                    <a:lstStyle/>
                    <a:p>
                      <a:pPr marL="0" marR="0" lvl="0" algn="ctr" rtl="0">
                        <a:lnSpc>
                          <a:spcPct val="114999"/>
                        </a:lnSpc>
                        <a:spcBef>
                          <a:spcPts val="0"/>
                        </a:spcBef>
                        <a:spcAft>
                          <a:spcPts val="0"/>
                        </a:spcAft>
                        <a:buNone/>
                      </a:pPr>
                      <a:r>
                        <a:rPr lang="hy-AM" sz="1400" dirty="0" smtClean="0">
                          <a:effectLst/>
                        </a:rPr>
                        <a:t>Նորա</a:t>
                      </a:r>
                      <a:r>
                        <a:rPr lang="hy-AM" sz="1400" baseline="0" dirty="0" smtClean="0">
                          <a:effectLst/>
                        </a:rPr>
                        <a:t> Վարդանի Խաչատրյան</a:t>
                      </a:r>
                      <a:endParaRPr lang="hy-AM" sz="1400" dirty="0">
                        <a:effectLst/>
                      </a:endParaRPr>
                    </a:p>
                  </a:txBody>
                  <a:tcPr marL="0" marR="0" marT="0" marB="0" anchor="ctr"/>
                </a:tc>
                <a:tc>
                  <a:txBody>
                    <a:bodyPr/>
                    <a:lstStyle/>
                    <a:p>
                      <a:pPr marL="0" marR="0" lvl="0" algn="ctr" rtl="0">
                        <a:spcBef>
                          <a:spcPts val="0"/>
                        </a:spcBef>
                        <a:spcAft>
                          <a:spcPts val="0"/>
                        </a:spcAft>
                        <a:buNone/>
                      </a:pPr>
                      <a:r>
                        <a:rPr lang="hy-AM" sz="1400" dirty="0" smtClean="0">
                          <a:effectLst/>
                        </a:rPr>
                        <a:t>2023 </a:t>
                      </a:r>
                      <a:r>
                        <a:rPr lang="hy-AM" sz="1400" dirty="0">
                          <a:effectLst/>
                        </a:rPr>
                        <a:t>թվականի</a:t>
                      </a:r>
                      <a:r>
                        <a:rPr lang="ru-RU" sz="1400" dirty="0">
                          <a:effectLst/>
                        </a:rPr>
                        <a:t> </a:t>
                      </a:r>
                      <a:r>
                        <a:rPr lang="hy-AM" sz="1400" dirty="0" smtClean="0">
                          <a:effectLst/>
                        </a:rPr>
                        <a:t>նոյեմբերի</a:t>
                      </a:r>
                      <a:r>
                        <a:rPr lang="hy-AM" sz="1400" baseline="0" dirty="0" smtClean="0">
                          <a:effectLst/>
                        </a:rPr>
                        <a:t> 3-ից</a:t>
                      </a:r>
                      <a:r>
                        <a:rPr lang="ru-RU" sz="1400" dirty="0">
                          <a:effectLst/>
                        </a:rPr>
                        <a:t> </a:t>
                      </a:r>
                      <a:r>
                        <a:rPr lang="hy-AM" sz="1400" dirty="0">
                          <a:effectLst/>
                        </a:rPr>
                        <a:t> մինչ</a:t>
                      </a:r>
                      <a:r>
                        <a:rPr lang="en-US" sz="1400" dirty="0">
                          <a:effectLst/>
                        </a:rPr>
                        <a:t> </a:t>
                      </a:r>
                      <a:r>
                        <a:rPr lang="en-US" sz="1400" dirty="0" err="1">
                          <a:effectLst/>
                        </a:rPr>
                        <a:t>օրս</a:t>
                      </a:r>
                      <a:endParaRPr lang="en-US" sz="1400" dirty="0">
                        <a:effectLst/>
                      </a:endParaRPr>
                    </a:p>
                  </a:txBody>
                  <a:tcPr marL="0" marR="0" marT="0" marB="0" anchor="ctr"/>
                </a:tc>
                <a:tc>
                  <a:txBody>
                    <a:bodyPr/>
                    <a:lstStyle/>
                    <a:p>
                      <a:pPr marL="0" marR="0" lvl="0" algn="ctr" rtl="0">
                        <a:spcBef>
                          <a:spcPts val="0"/>
                        </a:spcBef>
                        <a:spcAft>
                          <a:spcPts val="0"/>
                        </a:spcAft>
                        <a:buNone/>
                      </a:pPr>
                      <a:r>
                        <a:rPr lang="hy-AM" sz="1400" dirty="0" smtClean="0">
                          <a:effectLst/>
                        </a:rPr>
                        <a:t>2023 </a:t>
                      </a:r>
                      <a:r>
                        <a:rPr lang="hy-AM" sz="1400" dirty="0">
                          <a:effectLst/>
                        </a:rPr>
                        <a:t>թվականից մինչ</a:t>
                      </a:r>
                      <a:r>
                        <a:rPr lang="en-US" sz="1400" dirty="0">
                          <a:effectLst/>
                        </a:rPr>
                        <a:t> </a:t>
                      </a:r>
                      <a:r>
                        <a:rPr lang="en-US" sz="1400" dirty="0" err="1">
                          <a:effectLst/>
                        </a:rPr>
                        <a:t>օրս</a:t>
                      </a:r>
                      <a:endParaRPr lang="hy-AM" dirty="0">
                        <a:effectLst/>
                      </a:endParaRPr>
                    </a:p>
                  </a:txBody>
                  <a:tcPr marL="0" marR="0" marT="0" marB="0" anchor="ctr"/>
                </a:tc>
                <a:tc>
                  <a:txBody>
                    <a:bodyPr/>
                    <a:lstStyle/>
                    <a:p>
                      <a:pPr marL="0" marR="0" lvl="0" algn="ctr" rtl="0">
                        <a:lnSpc>
                          <a:spcPct val="114999"/>
                        </a:lnSpc>
                        <a:spcBef>
                          <a:spcPts val="0"/>
                        </a:spcBef>
                        <a:spcAft>
                          <a:spcPts val="0"/>
                        </a:spcAft>
                        <a:buNone/>
                      </a:pPr>
                      <a:endParaRPr lang="en-US" dirty="0"/>
                    </a:p>
                  </a:txBody>
                  <a:tcPr marL="0" marR="0" marT="0" marB="0" anchor="ctr"/>
                </a:tc>
                <a:extLst>
                  <a:ext uri="{0D108BD9-81ED-4DB2-BD59-A6C34878D82A}">
                    <a16:rowId xmlns:a16="http://schemas.microsoft.com/office/drawing/2014/main" val="59403339"/>
                  </a:ext>
                </a:extLst>
              </a:tr>
              <a:tr h="909850">
                <a:tc>
                  <a:txBody>
                    <a:bodyPr/>
                    <a:lstStyle/>
                    <a:p>
                      <a:pPr marL="0" marR="0" algn="ctr" rtl="0" latinLnBrk="0">
                        <a:spcBef>
                          <a:spcPts val="0"/>
                        </a:spcBef>
                        <a:spcAft>
                          <a:spcPts val="0"/>
                        </a:spcAft>
                      </a:pPr>
                      <a:r>
                        <a:rPr lang="hy-AM" sz="1400" b="1" dirty="0" smtClean="0">
                          <a:effectLst/>
                        </a:rPr>
                        <a:t>Մասնագիտացված </a:t>
                      </a:r>
                      <a:r>
                        <a:rPr lang="hy-AM" sz="1400" b="1" dirty="0">
                          <a:effectLst/>
                        </a:rPr>
                        <a:t>կրթական աջակցո</a:t>
                      </a:r>
                      <a:r>
                        <a:rPr lang="en-US" sz="1400" b="1" dirty="0">
                          <a:effectLst/>
                        </a:rPr>
                        <a:t>ւ</a:t>
                      </a:r>
                      <a:r>
                        <a:rPr lang="hy-AM" sz="1400" b="1" dirty="0">
                          <a:effectLst/>
                        </a:rPr>
                        <a:t>թյունների գծով </a:t>
                      </a:r>
                      <a:r>
                        <a:rPr lang="hy-AM" sz="1400" b="1" dirty="0" smtClean="0">
                          <a:effectLst/>
                        </a:rPr>
                        <a:t>համակարգող</a:t>
                      </a:r>
                      <a:endParaRPr lang="hy-AM" b="1" dirty="0">
                        <a:effectLst/>
                      </a:endParaRPr>
                    </a:p>
                  </a:txBody>
                  <a:tcPr marL="0" marR="0" marT="0" marB="0" anchor="ctr"/>
                </a:tc>
                <a:tc>
                  <a:txBody>
                    <a:bodyPr/>
                    <a:lstStyle/>
                    <a:p>
                      <a:pPr marL="0" marR="0" lvl="0" algn="ctr" rtl="0">
                        <a:lnSpc>
                          <a:spcPct val="114999"/>
                        </a:lnSpc>
                        <a:spcBef>
                          <a:spcPts val="0"/>
                        </a:spcBef>
                        <a:spcAft>
                          <a:spcPts val="0"/>
                        </a:spcAft>
                        <a:buNone/>
                      </a:pPr>
                      <a:r>
                        <a:rPr lang="ru-RU" sz="1400" dirty="0" err="1">
                          <a:effectLst/>
                        </a:rPr>
                        <a:t>Աննա</a:t>
                      </a:r>
                      <a:r>
                        <a:rPr lang="ru-RU" sz="1400" dirty="0">
                          <a:effectLst/>
                        </a:rPr>
                        <a:t> </a:t>
                      </a:r>
                      <a:r>
                        <a:rPr lang="ru-RU" sz="1400" dirty="0" err="1">
                          <a:effectLst/>
                        </a:rPr>
                        <a:t>Սամվելի</a:t>
                      </a:r>
                      <a:r>
                        <a:rPr lang="ru-RU" sz="1400" dirty="0">
                          <a:effectLst/>
                        </a:rPr>
                        <a:t> </a:t>
                      </a:r>
                      <a:r>
                        <a:rPr lang="ru-RU" sz="1400" dirty="0" err="1">
                          <a:effectLst/>
                        </a:rPr>
                        <a:t>Մանուկյան</a:t>
                      </a:r>
                      <a:endParaRPr lang="hy-AM" dirty="0">
                        <a:effectLst/>
                      </a:endParaRPr>
                    </a:p>
                  </a:txBody>
                  <a:tcPr marL="0" marR="0" marT="0" marB="0" anchor="ctr"/>
                </a:tc>
                <a:tc>
                  <a:txBody>
                    <a:bodyPr/>
                    <a:lstStyle/>
                    <a:p>
                      <a:pPr marL="0" marR="0" lvl="0" algn="ctr" rtl="0">
                        <a:spcBef>
                          <a:spcPts val="0"/>
                        </a:spcBef>
                        <a:spcAft>
                          <a:spcPts val="0"/>
                        </a:spcAft>
                        <a:buNone/>
                      </a:pPr>
                      <a:r>
                        <a:rPr lang="hy-AM" sz="1400" dirty="0">
                          <a:effectLst/>
                        </a:rPr>
                        <a:t>201</a:t>
                      </a:r>
                      <a:r>
                        <a:rPr lang="ru-RU" sz="1400" dirty="0">
                          <a:effectLst/>
                        </a:rPr>
                        <a:t>9</a:t>
                      </a:r>
                      <a:r>
                        <a:rPr lang="hy-AM" sz="1400" dirty="0">
                          <a:effectLst/>
                        </a:rPr>
                        <a:t> թվականի</a:t>
                      </a:r>
                      <a:r>
                        <a:rPr lang="ru-RU" sz="1400" dirty="0">
                          <a:effectLst/>
                        </a:rPr>
                        <a:t> </a:t>
                      </a:r>
                      <a:r>
                        <a:rPr lang="ru-RU" sz="1400" dirty="0" err="1">
                          <a:effectLst/>
                        </a:rPr>
                        <a:t>փետրվարի</a:t>
                      </a:r>
                      <a:r>
                        <a:rPr lang="ru-RU" sz="1400" dirty="0">
                          <a:effectLst/>
                        </a:rPr>
                        <a:t> 1-ից </a:t>
                      </a:r>
                      <a:r>
                        <a:rPr lang="ru-RU" sz="1400" dirty="0" err="1">
                          <a:effectLst/>
                        </a:rPr>
                        <a:t>մինչ</a:t>
                      </a:r>
                      <a:r>
                        <a:rPr lang="ru-RU" sz="1400" dirty="0">
                          <a:effectLst/>
                        </a:rPr>
                        <a:t> </a:t>
                      </a:r>
                      <a:r>
                        <a:rPr lang="ru-RU" sz="1400" dirty="0" err="1">
                          <a:effectLst/>
                        </a:rPr>
                        <a:t>օրս</a:t>
                      </a:r>
                      <a:endParaRPr lang="hy-AM" sz="1400" dirty="0">
                        <a:effectLst/>
                      </a:endParaRPr>
                    </a:p>
                  </a:txBody>
                  <a:tcPr marL="0" marR="0" marT="0" marB="0" anchor="ctr"/>
                </a:tc>
                <a:tc>
                  <a:txBody>
                    <a:bodyPr/>
                    <a:lstStyle/>
                    <a:p>
                      <a:pPr marL="0" marR="0" lvl="0" indent="0" algn="ctr" rtl="0">
                        <a:lnSpc>
                          <a:spcPct val="100000"/>
                        </a:lnSpc>
                        <a:spcBef>
                          <a:spcPts val="0"/>
                        </a:spcBef>
                        <a:spcAft>
                          <a:spcPts val="0"/>
                        </a:spcAft>
                        <a:buClrTx/>
                        <a:buSzTx/>
                        <a:buFontTx/>
                        <a:buNone/>
                      </a:pPr>
                      <a:r>
                        <a:rPr lang="hy-AM" sz="1400" dirty="0">
                          <a:effectLst/>
                        </a:rPr>
                        <a:t>20</a:t>
                      </a:r>
                      <a:r>
                        <a:rPr lang="ru-RU" sz="1400" dirty="0">
                          <a:effectLst/>
                        </a:rPr>
                        <a:t>04</a:t>
                      </a:r>
                      <a:r>
                        <a:rPr lang="hy-AM" sz="1400" dirty="0">
                          <a:effectLst/>
                        </a:rPr>
                        <a:t> թվականից մինչ</a:t>
                      </a:r>
                      <a:r>
                        <a:rPr lang="en-US" sz="1400" dirty="0">
                          <a:effectLst/>
                        </a:rPr>
                        <a:t> </a:t>
                      </a:r>
                      <a:r>
                        <a:rPr lang="en-US" sz="1400" dirty="0" err="1">
                          <a:effectLst/>
                        </a:rPr>
                        <a:t>օրս</a:t>
                      </a:r>
                      <a:endParaRPr lang="hy-AM" sz="1400" dirty="0">
                        <a:effectLst/>
                      </a:endParaRPr>
                    </a:p>
                    <a:p>
                      <a:pPr marL="0" marR="0" lvl="0" algn="ctr" rtl="0">
                        <a:spcBef>
                          <a:spcPts val="0"/>
                        </a:spcBef>
                        <a:spcAft>
                          <a:spcPts val="0"/>
                        </a:spcAft>
                        <a:buNone/>
                      </a:pPr>
                      <a:endParaRPr lang="hy-AM" dirty="0">
                        <a:effectLst/>
                      </a:endParaRPr>
                    </a:p>
                  </a:txBody>
                  <a:tcPr marL="0" marR="0" marT="0" marB="0" anchor="ctr"/>
                </a:tc>
                <a:tc>
                  <a:txBody>
                    <a:bodyPr/>
                    <a:lstStyle/>
                    <a:p>
                      <a:pPr marL="0" marR="0" lvl="0" algn="ctr">
                        <a:lnSpc>
                          <a:spcPct val="114999"/>
                        </a:lnSpc>
                        <a:spcBef>
                          <a:spcPts val="0"/>
                        </a:spcBef>
                        <a:spcAft>
                          <a:spcPts val="0"/>
                        </a:spcAft>
                        <a:buNone/>
                      </a:pPr>
                      <a:r>
                        <a:rPr lang="hy-AM" sz="1400" b="0" i="0" u="none" strike="noStrike" noProof="0">
                          <a:effectLst/>
                          <a:latin typeface="Trebuchet MS"/>
                        </a:rPr>
                        <a:t>չունի </a:t>
                      </a:r>
                      <a:endParaRPr lang="en-US"/>
                    </a:p>
                  </a:txBody>
                  <a:tcPr marL="0" marR="0" marT="0" marB="0" anchor="ctr"/>
                </a:tc>
                <a:extLst>
                  <a:ext uri="{0D108BD9-81ED-4DB2-BD59-A6C34878D82A}">
                    <a16:rowId xmlns:a16="http://schemas.microsoft.com/office/drawing/2014/main" val="3100736969"/>
                  </a:ext>
                </a:extLst>
              </a:tr>
              <a:tr h="758057">
                <a:tc>
                  <a:txBody>
                    <a:bodyPr/>
                    <a:lstStyle/>
                    <a:p>
                      <a:pPr marL="0" marR="0" algn="ctr" rtl="0" latinLnBrk="0">
                        <a:lnSpc>
                          <a:spcPct val="115000"/>
                        </a:lnSpc>
                        <a:spcBef>
                          <a:spcPts val="0"/>
                        </a:spcBef>
                        <a:spcAft>
                          <a:spcPts val="0"/>
                        </a:spcAft>
                      </a:pPr>
                      <a:r>
                        <a:rPr lang="hy-AM" sz="1400" b="1" dirty="0">
                          <a:effectLst/>
                        </a:rPr>
                        <a:t>Հաշվապահ </a:t>
                      </a:r>
                      <a:endParaRPr lang="hy-AM" b="1" dirty="0">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Ռուզաննա Միհրանի Ամիրյան </a:t>
                      </a:r>
                      <a:endParaRPr lang="hy-AM">
                        <a:effectLst/>
                      </a:endParaRPr>
                    </a:p>
                  </a:txBody>
                  <a:tcPr marL="0" marR="0" marT="0" marB="0" anchor="ctr"/>
                </a:tc>
                <a:tc>
                  <a:txBody>
                    <a:bodyPr/>
                    <a:lstStyle/>
                    <a:p>
                      <a:pPr marL="0" marR="0" algn="ctr" rtl="0" latinLnBrk="0">
                        <a:spcBef>
                          <a:spcPts val="0"/>
                        </a:spcBef>
                        <a:spcAft>
                          <a:spcPts val="0"/>
                        </a:spcAft>
                      </a:pPr>
                      <a:r>
                        <a:rPr lang="hy-AM" sz="1400" dirty="0">
                          <a:effectLst/>
                        </a:rPr>
                        <a:t>1999 թվականից մինչ օրս </a:t>
                      </a:r>
                      <a:endParaRPr lang="hy-AM" dirty="0">
                        <a:effectLst/>
                      </a:endParaRPr>
                    </a:p>
                  </a:txBody>
                  <a:tcPr marL="0" marR="0" marT="0" marB="0" anchor="ctr"/>
                </a:tc>
                <a:tc>
                  <a:txBody>
                    <a:bodyPr/>
                    <a:lstStyle/>
                    <a:p>
                      <a:pPr marL="0" marR="0" algn="ctr" rtl="0" latinLnBrk="0">
                        <a:spcBef>
                          <a:spcPts val="0"/>
                        </a:spcBef>
                        <a:spcAft>
                          <a:spcPts val="0"/>
                        </a:spcAft>
                      </a:pPr>
                      <a:r>
                        <a:rPr lang="hy-AM" sz="1400" dirty="0">
                          <a:effectLst/>
                        </a:rPr>
                        <a:t>1999 թվականից մինչ օրս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a:effectLst/>
                        </a:rPr>
                        <a:t>չունի </a:t>
                      </a:r>
                      <a:endParaRPr lang="hy-AM" dirty="0">
                        <a:effectLst/>
                      </a:endParaRPr>
                    </a:p>
                  </a:txBody>
                  <a:tcPr marL="0" marR="0" marT="0" marB="0" anchor="ctr"/>
                </a:tc>
                <a:extLst>
                  <a:ext uri="{0D108BD9-81ED-4DB2-BD59-A6C34878D82A}">
                    <a16:rowId xmlns:a16="http://schemas.microsoft.com/office/drawing/2014/main" val="179001232"/>
                  </a:ext>
                </a:extLst>
              </a:tr>
            </a:tbl>
          </a:graphicData>
        </a:graphic>
      </p:graphicFrame>
    </p:spTree>
    <p:extLst>
      <p:ext uri="{BB962C8B-B14F-4D97-AF65-F5344CB8AC3E}">
        <p14:creationId xmlns:p14="http://schemas.microsoft.com/office/powerpoint/2010/main" val="11007916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3" cstate="print"/>
          <a:stretch>
            <a:fillRect/>
          </a:stretch>
        </p:blipFill>
        <p:spPr>
          <a:xfrm>
            <a:off x="2445224" y="34119"/>
            <a:ext cx="7942566" cy="710148"/>
          </a:xfrm>
          <a:prstGeom prst="rect">
            <a:avLst/>
          </a:prstGeom>
          <a:ln>
            <a:noFill/>
          </a:ln>
          <a:effectLst>
            <a:softEdge rad="112500"/>
          </a:effectLst>
        </p:spPr>
      </p:pic>
      <p:graphicFrame>
        <p:nvGraphicFramePr>
          <p:cNvPr id="2" name="Table 1"/>
          <p:cNvGraphicFramePr/>
          <p:nvPr>
            <p:extLst>
              <p:ext uri="{D42A27DB-BD31-4B8C-83A1-F6EECF244321}">
                <p14:modId xmlns:p14="http://schemas.microsoft.com/office/powerpoint/2010/main" val="3521998392"/>
              </p:ext>
            </p:extLst>
          </p:nvPr>
        </p:nvGraphicFramePr>
        <p:xfrm>
          <a:off x="1035169" y="744267"/>
          <a:ext cx="9868952" cy="5443786"/>
        </p:xfrm>
        <a:graphic>
          <a:graphicData uri="http://schemas.openxmlformats.org/drawingml/2006/table">
            <a:tbl>
              <a:tblPr>
                <a:tableStyleId>{5940675A-B579-460E-94D1-54222C63F5DA}</a:tableStyleId>
              </a:tblPr>
              <a:tblGrid>
                <a:gridCol w="2427714">
                  <a:extLst>
                    <a:ext uri="{9D8B030D-6E8A-4147-A177-3AD203B41FA5}">
                      <a16:colId xmlns:a16="http://schemas.microsoft.com/office/drawing/2014/main" val="983039773"/>
                    </a:ext>
                  </a:extLst>
                </a:gridCol>
                <a:gridCol w="3259470">
                  <a:extLst>
                    <a:ext uri="{9D8B030D-6E8A-4147-A177-3AD203B41FA5}">
                      <a16:colId xmlns:a16="http://schemas.microsoft.com/office/drawing/2014/main" val="858340164"/>
                    </a:ext>
                  </a:extLst>
                </a:gridCol>
                <a:gridCol w="1044172">
                  <a:extLst>
                    <a:ext uri="{9D8B030D-6E8A-4147-A177-3AD203B41FA5}">
                      <a16:colId xmlns:a16="http://schemas.microsoft.com/office/drawing/2014/main" val="2610542405"/>
                    </a:ext>
                  </a:extLst>
                </a:gridCol>
                <a:gridCol w="1718220">
                  <a:extLst>
                    <a:ext uri="{9D8B030D-6E8A-4147-A177-3AD203B41FA5}">
                      <a16:colId xmlns:a16="http://schemas.microsoft.com/office/drawing/2014/main" val="565454963"/>
                    </a:ext>
                  </a:extLst>
                </a:gridCol>
                <a:gridCol w="1419376">
                  <a:extLst>
                    <a:ext uri="{9D8B030D-6E8A-4147-A177-3AD203B41FA5}">
                      <a16:colId xmlns:a16="http://schemas.microsoft.com/office/drawing/2014/main" val="2582607632"/>
                    </a:ext>
                  </a:extLst>
                </a:gridCol>
              </a:tblGrid>
              <a:tr h="826675">
                <a:tc>
                  <a:txBody>
                    <a:bodyPr/>
                    <a:lstStyle/>
                    <a:p>
                      <a:pPr marL="0" marR="0" algn="ctr" rtl="0" latinLnBrk="0">
                        <a:lnSpc>
                          <a:spcPct val="115000"/>
                        </a:lnSpc>
                        <a:spcBef>
                          <a:spcPts val="0"/>
                        </a:spcBef>
                        <a:spcAft>
                          <a:spcPts val="0"/>
                        </a:spcAft>
                      </a:pPr>
                      <a:r>
                        <a:rPr lang="hy-AM" sz="1000" dirty="0">
                          <a:effectLst/>
                          <a:latin typeface="Sylfaen" panose="010A0502050306030303" pitchFamily="18" charset="0"/>
                        </a:rPr>
                        <a:t>Անուն, ազգանուն, հայրանուն </a:t>
                      </a:r>
                    </a:p>
                  </a:txBody>
                  <a:tcPr marL="0" marR="0" marT="0" marB="0" anchor="ctr"/>
                </a:tc>
                <a:tc>
                  <a:txBody>
                    <a:bodyPr/>
                    <a:lstStyle/>
                    <a:p>
                      <a:pPr marL="0" marR="0" algn="ctr" rtl="0" latinLnBrk="0">
                        <a:lnSpc>
                          <a:spcPct val="115000"/>
                        </a:lnSpc>
                        <a:spcBef>
                          <a:spcPts val="0"/>
                        </a:spcBef>
                        <a:spcAft>
                          <a:spcPts val="0"/>
                        </a:spcAft>
                      </a:pPr>
                      <a:r>
                        <a:rPr lang="hy-AM" sz="1000">
                          <a:effectLst/>
                          <a:latin typeface="Sylfaen" panose="010A0502050306030303" pitchFamily="18" charset="0"/>
                        </a:rPr>
                        <a:t>Աշխատանքի վայրը, զբաղեցրած պաշտոնը </a:t>
                      </a:r>
                    </a:p>
                  </a:txBody>
                  <a:tcPr marL="0" marR="0" marT="0" marB="0" anchor="ctr"/>
                </a:tc>
                <a:tc>
                  <a:txBody>
                    <a:bodyPr/>
                    <a:lstStyle/>
                    <a:p>
                      <a:pPr marL="0" marR="0" algn="ctr" rtl="0" latinLnBrk="0">
                        <a:lnSpc>
                          <a:spcPct val="115000"/>
                        </a:lnSpc>
                        <a:spcBef>
                          <a:spcPts val="0"/>
                        </a:spcBef>
                        <a:spcAft>
                          <a:spcPts val="0"/>
                        </a:spcAft>
                      </a:pPr>
                      <a:r>
                        <a:rPr lang="hy-AM" sz="1000">
                          <a:effectLst/>
                          <a:latin typeface="Sylfaen" panose="010A0502050306030303" pitchFamily="18" charset="0"/>
                        </a:rPr>
                        <a:t>Կրթությունը </a:t>
                      </a:r>
                    </a:p>
                  </a:txBody>
                  <a:tcPr marL="0" marR="0" marT="0" marB="0" anchor="ctr"/>
                </a:tc>
                <a:tc>
                  <a:txBody>
                    <a:bodyPr/>
                    <a:lstStyle/>
                    <a:p>
                      <a:pPr marL="0" marR="0" algn="ctr" rtl="0" latinLnBrk="0">
                        <a:lnSpc>
                          <a:spcPct val="115000"/>
                        </a:lnSpc>
                        <a:spcBef>
                          <a:spcPts val="0"/>
                        </a:spcBef>
                        <a:spcAft>
                          <a:spcPts val="0"/>
                        </a:spcAft>
                      </a:pPr>
                      <a:r>
                        <a:rPr lang="hy-AM" sz="1000" dirty="0">
                          <a:effectLst/>
                          <a:latin typeface="Sylfaen" panose="010A0502050306030303" pitchFamily="18" charset="0"/>
                        </a:rPr>
                        <a:t>Հաստատության </a:t>
                      </a:r>
                    </a:p>
                    <a:p>
                      <a:pPr marL="0" marR="0" algn="ctr" rtl="0" latinLnBrk="0">
                        <a:lnSpc>
                          <a:spcPct val="115000"/>
                        </a:lnSpc>
                        <a:spcBef>
                          <a:spcPts val="0"/>
                        </a:spcBef>
                        <a:spcAft>
                          <a:spcPts val="0"/>
                        </a:spcAft>
                      </a:pPr>
                      <a:r>
                        <a:rPr lang="hy-AM" sz="1000" dirty="0">
                          <a:effectLst/>
                          <a:latin typeface="Sylfaen" panose="010A0502050306030303" pitchFamily="18" charset="0"/>
                        </a:rPr>
                        <a:t>խորհրդի կազմում ընդգրկված լինելու ժամանակահատվածը </a:t>
                      </a:r>
                    </a:p>
                  </a:txBody>
                  <a:tcPr marL="0" marR="0" marT="0" marB="0" anchor="ctr"/>
                </a:tc>
                <a:tc>
                  <a:txBody>
                    <a:bodyPr/>
                    <a:lstStyle/>
                    <a:p>
                      <a:pPr marL="0" marR="0" algn="ctr" rtl="0" latinLnBrk="0">
                        <a:lnSpc>
                          <a:spcPct val="115000"/>
                        </a:lnSpc>
                        <a:spcBef>
                          <a:spcPts val="0"/>
                        </a:spcBef>
                        <a:spcAft>
                          <a:spcPts val="0"/>
                        </a:spcAft>
                      </a:pPr>
                      <a:r>
                        <a:rPr lang="hy-AM" sz="1200" dirty="0">
                          <a:effectLst/>
                          <a:latin typeface="Sylfaen" panose="010A0502050306030303" pitchFamily="18" charset="0"/>
                        </a:rPr>
                        <a:t>Պետական պարգևները, կոչումները և այլն </a:t>
                      </a:r>
                      <a:endParaRPr lang="hy-AM" dirty="0">
                        <a:effectLst/>
                        <a:latin typeface="Sylfaen" panose="010A0502050306030303" pitchFamily="18" charset="0"/>
                      </a:endParaRPr>
                    </a:p>
                  </a:txBody>
                  <a:tcPr marL="0" marR="0" marT="0" marB="0" anchor="ctr"/>
                </a:tc>
                <a:extLst>
                  <a:ext uri="{0D108BD9-81ED-4DB2-BD59-A6C34878D82A}">
                    <a16:rowId xmlns:a16="http://schemas.microsoft.com/office/drawing/2014/main" val="41475991"/>
                  </a:ext>
                </a:extLst>
              </a:tr>
              <a:tr h="414105">
                <a:tc>
                  <a:txBody>
                    <a:bodyPr/>
                    <a:lstStyle/>
                    <a:p>
                      <a:pPr algn="ctr"/>
                      <a:r>
                        <a:rPr lang="en-US" sz="1000" dirty="0" err="1" smtClean="0">
                          <a:latin typeface="Sylfaen" panose="010A0502050306030303" pitchFamily="18" charset="0"/>
                        </a:rPr>
                        <a:t>Թեհմինե</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Կարախանյան</a:t>
                      </a:r>
                      <a:endParaRPr lang="ru-RU" sz="1000" dirty="0">
                        <a:latin typeface="Sylfaen" panose="010A0502050306030303" pitchFamily="18" charset="0"/>
                      </a:endParaRPr>
                    </a:p>
                  </a:txBody>
                  <a:tcPr marL="0" marR="0" marT="0" marB="0" anchor="ctr"/>
                </a:tc>
                <a:tc>
                  <a:txBody>
                    <a:bodyPr/>
                    <a:lstStyle/>
                    <a:p>
                      <a:pPr algn="ctr"/>
                      <a:r>
                        <a:rPr lang="hy-AM" sz="1000" b="0" i="0" kern="1200" dirty="0" smtClean="0">
                          <a:solidFill>
                            <a:schemeClr val="tx1"/>
                          </a:solidFill>
                          <a:effectLst/>
                          <a:latin typeface="Sylfaen" panose="010A0502050306030303" pitchFamily="18" charset="0"/>
                          <a:ea typeface="+mn-ea"/>
                          <a:cs typeface="+mn-cs"/>
                        </a:rPr>
                        <a:t>ԿԳՄՍ նախարարության հանրակրթության վարչության գլխավոր մասնագետ</a:t>
                      </a:r>
                      <a:endParaRPr lang="ru-RU"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hy-AM" sz="1000" dirty="0" smtClean="0">
                          <a:effectLst/>
                          <a:latin typeface="Sylfaen" panose="010A0502050306030303" pitchFamily="18" charset="0"/>
                        </a:rPr>
                        <a:t>բարձրագույն</a:t>
                      </a: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smtClean="0">
                        <a:latin typeface="Sylfaen" panose="010A0502050306030303" pitchFamily="18" charset="0"/>
                      </a:endParaRPr>
                    </a:p>
                  </a:txBody>
                  <a:tcPr marL="0" marR="0" marT="0" marB="0" anchor="ctr"/>
                </a:tc>
                <a:tc>
                  <a:txBody>
                    <a:bodyPr/>
                    <a:lstStyle/>
                    <a:p>
                      <a:pPr marL="0" marR="0" lvl="0" algn="ctr" rtl="0">
                        <a:lnSpc>
                          <a:spcPct val="114999"/>
                        </a:lnSpc>
                        <a:spcBef>
                          <a:spcPts val="0"/>
                        </a:spcBef>
                        <a:spcAft>
                          <a:spcPts val="0"/>
                        </a:spcAft>
                        <a:buNone/>
                      </a:pPr>
                      <a:endParaRPr lang="en-US" sz="1200" dirty="0">
                        <a:effectLst/>
                        <a:latin typeface="Sylfaen"/>
                      </a:endParaRPr>
                    </a:p>
                  </a:txBody>
                  <a:tcPr marL="0" marR="0" marT="0" marB="0" anchor="ctr"/>
                </a:tc>
                <a:extLst>
                  <a:ext uri="{0D108BD9-81ED-4DB2-BD59-A6C34878D82A}">
                    <a16:rowId xmlns:a16="http://schemas.microsoft.com/office/drawing/2014/main" val="3579521330"/>
                  </a:ext>
                </a:extLst>
              </a:tr>
              <a:tr h="438557">
                <a:tc>
                  <a:txBody>
                    <a:bodyPr/>
                    <a:lstStyle/>
                    <a:p>
                      <a:pPr marL="0" marR="0" lvl="0" algn="ctr">
                        <a:lnSpc>
                          <a:spcPct val="114999"/>
                        </a:lnSpc>
                        <a:spcBef>
                          <a:spcPts val="0"/>
                        </a:spcBef>
                        <a:spcAft>
                          <a:spcPts val="0"/>
                        </a:spcAft>
                        <a:buNone/>
                      </a:pPr>
                      <a:r>
                        <a:rPr lang="en-US" sz="1000" dirty="0" err="1" smtClean="0">
                          <a:latin typeface="Sylfaen" panose="010A0502050306030303" pitchFamily="18" charset="0"/>
                        </a:rPr>
                        <a:t>Աննա</a:t>
                      </a:r>
                      <a:r>
                        <a:rPr lang="en-US" sz="1000" dirty="0" smtClean="0">
                          <a:latin typeface="Sylfaen" panose="010A0502050306030303" pitchFamily="18" charset="0"/>
                        </a:rPr>
                        <a:t> </a:t>
                      </a:r>
                      <a:r>
                        <a:rPr lang="en-US" sz="1000" dirty="0" err="1" smtClean="0">
                          <a:latin typeface="Sylfaen" panose="010A0502050306030303" pitchFamily="18" charset="0"/>
                        </a:rPr>
                        <a:t>Խուդոյան</a:t>
                      </a: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endParaRPr lang="en-US" sz="1000" b="0" i="0" u="none" strike="noStrike" noProof="0" dirty="0" smtClean="0">
                        <a:effectLst/>
                        <a:latin typeface="Sylfaen" panose="010A0502050306030303" pitchFamily="18" charset="0"/>
                      </a:endParaRPr>
                    </a:p>
                    <a:p>
                      <a:pPr marL="0" marR="0" lvl="0" indent="0" algn="ctr" defTabSz="457200" rtl="0" eaLnBrk="1" fontAlgn="auto" latinLnBrk="0" hangingPunct="1">
                        <a:lnSpc>
                          <a:spcPct val="114999"/>
                        </a:lnSpc>
                        <a:spcBef>
                          <a:spcPts val="0"/>
                        </a:spcBef>
                        <a:spcAft>
                          <a:spcPts val="0"/>
                        </a:spcAft>
                        <a:buClrTx/>
                        <a:buSzTx/>
                        <a:buFontTx/>
                        <a:buNone/>
                        <a:tabLst/>
                        <a:defRPr/>
                      </a:pPr>
                      <a:r>
                        <a:rPr lang="en-US" sz="1000" b="0" i="0" u="none" strike="noStrike" noProof="0" dirty="0" smtClean="0">
                          <a:effectLst/>
                          <a:latin typeface="Sylfaen" panose="010A0502050306030303" pitchFamily="18" charset="0"/>
                        </a:rPr>
                        <a:t>ՀՀ ԿԳՄՍ</a:t>
                      </a:r>
                      <a:r>
                        <a:rPr lang="en-US" sz="1000" b="0" i="0" u="none" strike="noStrike" baseline="0" noProof="0" dirty="0" smtClean="0">
                          <a:effectLst/>
                          <a:latin typeface="Sylfaen" panose="010A0502050306030303" pitchFamily="18" charset="0"/>
                        </a:rPr>
                        <a:t> </a:t>
                      </a:r>
                      <a:r>
                        <a:rPr lang="en-US" sz="1000" b="0" i="0" u="none" strike="noStrike" baseline="0" noProof="0" dirty="0" err="1" smtClean="0">
                          <a:effectLst/>
                          <a:latin typeface="Sylfaen" panose="010A0502050306030303" pitchFamily="18" charset="0"/>
                        </a:rPr>
                        <a:t>նախարարության</a:t>
                      </a:r>
                      <a:r>
                        <a:rPr lang="en-US" sz="1000" b="0" i="0" u="none" strike="noStrike" baseline="0" noProof="0" dirty="0" smtClean="0">
                          <a:effectLst/>
                          <a:latin typeface="Sylfaen" panose="010A0502050306030303" pitchFamily="18" charset="0"/>
                        </a:rPr>
                        <a:t> </a:t>
                      </a:r>
                      <a:r>
                        <a:rPr lang="en-US" sz="1000" b="0" i="0" u="none" strike="noStrike" baseline="0" noProof="0" dirty="0" err="1" smtClean="0">
                          <a:effectLst/>
                          <a:latin typeface="Sylfaen" panose="010A0502050306030303" pitchFamily="18" charset="0"/>
                        </a:rPr>
                        <a:t>առաջատար</a:t>
                      </a:r>
                      <a:r>
                        <a:rPr lang="en-US" sz="1000" b="0" i="0" u="none" strike="noStrike" baseline="0" noProof="0" dirty="0" smtClean="0">
                          <a:effectLst/>
                          <a:latin typeface="Sylfaen" panose="010A0502050306030303" pitchFamily="18" charset="0"/>
                        </a:rPr>
                        <a:t> </a:t>
                      </a:r>
                      <a:r>
                        <a:rPr lang="en-US" sz="1000" b="0" i="0" u="none" strike="noStrike" baseline="0" noProof="0" dirty="0" err="1" smtClean="0">
                          <a:effectLst/>
                          <a:latin typeface="Sylfaen" panose="010A0502050306030303" pitchFamily="18" charset="0"/>
                        </a:rPr>
                        <a:t>մասնագետ</a:t>
                      </a:r>
                      <a:endParaRPr lang="ru-RU" sz="1000" dirty="0" smtClean="0">
                        <a:latin typeface="Sylfaen" panose="010A0502050306030303" pitchFamily="18" charset="0"/>
                      </a:endParaRPr>
                    </a:p>
                    <a:p>
                      <a:pPr marL="0" marR="0" lvl="0" algn="ctr" rtl="0">
                        <a:lnSpc>
                          <a:spcPct val="114999"/>
                        </a:lnSpc>
                        <a:spcBef>
                          <a:spcPts val="0"/>
                        </a:spcBef>
                        <a:spcAft>
                          <a:spcPts val="0"/>
                        </a:spcAft>
                        <a:buNone/>
                      </a:pPr>
                      <a:endParaRPr lang="hy-AM"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endParaRPr lang="en-US" sz="1000" dirty="0" smtClean="0">
                        <a:effectLst/>
                        <a:latin typeface="Sylfaen" panose="010A0502050306030303" pitchFamily="18" charset="0"/>
                      </a:endParaRPr>
                    </a:p>
                    <a:p>
                      <a:pPr marL="0" marR="0" lvl="0" indent="0" algn="ctr" defTabSz="457200" rtl="0" eaLnBrk="1" fontAlgn="auto" latinLnBrk="0" hangingPunct="1">
                        <a:lnSpc>
                          <a:spcPct val="114999"/>
                        </a:lnSpc>
                        <a:spcBef>
                          <a:spcPts val="0"/>
                        </a:spcBef>
                        <a:spcAft>
                          <a:spcPts val="0"/>
                        </a:spcAft>
                        <a:buClrTx/>
                        <a:buSzTx/>
                        <a:buFontTx/>
                        <a:buNone/>
                        <a:tabLst/>
                        <a:defRPr/>
                      </a:pPr>
                      <a:r>
                        <a:rPr lang="hy-AM" sz="1000" dirty="0" smtClean="0">
                          <a:effectLst/>
                          <a:latin typeface="Sylfaen" panose="010A0502050306030303" pitchFamily="18" charset="0"/>
                        </a:rPr>
                        <a:t>բարձրագույն</a:t>
                      </a:r>
                    </a:p>
                    <a:p>
                      <a:pPr marL="0" marR="0" lvl="0" algn="ctr" rtl="0">
                        <a:lnSpc>
                          <a:spcPct val="114999"/>
                        </a:lnSpc>
                        <a:spcBef>
                          <a:spcPts val="0"/>
                        </a:spcBef>
                        <a:spcAft>
                          <a:spcPts val="0"/>
                        </a:spcAft>
                        <a:buNone/>
                      </a:pPr>
                      <a:endParaRPr lang="hy-AM" sz="1000" dirty="0">
                        <a:effectLst/>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smtClean="0">
                        <a:latin typeface="Sylfaen" panose="010A0502050306030303" pitchFamily="18" charset="0"/>
                      </a:endParaRPr>
                    </a:p>
                  </a:txBody>
                  <a:tcPr marL="0" marR="0" marT="0" marB="0" anchor="ctr"/>
                </a:tc>
                <a:tc>
                  <a:txBody>
                    <a:bodyPr/>
                    <a:lstStyle/>
                    <a:p>
                      <a:pPr marL="0" marR="0" lvl="0" algn="ctr"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275292501"/>
                  </a:ext>
                </a:extLst>
              </a:tr>
              <a:tr h="382353">
                <a:tc>
                  <a:txBody>
                    <a:bodyPr/>
                    <a:lstStyle/>
                    <a:p>
                      <a:pPr algn="ctr"/>
                      <a:r>
                        <a:rPr lang="en-US" sz="1000" dirty="0" err="1" smtClean="0">
                          <a:latin typeface="Sylfaen" panose="010A0502050306030303" pitchFamily="18" charset="0"/>
                        </a:rPr>
                        <a:t>Վահան</a:t>
                      </a:r>
                      <a:r>
                        <a:rPr lang="en-US" sz="1000" dirty="0" smtClean="0">
                          <a:latin typeface="Sylfaen" panose="010A0502050306030303" pitchFamily="18" charset="0"/>
                        </a:rPr>
                        <a:t> </a:t>
                      </a:r>
                      <a:r>
                        <a:rPr lang="en-US" sz="1000" dirty="0" err="1" smtClean="0">
                          <a:latin typeface="Sylfaen" panose="010A0502050306030303" pitchFamily="18" charset="0"/>
                        </a:rPr>
                        <a:t>Արսենյան</a:t>
                      </a:r>
                      <a:endParaRPr lang="ru-RU" sz="1000" dirty="0">
                        <a:latin typeface="Sylfaen" panose="010A0502050306030303" pitchFamily="18" charset="0"/>
                      </a:endParaRPr>
                    </a:p>
                  </a:txBody>
                  <a:tcPr marL="0" marR="0" marT="0" marB="0" anchor="ctr"/>
                </a:tc>
                <a:tc>
                  <a:txBody>
                    <a:bodyPr/>
                    <a:lstStyle/>
                    <a:p>
                      <a:pPr algn="ctr"/>
                      <a:r>
                        <a:rPr lang="en-US" sz="1000" dirty="0" err="1" smtClean="0">
                          <a:latin typeface="Sylfaen" panose="010A0502050306030303" pitchFamily="18" charset="0"/>
                        </a:rPr>
                        <a:t>Երևանի</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քաղաքապետարանի</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հանրակրթության</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վարչության</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պետի</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տեղակալ</a:t>
                      </a:r>
                      <a:endParaRPr lang="ru-RU"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000" dirty="0" smtClean="0">
                          <a:effectLst/>
                          <a:latin typeface="Sylfaen" panose="010A0502050306030303" pitchFamily="18" charset="0"/>
                        </a:rPr>
                        <a:t>բարձրագույն</a:t>
                      </a:r>
                    </a:p>
                    <a:p>
                      <a:endParaRPr lang="ru-RU" sz="1000" dirty="0">
                        <a:latin typeface="Sylfaen" panose="010A0502050306030303" pitchFamily="18" charset="0"/>
                      </a:endParaRPr>
                    </a:p>
                  </a:txBody>
                  <a:tcPr marL="0" marR="0" marT="0" marB="0" anchor="ctr"/>
                </a:tc>
                <a:tc>
                  <a:txBody>
                    <a:bodyPr/>
                    <a:lstStyle/>
                    <a:p>
                      <a:pPr algn="ct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a:latin typeface="Sylfaen" panose="010A0502050306030303" pitchFamily="18" charset="0"/>
                      </a:endParaRPr>
                    </a:p>
                  </a:txBody>
                  <a:tcPr marL="0" marR="0" marT="0" marB="0" anchor="ctr"/>
                </a:tc>
                <a:tc>
                  <a:txBody>
                    <a:bodyPr/>
                    <a:lstStyle/>
                    <a:p>
                      <a:endParaRPr lang="ru-RU" dirty="0"/>
                    </a:p>
                  </a:txBody>
                  <a:tcPr marL="0" marR="0" marT="0" marB="0" anchor="ctr"/>
                </a:tc>
                <a:extLst>
                  <a:ext uri="{0D108BD9-81ED-4DB2-BD59-A6C34878D82A}">
                    <a16:rowId xmlns:a16="http://schemas.microsoft.com/office/drawing/2014/main" val="803713113"/>
                  </a:ext>
                </a:extLst>
              </a:tr>
              <a:tr h="461639">
                <a:tc>
                  <a:txBody>
                    <a:bodyPr/>
                    <a:lstStyle/>
                    <a:p>
                      <a:pPr marL="0" marR="0" lvl="0" algn="ctr">
                        <a:lnSpc>
                          <a:spcPct val="114999"/>
                        </a:lnSpc>
                        <a:spcBef>
                          <a:spcPts val="0"/>
                        </a:spcBef>
                        <a:spcAft>
                          <a:spcPts val="0"/>
                        </a:spcAft>
                        <a:buNone/>
                      </a:pPr>
                      <a:r>
                        <a:rPr lang="en-US" sz="1000" b="0" i="0" u="none" strike="noStrike" noProof="0" dirty="0" err="1" smtClean="0">
                          <a:effectLst/>
                          <a:latin typeface="Sylfaen" panose="010A0502050306030303" pitchFamily="18" charset="0"/>
                        </a:rPr>
                        <a:t>Մկրտչյան</a:t>
                      </a:r>
                      <a:r>
                        <a:rPr lang="en-US" sz="1000" b="0" i="0" u="none" strike="noStrike" noProof="0" dirty="0" smtClean="0">
                          <a:effectLst/>
                          <a:latin typeface="Sylfaen" panose="010A0502050306030303" pitchFamily="18" charset="0"/>
                        </a:rPr>
                        <a:t> </a:t>
                      </a:r>
                      <a:r>
                        <a:rPr lang="en-US" sz="1000" b="0" i="0" u="none" strike="noStrike" noProof="0" dirty="0" err="1">
                          <a:effectLst/>
                          <a:latin typeface="Sylfaen" panose="010A0502050306030303" pitchFamily="18" charset="0"/>
                        </a:rPr>
                        <a:t>Անահիտ</a:t>
                      </a:r>
                      <a:r>
                        <a:rPr lang="en-US" sz="1000" b="0" i="0" u="none" strike="noStrike" noProof="0" dirty="0">
                          <a:effectLst/>
                          <a:latin typeface="Sylfaen" panose="010A0502050306030303" pitchFamily="18" charset="0"/>
                        </a:rPr>
                        <a:t> </a:t>
                      </a:r>
                      <a:r>
                        <a:rPr lang="en-US" sz="1000" b="0" i="0" u="none" strike="noStrike" noProof="0" dirty="0" err="1">
                          <a:effectLst/>
                          <a:latin typeface="Sylfaen" panose="010A0502050306030303" pitchFamily="18" charset="0"/>
                        </a:rPr>
                        <a:t>Արտուշի</a:t>
                      </a:r>
                      <a:endParaRPr lang="hy" sz="1000" b="0" i="0" u="none" strike="noStrike" noProof="0" dirty="0">
                        <a:effectLst/>
                        <a:latin typeface="Sylfaen" panose="010A0502050306030303" pitchFamily="18" charset="0"/>
                      </a:endParaRPr>
                    </a:p>
                  </a:txBody>
                  <a:tcPr marL="0" marR="0" marT="0" marB="0" anchor="ctr"/>
                </a:tc>
                <a:tc>
                  <a:txBody>
                    <a:bodyPr/>
                    <a:lstStyle/>
                    <a:p>
                      <a:pPr marL="0" marR="0" lvl="0" algn="ctr" rtl="0">
                        <a:lnSpc>
                          <a:spcPct val="114999"/>
                        </a:lnSpc>
                        <a:spcBef>
                          <a:spcPts val="0"/>
                        </a:spcBef>
                        <a:spcAft>
                          <a:spcPts val="0"/>
                        </a:spcAft>
                        <a:buNone/>
                      </a:pPr>
                      <a:r>
                        <a:rPr lang="hy-AM" sz="1000" dirty="0">
                          <a:effectLst/>
                          <a:latin typeface="Sylfaen" panose="010A0502050306030303" pitchFamily="18" charset="0"/>
                        </a:rPr>
                        <a:t>Երևանի Տ. Շևչենկոյի անվան թիվ 42 ա/դ </a:t>
                      </a:r>
                      <a:r>
                        <a:rPr lang="hy-AM" sz="1000" b="0" i="0" u="none" strike="noStrike" noProof="0" dirty="0">
                          <a:effectLst/>
                          <a:latin typeface="Sylfaen" panose="010A0502050306030303" pitchFamily="18" charset="0"/>
                        </a:rPr>
                        <a:t>, </a:t>
                      </a:r>
                      <a:r>
                        <a:rPr lang="hy-AM" sz="1000" dirty="0">
                          <a:effectLst/>
                          <a:latin typeface="Sylfaen" panose="010A0502050306030303" pitchFamily="18" charset="0"/>
                        </a:rPr>
                        <a:t>ուսուցիչ</a:t>
                      </a:r>
                    </a:p>
                  </a:txBody>
                  <a:tcPr marL="0" marR="0" marT="0" marB="0" anchor="ctr"/>
                </a:tc>
                <a:tc>
                  <a:txBody>
                    <a:bodyPr/>
                    <a:lstStyle/>
                    <a:p>
                      <a:pPr marL="0" marR="0" lvl="0" algn="ctr" rtl="0">
                        <a:lnSpc>
                          <a:spcPct val="114999"/>
                        </a:lnSpc>
                        <a:spcBef>
                          <a:spcPts val="0"/>
                        </a:spcBef>
                        <a:spcAft>
                          <a:spcPts val="0"/>
                        </a:spcAft>
                        <a:buNone/>
                      </a:pPr>
                      <a:r>
                        <a:rPr lang="hy-AM" sz="1000" dirty="0">
                          <a:effectLst/>
                          <a:latin typeface="Sylfaen" panose="010A0502050306030303" pitchFamily="18" charset="0"/>
                        </a:rPr>
                        <a:t>բարձրագույն </a:t>
                      </a: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smtClean="0">
                        <a:latin typeface="Sylfaen" panose="010A0502050306030303" pitchFamily="18" charset="0"/>
                      </a:endParaRPr>
                    </a:p>
                    <a:p>
                      <a:pPr marL="0" marR="0" lvl="0" algn="ctr" rtl="0">
                        <a:lnSpc>
                          <a:spcPct val="114999"/>
                        </a:lnSpc>
                        <a:spcBef>
                          <a:spcPts val="0"/>
                        </a:spcBef>
                        <a:spcAft>
                          <a:spcPts val="0"/>
                        </a:spcAft>
                        <a:buNone/>
                      </a:pPr>
                      <a:r>
                        <a:rPr lang="en-US" sz="1000" dirty="0">
                          <a:effectLst/>
                          <a:latin typeface="Sylfaen" panose="010A0502050306030303" pitchFamily="18" charset="0"/>
                        </a:rPr>
                        <a:t> </a:t>
                      </a:r>
                    </a:p>
                  </a:txBody>
                  <a:tcPr marL="0" marR="0" marT="0" marB="0" anchor="ctr"/>
                </a:tc>
                <a:tc>
                  <a:txBody>
                    <a:bodyPr/>
                    <a:lstStyle/>
                    <a:p>
                      <a:pPr marL="0" lvl="0" algn="ctr">
                        <a:lnSpc>
                          <a:spcPct val="114999"/>
                        </a:lnSpc>
                        <a:spcBef>
                          <a:spcPts val="0"/>
                        </a:spcBef>
                        <a:spcAft>
                          <a:spcPts val="0"/>
                        </a:spcAft>
                        <a:buNone/>
                      </a:pPr>
                      <a:endParaRPr lang="en-US" sz="1200" dirty="0">
                        <a:effectLst/>
                        <a:latin typeface="Sylfaen"/>
                      </a:endParaRPr>
                    </a:p>
                  </a:txBody>
                  <a:tcPr marL="0" marR="0" marT="0" marB="0" anchor="ctr"/>
                </a:tc>
                <a:extLst>
                  <a:ext uri="{0D108BD9-81ED-4DB2-BD59-A6C34878D82A}">
                    <a16:rowId xmlns:a16="http://schemas.microsoft.com/office/drawing/2014/main" val="3920890739"/>
                  </a:ext>
                </a:extLst>
              </a:tr>
              <a:tr h="355106">
                <a:tc>
                  <a:txBody>
                    <a:bodyPr/>
                    <a:lstStyle/>
                    <a:p>
                      <a:pPr algn="ctr"/>
                      <a:r>
                        <a:rPr lang="en-US" sz="1000" dirty="0" err="1" smtClean="0">
                          <a:latin typeface="Sylfaen" panose="010A0502050306030303" pitchFamily="18" charset="0"/>
                        </a:rPr>
                        <a:t>Շուշան</a:t>
                      </a:r>
                      <a:r>
                        <a:rPr lang="en-US" sz="1000" dirty="0" smtClean="0">
                          <a:latin typeface="Sylfaen" panose="010A0502050306030303" pitchFamily="18" charset="0"/>
                        </a:rPr>
                        <a:t> </a:t>
                      </a:r>
                      <a:r>
                        <a:rPr lang="en-US" sz="1000" dirty="0" err="1" smtClean="0">
                          <a:latin typeface="Sylfaen" panose="010A0502050306030303" pitchFamily="18" charset="0"/>
                        </a:rPr>
                        <a:t>Գալստյան</a:t>
                      </a:r>
                      <a:endParaRPr lang="ru-RU" sz="1000" dirty="0">
                        <a:latin typeface="Sylfaen" panose="010A0502050306030303" pitchFamily="18" charset="0"/>
                      </a:endParaRPr>
                    </a:p>
                  </a:txBody>
                  <a:tcPr marL="0" marR="0" marT="0" marB="0" anchor="ctr"/>
                </a:tc>
                <a:tc>
                  <a:txBody>
                    <a:bodyPr/>
                    <a:lstStyle/>
                    <a:p>
                      <a:pPr algn="ctr"/>
                      <a:r>
                        <a:rPr lang="en-US" sz="1000" dirty="0" err="1" smtClean="0">
                          <a:latin typeface="Sylfaen" panose="010A0502050306030303" pitchFamily="18" charset="0"/>
                        </a:rPr>
                        <a:t>Երևանի</a:t>
                      </a:r>
                      <a:r>
                        <a:rPr lang="en-US" sz="1000" dirty="0" smtClean="0">
                          <a:latin typeface="Sylfaen" panose="010A0502050306030303" pitchFamily="18" charset="0"/>
                        </a:rPr>
                        <a:t> </a:t>
                      </a:r>
                      <a:r>
                        <a:rPr lang="en-US" sz="1000" dirty="0" err="1" smtClean="0">
                          <a:latin typeface="Sylfaen" panose="010A0502050306030303" pitchFamily="18" charset="0"/>
                        </a:rPr>
                        <a:t>թիվ</a:t>
                      </a:r>
                      <a:r>
                        <a:rPr lang="en-US" sz="1000" dirty="0" smtClean="0">
                          <a:latin typeface="Sylfaen" panose="010A0502050306030303" pitchFamily="18" charset="0"/>
                        </a:rPr>
                        <a:t> 2 </a:t>
                      </a:r>
                      <a:r>
                        <a:rPr lang="en-US" sz="1000" dirty="0" err="1" smtClean="0">
                          <a:latin typeface="Sylfaen" panose="010A0502050306030303" pitchFamily="18" charset="0"/>
                        </a:rPr>
                        <a:t>ավագ</a:t>
                      </a:r>
                      <a:r>
                        <a:rPr lang="en-US" sz="1000" dirty="0" smtClean="0">
                          <a:latin typeface="Sylfaen" panose="010A0502050306030303" pitchFamily="18" charset="0"/>
                        </a:rPr>
                        <a:t> </a:t>
                      </a:r>
                      <a:r>
                        <a:rPr lang="en-US" sz="1000" dirty="0" err="1" smtClean="0">
                          <a:latin typeface="Sylfaen" panose="010A0502050306030303" pitchFamily="18" charset="0"/>
                        </a:rPr>
                        <a:t>դպրոց</a:t>
                      </a:r>
                      <a:r>
                        <a:rPr lang="en-US" sz="1000" dirty="0" smtClean="0">
                          <a:latin typeface="Sylfaen" panose="010A0502050306030303" pitchFamily="18" charset="0"/>
                        </a:rPr>
                        <a:t>, </a:t>
                      </a:r>
                      <a:r>
                        <a:rPr lang="en-US" sz="1000" dirty="0" err="1" smtClean="0">
                          <a:latin typeface="Sylfaen" panose="010A0502050306030303" pitchFamily="18" charset="0"/>
                        </a:rPr>
                        <a:t>Հայոց</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լեզու</a:t>
                      </a:r>
                      <a:r>
                        <a:rPr lang="en-US" sz="1000" baseline="0" dirty="0" smtClean="0">
                          <a:latin typeface="Sylfaen" panose="010A0502050306030303" pitchFamily="18" charset="0"/>
                        </a:rPr>
                        <a:t> և </a:t>
                      </a:r>
                      <a:r>
                        <a:rPr lang="en-US" sz="1000" baseline="0" dirty="0" err="1" smtClean="0">
                          <a:latin typeface="Sylfaen" panose="010A0502050306030303" pitchFamily="18" charset="0"/>
                        </a:rPr>
                        <a:t>գրականություն</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առարկայի</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ուսուցիչ</a:t>
                      </a:r>
                      <a:endParaRPr lang="ru-RU"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000" dirty="0" smtClean="0">
                        <a:effectLst/>
                        <a:latin typeface="Sylfaen" panose="010A0502050306030303"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hy-AM" sz="1000" dirty="0" smtClean="0">
                          <a:effectLst/>
                          <a:latin typeface="Sylfaen" panose="010A0502050306030303" pitchFamily="18" charset="0"/>
                        </a:rPr>
                        <a:t>բարձրագույն </a:t>
                      </a:r>
                    </a:p>
                    <a:p>
                      <a:endParaRPr lang="ru-RU"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smtClean="0">
                        <a:latin typeface="Sylfaen" panose="010A0502050306030303" pitchFamily="18" charset="0"/>
                      </a:endParaRPr>
                    </a:p>
                    <a:p>
                      <a:endParaRPr lang="ru-RU" sz="1000" dirty="0">
                        <a:latin typeface="Sylfaen" panose="010A0502050306030303" pitchFamily="18" charset="0"/>
                      </a:endParaRPr>
                    </a:p>
                  </a:txBody>
                  <a:tcPr marL="0" marR="0" marT="0" marB="0" anchor="ctr"/>
                </a:tc>
                <a:tc>
                  <a:txBody>
                    <a:bodyPr/>
                    <a:lstStyle/>
                    <a:p>
                      <a:endParaRPr lang="ru-RU" dirty="0"/>
                    </a:p>
                  </a:txBody>
                  <a:tcPr marL="0" marR="0" marT="0" marB="0" anchor="ctr"/>
                </a:tc>
                <a:extLst>
                  <a:ext uri="{0D108BD9-81ED-4DB2-BD59-A6C34878D82A}">
                    <a16:rowId xmlns:a16="http://schemas.microsoft.com/office/drawing/2014/main" val="4003206849"/>
                  </a:ext>
                </a:extLst>
              </a:tr>
              <a:tr h="369680">
                <a:tc>
                  <a:txBody>
                    <a:bodyPr/>
                    <a:lstStyle/>
                    <a:p>
                      <a:pPr algn="ctr"/>
                      <a:r>
                        <a:rPr lang="en-US" sz="1000" dirty="0" err="1" smtClean="0">
                          <a:latin typeface="Sylfaen" panose="010A0502050306030303" pitchFamily="18" charset="0"/>
                        </a:rPr>
                        <a:t>Նելլի</a:t>
                      </a:r>
                      <a:r>
                        <a:rPr lang="en-US" sz="1000" dirty="0" smtClean="0">
                          <a:latin typeface="Sylfaen" panose="010A0502050306030303" pitchFamily="18" charset="0"/>
                        </a:rPr>
                        <a:t> </a:t>
                      </a:r>
                      <a:r>
                        <a:rPr lang="en-US" sz="1000" dirty="0" err="1" smtClean="0">
                          <a:latin typeface="Sylfaen" panose="010A0502050306030303" pitchFamily="18" charset="0"/>
                        </a:rPr>
                        <a:t>Այվազյան</a:t>
                      </a:r>
                      <a:endParaRPr lang="ru-RU" sz="1000" dirty="0">
                        <a:latin typeface="Sylfaen" panose="010A0502050306030303" pitchFamily="18" charset="0"/>
                      </a:endParaRPr>
                    </a:p>
                  </a:txBody>
                  <a:tcPr marL="0" marR="0" marT="0" marB="0" anchor="ctr"/>
                </a:tc>
                <a:tc>
                  <a:txBody>
                    <a:bodyPr/>
                    <a:lstStyle/>
                    <a:p>
                      <a:pPr algn="ctr"/>
                      <a:r>
                        <a:rPr lang="en-US" sz="1000" dirty="0" err="1" smtClean="0">
                          <a:latin typeface="Sylfaen" panose="010A0502050306030303" pitchFamily="18" charset="0"/>
                        </a:rPr>
                        <a:t>Երևանի</a:t>
                      </a:r>
                      <a:r>
                        <a:rPr lang="en-US" sz="1000" dirty="0" smtClean="0">
                          <a:latin typeface="Sylfaen" panose="010A0502050306030303" pitchFamily="18" charset="0"/>
                        </a:rPr>
                        <a:t> Ա. </a:t>
                      </a:r>
                      <a:r>
                        <a:rPr lang="en-US" sz="1000" dirty="0" err="1" smtClean="0">
                          <a:latin typeface="Sylfaen" panose="010A0502050306030303" pitchFamily="18" charset="0"/>
                        </a:rPr>
                        <a:t>Մարգարյանի</a:t>
                      </a:r>
                      <a:r>
                        <a:rPr lang="en-US" sz="1000" dirty="0" smtClean="0">
                          <a:latin typeface="Sylfaen" panose="010A0502050306030303" pitchFamily="18" charset="0"/>
                        </a:rPr>
                        <a:t> </a:t>
                      </a:r>
                      <a:r>
                        <a:rPr lang="en-US" sz="1000" dirty="0" err="1" smtClean="0">
                          <a:latin typeface="Sylfaen" panose="010A0502050306030303" pitchFamily="18" charset="0"/>
                        </a:rPr>
                        <a:t>անվան</a:t>
                      </a:r>
                      <a:r>
                        <a:rPr lang="en-US" sz="1000" dirty="0" smtClean="0">
                          <a:latin typeface="Sylfaen" panose="010A0502050306030303" pitchFamily="18" charset="0"/>
                        </a:rPr>
                        <a:t> </a:t>
                      </a:r>
                      <a:r>
                        <a:rPr lang="en-US" sz="1000" dirty="0" err="1" smtClean="0">
                          <a:latin typeface="Sylfaen" panose="010A0502050306030303" pitchFamily="18" charset="0"/>
                        </a:rPr>
                        <a:t>թիվ</a:t>
                      </a:r>
                      <a:r>
                        <a:rPr lang="en-US" sz="1000" dirty="0" smtClean="0">
                          <a:latin typeface="Sylfaen" panose="010A0502050306030303" pitchFamily="18" charset="0"/>
                        </a:rPr>
                        <a:t> 29</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ավագ</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դպրոց</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ուսուցիչ</a:t>
                      </a:r>
                      <a:r>
                        <a:rPr lang="en-US" sz="1000" baseline="0" dirty="0" smtClean="0">
                          <a:latin typeface="Sylfaen" panose="010A0502050306030303" pitchFamily="18" charset="0"/>
                        </a:rPr>
                        <a:t>, ԴԱԿ</a:t>
                      </a:r>
                      <a:endParaRPr lang="ru-RU" sz="1000" dirty="0">
                        <a:latin typeface="Sylfaen" panose="010A0502050306030303" pitchFamily="18" charset="0"/>
                      </a:endParaRPr>
                    </a:p>
                  </a:txBody>
                  <a:tcPr marL="0" marR="0" marT="0" marB="0" anchor="ctr"/>
                </a:tc>
                <a:tc>
                  <a:txBody>
                    <a:bodyPr/>
                    <a:lstStyle/>
                    <a:p>
                      <a:pPr algn="ctr"/>
                      <a:r>
                        <a:rPr lang="hy-AM" sz="1000" dirty="0" smtClean="0">
                          <a:effectLst/>
                          <a:latin typeface="Sylfaen" panose="010A0502050306030303" pitchFamily="18" charset="0"/>
                        </a:rPr>
                        <a:t>բարձրագույն</a:t>
                      </a:r>
                      <a:endParaRPr lang="ru-RU"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smtClean="0">
                        <a:latin typeface="Sylfaen" panose="010A0502050306030303" pitchFamily="18" charset="0"/>
                      </a:endParaRPr>
                    </a:p>
                    <a:p>
                      <a:pPr algn="ctr"/>
                      <a:endParaRPr lang="ru-RU" sz="1000" dirty="0">
                        <a:latin typeface="Sylfaen" panose="010A0502050306030303" pitchFamily="18" charset="0"/>
                      </a:endParaRPr>
                    </a:p>
                  </a:txBody>
                  <a:tcPr marL="0" marR="0" marT="0" marB="0" anchor="ctr"/>
                </a:tc>
                <a:tc>
                  <a:txBody>
                    <a:bodyPr/>
                    <a:lstStyle/>
                    <a:p>
                      <a:pPr marL="0" marR="0" lvl="0" algn="ctr" rtl="0">
                        <a:lnSpc>
                          <a:spcPct val="114999"/>
                        </a:lnSpc>
                        <a:spcBef>
                          <a:spcPts val="0"/>
                        </a:spcBef>
                        <a:spcAft>
                          <a:spcPts val="0"/>
                        </a:spcAft>
                        <a:buNone/>
                      </a:pPr>
                      <a:endParaRPr lang="en-US" sz="1200" dirty="0">
                        <a:effectLst/>
                        <a:latin typeface="Sylfaen"/>
                      </a:endParaRPr>
                    </a:p>
                  </a:txBody>
                  <a:tcPr marL="0" marR="0" marT="0" marB="0" anchor="ctr"/>
                </a:tc>
                <a:extLst>
                  <a:ext uri="{0D108BD9-81ED-4DB2-BD59-A6C34878D82A}">
                    <a16:rowId xmlns:a16="http://schemas.microsoft.com/office/drawing/2014/main" val="3588569877"/>
                  </a:ext>
                </a:extLst>
              </a:tr>
              <a:tr h="414292">
                <a:tc>
                  <a:txBody>
                    <a:bodyPr/>
                    <a:lstStyle/>
                    <a:p>
                      <a:pPr marL="0" marR="0" lvl="0" algn="ctr">
                        <a:lnSpc>
                          <a:spcPct val="114999"/>
                        </a:lnSpc>
                        <a:spcBef>
                          <a:spcPts val="0"/>
                        </a:spcBef>
                        <a:spcAft>
                          <a:spcPts val="0"/>
                        </a:spcAft>
                        <a:buNone/>
                      </a:pPr>
                      <a:r>
                        <a:rPr lang="en-US" sz="1000" dirty="0" err="1" smtClean="0">
                          <a:latin typeface="Sylfaen" panose="010A0502050306030303" pitchFamily="18" charset="0"/>
                        </a:rPr>
                        <a:t>Նարինե</a:t>
                      </a:r>
                      <a:r>
                        <a:rPr lang="en-US" sz="1000" dirty="0" smtClean="0">
                          <a:latin typeface="Sylfaen" panose="010A0502050306030303" pitchFamily="18" charset="0"/>
                        </a:rPr>
                        <a:t> </a:t>
                      </a:r>
                      <a:r>
                        <a:rPr lang="en-US" sz="1000" dirty="0" err="1" smtClean="0">
                          <a:latin typeface="Sylfaen" panose="010A0502050306030303" pitchFamily="18" charset="0"/>
                        </a:rPr>
                        <a:t>Մալախյան</a:t>
                      </a:r>
                      <a:endParaRPr lang="en-US" sz="1000" dirty="0">
                        <a:latin typeface="Sylfaen" panose="010A0502050306030303" pitchFamily="18" charset="0"/>
                      </a:endParaRPr>
                    </a:p>
                  </a:txBody>
                  <a:tcPr marL="0" marR="0" marT="0" marB="0" anchor="ctr"/>
                </a:tc>
                <a:tc>
                  <a:txBody>
                    <a:bodyPr/>
                    <a:lstStyle/>
                    <a:p>
                      <a:pPr algn="ctr"/>
                      <a:r>
                        <a:rPr lang="en-US" sz="1000" dirty="0" err="1" smtClean="0">
                          <a:latin typeface="Sylfaen" panose="010A0502050306030303" pitchFamily="18" charset="0"/>
                        </a:rPr>
                        <a:t>Երևանի</a:t>
                      </a:r>
                      <a:r>
                        <a:rPr lang="en-US" sz="1000" dirty="0" smtClean="0">
                          <a:latin typeface="Sylfaen" panose="010A0502050306030303" pitchFamily="18" charset="0"/>
                        </a:rPr>
                        <a:t> Խ. </a:t>
                      </a:r>
                      <a:r>
                        <a:rPr lang="en-US" sz="1000" dirty="0" err="1" smtClean="0">
                          <a:latin typeface="Sylfaen" panose="010A0502050306030303" pitchFamily="18" charset="0"/>
                        </a:rPr>
                        <a:t>Դաշտենցի</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անվան</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թիվ</a:t>
                      </a:r>
                      <a:r>
                        <a:rPr lang="en-US" sz="1000" baseline="0" dirty="0" smtClean="0">
                          <a:latin typeface="Sylfaen" panose="010A0502050306030303" pitchFamily="18" charset="0"/>
                        </a:rPr>
                        <a:t> 114 </a:t>
                      </a:r>
                      <a:r>
                        <a:rPr lang="en-US" sz="1000" baseline="0" dirty="0" err="1" smtClean="0">
                          <a:latin typeface="Sylfaen" panose="010A0502050306030303" pitchFamily="18" charset="0"/>
                        </a:rPr>
                        <a:t>ավագ</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դպրոց</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հայոց</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լեզու</a:t>
                      </a:r>
                      <a:r>
                        <a:rPr lang="en-US" sz="1000" baseline="0" dirty="0" smtClean="0">
                          <a:latin typeface="Sylfaen" panose="010A0502050306030303" pitchFamily="18" charset="0"/>
                        </a:rPr>
                        <a:t> և </a:t>
                      </a:r>
                      <a:r>
                        <a:rPr lang="en-US" sz="1000" baseline="0" dirty="0" err="1" smtClean="0">
                          <a:latin typeface="Sylfaen" panose="010A0502050306030303" pitchFamily="18" charset="0"/>
                        </a:rPr>
                        <a:t>գրականություն</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առարկայի</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ուսուցիչ</a:t>
                      </a:r>
                      <a:endParaRPr lang="ru-RU" sz="1000" dirty="0">
                        <a:latin typeface="Sylfaen" panose="010A0502050306030303" pitchFamily="18" charset="0"/>
                      </a:endParaRPr>
                    </a:p>
                  </a:txBody>
                  <a:tcPr marL="0" marR="0" marT="0" marB="0" anchor="ctr"/>
                </a:tc>
                <a:tc>
                  <a:txBody>
                    <a:bodyPr/>
                    <a:lstStyle/>
                    <a:p>
                      <a:pPr algn="ctr"/>
                      <a:r>
                        <a:rPr lang="hy-AM" sz="1000" dirty="0" smtClean="0">
                          <a:effectLst/>
                          <a:latin typeface="Sylfaen" panose="010A0502050306030303" pitchFamily="18" charset="0"/>
                        </a:rPr>
                        <a:t>բարձրագույն</a:t>
                      </a:r>
                      <a:endParaRPr lang="ru-RU"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smtClean="0">
                          <a:latin typeface="Sylfaen" panose="010A0502050306030303" pitchFamily="18" charset="0"/>
                        </a:rPr>
                        <a:t>2024թ.</a:t>
                      </a:r>
                      <a:r>
                        <a:rPr lang="en-US" sz="1000" baseline="0" dirty="0" smtClean="0">
                          <a:latin typeface="Sylfaen" panose="010A0502050306030303" pitchFamily="18" charset="0"/>
                        </a:rPr>
                        <a:t> </a:t>
                      </a:r>
                      <a:r>
                        <a:rPr lang="en-US" sz="1000" baseline="0" dirty="0" err="1" smtClean="0">
                          <a:latin typeface="Sylfaen" panose="010A0502050306030303" pitchFamily="18" charset="0"/>
                        </a:rPr>
                        <a:t>առ</a:t>
                      </a:r>
                      <a:r>
                        <a:rPr lang="en-US" sz="1000" dirty="0" smtClean="0">
                          <a:latin typeface="Sylfaen" panose="010A0502050306030303" pitchFamily="18" charset="0"/>
                        </a:rPr>
                        <a:t> </a:t>
                      </a:r>
                      <a:r>
                        <a:rPr lang="en-US" sz="1000" dirty="0" err="1" smtClean="0">
                          <a:latin typeface="Sylfaen" panose="010A0502050306030303" pitchFamily="18" charset="0"/>
                        </a:rPr>
                        <a:t>այսօր</a:t>
                      </a:r>
                      <a:endParaRPr lang="ru-RU" sz="1000" dirty="0" smtClean="0">
                        <a:latin typeface="Sylfaen" panose="010A0502050306030303" pitchFamily="18" charset="0"/>
                      </a:endParaRPr>
                    </a:p>
                  </a:txBody>
                  <a:tcPr marL="0" marR="0" marT="0" marB="0" anchor="ctr"/>
                </a:tc>
                <a:tc>
                  <a:txBody>
                    <a:bodyPr/>
                    <a:lstStyle/>
                    <a:p>
                      <a:endParaRPr lang="ru-RU" dirty="0"/>
                    </a:p>
                  </a:txBody>
                  <a:tcPr marL="0" marR="0" marT="0" marB="0" anchor="ctr"/>
                </a:tc>
                <a:extLst>
                  <a:ext uri="{0D108BD9-81ED-4DB2-BD59-A6C34878D82A}">
                    <a16:rowId xmlns:a16="http://schemas.microsoft.com/office/drawing/2014/main" val="4029197082"/>
                  </a:ext>
                </a:extLst>
              </a:tr>
              <a:tr h="399495">
                <a:tc>
                  <a:txBody>
                    <a:bodyPr/>
                    <a:lstStyle/>
                    <a:p>
                      <a:pPr marL="0" marR="0" lvl="0" algn="ctr">
                        <a:lnSpc>
                          <a:spcPct val="114999"/>
                        </a:lnSpc>
                        <a:spcBef>
                          <a:spcPts val="0"/>
                        </a:spcBef>
                        <a:spcAft>
                          <a:spcPts val="0"/>
                        </a:spcAft>
                        <a:buNone/>
                      </a:pPr>
                      <a:r>
                        <a:rPr lang="hy-AM" sz="1000" b="0" i="0" u="none" strike="noStrike" noProof="0" dirty="0" smtClean="0">
                          <a:effectLst/>
                          <a:latin typeface="Sylfaen" panose="010A0502050306030303" pitchFamily="18" charset="0"/>
                        </a:rPr>
                        <a:t>Վարդանյան</a:t>
                      </a:r>
                      <a:r>
                        <a:rPr lang="hy-AM" sz="1000" b="0" i="0" u="none" strike="noStrike" baseline="0" noProof="0" dirty="0" smtClean="0">
                          <a:effectLst/>
                          <a:latin typeface="Sylfaen" panose="010A0502050306030303" pitchFamily="18" charset="0"/>
                        </a:rPr>
                        <a:t> Սուսաննա</a:t>
                      </a:r>
                      <a:endParaRPr lang="en-US" sz="1000" dirty="0">
                        <a:latin typeface="Sylfaen" panose="010A0502050306030303" pitchFamily="18" charset="0"/>
                      </a:endParaRPr>
                    </a:p>
                  </a:txBody>
                  <a:tcPr marL="0" marR="0" marT="0" marB="0" anchor="ctr"/>
                </a:tc>
                <a:tc>
                  <a:txBody>
                    <a:bodyPr/>
                    <a:lstStyle/>
                    <a:p>
                      <a:pPr marL="0" marR="0" lvl="0" algn="ctr">
                        <a:lnSpc>
                          <a:spcPct val="114999"/>
                        </a:lnSpc>
                        <a:spcBef>
                          <a:spcPts val="0"/>
                        </a:spcBef>
                        <a:spcAft>
                          <a:spcPts val="0"/>
                        </a:spcAft>
                        <a:buNone/>
                      </a:pPr>
                      <a:r>
                        <a:rPr lang="en-US" sz="1000" b="0" i="0" u="none" strike="noStrike" noProof="0" dirty="0" err="1">
                          <a:effectLst/>
                          <a:latin typeface="Sylfaen" panose="010A0502050306030303" pitchFamily="18" charset="0"/>
                        </a:rPr>
                        <a:t>չի</a:t>
                      </a:r>
                      <a:r>
                        <a:rPr lang="en-US" sz="1000" b="0" i="0" u="none" strike="noStrike" noProof="0" dirty="0">
                          <a:effectLst/>
                          <a:latin typeface="Sylfaen" panose="010A0502050306030303" pitchFamily="18" charset="0"/>
                        </a:rPr>
                        <a:t> </a:t>
                      </a:r>
                      <a:r>
                        <a:rPr lang="en-US" sz="1000" b="0" i="0" u="none" strike="noStrike" noProof="0" dirty="0" err="1">
                          <a:effectLst/>
                          <a:latin typeface="Sylfaen" panose="010A0502050306030303" pitchFamily="18" charset="0"/>
                        </a:rPr>
                        <a:t>աշխատում</a:t>
                      </a:r>
                      <a:r>
                        <a:rPr lang="en-US" sz="1000" b="0" i="0" u="none" strike="noStrike" noProof="0" dirty="0">
                          <a:effectLst/>
                          <a:latin typeface="Sylfaen" panose="010A0502050306030303" pitchFamily="18" charset="0"/>
                        </a:rPr>
                        <a:t> </a:t>
                      </a:r>
                      <a:endParaRPr lang="en-US" sz="1000" dirty="0">
                        <a:latin typeface="Sylfaen" panose="010A0502050306030303" pitchFamily="18" charset="0"/>
                      </a:endParaRPr>
                    </a:p>
                  </a:txBody>
                  <a:tcPr marL="0" marR="0" marT="0" marB="0" anchor="ctr"/>
                </a:tc>
                <a:tc>
                  <a:txBody>
                    <a:bodyPr/>
                    <a:lstStyle/>
                    <a:p>
                      <a:pPr marL="0" marR="0" lvl="0" algn="ctr">
                        <a:lnSpc>
                          <a:spcPct val="114999"/>
                        </a:lnSpc>
                        <a:spcBef>
                          <a:spcPts val="0"/>
                        </a:spcBef>
                        <a:spcAft>
                          <a:spcPts val="0"/>
                        </a:spcAft>
                        <a:buNone/>
                      </a:pPr>
                      <a:r>
                        <a:rPr lang="en-US" sz="1000" b="0" i="0" u="none" strike="noStrike" noProof="0" dirty="0">
                          <a:effectLst/>
                          <a:latin typeface="Sylfaen" panose="010A0502050306030303" pitchFamily="18" charset="0"/>
                        </a:rPr>
                        <a:t>մ/մ</a:t>
                      </a:r>
                      <a:r>
                        <a:rPr lang="hy-AM" sz="1000" b="0" i="0" u="none" strike="noStrike" noProof="0" dirty="0">
                          <a:effectLst/>
                          <a:latin typeface="Sylfaen" panose="010A0502050306030303" pitchFamily="18" charset="0"/>
                        </a:rPr>
                        <a:t> </a:t>
                      </a: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smtClean="0">
                          <a:ln>
                            <a:noFill/>
                          </a:ln>
                          <a:solidFill>
                            <a:prstClr val="black"/>
                          </a:solidFill>
                          <a:effectLst/>
                          <a:uLnTx/>
                          <a:uFillTx/>
                          <a:latin typeface="Sylfaen" panose="010A0502050306030303" pitchFamily="18" charset="0"/>
                          <a:ea typeface="+mn-ea"/>
                          <a:cs typeface="+mn-cs"/>
                        </a:rPr>
                        <a:t>2024թ. առ այսօր</a:t>
                      </a:r>
                      <a:endParaRPr kumimoji="0" lang="ru-RU" sz="1000" b="0" i="0" u="none" strike="noStrike" kern="1200" cap="none" spc="0" normalizeH="0" baseline="0" noProof="0" dirty="0" smtClean="0">
                        <a:ln>
                          <a:noFill/>
                        </a:ln>
                        <a:solidFill>
                          <a:prstClr val="black"/>
                        </a:solidFill>
                        <a:effectLst/>
                        <a:uLnTx/>
                        <a:uFillTx/>
                        <a:latin typeface="Sylfaen" panose="010A0502050306030303" pitchFamily="18" charset="0"/>
                        <a:ea typeface="+mn-ea"/>
                        <a:cs typeface="+mn-cs"/>
                      </a:endParaRPr>
                    </a:p>
                  </a:txBody>
                  <a:tcPr marL="0" marR="0" marT="0" marB="0" anchor="ctr"/>
                </a:tc>
                <a:tc>
                  <a:txBody>
                    <a:bodyPr/>
                    <a:lstStyle/>
                    <a:p>
                      <a:pPr marL="0" marR="0" lvl="0" algn="ctr">
                        <a:lnSpc>
                          <a:spcPct val="114999"/>
                        </a:lnSpc>
                        <a:spcBef>
                          <a:spcPts val="0"/>
                        </a:spcBef>
                        <a:spcAft>
                          <a:spcPts val="0"/>
                        </a:spcAft>
                        <a:buNone/>
                      </a:pPr>
                      <a:endParaRPr lang="en-US" dirty="0"/>
                    </a:p>
                  </a:txBody>
                  <a:tcPr marL="0" marR="0" marT="0" marB="0" anchor="ctr"/>
                </a:tc>
                <a:extLst>
                  <a:ext uri="{0D108BD9-81ED-4DB2-BD59-A6C34878D82A}">
                    <a16:rowId xmlns:a16="http://schemas.microsoft.com/office/drawing/2014/main" val="2549741924"/>
                  </a:ext>
                </a:extLst>
              </a:tr>
              <a:tr h="399495">
                <a:tc>
                  <a:txBody>
                    <a:bodyPr/>
                    <a:lstStyle/>
                    <a:p>
                      <a:pPr marL="0" marR="0" lvl="0" algn="ctr">
                        <a:lnSpc>
                          <a:spcPct val="114999"/>
                        </a:lnSpc>
                        <a:spcBef>
                          <a:spcPts val="0"/>
                        </a:spcBef>
                        <a:spcAft>
                          <a:spcPts val="0"/>
                        </a:spcAft>
                        <a:buNone/>
                      </a:pPr>
                      <a:r>
                        <a:rPr lang="en-US" sz="1000" dirty="0" err="1" smtClean="0">
                          <a:latin typeface="Sylfaen" panose="010A0502050306030303" pitchFamily="18" charset="0"/>
                        </a:rPr>
                        <a:t>Լուսինե</a:t>
                      </a:r>
                      <a:r>
                        <a:rPr lang="en-US" sz="1000" dirty="0" smtClean="0">
                          <a:latin typeface="Sylfaen" panose="010A0502050306030303" pitchFamily="18" charset="0"/>
                        </a:rPr>
                        <a:t> </a:t>
                      </a:r>
                      <a:r>
                        <a:rPr lang="en-US" sz="1000" dirty="0" err="1" smtClean="0">
                          <a:latin typeface="Sylfaen" panose="010A0502050306030303" pitchFamily="18" charset="0"/>
                        </a:rPr>
                        <a:t>Պողոսյան</a:t>
                      </a:r>
                      <a:endParaRPr lang="en-US" sz="1000" dirty="0">
                        <a:latin typeface="Sylfaen" panose="010A0502050306030303" pitchFamily="18" charset="0"/>
                      </a:endParaRPr>
                    </a:p>
                  </a:txBody>
                  <a:tcPr marL="0" marR="0" marT="0" marB="0" anchor="ctr"/>
                </a:tc>
                <a:tc>
                  <a:txBody>
                    <a:bodyPr/>
                    <a:lstStyle/>
                    <a:p>
                      <a:pPr marL="0" marR="0" lvl="0" algn="ctr">
                        <a:lnSpc>
                          <a:spcPct val="114999"/>
                        </a:lnSpc>
                        <a:spcBef>
                          <a:spcPts val="0"/>
                        </a:spcBef>
                        <a:spcAft>
                          <a:spcPts val="0"/>
                        </a:spcAft>
                        <a:buNone/>
                      </a:pPr>
                      <a:r>
                        <a:rPr lang="en-US" sz="1000" dirty="0" err="1" smtClean="0">
                          <a:latin typeface="Sylfaen" panose="010A0502050306030303" pitchFamily="18" charset="0"/>
                        </a:rPr>
                        <a:t>Երևանի</a:t>
                      </a:r>
                      <a:r>
                        <a:rPr lang="en-US" sz="1000" dirty="0" smtClean="0">
                          <a:latin typeface="Sylfaen" panose="010A0502050306030303" pitchFamily="18" charset="0"/>
                        </a:rPr>
                        <a:t> </a:t>
                      </a:r>
                      <a:r>
                        <a:rPr lang="en-US" sz="1000" dirty="0" err="1" smtClean="0">
                          <a:latin typeface="Sylfaen" panose="010A0502050306030303" pitchFamily="18" charset="0"/>
                        </a:rPr>
                        <a:t>կոնյակի</a:t>
                      </a:r>
                      <a:r>
                        <a:rPr lang="en-US" sz="1000" dirty="0" smtClean="0">
                          <a:latin typeface="Sylfaen" panose="010A0502050306030303" pitchFamily="18" charset="0"/>
                        </a:rPr>
                        <a:t> </a:t>
                      </a:r>
                      <a:r>
                        <a:rPr lang="en-US" sz="1000" dirty="0" err="1" smtClean="0">
                          <a:latin typeface="Sylfaen" panose="010A0502050306030303" pitchFamily="18" charset="0"/>
                        </a:rPr>
                        <a:t>գործարան</a:t>
                      </a: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hy-AM" sz="1000" dirty="0" smtClean="0">
                          <a:effectLst/>
                          <a:latin typeface="Sylfaen" panose="010A0502050306030303" pitchFamily="18" charset="0"/>
                        </a:rPr>
                        <a:t>բարձրագույն</a:t>
                      </a:r>
                      <a:endParaRPr lang="ru-RU" sz="1000" dirty="0" smtClean="0">
                        <a:latin typeface="Sylfaen" panose="010A0502050306030303" pitchFamily="18" charset="0"/>
                      </a:endParaRPr>
                    </a:p>
                    <a:p>
                      <a:pPr marL="0" marR="0" lvl="0" algn="ctr">
                        <a:lnSpc>
                          <a:spcPct val="114999"/>
                        </a:lnSpc>
                        <a:spcBef>
                          <a:spcPts val="0"/>
                        </a:spcBef>
                        <a:spcAft>
                          <a:spcPts val="0"/>
                        </a:spcAft>
                        <a:buNone/>
                      </a:pPr>
                      <a:r>
                        <a:rPr lang="en-US" sz="1000" b="0" i="0" u="none" strike="noStrike" noProof="0" dirty="0">
                          <a:effectLst/>
                          <a:latin typeface="Sylfaen" panose="010A0502050306030303" pitchFamily="18" charset="0"/>
                        </a:rPr>
                        <a:t> </a:t>
                      </a: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smtClean="0">
                          <a:ln>
                            <a:noFill/>
                          </a:ln>
                          <a:solidFill>
                            <a:prstClr val="black"/>
                          </a:solidFill>
                          <a:effectLst/>
                          <a:uLnTx/>
                          <a:uFillTx/>
                          <a:latin typeface="Sylfaen" panose="010A0502050306030303" pitchFamily="18" charset="0"/>
                          <a:ea typeface="+mn-ea"/>
                          <a:cs typeface="+mn-cs"/>
                        </a:rPr>
                        <a:t>2024թ. առ այսօր</a:t>
                      </a:r>
                      <a:endParaRPr kumimoji="0" lang="ru-RU" sz="1000" b="0" i="0" u="none" strike="noStrike" kern="1200" cap="none" spc="0" normalizeH="0" baseline="0" noProof="0" dirty="0" smtClean="0">
                        <a:ln>
                          <a:noFill/>
                        </a:ln>
                        <a:solidFill>
                          <a:prstClr val="black"/>
                        </a:solidFill>
                        <a:effectLst/>
                        <a:uLnTx/>
                        <a:uFillTx/>
                        <a:latin typeface="Sylfaen" panose="010A0502050306030303" pitchFamily="18" charset="0"/>
                        <a:ea typeface="+mn-ea"/>
                        <a:cs typeface="+mn-cs"/>
                      </a:endParaRPr>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a:effectLst/>
                        </a:rPr>
                        <a:t> </a:t>
                      </a:r>
                      <a:endParaRPr lang="en-US" dirty="0"/>
                    </a:p>
                  </a:txBody>
                  <a:tcPr marL="0" marR="0" marT="0" marB="0" anchor="ctr"/>
                </a:tc>
                <a:extLst>
                  <a:ext uri="{0D108BD9-81ED-4DB2-BD59-A6C34878D82A}">
                    <a16:rowId xmlns:a16="http://schemas.microsoft.com/office/drawing/2014/main" val="1131849228"/>
                  </a:ext>
                </a:extLst>
              </a:tr>
              <a:tr h="384699">
                <a:tc>
                  <a:txBody>
                    <a:bodyPr/>
                    <a:lstStyle/>
                    <a:p>
                      <a:pPr marL="0" marR="0" lvl="0" algn="ctr">
                        <a:lnSpc>
                          <a:spcPct val="114999"/>
                        </a:lnSpc>
                        <a:spcBef>
                          <a:spcPts val="0"/>
                        </a:spcBef>
                        <a:spcAft>
                          <a:spcPts val="0"/>
                        </a:spcAft>
                        <a:buNone/>
                      </a:pPr>
                      <a:r>
                        <a:rPr lang="en-US" sz="1000" dirty="0" err="1" smtClean="0">
                          <a:latin typeface="Sylfaen" panose="010A0502050306030303" pitchFamily="18" charset="0"/>
                        </a:rPr>
                        <a:t>Նաիրուհի</a:t>
                      </a:r>
                      <a:r>
                        <a:rPr lang="en-US" sz="1000" dirty="0" smtClean="0">
                          <a:latin typeface="Sylfaen" panose="010A0502050306030303" pitchFamily="18" charset="0"/>
                        </a:rPr>
                        <a:t> </a:t>
                      </a:r>
                      <a:r>
                        <a:rPr lang="en-US" sz="1000" dirty="0" err="1" smtClean="0">
                          <a:latin typeface="Sylfaen" panose="010A0502050306030303" pitchFamily="18" charset="0"/>
                        </a:rPr>
                        <a:t>Նիկողոսյան</a:t>
                      </a: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en-US" sz="1000" dirty="0" smtClean="0">
                          <a:latin typeface="Sylfaen" panose="010A0502050306030303" pitchFamily="18" charset="0"/>
                        </a:rPr>
                        <a:t>ԱՁ</a:t>
                      </a:r>
                    </a:p>
                    <a:p>
                      <a:pPr marL="0" marR="0" lvl="0" algn="ctr">
                        <a:lnSpc>
                          <a:spcPct val="114999"/>
                        </a:lnSpc>
                        <a:spcBef>
                          <a:spcPts val="0"/>
                        </a:spcBef>
                        <a:spcAft>
                          <a:spcPts val="0"/>
                        </a:spcAft>
                        <a:buNone/>
                      </a:pP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hy-AM" sz="1000" dirty="0" smtClean="0">
                          <a:effectLst/>
                          <a:latin typeface="Sylfaen" panose="010A0502050306030303" pitchFamily="18" charset="0"/>
                        </a:rPr>
                        <a:t>բարձրագույն</a:t>
                      </a:r>
                      <a:endParaRPr lang="ru-RU" sz="1000" dirty="0" smtClean="0">
                        <a:latin typeface="Sylfaen" panose="010A0502050306030303" pitchFamily="18" charset="0"/>
                      </a:endParaRPr>
                    </a:p>
                    <a:p>
                      <a:pPr marL="0" marR="0" lvl="0" algn="ctr">
                        <a:lnSpc>
                          <a:spcPct val="114999"/>
                        </a:lnSpc>
                        <a:spcBef>
                          <a:spcPts val="0"/>
                        </a:spcBef>
                        <a:spcAft>
                          <a:spcPts val="0"/>
                        </a:spcAft>
                        <a:buNone/>
                      </a:pP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smtClean="0">
                          <a:ln>
                            <a:noFill/>
                          </a:ln>
                          <a:solidFill>
                            <a:prstClr val="black"/>
                          </a:solidFill>
                          <a:effectLst/>
                          <a:uLnTx/>
                          <a:uFillTx/>
                          <a:latin typeface="Sylfaen" panose="010A0502050306030303" pitchFamily="18" charset="0"/>
                          <a:ea typeface="+mn-ea"/>
                          <a:cs typeface="+mn-cs"/>
                        </a:rPr>
                        <a:t>2024թ. առ այսօր</a:t>
                      </a:r>
                      <a:endParaRPr kumimoji="0" lang="ru-RU" sz="1000" b="0" i="0" u="none" strike="noStrike" kern="1200" cap="none" spc="0" normalizeH="0" baseline="0" noProof="0" dirty="0" smtClean="0">
                        <a:ln>
                          <a:noFill/>
                        </a:ln>
                        <a:solidFill>
                          <a:prstClr val="black"/>
                        </a:solidFill>
                        <a:effectLst/>
                        <a:uLnTx/>
                        <a:uFillTx/>
                        <a:latin typeface="Sylfaen" panose="010A0502050306030303" pitchFamily="18" charset="0"/>
                        <a:ea typeface="+mn-ea"/>
                        <a:cs typeface="+mn-cs"/>
                      </a:endParaRPr>
                    </a:p>
                  </a:txBody>
                  <a:tcPr marL="0" marR="0" marT="0" marB="0" anchor="ctr"/>
                </a:tc>
                <a:tc>
                  <a:txBody>
                    <a:bodyPr/>
                    <a:lstStyle/>
                    <a:p>
                      <a:pPr marL="0" marR="0" lvl="0" algn="ctr">
                        <a:lnSpc>
                          <a:spcPct val="114999"/>
                        </a:lnSpc>
                        <a:spcBef>
                          <a:spcPts val="0"/>
                        </a:spcBef>
                        <a:spcAft>
                          <a:spcPts val="0"/>
                        </a:spcAft>
                        <a:buNone/>
                      </a:pPr>
                      <a:endParaRPr lang="en-US" dirty="0"/>
                    </a:p>
                  </a:txBody>
                  <a:tcPr marL="0" marR="0" marT="0" marB="0" anchor="ctr"/>
                </a:tc>
                <a:extLst>
                  <a:ext uri="{0D108BD9-81ED-4DB2-BD59-A6C34878D82A}">
                    <a16:rowId xmlns:a16="http://schemas.microsoft.com/office/drawing/2014/main" val="1036310718"/>
                  </a:ext>
                </a:extLst>
              </a:tr>
              <a:tr h="408373">
                <a:tc>
                  <a:txBody>
                    <a:bodyPr/>
                    <a:lstStyle/>
                    <a:p>
                      <a:pPr marL="0" marR="0" lvl="0" algn="ctr">
                        <a:lnSpc>
                          <a:spcPct val="114999"/>
                        </a:lnSpc>
                        <a:spcBef>
                          <a:spcPts val="0"/>
                        </a:spcBef>
                        <a:spcAft>
                          <a:spcPts val="0"/>
                        </a:spcAft>
                        <a:buNone/>
                      </a:pPr>
                      <a:r>
                        <a:rPr lang="en-US" sz="1000" dirty="0" err="1" smtClean="0">
                          <a:latin typeface="Sylfaen" panose="010A0502050306030303" pitchFamily="18" charset="0"/>
                        </a:rPr>
                        <a:t>Սոնա</a:t>
                      </a:r>
                      <a:r>
                        <a:rPr lang="en-US" sz="1000" dirty="0" smtClean="0">
                          <a:latin typeface="Sylfaen" panose="010A0502050306030303" pitchFamily="18" charset="0"/>
                        </a:rPr>
                        <a:t> </a:t>
                      </a:r>
                      <a:r>
                        <a:rPr lang="en-US" sz="1000" dirty="0" err="1" smtClean="0">
                          <a:latin typeface="Sylfaen" panose="010A0502050306030303" pitchFamily="18" charset="0"/>
                        </a:rPr>
                        <a:t>Ղազարյան</a:t>
                      </a:r>
                      <a:endParaRPr lang="en-US" sz="1000" dirty="0">
                        <a:latin typeface="Sylfaen" panose="010A0502050306030303" pitchFamily="18" charset="0"/>
                      </a:endParaRPr>
                    </a:p>
                  </a:txBody>
                  <a:tcPr marL="0" marR="0" marT="0" marB="0" anchor="ctr"/>
                </a:tc>
                <a:tc>
                  <a:txBody>
                    <a:bodyPr/>
                    <a:lstStyle/>
                    <a:p>
                      <a:pPr marL="0" marR="0" lvl="0" algn="ctr">
                        <a:lnSpc>
                          <a:spcPct val="114999"/>
                        </a:lnSpc>
                        <a:spcBef>
                          <a:spcPts val="0"/>
                        </a:spcBef>
                        <a:spcAft>
                          <a:spcPts val="0"/>
                        </a:spcAft>
                        <a:buNone/>
                      </a:pPr>
                      <a:r>
                        <a:rPr lang="en-US" sz="1000" dirty="0" smtClean="0">
                          <a:latin typeface="Sylfaen" panose="010A0502050306030303" pitchFamily="18" charset="0"/>
                        </a:rPr>
                        <a:t>ԱՁ</a:t>
                      </a: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14999"/>
                        </a:lnSpc>
                        <a:spcBef>
                          <a:spcPts val="0"/>
                        </a:spcBef>
                        <a:spcAft>
                          <a:spcPts val="0"/>
                        </a:spcAft>
                        <a:buClrTx/>
                        <a:buSzTx/>
                        <a:buFontTx/>
                        <a:buNone/>
                        <a:tabLst/>
                        <a:defRPr/>
                      </a:pPr>
                      <a:r>
                        <a:rPr lang="hy-AM" sz="1000" dirty="0" smtClean="0">
                          <a:effectLst/>
                          <a:latin typeface="Sylfaen" panose="010A0502050306030303" pitchFamily="18" charset="0"/>
                        </a:rPr>
                        <a:t>բարձրագույն</a:t>
                      </a:r>
                      <a:endParaRPr lang="ru-RU" sz="1000" dirty="0" smtClean="0">
                        <a:latin typeface="Sylfaen" panose="010A0502050306030303" pitchFamily="18" charset="0"/>
                      </a:endParaRPr>
                    </a:p>
                    <a:p>
                      <a:pPr marL="0" marR="0" lvl="0" algn="ctr">
                        <a:lnSpc>
                          <a:spcPct val="114999"/>
                        </a:lnSpc>
                        <a:spcBef>
                          <a:spcPts val="0"/>
                        </a:spcBef>
                        <a:spcAft>
                          <a:spcPts val="0"/>
                        </a:spcAft>
                        <a:buNone/>
                      </a:pPr>
                      <a:endParaRPr lang="en-US" sz="1000" dirty="0">
                        <a:latin typeface="Sylfaen" panose="010A0502050306030303" pitchFamily="18" charset="0"/>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smtClean="0">
                          <a:ln>
                            <a:noFill/>
                          </a:ln>
                          <a:solidFill>
                            <a:prstClr val="black"/>
                          </a:solidFill>
                          <a:effectLst/>
                          <a:uLnTx/>
                          <a:uFillTx/>
                          <a:latin typeface="Sylfaen" panose="010A0502050306030303" pitchFamily="18" charset="0"/>
                          <a:ea typeface="+mn-ea"/>
                          <a:cs typeface="+mn-cs"/>
                        </a:rPr>
                        <a:t>2024թ. </a:t>
                      </a:r>
                      <a:r>
                        <a:rPr kumimoji="0" lang="en-US" sz="1000" b="0" i="0" u="none" strike="noStrike" kern="1200" cap="none" spc="0" normalizeH="0" baseline="0" noProof="0" dirty="0" err="1" smtClean="0">
                          <a:ln>
                            <a:noFill/>
                          </a:ln>
                          <a:solidFill>
                            <a:prstClr val="black"/>
                          </a:solidFill>
                          <a:effectLst/>
                          <a:uLnTx/>
                          <a:uFillTx/>
                          <a:latin typeface="Sylfaen" panose="010A0502050306030303" pitchFamily="18" charset="0"/>
                          <a:ea typeface="+mn-ea"/>
                          <a:cs typeface="+mn-cs"/>
                        </a:rPr>
                        <a:t>առ</a:t>
                      </a:r>
                      <a:r>
                        <a:rPr kumimoji="0" lang="en-US" sz="1000" b="0" i="0" u="none" strike="noStrike" kern="1200" cap="none" spc="0" normalizeH="0" baseline="0" noProof="0" dirty="0" smtClean="0">
                          <a:ln>
                            <a:noFill/>
                          </a:ln>
                          <a:solidFill>
                            <a:prstClr val="black"/>
                          </a:solidFill>
                          <a:effectLst/>
                          <a:uLnTx/>
                          <a:uFillTx/>
                          <a:latin typeface="Sylfaen" panose="010A0502050306030303" pitchFamily="18" charset="0"/>
                          <a:ea typeface="+mn-ea"/>
                          <a:cs typeface="+mn-cs"/>
                        </a:rPr>
                        <a:t> </a:t>
                      </a:r>
                      <a:r>
                        <a:rPr kumimoji="0" lang="en-US" sz="1000" b="0" i="0" u="none" strike="noStrike" kern="1200" cap="none" spc="0" normalizeH="0" baseline="0" noProof="0" dirty="0" err="1" smtClean="0">
                          <a:ln>
                            <a:noFill/>
                          </a:ln>
                          <a:solidFill>
                            <a:prstClr val="black"/>
                          </a:solidFill>
                          <a:effectLst/>
                          <a:uLnTx/>
                          <a:uFillTx/>
                          <a:latin typeface="Sylfaen" panose="010A0502050306030303" pitchFamily="18" charset="0"/>
                          <a:ea typeface="+mn-ea"/>
                          <a:cs typeface="+mn-cs"/>
                        </a:rPr>
                        <a:t>այսօր</a:t>
                      </a:r>
                      <a:endParaRPr kumimoji="0" lang="ru-RU" sz="1000" b="0" i="0" u="none" strike="noStrike" kern="1200" cap="none" spc="0" normalizeH="0" baseline="0" noProof="0" dirty="0" smtClean="0">
                        <a:ln>
                          <a:noFill/>
                        </a:ln>
                        <a:solidFill>
                          <a:prstClr val="black"/>
                        </a:solidFill>
                        <a:effectLst/>
                        <a:uLnTx/>
                        <a:uFillTx/>
                        <a:latin typeface="Sylfaen" panose="010A0502050306030303" pitchFamily="18" charset="0"/>
                        <a:ea typeface="+mn-ea"/>
                        <a:cs typeface="+mn-cs"/>
                      </a:endParaRPr>
                    </a:p>
                  </a:txBody>
                  <a:tcPr marL="0" marR="0" marT="0" marB="0" anchor="ctr"/>
                </a:tc>
                <a:tc>
                  <a:txBody>
                    <a:bodyPr/>
                    <a:lstStyle/>
                    <a:p>
                      <a:pPr marL="0" marR="0" lvl="0" algn="ctr">
                        <a:lnSpc>
                          <a:spcPct val="114999"/>
                        </a:lnSpc>
                        <a:spcBef>
                          <a:spcPts val="0"/>
                        </a:spcBef>
                        <a:spcAft>
                          <a:spcPts val="0"/>
                        </a:spcAft>
                        <a:buNone/>
                      </a:pPr>
                      <a:endParaRPr lang="en-US" dirty="0"/>
                    </a:p>
                  </a:txBody>
                  <a:tcPr marL="0" marR="0" marT="0" marB="0" anchor="ctr"/>
                </a:tc>
                <a:extLst>
                  <a:ext uri="{0D108BD9-81ED-4DB2-BD59-A6C34878D82A}">
                    <a16:rowId xmlns:a16="http://schemas.microsoft.com/office/drawing/2014/main" val="2452624735"/>
                  </a:ext>
                </a:extLst>
              </a:tr>
            </a:tbl>
          </a:graphicData>
        </a:graphic>
      </p:graphicFrame>
    </p:spTree>
    <p:extLst>
      <p:ext uri="{BB962C8B-B14F-4D97-AF65-F5344CB8AC3E}">
        <p14:creationId xmlns:p14="http://schemas.microsoft.com/office/powerpoint/2010/main" val="25521259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cstate="print"/>
          <a:stretch>
            <a:fillRect/>
          </a:stretch>
        </p:blipFill>
        <p:spPr>
          <a:xfrm>
            <a:off x="1714500" y="0"/>
            <a:ext cx="10229850" cy="666750"/>
          </a:xfrm>
          <a:prstGeom prst="rect">
            <a:avLst/>
          </a:prstGeom>
        </p:spPr>
      </p:pic>
      <p:graphicFrame>
        <p:nvGraphicFramePr>
          <p:cNvPr id="5" name="Table 4"/>
          <p:cNvGraphicFramePr/>
          <p:nvPr>
            <p:extLst>
              <p:ext uri="{D42A27DB-BD31-4B8C-83A1-F6EECF244321}">
                <p14:modId xmlns:p14="http://schemas.microsoft.com/office/powerpoint/2010/main" val="3449913844"/>
              </p:ext>
            </p:extLst>
          </p:nvPr>
        </p:nvGraphicFramePr>
        <p:xfrm>
          <a:off x="590550" y="1175864"/>
          <a:ext cx="11353800" cy="4557915"/>
        </p:xfrm>
        <a:graphic>
          <a:graphicData uri="http://schemas.openxmlformats.org/drawingml/2006/table">
            <a:tbl>
              <a:tblPr>
                <a:tableStyleId>{5940675A-B579-460E-94D1-54222C63F5DA}</a:tableStyleId>
              </a:tblPr>
              <a:tblGrid>
                <a:gridCol w="1932461">
                  <a:extLst>
                    <a:ext uri="{9D8B030D-6E8A-4147-A177-3AD203B41FA5}">
                      <a16:colId xmlns:a16="http://schemas.microsoft.com/office/drawing/2014/main" val="2817388645"/>
                    </a:ext>
                  </a:extLst>
                </a:gridCol>
                <a:gridCol w="1461193">
                  <a:extLst>
                    <a:ext uri="{9D8B030D-6E8A-4147-A177-3AD203B41FA5}">
                      <a16:colId xmlns:a16="http://schemas.microsoft.com/office/drawing/2014/main" val="2696577635"/>
                    </a:ext>
                  </a:extLst>
                </a:gridCol>
                <a:gridCol w="2648337">
                  <a:extLst>
                    <a:ext uri="{9D8B030D-6E8A-4147-A177-3AD203B41FA5}">
                      <a16:colId xmlns:a16="http://schemas.microsoft.com/office/drawing/2014/main" val="2708996918"/>
                    </a:ext>
                  </a:extLst>
                </a:gridCol>
                <a:gridCol w="3117472">
                  <a:extLst>
                    <a:ext uri="{9D8B030D-6E8A-4147-A177-3AD203B41FA5}">
                      <a16:colId xmlns:a16="http://schemas.microsoft.com/office/drawing/2014/main" val="393227250"/>
                    </a:ext>
                  </a:extLst>
                </a:gridCol>
                <a:gridCol w="2194337">
                  <a:extLst>
                    <a:ext uri="{9D8B030D-6E8A-4147-A177-3AD203B41FA5}">
                      <a16:colId xmlns:a16="http://schemas.microsoft.com/office/drawing/2014/main" val="1712846091"/>
                    </a:ext>
                  </a:extLst>
                </a:gridCol>
              </a:tblGrid>
              <a:tr h="681808">
                <a:tc>
                  <a:txBody>
                    <a:bodyPr/>
                    <a:lstStyle/>
                    <a:p>
                      <a:pPr marL="0" marR="0" algn="ctr" rtl="0" eaLnBrk="1" latinLnBrk="0" hangingPunct="1">
                        <a:lnSpc>
                          <a:spcPct val="114999"/>
                        </a:lnSpc>
                        <a:spcBef>
                          <a:spcPts val="0"/>
                        </a:spcBef>
                        <a:spcAft>
                          <a:spcPts val="0"/>
                        </a:spcAft>
                      </a:pPr>
                      <a:r>
                        <a:rPr lang="hy-AM" sz="1200">
                          <a:effectLst/>
                        </a:rPr>
                        <a:t>Դասասենյակի </a:t>
                      </a:r>
                      <a:endParaRPr lang="hy-AM">
                        <a:effectLst/>
                      </a:endParaRPr>
                    </a:p>
                    <a:p>
                      <a:pPr marL="0" marR="0" algn="ctr" rtl="0" latinLnBrk="0">
                        <a:lnSpc>
                          <a:spcPct val="114999"/>
                        </a:lnSpc>
                        <a:spcBef>
                          <a:spcPts val="0"/>
                        </a:spcBef>
                        <a:spcAft>
                          <a:spcPts val="0"/>
                        </a:spcAft>
                      </a:pPr>
                      <a:r>
                        <a:rPr lang="hy-AM" sz="1200">
                          <a:effectLst/>
                        </a:rPr>
                        <a:t>                համար</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Դասասենյակի մակերեսը(քմ)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Սեղան-նստարանների դասավորվածության ձևը (շարքերով, շրջանաձև, </a:t>
                      </a:r>
                      <a:r>
                        <a:rPr lang="en-US" sz="1200">
                          <a:effectLst/>
                        </a:rPr>
                        <a:t>T-</a:t>
                      </a:r>
                      <a:r>
                        <a:rPr lang="hy-AM" sz="1200">
                          <a:effectLst/>
                        </a:rPr>
                        <a:t>աձև, </a:t>
                      </a:r>
                      <a:r>
                        <a:rPr lang="az-Cyrl-AZ" sz="1200">
                          <a:effectLst/>
                        </a:rPr>
                        <a:t>П-</a:t>
                      </a:r>
                      <a:r>
                        <a:rPr lang="hy-AM" sz="1200">
                          <a:effectLst/>
                        </a:rPr>
                        <a:t>աձև, խառը)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Սեղան-նստարանների թիվը </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Սեղան-նստարանների շարքերի և միմյանց միջև հեռավորությունները </a:t>
                      </a:r>
                      <a:endParaRPr lang="hy-AM">
                        <a:effectLst/>
                      </a:endParaRPr>
                    </a:p>
                  </a:txBody>
                  <a:tcPr marL="0" marR="0" marT="0" marB="0" anchor="ctr"/>
                </a:tc>
                <a:extLst>
                  <a:ext uri="{0D108BD9-81ED-4DB2-BD59-A6C34878D82A}">
                    <a16:rowId xmlns:a16="http://schemas.microsoft.com/office/drawing/2014/main" val="2237129037"/>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 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a:t>
                      </a:r>
                      <a:r>
                        <a:rPr lang="en-US" sz="1200" err="1">
                          <a:effectLst/>
                          <a:latin typeface="Sylfaen" pitchFamily="18" charset="0"/>
                        </a:rPr>
                        <a:t>սեղան</a:t>
                      </a:r>
                      <a:r>
                        <a:rPr lang="en-US" sz="1200">
                          <a:effectLst/>
                          <a:latin typeface="Sylfaen" pitchFamily="18" charset="0"/>
                        </a:rPr>
                        <a:t>, 24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a:t>
                      </a:r>
                      <a:r>
                        <a:rPr lang="en-US" sz="1200" err="1">
                          <a:effectLst/>
                          <a:latin typeface="Sylfaen" pitchFamily="18" charset="0"/>
                        </a:rPr>
                        <a:t>քմ</a:t>
                      </a:r>
                      <a:endParaRPr lang="hy-AM" sz="1200">
                        <a:effectLst/>
                        <a:latin typeface="Sylfaen" pitchFamily="18" charset="0"/>
                      </a:endParaRPr>
                    </a:p>
                  </a:txBody>
                  <a:tcPr marL="0" marR="0" marT="0" marB="0" anchor="ctr"/>
                </a:tc>
                <a:extLst>
                  <a:ext uri="{0D108BD9-81ED-4DB2-BD59-A6C34878D82A}">
                    <a16:rowId xmlns:a16="http://schemas.microsoft.com/office/drawing/2014/main" val="1316653310"/>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smtClean="0">
                          <a:effectLst/>
                          <a:latin typeface="Sylfaen" pitchFamily="18" charset="0"/>
                        </a:rPr>
                        <a:t>10  </a:t>
                      </a:r>
                      <a:r>
                        <a:rPr lang="en-US" sz="1200" dirty="0" err="1">
                          <a:effectLst/>
                          <a:latin typeface="Sylfaen" pitchFamily="18" charset="0"/>
                        </a:rPr>
                        <a:t>սեղան</a:t>
                      </a:r>
                      <a:r>
                        <a:rPr lang="en-US" sz="1200" dirty="0">
                          <a:effectLst/>
                          <a:latin typeface="Sylfaen" pitchFamily="18" charset="0"/>
                        </a:rPr>
                        <a:t>, </a:t>
                      </a:r>
                      <a:r>
                        <a:rPr lang="en-US" sz="1200" dirty="0" smtClean="0">
                          <a:effectLst/>
                          <a:latin typeface="Sylfaen" pitchFamily="18" charset="0"/>
                        </a:rPr>
                        <a:t>20 </a:t>
                      </a:r>
                      <a:r>
                        <a:rPr lang="en-US" sz="1200" dirty="0" err="1">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57811150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smtClean="0">
                          <a:effectLst/>
                          <a:latin typeface="Sylfaen" pitchFamily="18" charset="0"/>
                        </a:rPr>
                        <a:t>10  </a:t>
                      </a:r>
                      <a:r>
                        <a:rPr lang="en-US" sz="1200" dirty="0" err="1" smtClean="0">
                          <a:effectLst/>
                          <a:latin typeface="Sylfaen" pitchFamily="18" charset="0"/>
                        </a:rPr>
                        <a:t>սեղան</a:t>
                      </a:r>
                      <a:r>
                        <a:rPr lang="en-US" sz="1200" dirty="0" smtClean="0">
                          <a:effectLst/>
                          <a:latin typeface="Sylfaen" pitchFamily="18" charset="0"/>
                        </a:rPr>
                        <a:t>, 20 </a:t>
                      </a:r>
                      <a:r>
                        <a:rPr lang="en-US" sz="1200" dirty="0" err="1" smtClean="0">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56910705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smtClean="0">
                          <a:effectLst/>
                          <a:latin typeface="Sylfaen" pitchFamily="18" charset="0"/>
                        </a:rPr>
                        <a:t>10  </a:t>
                      </a:r>
                      <a:r>
                        <a:rPr lang="en-US" sz="1200" dirty="0" err="1" smtClean="0">
                          <a:effectLst/>
                          <a:latin typeface="Sylfaen" pitchFamily="18" charset="0"/>
                        </a:rPr>
                        <a:t>սեղան</a:t>
                      </a:r>
                      <a:r>
                        <a:rPr lang="en-US" sz="1200" dirty="0" smtClean="0">
                          <a:effectLst/>
                          <a:latin typeface="Sylfaen" pitchFamily="18" charset="0"/>
                        </a:rPr>
                        <a:t>, 20 </a:t>
                      </a:r>
                      <a:r>
                        <a:rPr lang="en-US" sz="1200" dirty="0" err="1" smtClean="0">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297192213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635522236"/>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4400931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N7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60քմ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386937207"/>
                  </a:ext>
                </a:extLst>
              </a:tr>
              <a:tr h="22592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N8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628513903"/>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N9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162391511"/>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N10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47730783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50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a:effectLst/>
                          <a:latin typeface="Sylfaen" pitchFamily="18" charset="0"/>
                        </a:rPr>
                        <a:t>10 </a:t>
                      </a:r>
                      <a:r>
                        <a:rPr lang="en-US" sz="1200" dirty="0" err="1">
                          <a:effectLst/>
                          <a:latin typeface="Sylfaen" pitchFamily="18" charset="0"/>
                        </a:rPr>
                        <a:t>սեղան</a:t>
                      </a:r>
                      <a:r>
                        <a:rPr lang="en-US" sz="1200" dirty="0">
                          <a:effectLst/>
                          <a:latin typeface="Sylfaen" pitchFamily="18" charset="0"/>
                        </a:rPr>
                        <a:t>, 20 </a:t>
                      </a:r>
                      <a:r>
                        <a:rPr lang="en-US" sz="1200" dirty="0" err="1">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869380067"/>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a:effectLst/>
                          <a:latin typeface="Sylfaen" pitchFamily="18" charset="0"/>
                        </a:rPr>
                        <a:t>12 </a:t>
                      </a:r>
                      <a:r>
                        <a:rPr lang="en-US" sz="1200" dirty="0" err="1">
                          <a:effectLst/>
                          <a:latin typeface="Sylfaen" pitchFamily="18" charset="0"/>
                        </a:rPr>
                        <a:t>սեղան</a:t>
                      </a:r>
                      <a:r>
                        <a:rPr lang="en-US" sz="1200" dirty="0">
                          <a:effectLst/>
                          <a:latin typeface="Sylfaen" pitchFamily="18" charset="0"/>
                        </a:rPr>
                        <a:t>, 24 </a:t>
                      </a:r>
                      <a:r>
                        <a:rPr lang="en-US" sz="1200" dirty="0" err="1">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701753716"/>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սեղան, 20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2409635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սեղան, 20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898172671"/>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755670639"/>
                  </a:ext>
                </a:extLst>
              </a:tr>
              <a:tr h="225374">
                <a:tc>
                  <a:txBody>
                    <a:bodyPr/>
                    <a:lstStyle/>
                    <a:p>
                      <a:pPr marL="0" marR="0" algn="ctr" rtl="0" eaLnBrk="1" latinLnBrk="0" hangingPunct="1">
                        <a:lnSpc>
                          <a:spcPct val="100000"/>
                        </a:lnSpc>
                        <a:spcBef>
                          <a:spcPts val="0"/>
                        </a:spcBef>
                        <a:spcAft>
                          <a:spcPts val="0"/>
                        </a:spcAft>
                      </a:pPr>
                      <a:r>
                        <a:rPr lang="hy-AM" sz="1200" dirty="0">
                          <a:effectLst/>
                        </a:rPr>
                        <a:t>Դասասենյակ </a:t>
                      </a:r>
                      <a:r>
                        <a:rPr lang="en-US" sz="1200" dirty="0">
                          <a:effectLst/>
                        </a:rPr>
                        <a:t>N16 </a:t>
                      </a:r>
                      <a:endParaRPr lang="en-US"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dirty="0">
                          <a:effectLst/>
                        </a:rPr>
                        <a:t>54 քմ </a:t>
                      </a:r>
                      <a:endParaRPr lang="hy-AM"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dirty="0">
                          <a:effectLst/>
                        </a:rPr>
                        <a:t>շարքերով </a:t>
                      </a:r>
                      <a:endParaRPr lang="hy-AM" dirty="0">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a:effectLst/>
                          <a:latin typeface="Sylfaen" pitchFamily="18" charset="0"/>
                        </a:rPr>
                        <a:t>12 </a:t>
                      </a:r>
                      <a:r>
                        <a:rPr lang="en-US" sz="1200" dirty="0" err="1">
                          <a:effectLst/>
                          <a:latin typeface="Sylfaen" pitchFamily="18" charset="0"/>
                        </a:rPr>
                        <a:t>սեղան</a:t>
                      </a:r>
                      <a:r>
                        <a:rPr lang="en-US" sz="1200" dirty="0">
                          <a:effectLst/>
                          <a:latin typeface="Sylfaen" pitchFamily="18" charset="0"/>
                        </a:rPr>
                        <a:t>, 24 </a:t>
                      </a:r>
                      <a:r>
                        <a:rPr lang="en-US" sz="1200" dirty="0" err="1">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dirty="0">
                          <a:effectLst/>
                          <a:latin typeface="Sylfaen" pitchFamily="18" charset="0"/>
                        </a:rPr>
                        <a:t>1.5 </a:t>
                      </a:r>
                      <a:r>
                        <a:rPr lang="en-US" sz="1200" dirty="0" err="1">
                          <a:effectLst/>
                          <a:latin typeface="Sylfaen" pitchFamily="18" charset="0"/>
                        </a:rPr>
                        <a:t>քմ</a:t>
                      </a:r>
                      <a:endParaRPr lang="hy-AM" sz="1200" dirty="0">
                        <a:effectLst/>
                        <a:latin typeface="Sylfaen" pitchFamily="18" charset="0"/>
                      </a:endParaRPr>
                    </a:p>
                  </a:txBody>
                  <a:tcPr marL="0" marR="0" marT="0" marB="0" anchor="ctr"/>
                </a:tc>
                <a:extLst>
                  <a:ext uri="{0D108BD9-81ED-4DB2-BD59-A6C34878D82A}">
                    <a16:rowId xmlns:a16="http://schemas.microsoft.com/office/drawing/2014/main" val="2805274500"/>
                  </a:ext>
                </a:extLst>
              </a:tr>
              <a:tr h="269573">
                <a:tc>
                  <a:txBody>
                    <a:bodyPr/>
                    <a:lstStyle/>
                    <a:p>
                      <a:pPr marL="0" marR="0" algn="ctr" rtl="0" eaLnBrk="1" latinLnBrk="0" hangingPunct="1">
                        <a:lnSpc>
                          <a:spcPct val="100000"/>
                        </a:lnSpc>
                        <a:spcBef>
                          <a:spcPts val="0"/>
                        </a:spcBef>
                        <a:spcAft>
                          <a:spcPts val="0"/>
                        </a:spcAft>
                      </a:pPr>
                      <a:r>
                        <a:rPr lang="hy-AM" sz="1200" dirty="0">
                          <a:effectLst/>
                        </a:rPr>
                        <a:t>Դասասենյակ </a:t>
                      </a:r>
                      <a:r>
                        <a:rPr lang="en-US" sz="1200" dirty="0" smtClean="0">
                          <a:effectLst/>
                        </a:rPr>
                        <a:t>N17</a:t>
                      </a:r>
                      <a:endParaRPr lang="en-US"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dirty="0" smtClean="0">
                          <a:effectLst/>
                        </a:rPr>
                        <a:t>36</a:t>
                      </a:r>
                      <a:r>
                        <a:rPr lang="hy-AM" sz="1200" dirty="0" smtClean="0">
                          <a:effectLst/>
                        </a:rPr>
                        <a:t> </a:t>
                      </a:r>
                      <a:r>
                        <a:rPr lang="hy-AM" sz="1200" dirty="0">
                          <a:effectLst/>
                        </a:rPr>
                        <a:t>քմ </a:t>
                      </a:r>
                      <a:endParaRPr lang="hy-AM"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dirty="0">
                          <a:effectLst/>
                        </a:rPr>
                        <a:t>շարքերով </a:t>
                      </a:r>
                      <a:endParaRPr lang="hy-AM" dirty="0">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smtClean="0">
                          <a:effectLst/>
                          <a:latin typeface="Sylfaen" pitchFamily="18" charset="0"/>
                        </a:rPr>
                        <a:t>10 </a:t>
                      </a:r>
                      <a:r>
                        <a:rPr lang="en-US" sz="1200" dirty="0" err="1">
                          <a:effectLst/>
                          <a:latin typeface="Sylfaen" pitchFamily="18" charset="0"/>
                        </a:rPr>
                        <a:t>սեղան</a:t>
                      </a:r>
                      <a:r>
                        <a:rPr lang="en-US" sz="1200" dirty="0">
                          <a:effectLst/>
                          <a:latin typeface="Sylfaen" pitchFamily="18" charset="0"/>
                        </a:rPr>
                        <a:t>, </a:t>
                      </a:r>
                      <a:r>
                        <a:rPr lang="en-US" sz="1200" dirty="0" smtClean="0">
                          <a:effectLst/>
                          <a:latin typeface="Sylfaen" pitchFamily="18" charset="0"/>
                        </a:rPr>
                        <a:t>20 </a:t>
                      </a:r>
                      <a:r>
                        <a:rPr lang="en-US" sz="1200" dirty="0" err="1">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dirty="0">
                          <a:effectLst/>
                          <a:latin typeface="Sylfaen" pitchFamily="18" charset="0"/>
                        </a:rPr>
                        <a:t>1.5 </a:t>
                      </a:r>
                      <a:r>
                        <a:rPr lang="en-US" sz="1200" dirty="0" err="1">
                          <a:effectLst/>
                          <a:latin typeface="Sylfaen" pitchFamily="18" charset="0"/>
                        </a:rPr>
                        <a:t>քմ</a:t>
                      </a:r>
                      <a:endParaRPr lang="hy-AM" sz="1200" dirty="0">
                        <a:effectLst/>
                        <a:latin typeface="Sylfaen" pitchFamily="18" charset="0"/>
                      </a:endParaRPr>
                    </a:p>
                  </a:txBody>
                  <a:tcPr marL="0" marR="0" marT="0" marB="0" anchor="ctr"/>
                </a:tc>
                <a:extLst>
                  <a:ext uri="{0D108BD9-81ED-4DB2-BD59-A6C34878D82A}">
                    <a16:rowId xmlns:a16="http://schemas.microsoft.com/office/drawing/2014/main" val="4033309052"/>
                  </a:ext>
                </a:extLst>
              </a:tr>
            </a:tbl>
          </a:graphicData>
        </a:graphic>
      </p:graphicFrame>
      <p:sp>
        <p:nvSpPr>
          <p:cNvPr id="2" name="TextBox 1"/>
          <p:cNvSpPr txBox="1"/>
          <p:nvPr/>
        </p:nvSpPr>
        <p:spPr>
          <a:xfrm>
            <a:off x="1924050" y="754462"/>
            <a:ext cx="4647156" cy="369332"/>
          </a:xfrm>
          <a:prstGeom prst="rect">
            <a:avLst/>
          </a:prstGeom>
          <a:noFill/>
        </p:spPr>
        <p:txBody>
          <a:bodyPr wrap="square" rtlCol="0">
            <a:spAutoFit/>
          </a:bodyPr>
          <a:lstStyle/>
          <a:p>
            <a:r>
              <a:rPr lang="en-US" b="1" dirty="0" err="1"/>
              <a:t>Դիտարկման</a:t>
            </a:r>
            <a:r>
              <a:rPr lang="en-US" b="1" dirty="0"/>
              <a:t> </a:t>
            </a:r>
            <a:r>
              <a:rPr lang="en-US" b="1" dirty="0" err="1"/>
              <a:t>ամսաթիվ</a:t>
            </a:r>
            <a:r>
              <a:rPr lang="en-US" b="1" dirty="0"/>
              <a:t>՝ 01/06/20</a:t>
            </a:r>
            <a:r>
              <a:rPr lang="ru-RU" b="1" dirty="0" smtClean="0"/>
              <a:t>2</a:t>
            </a:r>
            <a:r>
              <a:rPr lang="en-US" b="1" dirty="0"/>
              <a:t>4</a:t>
            </a:r>
            <a:r>
              <a:rPr lang="en-US" b="1" dirty="0" smtClean="0"/>
              <a:t>թ</a:t>
            </a:r>
            <a:r>
              <a:rPr lang="en-US" dirty="0"/>
              <a:t>.</a:t>
            </a:r>
            <a:endParaRPr lang="ru-RU" dirty="0"/>
          </a:p>
        </p:txBody>
      </p:sp>
    </p:spTree>
    <p:extLst>
      <p:ext uri="{BB962C8B-B14F-4D97-AF65-F5344CB8AC3E}">
        <p14:creationId xmlns:p14="http://schemas.microsoft.com/office/powerpoint/2010/main" val="3667281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92275" y="82550"/>
            <a:ext cx="9258242" cy="792978"/>
          </a:xfrm>
          <a:prstGeom prst="rect">
            <a:avLst/>
          </a:prstGeom>
        </p:spPr>
      </p:pic>
      <p:graphicFrame>
        <p:nvGraphicFramePr>
          <p:cNvPr id="6" name="Table 5"/>
          <p:cNvGraphicFramePr/>
          <p:nvPr>
            <p:extLst>
              <p:ext uri="{D42A27DB-BD31-4B8C-83A1-F6EECF244321}">
                <p14:modId xmlns:p14="http://schemas.microsoft.com/office/powerpoint/2010/main" val="34577778"/>
              </p:ext>
            </p:extLst>
          </p:nvPr>
        </p:nvGraphicFramePr>
        <p:xfrm>
          <a:off x="1028699" y="1405331"/>
          <a:ext cx="10553700" cy="5240007"/>
        </p:xfrm>
        <a:graphic>
          <a:graphicData uri="http://schemas.openxmlformats.org/drawingml/2006/table">
            <a:tbl>
              <a:tblPr>
                <a:tableStyleId>{5940675A-B579-460E-94D1-54222C63F5DA}</a:tableStyleId>
              </a:tblPr>
              <a:tblGrid>
                <a:gridCol w="3381656">
                  <a:extLst>
                    <a:ext uri="{9D8B030D-6E8A-4147-A177-3AD203B41FA5}">
                      <a16:colId xmlns:a16="http://schemas.microsoft.com/office/drawing/2014/main" val="794640161"/>
                    </a:ext>
                  </a:extLst>
                </a:gridCol>
                <a:gridCol w="2170316">
                  <a:extLst>
                    <a:ext uri="{9D8B030D-6E8A-4147-A177-3AD203B41FA5}">
                      <a16:colId xmlns:a16="http://schemas.microsoft.com/office/drawing/2014/main" val="3313218401"/>
                    </a:ext>
                  </a:extLst>
                </a:gridCol>
                <a:gridCol w="2831412">
                  <a:extLst>
                    <a:ext uri="{9D8B030D-6E8A-4147-A177-3AD203B41FA5}">
                      <a16:colId xmlns:a16="http://schemas.microsoft.com/office/drawing/2014/main" val="2089714870"/>
                    </a:ext>
                  </a:extLst>
                </a:gridCol>
                <a:gridCol w="2170316">
                  <a:extLst>
                    <a:ext uri="{9D8B030D-6E8A-4147-A177-3AD203B41FA5}">
                      <a16:colId xmlns:a16="http://schemas.microsoft.com/office/drawing/2014/main" val="1352752199"/>
                    </a:ext>
                  </a:extLst>
                </a:gridCol>
              </a:tblGrid>
              <a:tr h="331441">
                <a:tc>
                  <a:txBody>
                    <a:bodyPr/>
                    <a:lstStyle/>
                    <a:p>
                      <a:pPr marL="0" marR="0" algn="ctr" rtl="0" eaLnBrk="1" latinLnBrk="0" hangingPunct="1">
                        <a:lnSpc>
                          <a:spcPct val="150000"/>
                        </a:lnSpc>
                        <a:spcBef>
                          <a:spcPts val="0"/>
                        </a:spcBef>
                        <a:spcAft>
                          <a:spcPts val="0"/>
                        </a:spcAft>
                      </a:pPr>
                      <a:r>
                        <a:rPr lang="hy-AM" sz="1200">
                          <a:effectLst/>
                        </a:rPr>
                        <a:t>Դասասենյակի համարը </a:t>
                      </a: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Դասասենյակի մակերեսը (քմ) </a:t>
                      </a:r>
                    </a:p>
                  </a:txBody>
                  <a:tcPr marL="0" marR="0" marT="0" marB="0" anchor="ctr"/>
                </a:tc>
                <a:tc>
                  <a:txBody>
                    <a:bodyPr/>
                    <a:lstStyle/>
                    <a:p>
                      <a:pPr marL="0" marR="0" rtl="0" latinLnBrk="0">
                        <a:lnSpc>
                          <a:spcPct val="150000"/>
                        </a:lnSpc>
                        <a:spcBef>
                          <a:spcPts val="0"/>
                        </a:spcBef>
                        <a:spcAft>
                          <a:spcPts val="0"/>
                        </a:spcAft>
                      </a:pPr>
                      <a:r>
                        <a:rPr lang="hy-AM" sz="1200">
                          <a:effectLst/>
                        </a:rPr>
                        <a:t>Մեկ սովորողին ընկնող մակերեսը (քմ) </a:t>
                      </a:r>
                    </a:p>
                  </a:txBody>
                  <a:tcPr marL="0" marR="0" marT="0" marB="0" anchor="ctr"/>
                </a:tc>
                <a:tc>
                  <a:txBody>
                    <a:bodyPr/>
                    <a:lstStyle/>
                    <a:p>
                      <a:pPr marL="0" marR="0" rtl="0" latinLnBrk="0">
                        <a:lnSpc>
                          <a:spcPct val="150000"/>
                        </a:lnSpc>
                        <a:spcBef>
                          <a:spcPts val="0"/>
                        </a:spcBef>
                        <a:spcAft>
                          <a:spcPts val="0"/>
                        </a:spcAft>
                      </a:pPr>
                      <a:r>
                        <a:rPr lang="hy-AM" sz="1200">
                          <a:effectLst/>
                        </a:rPr>
                        <a:t>Նորմերից պակաս կամ ավել մակերեսը (քմ) </a:t>
                      </a:r>
                    </a:p>
                  </a:txBody>
                  <a:tcPr marL="0" marR="0" marT="0" marB="0" anchor="ctr"/>
                </a:tc>
                <a:extLst>
                  <a:ext uri="{0D108BD9-81ED-4DB2-BD59-A6C34878D82A}">
                    <a16:rowId xmlns:a16="http://schemas.microsoft.com/office/drawing/2014/main" val="204709762"/>
                  </a:ext>
                </a:extLst>
              </a:tr>
              <a:tr h="302247">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 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986460878"/>
                  </a:ext>
                </a:extLst>
              </a:tr>
              <a:tr h="248581">
                <a:tc>
                  <a:txBody>
                    <a:bodyPr/>
                    <a:lstStyle/>
                    <a:p>
                      <a:pPr marL="0" marR="0" algn="ctr" rtl="0" eaLnBrk="1" latinLnBrk="0" hangingPunct="1">
                        <a:lnSpc>
                          <a:spcPct val="100000"/>
                        </a:lnSpc>
                        <a:spcBef>
                          <a:spcPts val="0"/>
                        </a:spcBef>
                        <a:spcAft>
                          <a:spcPts val="0"/>
                        </a:spcAft>
                      </a:pPr>
                      <a:r>
                        <a:rPr lang="hy-AM" sz="1200" dirty="0">
                          <a:effectLst/>
                        </a:rPr>
                        <a:t>Դասասենյակ </a:t>
                      </a:r>
                      <a:r>
                        <a:rPr lang="en-US" sz="1200" dirty="0">
                          <a:effectLst/>
                        </a:rPr>
                        <a:t>N2 </a:t>
                      </a:r>
                      <a:endParaRPr lang="en-US"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23956009"/>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881267935"/>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826813448"/>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79360860"/>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309670336"/>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N7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60քմ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588712657"/>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N8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10916042"/>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N9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08898843"/>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N10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909809377"/>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50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849333616"/>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72782216"/>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095176694"/>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474266203"/>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89050389"/>
                  </a:ext>
                </a:extLst>
              </a:tr>
              <a:tr h="248581">
                <a:tc>
                  <a:txBody>
                    <a:bodyPr/>
                    <a:lstStyle/>
                    <a:p>
                      <a:pPr marL="0" marR="0" algn="ctr" rtl="0" eaLnBrk="1" latinLnBrk="0" hangingPunct="1">
                        <a:lnSpc>
                          <a:spcPct val="100000"/>
                        </a:lnSpc>
                        <a:spcBef>
                          <a:spcPts val="0"/>
                        </a:spcBef>
                        <a:spcAft>
                          <a:spcPts val="0"/>
                        </a:spcAft>
                      </a:pPr>
                      <a:r>
                        <a:rPr lang="hy-AM" sz="1200" dirty="0">
                          <a:effectLst/>
                        </a:rPr>
                        <a:t>Դասասենյակ </a:t>
                      </a:r>
                      <a:r>
                        <a:rPr lang="en-US" sz="1200" dirty="0">
                          <a:effectLst/>
                        </a:rPr>
                        <a:t>N16 </a:t>
                      </a:r>
                      <a:endParaRPr lang="en-US"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dirty="0">
                          <a:effectLst/>
                        </a:rPr>
                        <a:t>54 քմ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dirty="0">
                          <a:effectLst/>
                        </a:rPr>
                        <a:t>0.25-ով </a:t>
                      </a:r>
                      <a:r>
                        <a:rPr lang="en-US" sz="1200" dirty="0" err="1">
                          <a:effectLst/>
                        </a:rPr>
                        <a:t>ավել</a:t>
                      </a:r>
                      <a:endParaRPr lang="hy-AM" sz="1200" dirty="0">
                        <a:effectLst/>
                      </a:endParaRPr>
                    </a:p>
                  </a:txBody>
                  <a:tcPr marL="0" marR="0" marT="0" marB="0" anchor="ctr"/>
                </a:tc>
                <a:extLst>
                  <a:ext uri="{0D108BD9-81ED-4DB2-BD59-A6C34878D82A}">
                    <a16:rowId xmlns:a16="http://schemas.microsoft.com/office/drawing/2014/main" val="581713709"/>
                  </a:ext>
                </a:extLst>
              </a:tr>
              <a:tr h="248581">
                <a:tc>
                  <a:txBody>
                    <a:bodyPr/>
                    <a:lstStyle/>
                    <a:p>
                      <a:pPr marL="0" marR="0" algn="ctr" rtl="0" eaLnBrk="1" latinLnBrk="0" hangingPunct="1">
                        <a:lnSpc>
                          <a:spcPct val="100000"/>
                        </a:lnSpc>
                        <a:spcBef>
                          <a:spcPts val="0"/>
                        </a:spcBef>
                        <a:spcAft>
                          <a:spcPts val="0"/>
                        </a:spcAft>
                      </a:pPr>
                      <a:r>
                        <a:rPr lang="hy-AM" sz="1200" dirty="0">
                          <a:effectLst/>
                        </a:rPr>
                        <a:t>Դասասենյակ </a:t>
                      </a:r>
                      <a:r>
                        <a:rPr lang="en-US" sz="1200" dirty="0" smtClean="0">
                          <a:effectLst/>
                        </a:rPr>
                        <a:t>N17 </a:t>
                      </a:r>
                      <a:endParaRPr lang="en-US" dirty="0">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dirty="0" smtClean="0">
                          <a:effectLst/>
                        </a:rPr>
                        <a:t>36</a:t>
                      </a:r>
                      <a:r>
                        <a:rPr lang="hy-AM" sz="1200" dirty="0" smtClean="0">
                          <a:effectLst/>
                        </a:rPr>
                        <a:t> </a:t>
                      </a:r>
                      <a:r>
                        <a:rPr lang="hy-AM" sz="1200" dirty="0">
                          <a:effectLst/>
                        </a:rPr>
                        <a:t>քմ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dirty="0">
                          <a:effectLst/>
                        </a:rPr>
                        <a:t>0.25-ով </a:t>
                      </a:r>
                      <a:r>
                        <a:rPr lang="en-US" sz="1200" dirty="0" err="1">
                          <a:effectLst/>
                        </a:rPr>
                        <a:t>ավել</a:t>
                      </a:r>
                      <a:endParaRPr lang="hy-AM" sz="1200" dirty="0">
                        <a:effectLst/>
                      </a:endParaRPr>
                    </a:p>
                  </a:txBody>
                  <a:tcPr marL="0" marR="0" marT="0" marB="0" anchor="ctr"/>
                </a:tc>
                <a:extLst>
                  <a:ext uri="{0D108BD9-81ED-4DB2-BD59-A6C34878D82A}">
                    <a16:rowId xmlns:a16="http://schemas.microsoft.com/office/drawing/2014/main" val="4054238737"/>
                  </a:ext>
                </a:extLst>
              </a:tr>
            </a:tbl>
          </a:graphicData>
        </a:graphic>
      </p:graphicFrame>
      <p:sp>
        <p:nvSpPr>
          <p:cNvPr id="5" name="TextBox 4"/>
          <p:cNvSpPr txBox="1"/>
          <p:nvPr/>
        </p:nvSpPr>
        <p:spPr>
          <a:xfrm>
            <a:off x="1253812" y="871581"/>
            <a:ext cx="4647156" cy="369332"/>
          </a:xfrm>
          <a:prstGeom prst="rect">
            <a:avLst/>
          </a:prstGeom>
          <a:noFill/>
        </p:spPr>
        <p:txBody>
          <a:bodyPr wrap="square" rtlCol="0">
            <a:spAutoFit/>
          </a:bodyPr>
          <a:lstStyle/>
          <a:p>
            <a:r>
              <a:rPr lang="en-US" b="1" dirty="0" err="1"/>
              <a:t>Դիտարկման</a:t>
            </a:r>
            <a:r>
              <a:rPr lang="en-US" b="1" dirty="0"/>
              <a:t> </a:t>
            </a:r>
            <a:r>
              <a:rPr lang="en-US" b="1" dirty="0" err="1"/>
              <a:t>ամսաթիվ</a:t>
            </a:r>
            <a:r>
              <a:rPr lang="en-US" b="1" dirty="0"/>
              <a:t>՝ </a:t>
            </a:r>
            <a:r>
              <a:rPr lang="en-US" b="1" dirty="0" smtClean="0"/>
              <a:t>01/06/2024 </a:t>
            </a:r>
            <a:r>
              <a:rPr lang="en-US" b="1" dirty="0"/>
              <a:t>թ</a:t>
            </a:r>
            <a:r>
              <a:rPr lang="en-US" dirty="0"/>
              <a:t>.</a:t>
            </a:r>
            <a:endParaRPr lang="ru-RU" dirty="0"/>
          </a:p>
        </p:txBody>
      </p:sp>
    </p:spTree>
    <p:extLst>
      <p:ext uri="{BB962C8B-B14F-4D97-AF65-F5344CB8AC3E}">
        <p14:creationId xmlns:p14="http://schemas.microsoft.com/office/powerpoint/2010/main" val="9839865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3" cstate="print"/>
          <a:srcRect l="35200" t="57868" r="35467" b="508"/>
          <a:stretch/>
        </p:blipFill>
        <p:spPr>
          <a:xfrm>
            <a:off x="5113180" y="1713505"/>
            <a:ext cx="2501536" cy="929668"/>
          </a:xfrm>
          <a:prstGeom prst="rect">
            <a:avLst/>
          </a:prstGeom>
          <a:ln>
            <a:noFill/>
          </a:ln>
          <a:effectLst>
            <a:softEdge rad="112500"/>
          </a:effectLst>
        </p:spPr>
      </p:pic>
      <p:pic>
        <p:nvPicPr>
          <p:cNvPr id="3" name="Рисунок 2"/>
          <p:cNvPicPr>
            <a:picLocks noChangeAspect="1"/>
          </p:cNvPicPr>
          <p:nvPr/>
        </p:nvPicPr>
        <p:blipFill>
          <a:blip r:embed="rId4" cstate="print"/>
          <a:stretch>
            <a:fillRect/>
          </a:stretch>
        </p:blipFill>
        <p:spPr>
          <a:xfrm>
            <a:off x="2167175" y="3594408"/>
            <a:ext cx="9269194" cy="1308284"/>
          </a:xfrm>
          <a:prstGeom prst="rect">
            <a:avLst/>
          </a:prstGeom>
          <a:ln>
            <a:noFill/>
          </a:ln>
          <a:effectLst>
            <a:softEdge rad="112500"/>
          </a:effectLst>
        </p:spPr>
      </p:pic>
    </p:spTree>
    <p:extLst>
      <p:ext uri="{BB962C8B-B14F-4D97-AF65-F5344CB8AC3E}">
        <p14:creationId xmlns:p14="http://schemas.microsoft.com/office/powerpoint/2010/main" val="11869932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58288" y="554702"/>
            <a:ext cx="9130217" cy="787359"/>
          </a:xfrm>
          <a:prstGeom prst="rect">
            <a:avLst/>
          </a:prstGeom>
          <a:ln>
            <a:noFill/>
          </a:ln>
          <a:effectLst>
            <a:softEdge rad="112500"/>
          </a:effectLst>
        </p:spPr>
      </p:pic>
      <p:graphicFrame>
        <p:nvGraphicFramePr>
          <p:cNvPr id="5" name="Table 4"/>
          <p:cNvGraphicFramePr/>
          <p:nvPr>
            <p:extLst>
              <p:ext uri="{D42A27DB-BD31-4B8C-83A1-F6EECF244321}">
                <p14:modId xmlns:p14="http://schemas.microsoft.com/office/powerpoint/2010/main" val="2656841915"/>
              </p:ext>
            </p:extLst>
          </p:nvPr>
        </p:nvGraphicFramePr>
        <p:xfrm>
          <a:off x="1103194" y="1478507"/>
          <a:ext cx="10560753" cy="3810185"/>
        </p:xfrm>
        <a:graphic>
          <a:graphicData uri="http://schemas.openxmlformats.org/drawingml/2006/table">
            <a:tbl>
              <a:tblPr>
                <a:tableStyleId>{5940675A-B579-460E-94D1-54222C63F5DA}</a:tableStyleId>
              </a:tblPr>
              <a:tblGrid>
                <a:gridCol w="477671">
                  <a:extLst>
                    <a:ext uri="{9D8B030D-6E8A-4147-A177-3AD203B41FA5}">
                      <a16:colId xmlns:a16="http://schemas.microsoft.com/office/drawing/2014/main" val="1308619"/>
                    </a:ext>
                  </a:extLst>
                </a:gridCol>
                <a:gridCol w="6573671">
                  <a:extLst>
                    <a:ext uri="{9D8B030D-6E8A-4147-A177-3AD203B41FA5}">
                      <a16:colId xmlns:a16="http://schemas.microsoft.com/office/drawing/2014/main" val="2209519139"/>
                    </a:ext>
                  </a:extLst>
                </a:gridCol>
                <a:gridCol w="3509411">
                  <a:extLst>
                    <a:ext uri="{9D8B030D-6E8A-4147-A177-3AD203B41FA5}">
                      <a16:colId xmlns:a16="http://schemas.microsoft.com/office/drawing/2014/main" val="2975830668"/>
                    </a:ext>
                  </a:extLst>
                </a:gridCol>
              </a:tblGrid>
              <a:tr h="1554764">
                <a:tc>
                  <a:txBody>
                    <a:bodyPr/>
                    <a:lstStyle/>
                    <a:p>
                      <a:pPr marL="0" marR="0" algn="just" rtl="0" eaLnBrk="1" latinLnBrk="0" hangingPunct="1">
                        <a:lnSpc>
                          <a:spcPct val="150000"/>
                        </a:lnSpc>
                        <a:spcBef>
                          <a:spcPts val="0"/>
                        </a:spcBef>
                        <a:spcAft>
                          <a:spcPts val="0"/>
                        </a:spcAft>
                      </a:pPr>
                      <a:r>
                        <a:rPr lang="en-US" sz="1400">
                          <a:effectLst/>
                        </a:rPr>
                        <a:t>N </a:t>
                      </a:r>
                      <a:endParaRPr lang="en-US">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Չափանիշը </a:t>
                      </a:r>
                      <a:endParaRPr lang="hy-AM" dirty="0">
                        <a:effectLst/>
                      </a:endParaRPr>
                    </a:p>
                  </a:txBody>
                  <a:tcPr marL="0" marR="0" marT="0" marB="0" anchor="ctr"/>
                </a:tc>
                <a:tc>
                  <a:txBody>
                    <a:bodyPr/>
                    <a:lstStyle/>
                    <a:p>
                      <a:pPr marL="347345" marR="0" indent="-347345" rtl="0" latinLnBrk="0">
                        <a:lnSpc>
                          <a:spcPct val="150000"/>
                        </a:lnSpc>
                        <a:spcBef>
                          <a:spcPts val="0"/>
                        </a:spcBef>
                        <a:spcAft>
                          <a:spcPts val="0"/>
                        </a:spcAft>
                      </a:pPr>
                      <a:r>
                        <a:rPr lang="hy-AM" sz="1400" dirty="0">
                          <a:solidFill>
                            <a:srgbClr val="FF0000"/>
                          </a:solidFill>
                          <a:effectLst/>
                        </a:rPr>
                        <a:t>1.Երևանի Տ. Շևչենկոյի անվան թիվ 42 ավագ դպրոցի քաղաքացիական պաշտպանության պլան 22.02.2012 թ. </a:t>
                      </a:r>
                      <a:endParaRPr lang="hy-AM" dirty="0">
                        <a:solidFill>
                          <a:srgbClr val="FF0000"/>
                        </a:solidFill>
                        <a:effectLst/>
                      </a:endParaRPr>
                    </a:p>
                    <a:p>
                      <a:pPr marL="347345" marR="0" indent="-347345" rtl="0" latinLnBrk="0">
                        <a:lnSpc>
                          <a:spcPct val="150000"/>
                        </a:lnSpc>
                        <a:spcBef>
                          <a:spcPts val="0"/>
                        </a:spcBef>
                        <a:spcAft>
                          <a:spcPts val="0"/>
                        </a:spcAft>
                      </a:pPr>
                      <a:r>
                        <a:rPr lang="hy-AM" sz="1400" dirty="0">
                          <a:solidFill>
                            <a:srgbClr val="FF0000"/>
                          </a:solidFill>
                          <a:effectLst/>
                        </a:rPr>
                        <a:t>2.Հրդեհաշիջման օպերատիվ քարտ 14.07.2013 թ </a:t>
                      </a:r>
                      <a:endParaRPr lang="hy-AM" dirty="0">
                        <a:solidFill>
                          <a:srgbClr val="FF0000"/>
                        </a:solidFill>
                        <a:effectLst/>
                      </a:endParaRPr>
                    </a:p>
                  </a:txBody>
                  <a:tcPr marL="0" marR="0" marT="0" marB="0" anchor="ctr"/>
                </a:tc>
                <a:extLst>
                  <a:ext uri="{0D108BD9-81ED-4DB2-BD59-A6C34878D82A}">
                    <a16:rowId xmlns:a16="http://schemas.microsoft.com/office/drawing/2014/main" val="748553830"/>
                  </a:ext>
                </a:extLst>
              </a:tr>
              <a:tr h="677433">
                <a:tc>
                  <a:txBody>
                    <a:bodyPr/>
                    <a:lstStyle/>
                    <a:p>
                      <a:pPr marL="0" marR="0" algn="just" rtl="0" eaLnBrk="1" latinLnBrk="0" hangingPunct="1">
                        <a:lnSpc>
                          <a:spcPct val="150000"/>
                        </a:lnSpc>
                        <a:spcBef>
                          <a:spcPts val="0"/>
                        </a:spcBef>
                        <a:spcAft>
                          <a:spcPts val="0"/>
                        </a:spcAft>
                      </a:pPr>
                      <a:r>
                        <a:rPr lang="en-US" sz="1400">
                          <a:effectLst/>
                        </a:rPr>
                        <a:t>1.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Ուսումնական հաստատության աշխատակազմը և սովորողները տիրապետում են արտակարգ իրավիճակներում գործելու վարքականոններին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4086814334"/>
                  </a:ext>
                </a:extLst>
              </a:tr>
              <a:tr h="1532552">
                <a:tc>
                  <a:txBody>
                    <a:bodyPr/>
                    <a:lstStyle/>
                    <a:p>
                      <a:pPr marL="0" marR="0" algn="just" rtl="0" eaLnBrk="1" latinLnBrk="0" hangingPunct="1">
                        <a:lnSpc>
                          <a:spcPct val="150000"/>
                        </a:lnSpc>
                        <a:spcBef>
                          <a:spcPts val="0"/>
                        </a:spcBef>
                        <a:spcAft>
                          <a:spcPts val="0"/>
                        </a:spcAft>
                      </a:pPr>
                      <a:r>
                        <a:rPr lang="en-US" sz="1400">
                          <a:effectLst/>
                        </a:rPr>
                        <a:t>2.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Ուսումնական հաստատության աշխատակազմը և սովորողները տեղեկացված են հաստատությունում առկա անվտանգության միջոցների (էլեկտրական վահանակի, հրշեջ տեղեկատուի, հրշեջ ծորակի և այլն) տեղերին ու տիրապետում են դրանց օգտագործման կանոններին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400" dirty="0">
                          <a:effectLst/>
                        </a:rPr>
                        <a:t>այո </a:t>
                      </a:r>
                      <a:endParaRPr lang="hy-AM" dirty="0">
                        <a:effectLst/>
                      </a:endParaRPr>
                    </a:p>
                  </a:txBody>
                  <a:tcPr marL="0" marR="0" marT="0" marB="0" anchor="ctr"/>
                </a:tc>
                <a:extLst>
                  <a:ext uri="{0D108BD9-81ED-4DB2-BD59-A6C34878D82A}">
                    <a16:rowId xmlns:a16="http://schemas.microsoft.com/office/drawing/2014/main" val="694170226"/>
                  </a:ext>
                </a:extLst>
              </a:tr>
            </a:tbl>
          </a:graphicData>
        </a:graphic>
      </p:graphicFrame>
      <p:pic>
        <p:nvPicPr>
          <p:cNvPr id="6" name="Picture 5"/>
          <p:cNvPicPr>
            <a:picLocks noChangeAspect="1"/>
          </p:cNvPicPr>
          <p:nvPr/>
        </p:nvPicPr>
        <p:blipFill>
          <a:blip r:embed="rId4" cstate="print"/>
          <a:stretch>
            <a:fillRect/>
          </a:stretch>
        </p:blipFill>
        <p:spPr>
          <a:xfrm>
            <a:off x="1549021" y="5759806"/>
            <a:ext cx="7089722" cy="577955"/>
          </a:xfrm>
          <a:prstGeom prst="rect">
            <a:avLst/>
          </a:prstGeom>
          <a:ln>
            <a:noFill/>
          </a:ln>
          <a:effectLst>
            <a:softEdge rad="112500"/>
          </a:effectLst>
        </p:spPr>
      </p:pic>
      <p:sp>
        <p:nvSpPr>
          <p:cNvPr id="7" name="TextBox 6"/>
          <p:cNvSpPr txBox="1"/>
          <p:nvPr/>
        </p:nvSpPr>
        <p:spPr>
          <a:xfrm>
            <a:off x="10250096" y="129813"/>
            <a:ext cx="1661106" cy="1200329"/>
          </a:xfrm>
          <a:prstGeom prst="rect">
            <a:avLst/>
          </a:prstGeom>
          <a:noFill/>
        </p:spPr>
        <p:txBody>
          <a:bodyPr wrap="square" lIns="91440" tIns="45720" rIns="91440" bIns="45720" rtlCol="0" anchor="t">
            <a:spAutoFit/>
          </a:bodyPr>
          <a:lstStyle/>
          <a:p>
            <a:r>
              <a:rPr lang="hy-AM" dirty="0">
                <a:latin typeface="Sylfaen"/>
              </a:rPr>
              <a:t>Դիտարկման ամսաթիվ</a:t>
            </a:r>
            <a:r>
              <a:rPr lang="en-US" dirty="0">
                <a:latin typeface="Sylfaen"/>
              </a:rPr>
              <a:t>`</a:t>
            </a:r>
            <a:r>
              <a:rPr lang="hy-AM" dirty="0">
                <a:latin typeface="Sylfaen"/>
              </a:rPr>
              <a:t> </a:t>
            </a:r>
            <a:endParaRPr lang="en-US" dirty="0"/>
          </a:p>
          <a:p>
            <a:r>
              <a:rPr lang="hy-AM" dirty="0">
                <a:latin typeface="Sylfaen"/>
              </a:rPr>
              <a:t> </a:t>
            </a:r>
            <a:r>
              <a:rPr lang="hy-AM" dirty="0" smtClean="0">
                <a:latin typeface="Sylfaen"/>
              </a:rPr>
              <a:t>01/06/202</a:t>
            </a:r>
            <a:r>
              <a:rPr lang="en-US" dirty="0">
                <a:latin typeface="Sylfaen"/>
              </a:rPr>
              <a:t>5</a:t>
            </a:r>
            <a:r>
              <a:rPr lang="hy-AM" dirty="0" smtClean="0">
                <a:latin typeface="Sylfaen"/>
              </a:rPr>
              <a:t>թ</a:t>
            </a:r>
            <a:r>
              <a:rPr lang="en-US" dirty="0">
                <a:latin typeface="Sylfaen"/>
              </a:rPr>
              <a:t>.</a:t>
            </a:r>
            <a:endParaRPr lang="en-US" dirty="0"/>
          </a:p>
          <a:p>
            <a:endParaRPr lang="en-US" dirty="0"/>
          </a:p>
        </p:txBody>
      </p:sp>
    </p:spTree>
    <p:extLst>
      <p:ext uri="{BB962C8B-B14F-4D97-AF65-F5344CB8AC3E}">
        <p14:creationId xmlns:p14="http://schemas.microsoft.com/office/powerpoint/2010/main" val="13738933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66841" y="601473"/>
            <a:ext cx="8415025" cy="99991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3671369370"/>
              </p:ext>
            </p:extLst>
          </p:nvPr>
        </p:nvGraphicFramePr>
        <p:xfrm>
          <a:off x="2365329" y="2038023"/>
          <a:ext cx="7912100" cy="4389120"/>
        </p:xfrm>
        <a:graphic>
          <a:graphicData uri="http://schemas.openxmlformats.org/drawingml/2006/table">
            <a:tbl>
              <a:tblPr>
                <a:tableStyleId>{5940675A-B579-460E-94D1-54222C63F5DA}</a:tableStyleId>
              </a:tblPr>
              <a:tblGrid>
                <a:gridCol w="1218711">
                  <a:extLst>
                    <a:ext uri="{9D8B030D-6E8A-4147-A177-3AD203B41FA5}">
                      <a16:colId xmlns:a16="http://schemas.microsoft.com/office/drawing/2014/main" val="1307129195"/>
                    </a:ext>
                  </a:extLst>
                </a:gridCol>
                <a:gridCol w="1459914">
                  <a:extLst>
                    <a:ext uri="{9D8B030D-6E8A-4147-A177-3AD203B41FA5}">
                      <a16:colId xmlns:a16="http://schemas.microsoft.com/office/drawing/2014/main" val="3127901744"/>
                    </a:ext>
                  </a:extLst>
                </a:gridCol>
                <a:gridCol w="3303849">
                  <a:extLst>
                    <a:ext uri="{9D8B030D-6E8A-4147-A177-3AD203B41FA5}">
                      <a16:colId xmlns:a16="http://schemas.microsoft.com/office/drawing/2014/main" val="3184216117"/>
                    </a:ext>
                  </a:extLst>
                </a:gridCol>
                <a:gridCol w="1929626">
                  <a:extLst>
                    <a:ext uri="{9D8B030D-6E8A-4147-A177-3AD203B41FA5}">
                      <a16:colId xmlns:a16="http://schemas.microsoft.com/office/drawing/2014/main" val="806201004"/>
                    </a:ext>
                  </a:extLst>
                </a:gridCol>
              </a:tblGrid>
              <a:tr h="1371092">
                <a:tc>
                  <a:txBody>
                    <a:bodyPr/>
                    <a:lstStyle/>
                    <a:p>
                      <a:pPr marL="54610" marR="0" indent="-54610" algn="ctr" rtl="0" eaLnBrk="1" latinLnBrk="0" hangingPunct="1">
                        <a:lnSpc>
                          <a:spcPct val="150000"/>
                        </a:lnSpc>
                        <a:spcBef>
                          <a:spcPts val="0"/>
                        </a:spcBef>
                        <a:spcAft>
                          <a:spcPts val="0"/>
                        </a:spcAft>
                      </a:pPr>
                      <a:r>
                        <a:rPr lang="hy-AM" sz="1600" dirty="0">
                          <a:effectLst/>
                        </a:rPr>
                        <a:t>Ամսաթիվը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a:effectLst/>
                        </a:rPr>
                        <a:t>Դասարանը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a:effectLst/>
                        </a:rPr>
                        <a:t>Միջոցառման անվանումը, նկարագիրը և օգտագործված ուսումնական նյութերը և պարագաները </a:t>
                      </a:r>
                      <a:endParaRPr lang="hy-AM">
                        <a:effectLst/>
                      </a:endParaRPr>
                    </a:p>
                  </a:txBody>
                  <a:tcPr marL="0" marR="0" marT="0" marB="0" anchor="ctr"/>
                </a:tc>
                <a:tc>
                  <a:txBody>
                    <a:bodyPr/>
                    <a:lstStyle/>
                    <a:p>
                      <a:pPr marL="0" marR="0" algn="ctr" rtl="0" latinLnBrk="0">
                        <a:lnSpc>
                          <a:spcPct val="150000"/>
                        </a:lnSpc>
                        <a:spcBef>
                          <a:spcPts val="0"/>
                        </a:spcBef>
                        <a:spcAft>
                          <a:spcPts val="1000"/>
                        </a:spcAft>
                      </a:pPr>
                      <a:r>
                        <a:rPr lang="hy-AM" sz="1600">
                          <a:effectLst/>
                        </a:rPr>
                        <a:t>Մասնակից սովորողների և աշխատակիցների թիվը </a:t>
                      </a:r>
                      <a:endParaRPr lang="hy-AM">
                        <a:effectLst/>
                      </a:endParaRPr>
                    </a:p>
                  </a:txBody>
                  <a:tcPr marL="0" marR="0" marT="0" marB="0" anchor="ctr"/>
                </a:tc>
                <a:extLst>
                  <a:ext uri="{0D108BD9-81ED-4DB2-BD59-A6C34878D82A}">
                    <a16:rowId xmlns:a16="http://schemas.microsoft.com/office/drawing/2014/main" val="1924221681"/>
                  </a:ext>
                </a:extLst>
              </a:tr>
              <a:tr h="1371092">
                <a:tc>
                  <a:txBody>
                    <a:bodyPr/>
                    <a:lstStyle/>
                    <a:p>
                      <a:pPr marL="54610" marR="0" indent="-54610" algn="ctr" rtl="0" eaLnBrk="1" latinLnBrk="0" hangingPunct="1">
                        <a:lnSpc>
                          <a:spcPct val="150000"/>
                        </a:lnSpc>
                        <a:spcBef>
                          <a:spcPts val="0"/>
                        </a:spcBef>
                        <a:spcAft>
                          <a:spcPts val="0"/>
                        </a:spcAft>
                      </a:pPr>
                      <a:r>
                        <a:rPr lang="en-US" sz="1400" dirty="0" smtClean="0">
                          <a:effectLst/>
                          <a:latin typeface="Sylfaen"/>
                        </a:rPr>
                        <a:t>05.</a:t>
                      </a:r>
                      <a:r>
                        <a:rPr lang="ru-RU" sz="1400" dirty="0">
                          <a:effectLst/>
                          <a:latin typeface="Sylfaen"/>
                        </a:rPr>
                        <a:t>0</a:t>
                      </a:r>
                      <a:r>
                        <a:rPr lang="en-US" sz="1400" dirty="0">
                          <a:effectLst/>
                          <a:latin typeface="Sylfaen"/>
                        </a:rPr>
                        <a:t>9.20</a:t>
                      </a:r>
                      <a:r>
                        <a:rPr lang="ru-RU" sz="1400" dirty="0" smtClean="0">
                          <a:effectLst/>
                          <a:latin typeface="Sylfaen"/>
                        </a:rPr>
                        <a:t>2</a:t>
                      </a:r>
                      <a:r>
                        <a:rPr lang="en-US" sz="1400" dirty="0" smtClean="0">
                          <a:effectLst/>
                          <a:latin typeface="Sylfaen"/>
                        </a:rPr>
                        <a:t>4թ</a:t>
                      </a:r>
                      <a:r>
                        <a:rPr lang="en-US" sz="1400" dirty="0">
                          <a:effectLst/>
                          <a:latin typeface="Sylfaen"/>
                        </a:rPr>
                        <a:t>. </a:t>
                      </a:r>
                    </a:p>
                  </a:txBody>
                  <a:tcPr marL="0" marR="0" marT="0" marB="0" anchor="ctr"/>
                </a:tc>
                <a:tc>
                  <a:txBody>
                    <a:bodyPr/>
                    <a:lstStyle/>
                    <a:p>
                      <a:pPr marL="0" marR="0" algn="ctr" rtl="0" eaLnBrk="1" latinLnBrk="0" hangingPunct="1">
                        <a:lnSpc>
                          <a:spcPct val="150000"/>
                        </a:lnSpc>
                        <a:spcBef>
                          <a:spcPts val="0"/>
                        </a:spcBef>
                        <a:spcAft>
                          <a:spcPts val="0"/>
                        </a:spcAft>
                      </a:pPr>
                      <a:r>
                        <a:rPr lang="ru-RU" sz="1600" dirty="0">
                          <a:effectLst/>
                        </a:rPr>
                        <a:t>10</a:t>
                      </a:r>
                      <a:endParaRPr lang="en-US" dirty="0">
                        <a:effectLst/>
                      </a:endParaRPr>
                    </a:p>
                  </a:txBody>
                  <a:tcPr marL="0" marR="0" marT="0" marB="0" anchor="ctr"/>
                </a:tc>
                <a:tc>
                  <a:txBody>
                    <a:bodyPr/>
                    <a:lstStyle/>
                    <a:p>
                      <a:pPr marL="0" marR="0" algn="ctr" rtl="0" latinLnBrk="0">
                        <a:lnSpc>
                          <a:spcPct val="150000"/>
                        </a:lnSpc>
                        <a:spcBef>
                          <a:spcPts val="0"/>
                        </a:spcBef>
                        <a:spcAft>
                          <a:spcPts val="0"/>
                        </a:spcAft>
                      </a:pPr>
                      <a:r>
                        <a:rPr lang="en-US" sz="1600" dirty="0" err="1" smtClean="0">
                          <a:effectLst/>
                        </a:rPr>
                        <a:t>Փրկարարի</a:t>
                      </a:r>
                      <a:r>
                        <a:rPr lang="en-US" sz="1600" baseline="0" dirty="0" smtClean="0">
                          <a:effectLst/>
                        </a:rPr>
                        <a:t> </a:t>
                      </a:r>
                      <a:r>
                        <a:rPr lang="en-US" sz="1600" baseline="0" dirty="0" err="1" smtClean="0">
                          <a:effectLst/>
                        </a:rPr>
                        <a:t>օրվա</a:t>
                      </a:r>
                      <a:r>
                        <a:rPr lang="en-US" sz="1600" baseline="0" dirty="0" smtClean="0">
                          <a:effectLst/>
                        </a:rPr>
                        <a:t> </a:t>
                      </a:r>
                      <a:r>
                        <a:rPr lang="en-US" sz="1600" baseline="0" dirty="0" err="1" smtClean="0">
                          <a:effectLst/>
                        </a:rPr>
                        <a:t>օրվա</a:t>
                      </a:r>
                      <a:r>
                        <a:rPr lang="en-US" sz="1600" baseline="0" dirty="0" smtClean="0">
                          <a:effectLst/>
                        </a:rPr>
                        <a:t> </a:t>
                      </a:r>
                      <a:r>
                        <a:rPr lang="en-US" sz="1600" baseline="0" dirty="0" err="1" smtClean="0">
                          <a:effectLst/>
                        </a:rPr>
                        <a:t>կապակցությամբ</a:t>
                      </a:r>
                      <a:r>
                        <a:rPr lang="en-US" sz="1600" baseline="0" dirty="0" smtClean="0">
                          <a:effectLst/>
                        </a:rPr>
                        <a:t> «</a:t>
                      </a:r>
                      <a:r>
                        <a:rPr lang="en-US" sz="1600" baseline="0" dirty="0" err="1" smtClean="0">
                          <a:effectLst/>
                        </a:rPr>
                        <a:t>Անձնակազմի</a:t>
                      </a:r>
                      <a:r>
                        <a:rPr lang="en-US" sz="1600" baseline="0" dirty="0" smtClean="0">
                          <a:effectLst/>
                        </a:rPr>
                        <a:t> </a:t>
                      </a:r>
                      <a:r>
                        <a:rPr lang="en-US" sz="1600" baseline="0" dirty="0" err="1" smtClean="0">
                          <a:effectLst/>
                        </a:rPr>
                        <a:t>պաշտպանությունը</a:t>
                      </a:r>
                      <a:r>
                        <a:rPr lang="en-US" sz="1600" baseline="0" dirty="0" smtClean="0">
                          <a:effectLst/>
                        </a:rPr>
                        <a:t> </a:t>
                      </a:r>
                      <a:r>
                        <a:rPr lang="en-US" sz="1600" baseline="0" dirty="0" err="1" smtClean="0">
                          <a:effectLst/>
                        </a:rPr>
                        <a:t>հրդեհի</a:t>
                      </a:r>
                      <a:r>
                        <a:rPr lang="en-US" sz="1600" baseline="0" dirty="0" smtClean="0">
                          <a:effectLst/>
                        </a:rPr>
                        <a:t> </a:t>
                      </a:r>
                      <a:r>
                        <a:rPr lang="en-US" sz="1600" baseline="0" dirty="0" err="1" smtClean="0">
                          <a:effectLst/>
                        </a:rPr>
                        <a:t>ժամանակ</a:t>
                      </a:r>
                      <a:r>
                        <a:rPr lang="en-US" sz="1600" baseline="0" dirty="0" smtClean="0">
                          <a:effectLst/>
                        </a:rPr>
                        <a:t>»</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rPr>
                        <a:t>115</a:t>
                      </a:r>
                      <a:endParaRPr lang="en-US" sz="1600" dirty="0">
                        <a:effectLst/>
                      </a:endParaRPr>
                    </a:p>
                  </a:txBody>
                  <a:tcPr marL="0" marR="0" marT="0" marB="0" anchor="ctr"/>
                </a:tc>
                <a:extLst>
                  <a:ext uri="{0D108BD9-81ED-4DB2-BD59-A6C34878D82A}">
                    <a16:rowId xmlns:a16="http://schemas.microsoft.com/office/drawing/2014/main" val="2952258067"/>
                  </a:ext>
                </a:extLst>
              </a:tr>
              <a:tr h="1371092">
                <a:tc>
                  <a:txBody>
                    <a:bodyPr/>
                    <a:lstStyle/>
                    <a:p>
                      <a:pPr marL="54610" marR="0" indent="-54610" algn="ctr" rtl="0" eaLnBrk="1" latinLnBrk="0" hangingPunct="1">
                        <a:lnSpc>
                          <a:spcPct val="150000"/>
                        </a:lnSpc>
                        <a:spcBef>
                          <a:spcPts val="0"/>
                        </a:spcBef>
                        <a:spcAft>
                          <a:spcPts val="0"/>
                        </a:spcAft>
                      </a:pPr>
                      <a:r>
                        <a:rPr lang="en-US" sz="1400" dirty="0" smtClean="0">
                          <a:effectLst/>
                          <a:latin typeface="Sylfaen"/>
                        </a:rPr>
                        <a:t>05.03.2024 </a:t>
                      </a:r>
                      <a:r>
                        <a:rPr lang="en-US" sz="1400" dirty="0">
                          <a:effectLst/>
                          <a:latin typeface="Sylfaen"/>
                        </a:rPr>
                        <a:t>թ. </a:t>
                      </a:r>
                      <a:endParaRPr lang="en-US" sz="1400" dirty="0">
                        <a:effectLst/>
                        <a:latin typeface="Sylfaen" panose="010A0502050306030303" pitchFamily="18" charset="0"/>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rPr>
                        <a:t>10-12 </a:t>
                      </a:r>
                      <a:endParaRPr lang="en-US">
                        <a:effectLst/>
                      </a:endParaRPr>
                    </a:p>
                  </a:txBody>
                  <a:tcPr marL="0" marR="0" marT="0" marB="0" anchor="ctr"/>
                </a:tc>
                <a:tc>
                  <a:txBody>
                    <a:bodyPr/>
                    <a:lstStyle/>
                    <a:p>
                      <a:pPr marL="0" marR="0" algn="ctr" rtl="0" latinLnBrk="0">
                        <a:lnSpc>
                          <a:spcPct val="150000"/>
                        </a:lnSpc>
                        <a:spcBef>
                          <a:spcPts val="0"/>
                        </a:spcBef>
                        <a:spcAft>
                          <a:spcPts val="0"/>
                        </a:spcAft>
                      </a:pPr>
                      <a:r>
                        <a:rPr lang="en-US" sz="1600" dirty="0">
                          <a:effectLst/>
                        </a:rPr>
                        <a:t>ՔՊ </a:t>
                      </a:r>
                      <a:r>
                        <a:rPr lang="en-US" sz="1600" dirty="0" err="1">
                          <a:effectLst/>
                        </a:rPr>
                        <a:t>միջազգային</a:t>
                      </a:r>
                      <a:r>
                        <a:rPr lang="en-US" sz="1600" dirty="0">
                          <a:effectLst/>
                        </a:rPr>
                        <a:t> </a:t>
                      </a:r>
                      <a:r>
                        <a:rPr lang="en-US" sz="1600" dirty="0" err="1">
                          <a:effectLst/>
                        </a:rPr>
                        <a:t>օրվան</a:t>
                      </a:r>
                      <a:r>
                        <a:rPr lang="en-US" sz="1600" dirty="0">
                          <a:effectLst/>
                        </a:rPr>
                        <a:t> </a:t>
                      </a:r>
                      <a:r>
                        <a:rPr lang="en-US" sz="1600" dirty="0" err="1">
                          <a:effectLst/>
                        </a:rPr>
                        <a:t>նվիրված</a:t>
                      </a:r>
                      <a:r>
                        <a:rPr lang="en-US" sz="1600" baseline="0" dirty="0">
                          <a:effectLst/>
                        </a:rPr>
                        <a:t> </a:t>
                      </a:r>
                      <a:r>
                        <a:rPr lang="en-US" sz="1600" baseline="0" dirty="0" err="1">
                          <a:effectLst/>
                        </a:rPr>
                        <a:t>դասախոսություն</a:t>
                      </a:r>
                      <a:r>
                        <a:rPr lang="en-US" sz="1600" baseline="0" dirty="0">
                          <a:effectLst/>
                        </a:rPr>
                        <a:t> </a:t>
                      </a:r>
                      <a:r>
                        <a:rPr lang="en-US" sz="1600" baseline="0" dirty="0" smtClean="0">
                          <a:effectLst/>
                        </a:rPr>
                        <a:t>«</a:t>
                      </a:r>
                      <a:r>
                        <a:rPr lang="en-US" sz="1600" baseline="0" dirty="0" err="1" smtClean="0">
                          <a:effectLst/>
                        </a:rPr>
                        <a:t>Վարվելակերպի</a:t>
                      </a:r>
                      <a:r>
                        <a:rPr lang="en-US" sz="1600" baseline="0" dirty="0" smtClean="0">
                          <a:effectLst/>
                        </a:rPr>
                        <a:t> </a:t>
                      </a:r>
                      <a:r>
                        <a:rPr lang="en-US" sz="1600" baseline="0" dirty="0" err="1" smtClean="0">
                          <a:effectLst/>
                        </a:rPr>
                        <a:t>կանոնները</a:t>
                      </a:r>
                      <a:r>
                        <a:rPr lang="en-US" sz="1600" baseline="0" dirty="0" smtClean="0">
                          <a:effectLst/>
                        </a:rPr>
                        <a:t> </a:t>
                      </a:r>
                      <a:r>
                        <a:rPr lang="en-US" sz="1600" baseline="0" dirty="0" err="1" smtClean="0">
                          <a:effectLst/>
                        </a:rPr>
                        <a:t>երկրաշարժի</a:t>
                      </a:r>
                      <a:r>
                        <a:rPr lang="en-US" sz="1600" baseline="0" dirty="0" smtClean="0">
                          <a:effectLst/>
                        </a:rPr>
                        <a:t> </a:t>
                      </a:r>
                      <a:r>
                        <a:rPr lang="en-US" sz="1600" baseline="0" dirty="0" err="1" smtClean="0">
                          <a:effectLst/>
                        </a:rPr>
                        <a:t>ժամանակ</a:t>
                      </a:r>
                      <a:r>
                        <a:rPr lang="en-US" sz="1600" baseline="0" dirty="0" smtClean="0">
                          <a:effectLst/>
                        </a:rPr>
                        <a:t>» </a:t>
                      </a:r>
                      <a:r>
                        <a:rPr lang="en-US" sz="1600" baseline="0" dirty="0" err="1">
                          <a:effectLst/>
                        </a:rPr>
                        <a:t>թեմայով</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sz="1600" dirty="0">
                          <a:effectLst/>
                        </a:rPr>
                        <a:t>300</a:t>
                      </a:r>
                    </a:p>
                  </a:txBody>
                  <a:tcPr marL="0" marR="0" marT="0" marB="0" anchor="ctr"/>
                </a:tc>
                <a:extLst>
                  <a:ext uri="{0D108BD9-81ED-4DB2-BD59-A6C34878D82A}">
                    <a16:rowId xmlns:a16="http://schemas.microsoft.com/office/drawing/2014/main" val="346342148"/>
                  </a:ext>
                </a:extLst>
              </a:tr>
            </a:tbl>
          </a:graphicData>
        </a:graphic>
      </p:graphicFrame>
    </p:spTree>
    <p:extLst>
      <p:ext uri="{BB962C8B-B14F-4D97-AF65-F5344CB8AC3E}">
        <p14:creationId xmlns:p14="http://schemas.microsoft.com/office/powerpoint/2010/main" val="37090680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10518" y="444903"/>
            <a:ext cx="9182101" cy="878986"/>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1717507203"/>
              </p:ext>
            </p:extLst>
          </p:nvPr>
        </p:nvGraphicFramePr>
        <p:xfrm>
          <a:off x="1159775" y="1524965"/>
          <a:ext cx="9886951" cy="4433602"/>
        </p:xfrm>
        <a:graphic>
          <a:graphicData uri="http://schemas.openxmlformats.org/drawingml/2006/table">
            <a:tbl>
              <a:tblPr>
                <a:tableStyleId>{5940675A-B579-460E-94D1-54222C63F5DA}</a:tableStyleId>
              </a:tblPr>
              <a:tblGrid>
                <a:gridCol w="1537670">
                  <a:extLst>
                    <a:ext uri="{9D8B030D-6E8A-4147-A177-3AD203B41FA5}">
                      <a16:colId xmlns:a16="http://schemas.microsoft.com/office/drawing/2014/main" val="108602927"/>
                    </a:ext>
                  </a:extLst>
                </a:gridCol>
                <a:gridCol w="1820926">
                  <a:extLst>
                    <a:ext uri="{9D8B030D-6E8A-4147-A177-3AD203B41FA5}">
                      <a16:colId xmlns:a16="http://schemas.microsoft.com/office/drawing/2014/main" val="389983699"/>
                    </a:ext>
                  </a:extLst>
                </a:gridCol>
                <a:gridCol w="4113942">
                  <a:extLst>
                    <a:ext uri="{9D8B030D-6E8A-4147-A177-3AD203B41FA5}">
                      <a16:colId xmlns:a16="http://schemas.microsoft.com/office/drawing/2014/main" val="3247464197"/>
                    </a:ext>
                  </a:extLst>
                </a:gridCol>
                <a:gridCol w="2414413">
                  <a:extLst>
                    <a:ext uri="{9D8B030D-6E8A-4147-A177-3AD203B41FA5}">
                      <a16:colId xmlns:a16="http://schemas.microsoft.com/office/drawing/2014/main" val="3053926958"/>
                    </a:ext>
                  </a:extLst>
                </a:gridCol>
              </a:tblGrid>
              <a:tr h="1218235">
                <a:tc>
                  <a:txBody>
                    <a:bodyPr/>
                    <a:lstStyle/>
                    <a:p>
                      <a:pPr marL="54610" marR="0" indent="-54610" algn="ctr" rtl="0" eaLnBrk="1" latinLnBrk="0" hangingPunct="1">
                        <a:lnSpc>
                          <a:spcPct val="150000"/>
                        </a:lnSpc>
                        <a:spcBef>
                          <a:spcPts val="0"/>
                        </a:spcBef>
                        <a:spcAft>
                          <a:spcPts val="0"/>
                        </a:spcAft>
                      </a:pPr>
                      <a:r>
                        <a:rPr lang="hy-AM" sz="1400" dirty="0">
                          <a:effectLst/>
                        </a:rPr>
                        <a:t>Ամսաթիվը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Դասարանը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a:effectLst/>
                        </a:rPr>
                        <a:t>Միջոցառման/վարժանքի անվանումը, նկարագիրը և օգտագործված պարագաներն ու ուսումնական նյութերը </a:t>
                      </a:r>
                      <a:endParaRPr lang="hy-AM">
                        <a:effectLst/>
                      </a:endParaRPr>
                    </a:p>
                    <a:p>
                      <a:pPr marL="0" marR="0" algn="ctr" rtl="0" latinLnBrk="0">
                        <a:lnSpc>
                          <a:spcPct val="150000"/>
                        </a:lnSpc>
                        <a:spcBef>
                          <a:spcPts val="0"/>
                        </a:spcBef>
                        <a:spcAft>
                          <a:spcPts val="0"/>
                        </a:spcAft>
                      </a:pPr>
                      <a:r>
                        <a:rPr lang="hy-AM" sz="1400">
                          <a:effectLst/>
                        </a:rPr>
                        <a:t>  </a:t>
                      </a:r>
                      <a:endParaRPr lang="hy-AM">
                        <a:effectLst/>
                      </a:endParaRPr>
                    </a:p>
                  </a:txBody>
                  <a:tcPr marL="0" marR="0" marT="0" marB="0" anchor="ctr"/>
                </a:tc>
                <a:tc>
                  <a:txBody>
                    <a:bodyPr/>
                    <a:lstStyle/>
                    <a:p>
                      <a:pPr marL="0" marR="0" algn="ctr" rtl="0" latinLnBrk="0">
                        <a:lnSpc>
                          <a:spcPct val="150000"/>
                        </a:lnSpc>
                        <a:spcBef>
                          <a:spcPts val="0"/>
                        </a:spcBef>
                        <a:spcAft>
                          <a:spcPts val="1000"/>
                        </a:spcAft>
                      </a:pPr>
                      <a:r>
                        <a:rPr lang="hy-AM" sz="1400">
                          <a:effectLst/>
                        </a:rPr>
                        <a:t>Մասնակից սովորողների և աշխատակիցների թիվը </a:t>
                      </a:r>
                      <a:endParaRPr lang="hy-AM">
                        <a:effectLst/>
                      </a:endParaRPr>
                    </a:p>
                  </a:txBody>
                  <a:tcPr marL="0" marR="0" marT="0" marB="0" anchor="ctr"/>
                </a:tc>
                <a:extLst>
                  <a:ext uri="{0D108BD9-81ED-4DB2-BD59-A6C34878D82A}">
                    <a16:rowId xmlns:a16="http://schemas.microsoft.com/office/drawing/2014/main" val="3194709024"/>
                  </a:ext>
                </a:extLst>
              </a:tr>
              <a:tr h="69695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smtClean="0">
                          <a:effectLst/>
                          <a:latin typeface="Sylfaen"/>
                        </a:rPr>
                        <a:t>29.</a:t>
                      </a:r>
                      <a:r>
                        <a:rPr lang="ru-RU" sz="1200" dirty="0">
                          <a:effectLst/>
                          <a:latin typeface="Sylfaen"/>
                        </a:rPr>
                        <a:t>0</a:t>
                      </a:r>
                      <a:r>
                        <a:rPr lang="en-US" sz="1200" dirty="0">
                          <a:effectLst/>
                          <a:latin typeface="Sylfaen"/>
                        </a:rPr>
                        <a:t>9.20</a:t>
                      </a:r>
                      <a:r>
                        <a:rPr lang="ru-RU" sz="1200" dirty="0" smtClean="0">
                          <a:effectLst/>
                          <a:latin typeface="Sylfaen"/>
                        </a:rPr>
                        <a:t>2</a:t>
                      </a:r>
                      <a:r>
                        <a:rPr lang="en-US" sz="1200" dirty="0" smtClean="0">
                          <a:effectLst/>
                          <a:latin typeface="Sylfaen"/>
                        </a:rPr>
                        <a:t>4թ</a:t>
                      </a:r>
                      <a:r>
                        <a:rPr lang="en-US" sz="1200" dirty="0">
                          <a:effectLst/>
                          <a:latin typeface="Sylfaen"/>
                        </a:rPr>
                        <a:t>. </a:t>
                      </a:r>
                    </a:p>
                    <a:p>
                      <a:pPr marL="0" marR="0" algn="ctr" rtl="0" latinLnBrk="0">
                        <a:spcBef>
                          <a:spcPts val="0"/>
                        </a:spcBef>
                        <a:spcAft>
                          <a:spcPts val="0"/>
                        </a:spcAft>
                      </a:pPr>
                      <a:endParaRPr lang="en-US" dirty="0">
                        <a:effectLst/>
                      </a:endParaRPr>
                    </a:p>
                  </a:txBody>
                  <a:tcPr marL="0" marR="0" marT="0" marB="0" anchor="ctr"/>
                </a:tc>
                <a:tc>
                  <a:txBody>
                    <a:bodyPr/>
                    <a:lstStyle/>
                    <a:p>
                      <a:pPr marL="0" marR="0" algn="ctr" rtl="0" eaLnBrk="1" latinLnBrk="0" hangingPunct="1">
                        <a:spcBef>
                          <a:spcPts val="0"/>
                        </a:spcBef>
                        <a:spcAft>
                          <a:spcPts val="0"/>
                        </a:spcAft>
                      </a:pPr>
                      <a:r>
                        <a:rPr lang="en-US" dirty="0">
                          <a:effectLst/>
                        </a:rPr>
                        <a:t>10-րդ</a:t>
                      </a:r>
                    </a:p>
                  </a:txBody>
                  <a:tcPr marL="0" marR="0" marT="0" marB="0" anchor="ctr"/>
                </a:tc>
                <a:tc>
                  <a:txBody>
                    <a:bodyPr/>
                    <a:lstStyle/>
                    <a:p>
                      <a:pPr marL="0" marR="0" algn="ctr" rtl="0" latinLnBrk="0">
                        <a:spcBef>
                          <a:spcPts val="0"/>
                        </a:spcBef>
                        <a:spcAft>
                          <a:spcPts val="0"/>
                        </a:spcAft>
                      </a:pPr>
                      <a:r>
                        <a:rPr lang="en-US" sz="1400" dirty="0">
                          <a:effectLst/>
                        </a:rPr>
                        <a:t>ԱԻ </a:t>
                      </a:r>
                      <a:r>
                        <a:rPr lang="en-US" sz="1400" dirty="0" err="1">
                          <a:effectLst/>
                        </a:rPr>
                        <a:t>աշխատակցի</a:t>
                      </a:r>
                      <a:r>
                        <a:rPr lang="en-US" sz="1400" dirty="0">
                          <a:effectLst/>
                        </a:rPr>
                        <a:t> </a:t>
                      </a:r>
                      <a:r>
                        <a:rPr lang="en-US" sz="1400" dirty="0" err="1">
                          <a:effectLst/>
                        </a:rPr>
                        <a:t>օրվան</a:t>
                      </a:r>
                      <a:r>
                        <a:rPr lang="en-US" sz="1400" dirty="0">
                          <a:effectLst/>
                        </a:rPr>
                        <a:t> </a:t>
                      </a:r>
                      <a:r>
                        <a:rPr lang="en-US" sz="1400" dirty="0" err="1">
                          <a:effectLst/>
                        </a:rPr>
                        <a:t>նվիրված</a:t>
                      </a:r>
                      <a:r>
                        <a:rPr lang="en-US" sz="1400" dirty="0">
                          <a:effectLst/>
                        </a:rPr>
                        <a:t> </a:t>
                      </a:r>
                      <a:r>
                        <a:rPr lang="en-US" sz="1400" dirty="0" err="1">
                          <a:effectLst/>
                        </a:rPr>
                        <a:t>դասախոսություն</a:t>
                      </a:r>
                      <a:r>
                        <a:rPr lang="en-US" sz="1400" dirty="0">
                          <a:effectLst/>
                        </a:rPr>
                        <a:t> «</a:t>
                      </a:r>
                      <a:r>
                        <a:rPr lang="en-US" sz="1400" dirty="0" err="1">
                          <a:effectLst/>
                        </a:rPr>
                        <a:t>Աշակերտների</a:t>
                      </a:r>
                      <a:r>
                        <a:rPr lang="en-US" sz="1400" dirty="0">
                          <a:effectLst/>
                        </a:rPr>
                        <a:t> </a:t>
                      </a:r>
                      <a:r>
                        <a:rPr lang="en-US" sz="1400" dirty="0" err="1">
                          <a:effectLst/>
                        </a:rPr>
                        <a:t>գործողությունները</a:t>
                      </a:r>
                      <a:r>
                        <a:rPr lang="en-US" sz="1400" dirty="0">
                          <a:effectLst/>
                        </a:rPr>
                        <a:t> </a:t>
                      </a:r>
                      <a:r>
                        <a:rPr lang="en-US" sz="1400" dirty="0" err="1">
                          <a:effectLst/>
                        </a:rPr>
                        <a:t>հնարավոր</a:t>
                      </a:r>
                      <a:r>
                        <a:rPr lang="en-US" sz="1400" dirty="0">
                          <a:effectLst/>
                        </a:rPr>
                        <a:t> </a:t>
                      </a:r>
                      <a:r>
                        <a:rPr lang="en-US" sz="1400" dirty="0" err="1">
                          <a:effectLst/>
                        </a:rPr>
                        <a:t>բնական</a:t>
                      </a:r>
                      <a:r>
                        <a:rPr lang="en-US" sz="1400" dirty="0">
                          <a:effectLst/>
                        </a:rPr>
                        <a:t> </a:t>
                      </a:r>
                      <a:r>
                        <a:rPr lang="en-US" sz="1400" dirty="0" err="1">
                          <a:effectLst/>
                        </a:rPr>
                        <a:t>աղետների</a:t>
                      </a:r>
                      <a:r>
                        <a:rPr lang="en-US" sz="1400" dirty="0">
                          <a:effectLst/>
                        </a:rPr>
                        <a:t> </a:t>
                      </a:r>
                      <a:r>
                        <a:rPr lang="en-US" sz="1400" dirty="0" err="1">
                          <a:effectLst/>
                        </a:rPr>
                        <a:t>ժամանակ</a:t>
                      </a:r>
                      <a:r>
                        <a:rPr lang="en-US" sz="1400" dirty="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120</a:t>
                      </a:r>
                      <a:endParaRPr lang="en-US" dirty="0">
                        <a:effectLst/>
                      </a:endParaRPr>
                    </a:p>
                  </a:txBody>
                  <a:tcPr marL="0" marR="0" marT="0" marB="0" anchor="ctr"/>
                </a:tc>
                <a:extLst>
                  <a:ext uri="{0D108BD9-81ED-4DB2-BD59-A6C34878D82A}">
                    <a16:rowId xmlns:a16="http://schemas.microsoft.com/office/drawing/2014/main" val="1345845755"/>
                  </a:ext>
                </a:extLst>
              </a:tr>
              <a:tr h="69695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smtClean="0">
                          <a:effectLst/>
                          <a:latin typeface="Sylfaen"/>
                        </a:rPr>
                        <a:t>05.12.20</a:t>
                      </a:r>
                      <a:r>
                        <a:rPr lang="ru-RU" sz="1200" dirty="0" smtClean="0">
                          <a:effectLst/>
                          <a:latin typeface="Sylfaen"/>
                        </a:rPr>
                        <a:t>2</a:t>
                      </a:r>
                      <a:r>
                        <a:rPr lang="en-US" sz="1200" dirty="0" smtClean="0">
                          <a:effectLst/>
                          <a:latin typeface="Sylfaen"/>
                        </a:rPr>
                        <a:t>4թ</a:t>
                      </a:r>
                      <a:r>
                        <a:rPr lang="en-US" sz="1200" dirty="0">
                          <a:effectLst/>
                          <a:latin typeface="Sylfaen"/>
                        </a:rPr>
                        <a:t>. </a:t>
                      </a:r>
                    </a:p>
                    <a:p>
                      <a:pPr marL="0" marR="0" algn="ctr" rtl="0" latinLnBrk="0">
                        <a:spcBef>
                          <a:spcPts val="0"/>
                        </a:spcBef>
                        <a:spcAft>
                          <a:spcPts val="0"/>
                        </a:spcAft>
                      </a:pPr>
                      <a:endParaRPr lang="en-US" sz="1200" dirty="0">
                        <a:effectLst/>
                      </a:endParaRPr>
                    </a:p>
                  </a:txBody>
                  <a:tcPr marL="0" marR="0" marT="0" marB="0" anchor="ctr"/>
                </a:tc>
                <a:tc>
                  <a:txBody>
                    <a:bodyPr/>
                    <a:lstStyle/>
                    <a:p>
                      <a:pPr marL="0" marR="0" algn="ctr" rtl="0" eaLnBrk="1" latinLnBrk="0" hangingPunct="1">
                        <a:spcBef>
                          <a:spcPts val="0"/>
                        </a:spcBef>
                        <a:spcAft>
                          <a:spcPts val="0"/>
                        </a:spcAft>
                      </a:pPr>
                      <a:r>
                        <a:rPr lang="en-US">
                          <a:effectLst/>
                        </a:rPr>
                        <a:t>10-11-րդ</a:t>
                      </a:r>
                    </a:p>
                  </a:txBody>
                  <a:tcPr marL="0" marR="0" marT="0" marB="0" anchor="ctr"/>
                </a:tc>
                <a:tc>
                  <a:txBody>
                    <a:bodyPr/>
                    <a:lstStyle/>
                    <a:p>
                      <a:pPr marL="0" marR="0" algn="ctr" rtl="0" latinLnBrk="0">
                        <a:spcBef>
                          <a:spcPts val="0"/>
                        </a:spcBef>
                        <a:spcAft>
                          <a:spcPts val="0"/>
                        </a:spcAft>
                      </a:pPr>
                      <a:r>
                        <a:rPr lang="en-US" sz="1400" dirty="0" err="1">
                          <a:effectLst/>
                        </a:rPr>
                        <a:t>Սպիտակի</a:t>
                      </a:r>
                      <a:r>
                        <a:rPr lang="en-US" sz="1400" dirty="0">
                          <a:effectLst/>
                        </a:rPr>
                        <a:t> </a:t>
                      </a:r>
                      <a:r>
                        <a:rPr lang="en-US" sz="1400" dirty="0" err="1">
                          <a:effectLst/>
                        </a:rPr>
                        <a:t>ավերիչ</a:t>
                      </a:r>
                      <a:r>
                        <a:rPr lang="en-US" sz="1400" dirty="0">
                          <a:effectLst/>
                        </a:rPr>
                        <a:t> </a:t>
                      </a:r>
                      <a:r>
                        <a:rPr lang="en-US" sz="1400" dirty="0" err="1">
                          <a:effectLst/>
                        </a:rPr>
                        <a:t>երկրաշարժին</a:t>
                      </a:r>
                      <a:r>
                        <a:rPr lang="en-US" sz="1400" dirty="0">
                          <a:effectLst/>
                        </a:rPr>
                        <a:t> </a:t>
                      </a:r>
                      <a:r>
                        <a:rPr lang="en-US" sz="1400" dirty="0" err="1">
                          <a:effectLst/>
                        </a:rPr>
                        <a:t>նվիրված</a:t>
                      </a:r>
                      <a:r>
                        <a:rPr lang="en-US" sz="1400" dirty="0">
                          <a:effectLst/>
                        </a:rPr>
                        <a:t> </a:t>
                      </a:r>
                      <a:r>
                        <a:rPr lang="en-US" sz="1400" dirty="0" err="1">
                          <a:effectLst/>
                        </a:rPr>
                        <a:t>դասախոսություն</a:t>
                      </a:r>
                      <a:r>
                        <a:rPr lang="en-US" sz="1400" dirty="0">
                          <a:effectLst/>
                        </a:rPr>
                        <a:t> «</a:t>
                      </a:r>
                      <a:r>
                        <a:rPr lang="en-US" sz="1400" dirty="0" err="1">
                          <a:effectLst/>
                        </a:rPr>
                        <a:t>Երկրաշարժը</a:t>
                      </a:r>
                      <a:r>
                        <a:rPr lang="en-US" sz="1400" dirty="0">
                          <a:effectLst/>
                        </a:rPr>
                        <a:t> և </a:t>
                      </a:r>
                      <a:r>
                        <a:rPr lang="en-US" sz="1400" dirty="0" err="1">
                          <a:effectLst/>
                        </a:rPr>
                        <a:t>նրա</a:t>
                      </a:r>
                      <a:r>
                        <a:rPr lang="en-US" sz="1400" dirty="0">
                          <a:effectLst/>
                        </a:rPr>
                        <a:t> </a:t>
                      </a:r>
                      <a:r>
                        <a:rPr lang="en-US" sz="1400" dirty="0" err="1">
                          <a:effectLst/>
                        </a:rPr>
                        <a:t>հետևանքները</a:t>
                      </a:r>
                      <a:r>
                        <a:rPr lang="en-US" sz="1400" dirty="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190</a:t>
                      </a:r>
                      <a:endParaRPr lang="en-US" dirty="0">
                        <a:effectLst/>
                      </a:endParaRPr>
                    </a:p>
                  </a:txBody>
                  <a:tcPr marL="0" marR="0" marT="0" marB="0" anchor="ctr"/>
                </a:tc>
                <a:extLst>
                  <a:ext uri="{0D108BD9-81ED-4DB2-BD59-A6C34878D82A}">
                    <a16:rowId xmlns:a16="http://schemas.microsoft.com/office/drawing/2014/main" val="2592142811"/>
                  </a:ext>
                </a:extLst>
              </a:tr>
              <a:tr h="801524">
                <a:tc>
                  <a:txBody>
                    <a:bodyPr/>
                    <a:lstStyle/>
                    <a:p>
                      <a:pPr marL="54610" marR="0" indent="-54610" algn="ctr" rtl="0" eaLnBrk="1" latinLnBrk="0" hangingPunct="1">
                        <a:lnSpc>
                          <a:spcPct val="150000"/>
                        </a:lnSpc>
                        <a:spcBef>
                          <a:spcPts val="0"/>
                        </a:spcBef>
                        <a:spcAft>
                          <a:spcPts val="0"/>
                        </a:spcAft>
                      </a:pPr>
                      <a:r>
                        <a:rPr lang="en-US" sz="1200" dirty="0" smtClean="0">
                          <a:effectLst/>
                        </a:rPr>
                        <a:t>15.03.2024թ</a:t>
                      </a:r>
                      <a:r>
                        <a:rPr lang="en-US" sz="1200" dirty="0">
                          <a:effectLst/>
                        </a:rPr>
                        <a:t>.</a:t>
                      </a:r>
                    </a:p>
                  </a:txBody>
                  <a:tcPr marL="0" marR="0" marT="0" marB="0" anchor="ctr"/>
                </a:tc>
                <a:tc>
                  <a:txBody>
                    <a:bodyPr/>
                    <a:lstStyle/>
                    <a:p>
                      <a:pPr marL="0" marR="0" algn="ctr" rtl="0" eaLnBrk="1" latinLnBrk="0" hangingPunct="1">
                        <a:lnSpc>
                          <a:spcPct val="150000"/>
                        </a:lnSpc>
                        <a:spcBef>
                          <a:spcPts val="0"/>
                        </a:spcBef>
                        <a:spcAft>
                          <a:spcPts val="0"/>
                        </a:spcAft>
                      </a:pPr>
                      <a:r>
                        <a:rPr lang="en-US">
                          <a:effectLst/>
                        </a:rPr>
                        <a:t>11-12</a:t>
                      </a:r>
                    </a:p>
                  </a:txBody>
                  <a:tcPr marL="0" marR="0" marT="0" marB="0" anchor="ctr"/>
                </a:tc>
                <a:tc>
                  <a:txBody>
                    <a:bodyPr/>
                    <a:lstStyle/>
                    <a:p>
                      <a:pPr marL="0" marR="0" algn="ctr" rtl="0" latinLnBrk="0">
                        <a:lnSpc>
                          <a:spcPct val="115000"/>
                        </a:lnSpc>
                        <a:spcBef>
                          <a:spcPts val="0"/>
                        </a:spcBef>
                        <a:spcAft>
                          <a:spcPts val="0"/>
                        </a:spcAft>
                      </a:pPr>
                      <a:r>
                        <a:rPr lang="hy-AM" sz="1400" dirty="0">
                          <a:effectLst/>
                        </a:rPr>
                        <a:t>Ո</a:t>
                      </a:r>
                      <a:r>
                        <a:rPr lang="en-US" sz="1400" dirty="0" err="1">
                          <a:effectLst/>
                        </a:rPr>
                        <a:t>ւսումնական</a:t>
                      </a:r>
                      <a:r>
                        <a:rPr lang="en-US" sz="1400" dirty="0">
                          <a:effectLst/>
                        </a:rPr>
                        <a:t> </a:t>
                      </a:r>
                      <a:r>
                        <a:rPr lang="en-US" sz="1400" dirty="0" err="1" smtClean="0">
                          <a:effectLst/>
                        </a:rPr>
                        <a:t>տագնապ-վարժանք</a:t>
                      </a:r>
                      <a:r>
                        <a:rPr lang="en-US" sz="1400" dirty="0" smtClean="0">
                          <a:effectLst/>
                        </a:rPr>
                        <a:t>`</a:t>
                      </a:r>
                      <a:r>
                        <a:rPr lang="en-US" sz="1400" baseline="0" dirty="0" smtClean="0">
                          <a:effectLst/>
                        </a:rPr>
                        <a:t> «</a:t>
                      </a:r>
                      <a:r>
                        <a:rPr lang="en-US" sz="1400" baseline="0" dirty="0" err="1" smtClean="0">
                          <a:effectLst/>
                        </a:rPr>
                        <a:t>Տարհանում</a:t>
                      </a:r>
                      <a:r>
                        <a:rPr lang="en-US" sz="1400" baseline="0" dirty="0" smtClean="0">
                          <a:effectLst/>
                        </a:rPr>
                        <a:t> </a:t>
                      </a:r>
                      <a:r>
                        <a:rPr lang="en-US" sz="1400" baseline="0" dirty="0" err="1" smtClean="0">
                          <a:effectLst/>
                        </a:rPr>
                        <a:t>վարժանքի</a:t>
                      </a:r>
                      <a:r>
                        <a:rPr lang="en-US" sz="1400" baseline="0" dirty="0" smtClean="0">
                          <a:effectLst/>
                        </a:rPr>
                        <a:t> </a:t>
                      </a:r>
                      <a:r>
                        <a:rPr lang="en-US" sz="1400" baseline="0" dirty="0" err="1" smtClean="0">
                          <a:effectLst/>
                        </a:rPr>
                        <a:t>ժամանակ</a:t>
                      </a:r>
                      <a:r>
                        <a:rPr lang="en-US" sz="1400" baseline="0" dirty="0" smtClean="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390</a:t>
                      </a:r>
                      <a:endParaRPr lang="en-US" dirty="0">
                        <a:effectLst/>
                      </a:endParaRPr>
                    </a:p>
                  </a:txBody>
                  <a:tcPr marL="0" marR="0" marT="0" marB="0" anchor="ctr"/>
                </a:tc>
                <a:extLst>
                  <a:ext uri="{0D108BD9-81ED-4DB2-BD59-A6C34878D82A}">
                    <a16:rowId xmlns:a16="http://schemas.microsoft.com/office/drawing/2014/main" val="10003"/>
                  </a:ext>
                </a:extLst>
              </a:tr>
              <a:tr h="801524">
                <a:tc>
                  <a:txBody>
                    <a:bodyPr/>
                    <a:lstStyle/>
                    <a:p>
                      <a:pPr marL="54610" marR="0" indent="-54610" algn="ctr" rtl="0" eaLnBrk="1" latinLnBrk="0" hangingPunct="1">
                        <a:lnSpc>
                          <a:spcPct val="150000"/>
                        </a:lnSpc>
                        <a:spcBef>
                          <a:spcPts val="0"/>
                        </a:spcBef>
                        <a:spcAft>
                          <a:spcPts val="0"/>
                        </a:spcAft>
                      </a:pPr>
                      <a:r>
                        <a:rPr lang="en-US" sz="1200" dirty="0" smtClean="0">
                          <a:effectLst/>
                        </a:rPr>
                        <a:t>04.04.2024թ</a:t>
                      </a:r>
                      <a:r>
                        <a:rPr lang="en-US" sz="1200" dirty="0">
                          <a:effectLst/>
                        </a:rPr>
                        <a:t>.</a:t>
                      </a:r>
                    </a:p>
                  </a:txBody>
                  <a:tcPr marL="0" marR="0" marT="0" marB="0" anchor="ctr"/>
                </a:tc>
                <a:tc>
                  <a:txBody>
                    <a:bodyPr/>
                    <a:lstStyle/>
                    <a:p>
                      <a:pPr marL="0" marR="0" algn="ctr" rtl="0" eaLnBrk="1" latinLnBrk="0" hangingPunct="1">
                        <a:lnSpc>
                          <a:spcPct val="150000"/>
                        </a:lnSpc>
                        <a:spcBef>
                          <a:spcPts val="0"/>
                        </a:spcBef>
                        <a:spcAft>
                          <a:spcPts val="0"/>
                        </a:spcAft>
                      </a:pPr>
                      <a:r>
                        <a:rPr lang="en-US">
                          <a:effectLst/>
                        </a:rPr>
                        <a:t>10-12</a:t>
                      </a:r>
                    </a:p>
                  </a:txBody>
                  <a:tcPr marL="0" marR="0" marT="0" marB="0" anchor="ctr"/>
                </a:tc>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400" baseline="0" dirty="0" err="1" smtClean="0">
                          <a:effectLst/>
                        </a:rPr>
                        <a:t>Դասախոսություն</a:t>
                      </a:r>
                      <a:r>
                        <a:rPr lang="en-US" sz="1400" baseline="0" dirty="0" smtClean="0">
                          <a:effectLst/>
                        </a:rPr>
                        <a:t> «</a:t>
                      </a:r>
                      <a:r>
                        <a:rPr lang="en-US" sz="1400" baseline="0" dirty="0" err="1" smtClean="0">
                          <a:effectLst/>
                        </a:rPr>
                        <a:t>Աշակերտների</a:t>
                      </a:r>
                      <a:r>
                        <a:rPr lang="en-US" sz="1400" baseline="0" dirty="0" smtClean="0">
                          <a:effectLst/>
                        </a:rPr>
                        <a:t> </a:t>
                      </a:r>
                      <a:r>
                        <a:rPr lang="en-US" sz="1400" baseline="0" dirty="0" err="1" smtClean="0">
                          <a:effectLst/>
                        </a:rPr>
                        <a:t>գործողությունները</a:t>
                      </a:r>
                      <a:r>
                        <a:rPr lang="en-US" sz="1400" baseline="0" dirty="0" smtClean="0">
                          <a:effectLst/>
                        </a:rPr>
                        <a:t> </a:t>
                      </a:r>
                      <a:r>
                        <a:rPr lang="en-US" sz="1400" baseline="0" dirty="0" err="1" smtClean="0">
                          <a:effectLst/>
                        </a:rPr>
                        <a:t>պատերազմական</a:t>
                      </a:r>
                      <a:r>
                        <a:rPr lang="en-US" sz="1400" baseline="0" dirty="0" smtClean="0">
                          <a:effectLst/>
                        </a:rPr>
                        <a:t> </a:t>
                      </a:r>
                      <a:r>
                        <a:rPr lang="en-US" sz="1400" baseline="0" dirty="0" err="1" smtClean="0">
                          <a:effectLst/>
                        </a:rPr>
                        <a:t>դրության</a:t>
                      </a:r>
                      <a:r>
                        <a:rPr lang="en-US" sz="1400" baseline="0" dirty="0" smtClean="0">
                          <a:effectLst/>
                        </a:rPr>
                        <a:t> </a:t>
                      </a:r>
                      <a:r>
                        <a:rPr lang="en-US" sz="1400" baseline="0" dirty="0" err="1" smtClean="0">
                          <a:effectLst/>
                        </a:rPr>
                        <a:t>ժամանակ</a:t>
                      </a:r>
                      <a:r>
                        <a:rPr lang="en-US" sz="1400" baseline="0" dirty="0" smtClean="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390</a:t>
                      </a:r>
                      <a:endParaRPr lang="en-US" dirty="0">
                        <a:effectLst/>
                      </a:endParaRPr>
                    </a:p>
                  </a:txBody>
                  <a:tcPr marL="0" marR="0" marT="0" marB="0" anchor="ctr"/>
                </a:tc>
                <a:extLst>
                  <a:ext uri="{0D108BD9-81ED-4DB2-BD59-A6C34878D82A}">
                    <a16:rowId xmlns:a16="http://schemas.microsoft.com/office/drawing/2014/main" val="3094093488"/>
                  </a:ext>
                </a:extLst>
              </a:tr>
            </a:tbl>
          </a:graphicData>
        </a:graphic>
      </p:graphicFrame>
      <p:pic>
        <p:nvPicPr>
          <p:cNvPr id="4" name="Picture 3"/>
          <p:cNvPicPr>
            <a:picLocks noChangeAspect="1"/>
          </p:cNvPicPr>
          <p:nvPr/>
        </p:nvPicPr>
        <p:blipFill>
          <a:blip r:embed="rId4" cstate="print"/>
          <a:stretch>
            <a:fillRect/>
          </a:stretch>
        </p:blipFill>
        <p:spPr>
          <a:xfrm>
            <a:off x="2157269" y="5946685"/>
            <a:ext cx="8892667" cy="663631"/>
          </a:xfrm>
          <a:prstGeom prst="rect">
            <a:avLst/>
          </a:prstGeom>
          <a:ln>
            <a:noFill/>
          </a:ln>
          <a:effectLst>
            <a:softEdge rad="112500"/>
          </a:effectLst>
        </p:spPr>
      </p:pic>
    </p:spTree>
    <p:extLst>
      <p:ext uri="{BB962C8B-B14F-4D97-AF65-F5344CB8AC3E}">
        <p14:creationId xmlns:p14="http://schemas.microsoft.com/office/powerpoint/2010/main" val="505351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3" y="745628"/>
            <a:ext cx="9047162" cy="646331"/>
          </a:xfrm>
          <a:prstGeom prst="rect">
            <a:avLst/>
          </a:prstGeom>
        </p:spPr>
        <p:txBody>
          <a:bodyPr lIns="91440" tIns="45720" rIns="91440" bIns="45720" rtlCol="0" anchor="t">
            <a:spAutoFit/>
          </a:bodyPr>
          <a:lstStyle/>
          <a:p>
            <a:pPr algn="just"/>
            <a:r>
              <a:rPr lang="hy-AM" b="1" i="1">
                <a:latin typeface="Sylfaen"/>
              </a:rPr>
              <a:t>Աղյուսակ 13.          Տվյալներ ուսումնական հաստատության շենքի</a:t>
            </a:r>
            <a:endParaRPr lang="en-US" sz="1200" b="1" i="1">
              <a:latin typeface="Sylfaen"/>
            </a:endParaRPr>
          </a:p>
          <a:p>
            <a:pPr algn="just"/>
            <a:r>
              <a:rPr lang="hy-AM" b="1" i="1">
                <a:latin typeface="Sylfaen"/>
              </a:rPr>
              <a:t>                                           ջեռուցման պայմանների մասին</a:t>
            </a:r>
            <a:endParaRPr lang="en-US" sz="1200" b="1" i="1">
              <a:solidFill>
                <a:srgbClr val="000000"/>
              </a:solidFill>
              <a:latin typeface="Sylfaen"/>
            </a:endParaRPr>
          </a:p>
        </p:txBody>
      </p:sp>
      <p:sp>
        <p:nvSpPr>
          <p:cNvPr id="4" name="TextBox 3"/>
          <p:cNvSpPr txBox="1"/>
          <p:nvPr/>
        </p:nvSpPr>
        <p:spPr>
          <a:xfrm>
            <a:off x="9052146" y="6302031"/>
            <a:ext cx="3048000" cy="276999"/>
          </a:xfrm>
          <a:prstGeom prst="rect">
            <a:avLst/>
          </a:prstGeom>
        </p:spPr>
        <p:txBody>
          <a:bodyPr lIns="91440" tIns="45720" rIns="91440" bIns="45720" rtlCol="0" anchor="t">
            <a:spAutoFit/>
          </a:bodyPr>
          <a:lstStyle/>
          <a:p>
            <a:pPr algn="just"/>
            <a:r>
              <a:rPr lang="hy-AM" sz="1200">
                <a:latin typeface="Sylfaen"/>
              </a:rPr>
              <a:t>Դիտարկման ամսաթիվ</a:t>
            </a:r>
            <a:r>
              <a:rPr lang="ru-RU" sz="1200">
                <a:latin typeface="Sylfaen"/>
              </a:rPr>
              <a:t>`</a:t>
            </a:r>
            <a:r>
              <a:rPr lang="hy-AM" sz="1200">
                <a:latin typeface="Sylfaen"/>
              </a:rPr>
              <a:t>  01/0</a:t>
            </a:r>
            <a:r>
              <a:rPr lang="en-US" sz="1200">
                <a:latin typeface="Sylfaen"/>
              </a:rPr>
              <a:t>6</a:t>
            </a:r>
            <a:r>
              <a:rPr lang="hy-AM" sz="1200">
                <a:latin typeface="Sylfaen"/>
              </a:rPr>
              <a:t>/202</a:t>
            </a:r>
            <a:r>
              <a:rPr lang="en-US" sz="1200">
                <a:latin typeface="Sylfaen"/>
              </a:rPr>
              <a:t>2</a:t>
            </a:r>
            <a:r>
              <a:rPr lang="hy-AM" sz="1200">
                <a:latin typeface="Sylfaen"/>
              </a:rPr>
              <a:t>թ</a:t>
            </a:r>
            <a:r>
              <a:rPr lang="hy-AM" sz="1200">
                <a:latin typeface="Times New Roman"/>
                <a:cs typeface="Times New Roman"/>
              </a:rPr>
              <a:t> </a:t>
            </a:r>
            <a:endParaRPr lang="en-US" sz="1200">
              <a:latin typeface="Times New Roman"/>
              <a:cs typeface="Times New Roman"/>
            </a:endParaRPr>
          </a:p>
        </p:txBody>
      </p:sp>
      <p:graphicFrame>
        <p:nvGraphicFramePr>
          <p:cNvPr id="7" name="Table 6"/>
          <p:cNvGraphicFramePr/>
          <p:nvPr>
            <p:extLst>
              <p:ext uri="{D42A27DB-BD31-4B8C-83A1-F6EECF244321}">
                <p14:modId xmlns:p14="http://schemas.microsoft.com/office/powerpoint/2010/main" val="2161319803"/>
              </p:ext>
            </p:extLst>
          </p:nvPr>
        </p:nvGraphicFramePr>
        <p:xfrm>
          <a:off x="1944805" y="1899313"/>
          <a:ext cx="8652435" cy="4227242"/>
        </p:xfrm>
        <a:graphic>
          <a:graphicData uri="http://schemas.openxmlformats.org/drawingml/2006/table">
            <a:tbl>
              <a:tblPr>
                <a:tableStyleId>{5940675A-B579-460E-94D1-54222C63F5DA}</a:tableStyleId>
              </a:tblPr>
              <a:tblGrid>
                <a:gridCol w="2392151">
                  <a:extLst>
                    <a:ext uri="{9D8B030D-6E8A-4147-A177-3AD203B41FA5}">
                      <a16:colId xmlns:a16="http://schemas.microsoft.com/office/drawing/2014/main" val="502142146"/>
                    </a:ext>
                  </a:extLst>
                </a:gridCol>
                <a:gridCol w="2314567">
                  <a:extLst>
                    <a:ext uri="{9D8B030D-6E8A-4147-A177-3AD203B41FA5}">
                      <a16:colId xmlns:a16="http://schemas.microsoft.com/office/drawing/2014/main" val="1675337740"/>
                    </a:ext>
                  </a:extLst>
                </a:gridCol>
                <a:gridCol w="297401">
                  <a:extLst>
                    <a:ext uri="{9D8B030D-6E8A-4147-A177-3AD203B41FA5}">
                      <a16:colId xmlns:a16="http://schemas.microsoft.com/office/drawing/2014/main" val="615367699"/>
                    </a:ext>
                  </a:extLst>
                </a:gridCol>
                <a:gridCol w="1499943">
                  <a:extLst>
                    <a:ext uri="{9D8B030D-6E8A-4147-A177-3AD203B41FA5}">
                      <a16:colId xmlns:a16="http://schemas.microsoft.com/office/drawing/2014/main" val="1210598976"/>
                    </a:ext>
                  </a:extLst>
                </a:gridCol>
                <a:gridCol w="2148373">
                  <a:extLst>
                    <a:ext uri="{9D8B030D-6E8A-4147-A177-3AD203B41FA5}">
                      <a16:colId xmlns:a16="http://schemas.microsoft.com/office/drawing/2014/main" val="99750358"/>
                    </a:ext>
                  </a:extLst>
                </a:gridCol>
              </a:tblGrid>
              <a:tr h="750042">
                <a:tc gridSpan="5">
                  <a:txBody>
                    <a:bodyPr/>
                    <a:lstStyle/>
                    <a:p>
                      <a:pPr marL="0" marR="0" algn="ctr" rtl="0" latinLnBrk="0">
                        <a:lnSpc>
                          <a:spcPct val="150000"/>
                        </a:lnSpc>
                        <a:spcBef>
                          <a:spcPts val="0"/>
                        </a:spcBef>
                        <a:spcAft>
                          <a:spcPts val="0"/>
                        </a:spcAft>
                      </a:pPr>
                      <a:r>
                        <a:rPr lang="hy-AM" sz="1400" dirty="0">
                          <a:effectLst/>
                        </a:rPr>
                        <a:t>Ուսումնական հաստատությունն ապահովված է լոկալ ջեռուցման անվտանգ համակարգով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31699943"/>
                  </a:ext>
                </a:extLst>
              </a:tr>
              <a:tr h="636895">
                <a:tc gridSpan="2">
                  <a:txBody>
                    <a:bodyPr/>
                    <a:lstStyle/>
                    <a:p>
                      <a:pPr marL="0" marR="0" algn="ctr" rtl="0" latinLnBrk="0">
                        <a:lnSpc>
                          <a:spcPct val="150000"/>
                        </a:lnSpc>
                        <a:spcBef>
                          <a:spcPts val="0"/>
                        </a:spcBef>
                        <a:spcAft>
                          <a:spcPts val="0"/>
                        </a:spcAft>
                      </a:pPr>
                      <a:r>
                        <a:rPr lang="hy-AM" sz="1400" u="sng" dirty="0">
                          <a:effectLst/>
                        </a:rPr>
                        <a:t>Այո</a:t>
                      </a:r>
                      <a:r>
                        <a:rPr lang="hy-AM" sz="1400" dirty="0">
                          <a:effectLst/>
                        </a:rPr>
                        <a:t> </a:t>
                      </a:r>
                      <a:endParaRPr lang="hy-AM" dirty="0">
                        <a:effectLst/>
                      </a:endParaRPr>
                    </a:p>
                    <a:p>
                      <a:pPr marL="0" marR="0" algn="ctr" rtl="0" latinLnBrk="0">
                        <a:lnSpc>
                          <a:spcPct val="150000"/>
                        </a:lnSpc>
                        <a:spcBef>
                          <a:spcPts val="0"/>
                        </a:spcBef>
                        <a:spcAft>
                          <a:spcPts val="0"/>
                        </a:spcAft>
                      </a:pPr>
                      <a:r>
                        <a:rPr lang="hy-AM" sz="1400" dirty="0">
                          <a:effectLst/>
                        </a:rPr>
                        <a:t>Առանձին կաթսայատուն </a:t>
                      </a:r>
                      <a:endParaRPr lang="hy-AM" dirty="0">
                        <a:effectLst/>
                      </a:endParaRPr>
                    </a:p>
                  </a:txBody>
                  <a:tcPr marL="0" marR="0" marT="0" marB="0" anchor="ctr"/>
                </a:tc>
                <a:tc hMerge="1">
                  <a:txBody>
                    <a:bodyPr/>
                    <a:lstStyle/>
                    <a:p>
                      <a:endParaRPr lang="en-US"/>
                    </a:p>
                  </a:txBody>
                  <a:tcPr/>
                </a:tc>
                <a:tc gridSpan="3">
                  <a:txBody>
                    <a:bodyPr/>
                    <a:lstStyle/>
                    <a:p>
                      <a:pPr marL="0" marR="0" algn="ctr" rtl="0" latinLnBrk="0">
                        <a:lnSpc>
                          <a:spcPct val="150000"/>
                        </a:lnSpc>
                        <a:spcBef>
                          <a:spcPts val="0"/>
                        </a:spcBef>
                        <a:spcAft>
                          <a:spcPts val="0"/>
                        </a:spcAft>
                      </a:pPr>
                      <a:r>
                        <a:rPr lang="hy-AM" sz="14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992646"/>
                  </a:ext>
                </a:extLst>
              </a:tr>
              <a:tr h="1141373">
                <a:tc>
                  <a:txBody>
                    <a:bodyPr/>
                    <a:lstStyle/>
                    <a:p>
                      <a:pPr marL="0" marR="0" algn="ctr" rtl="0" latinLnBrk="0">
                        <a:spcBef>
                          <a:spcPts val="0"/>
                        </a:spcBef>
                        <a:spcAft>
                          <a:spcPts val="0"/>
                        </a:spcAft>
                      </a:pPr>
                      <a:r>
                        <a:rPr lang="hy-AM" sz="1400">
                          <a:effectLst/>
                        </a:rPr>
                        <a:t>Դասասենյակները, դահլիճները, այլ սենյակները, միջանցքները և այլն </a:t>
                      </a:r>
                      <a:endParaRPr lang="hy-AM">
                        <a:effectLst/>
                      </a:endParaRPr>
                    </a:p>
                  </a:txBody>
                  <a:tcPr marL="0" marR="0" marT="0" marB="0" anchor="ctr"/>
                </a:tc>
                <a:tc gridSpan="2">
                  <a:txBody>
                    <a:bodyPr/>
                    <a:lstStyle/>
                    <a:p>
                      <a:pPr marL="0" marR="0" algn="ctr" rtl="0" latinLnBrk="0">
                        <a:spcBef>
                          <a:spcPts val="0"/>
                        </a:spcBef>
                        <a:spcAft>
                          <a:spcPts val="0"/>
                        </a:spcAft>
                      </a:pPr>
                      <a:r>
                        <a:rPr lang="hy-AM" sz="1400" dirty="0">
                          <a:effectLst/>
                        </a:rPr>
                        <a:t>Ջեռուցման ձևը, (վառելիքի տեսակը) </a:t>
                      </a:r>
                      <a:endParaRPr lang="hy-AM" dirty="0">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r>
                        <a:rPr lang="hy-AM" sz="1400">
                          <a:effectLst/>
                        </a:rPr>
                        <a:t>Ջերմաստիճանը շրջայցի պահին </a:t>
                      </a:r>
                      <a:endParaRPr lang="hy-AM">
                        <a:effectLst/>
                      </a:endParaRPr>
                    </a:p>
                  </a:txBody>
                  <a:tcPr marL="0" marR="0" marT="0" marB="0" anchor="ctr"/>
                </a:tc>
                <a:tc>
                  <a:txBody>
                    <a:bodyPr/>
                    <a:lstStyle/>
                    <a:p>
                      <a:pPr marL="0" marR="0" algn="ctr" rtl="0" latinLnBrk="0">
                        <a:spcBef>
                          <a:spcPts val="0"/>
                        </a:spcBef>
                        <a:spcAft>
                          <a:spcPts val="0"/>
                        </a:spcAft>
                      </a:pPr>
                      <a:r>
                        <a:rPr lang="hy-AM" sz="1400">
                          <a:effectLst/>
                        </a:rPr>
                        <a:t>Ջեռուցման ժամերը</a:t>
                      </a:r>
                      <a:endParaRPr lang="hy-AM">
                        <a:effectLst/>
                      </a:endParaRPr>
                    </a:p>
                  </a:txBody>
                  <a:tcPr marL="0" marR="0" marT="0" marB="0" anchor="ctr"/>
                </a:tc>
                <a:extLst>
                  <a:ext uri="{0D108BD9-81ED-4DB2-BD59-A6C34878D82A}">
                    <a16:rowId xmlns:a16="http://schemas.microsoft.com/office/drawing/2014/main" val="3656301637"/>
                  </a:ext>
                </a:extLst>
              </a:tr>
              <a:tr h="793522">
                <a:tc>
                  <a:txBody>
                    <a:bodyPr/>
                    <a:lstStyle/>
                    <a:p>
                      <a:pPr marL="0" marR="0" algn="ctr" rtl="0" latinLnBrk="0">
                        <a:spcBef>
                          <a:spcPts val="0"/>
                        </a:spcBef>
                        <a:spcAft>
                          <a:spcPts val="0"/>
                        </a:spcAft>
                      </a:pPr>
                      <a:r>
                        <a:rPr lang="hy-AM" sz="1400">
                          <a:effectLst/>
                        </a:rPr>
                        <a:t>Դասասենյակ </a:t>
                      </a:r>
                      <a:r>
                        <a:rPr lang="en-US" sz="1400">
                          <a:effectLst/>
                        </a:rPr>
                        <a:t>N1- N14 </a:t>
                      </a:r>
                      <a:endParaRPr lang="en-US">
                        <a:effectLst/>
                      </a:endParaRPr>
                    </a:p>
                  </a:txBody>
                  <a:tcPr marL="0" marR="0" marT="0" marB="0" anchor="ctr"/>
                </a:tc>
                <a:tc gridSpan="2">
                  <a:txBody>
                    <a:bodyPr/>
                    <a:lstStyle/>
                    <a:p>
                      <a:pPr marL="0" marR="0" algn="ctr" rtl="0" latinLnBrk="0">
                        <a:spcBef>
                          <a:spcPts val="0"/>
                        </a:spcBef>
                        <a:spcAft>
                          <a:spcPts val="0"/>
                        </a:spcAft>
                      </a:pPr>
                      <a:r>
                        <a:rPr lang="hy-AM" sz="1400" dirty="0">
                          <a:effectLst/>
                        </a:rPr>
                        <a:t>կենտրոնացված, բնական գազ </a:t>
                      </a:r>
                      <a:endParaRPr lang="hy-AM" dirty="0">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r>
                        <a:rPr lang="hy-AM" sz="1400" dirty="0">
                          <a:effectLst/>
                        </a:rPr>
                        <a:t>18-2</a:t>
                      </a:r>
                      <a:r>
                        <a:rPr lang="en-US" sz="1400" dirty="0">
                          <a:effectLst/>
                        </a:rPr>
                        <a:t>2</a:t>
                      </a:r>
                      <a:r>
                        <a:rPr lang="hy-AM" sz="1400" dirty="0">
                          <a:effectLst/>
                        </a:rPr>
                        <a:t> աստիճան </a:t>
                      </a:r>
                      <a:endParaRPr lang="hy-AM" dirty="0">
                        <a:effectLst/>
                      </a:endParaRPr>
                    </a:p>
                  </a:txBody>
                  <a:tcPr marL="0" marR="0" marT="0" marB="0" anchor="ctr"/>
                </a:tc>
                <a:tc>
                  <a:txBody>
                    <a:bodyPr/>
                    <a:lstStyle/>
                    <a:p>
                      <a:pPr marL="0" marR="0" algn="ctr" rtl="0" latinLnBrk="0">
                        <a:spcBef>
                          <a:spcPts val="0"/>
                        </a:spcBef>
                        <a:spcAft>
                          <a:spcPts val="1000"/>
                        </a:spcAft>
                      </a:pPr>
                      <a:r>
                        <a:rPr lang="hy-AM" sz="1400">
                          <a:effectLst/>
                        </a:rPr>
                        <a:t>շուրջօրյա </a:t>
                      </a:r>
                      <a:endParaRPr lang="hy-AM">
                        <a:effectLst/>
                      </a:endParaRPr>
                    </a:p>
                  </a:txBody>
                  <a:tcPr marL="0" marR="0" marT="0" marB="0" anchor="ctr"/>
                </a:tc>
                <a:extLst>
                  <a:ext uri="{0D108BD9-81ED-4DB2-BD59-A6C34878D82A}">
                    <a16:rowId xmlns:a16="http://schemas.microsoft.com/office/drawing/2014/main" val="2792976993"/>
                  </a:ext>
                </a:extLst>
              </a:tr>
              <a:tr h="902225">
                <a:tc>
                  <a:txBody>
                    <a:bodyPr/>
                    <a:lstStyle/>
                    <a:p>
                      <a:pPr marL="0" marR="0" algn="ctr" rtl="0" latinLnBrk="0">
                        <a:spcBef>
                          <a:spcPts val="0"/>
                        </a:spcBef>
                        <a:spcAft>
                          <a:spcPts val="1000"/>
                        </a:spcAft>
                      </a:pPr>
                      <a:r>
                        <a:rPr lang="hy-AM" sz="1400">
                          <a:effectLst/>
                        </a:rPr>
                        <a:t>1-</a:t>
                      </a:r>
                      <a:r>
                        <a:rPr lang="en-US" sz="1400">
                          <a:effectLst/>
                        </a:rPr>
                        <a:t>4</a:t>
                      </a:r>
                      <a:r>
                        <a:rPr lang="hy-AM" sz="1400">
                          <a:effectLst/>
                        </a:rPr>
                        <a:t>-րդ հարկերի միջանցքներ </a:t>
                      </a:r>
                      <a:endParaRPr lang="hy-AM">
                        <a:effectLst/>
                      </a:endParaRPr>
                    </a:p>
                  </a:txBody>
                  <a:tcPr marL="0" marR="0" marT="0" marB="0" anchor="ctr"/>
                </a:tc>
                <a:tc gridSpan="2">
                  <a:txBody>
                    <a:bodyPr/>
                    <a:lstStyle/>
                    <a:p>
                      <a:pPr marL="0" marR="0" algn="ctr" rtl="0" latinLnBrk="0">
                        <a:spcBef>
                          <a:spcPts val="0"/>
                        </a:spcBef>
                        <a:spcAft>
                          <a:spcPts val="0"/>
                        </a:spcAft>
                      </a:pPr>
                      <a:r>
                        <a:rPr lang="hy-AM" sz="1400">
                          <a:effectLst/>
                        </a:rPr>
                        <a:t>կենտրոնացված, բնական գազ </a:t>
                      </a:r>
                      <a:endParaRPr lang="hy-AM">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1000"/>
                        </a:spcAft>
                      </a:pPr>
                      <a:r>
                        <a:rPr lang="hy-AM" sz="1400" dirty="0">
                          <a:effectLst/>
                        </a:rPr>
                        <a:t>1</a:t>
                      </a:r>
                      <a:r>
                        <a:rPr lang="en-US" sz="1400" dirty="0">
                          <a:effectLst/>
                        </a:rPr>
                        <a:t>8</a:t>
                      </a:r>
                      <a:r>
                        <a:rPr lang="hy-AM" sz="1400" dirty="0">
                          <a:effectLst/>
                        </a:rPr>
                        <a:t>-</a:t>
                      </a:r>
                      <a:r>
                        <a:rPr lang="en-US" sz="1400" dirty="0">
                          <a:effectLst/>
                        </a:rPr>
                        <a:t>20</a:t>
                      </a:r>
                      <a:r>
                        <a:rPr lang="hy-AM" sz="1400" dirty="0">
                          <a:effectLst/>
                        </a:rPr>
                        <a:t> աստիճան </a:t>
                      </a:r>
                      <a:endParaRPr lang="hy-AM" dirty="0">
                        <a:effectLst/>
                      </a:endParaRPr>
                    </a:p>
                  </a:txBody>
                  <a:tcPr marL="0" marR="0" marT="0" marB="0" anchor="ctr"/>
                </a:tc>
                <a:tc>
                  <a:txBody>
                    <a:bodyPr/>
                    <a:lstStyle/>
                    <a:p>
                      <a:pPr marL="0" marR="0" algn="ctr" rtl="0" latinLnBrk="0">
                        <a:spcBef>
                          <a:spcPts val="0"/>
                        </a:spcBef>
                        <a:spcAft>
                          <a:spcPts val="0"/>
                        </a:spcAft>
                      </a:pPr>
                      <a:r>
                        <a:rPr lang="hy-AM" sz="1400" dirty="0">
                          <a:effectLst/>
                        </a:rPr>
                        <a:t>շուրջօրյա </a:t>
                      </a:r>
                      <a:endParaRPr lang="hy-AM" dirty="0">
                        <a:effectLst/>
                      </a:endParaRPr>
                    </a:p>
                  </a:txBody>
                  <a:tcPr marL="0" marR="0" marT="0" marB="0" anchor="ctr"/>
                </a:tc>
                <a:extLst>
                  <a:ext uri="{0D108BD9-81ED-4DB2-BD59-A6C34878D82A}">
                    <a16:rowId xmlns:a16="http://schemas.microsoft.com/office/drawing/2014/main" val="1542257961"/>
                  </a:ext>
                </a:extLst>
              </a:tr>
            </a:tbl>
          </a:graphicData>
        </a:graphic>
      </p:graphicFrame>
    </p:spTree>
    <p:extLst>
      <p:ext uri="{BB962C8B-B14F-4D97-AF65-F5344CB8AC3E}">
        <p14:creationId xmlns:p14="http://schemas.microsoft.com/office/powerpoint/2010/main" val="30019924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461" y="176134"/>
            <a:ext cx="11245744" cy="523220"/>
          </a:xfrm>
          <a:prstGeom prst="rect">
            <a:avLst/>
          </a:prstGeom>
        </p:spPr>
        <p:txBody>
          <a:bodyPr wrap="square" lIns="91440" tIns="45720" rIns="91440" bIns="45720" rtlCol="0" anchor="t">
            <a:spAutoFit/>
          </a:bodyPr>
          <a:lstStyle/>
          <a:p>
            <a:pPr algn="just"/>
            <a:r>
              <a:rPr lang="hy-AM" sz="1400" b="1" i="1">
                <a:latin typeface="Sylfaen"/>
              </a:rPr>
              <a:t>Աղյուսակ 14.                                         Տվյալներ ուսումնական հաստատության ջրամատակարարման, սանհանգույցների</a:t>
            </a:r>
            <a:endParaRPr lang="hy-AM" sz="1400" b="1" i="1">
              <a:solidFill>
                <a:srgbClr val="000000"/>
              </a:solidFill>
              <a:latin typeface="Sylfaen"/>
            </a:endParaRPr>
          </a:p>
          <a:p>
            <a:pPr algn="just"/>
            <a:r>
              <a:rPr lang="hy-AM" sz="1400" b="1" i="1">
                <a:latin typeface="Sylfaen"/>
              </a:rPr>
              <a:t>                                                                                 (կոյուղացման) առկայության և դրաց վիճակի վերաբերյալ </a:t>
            </a:r>
            <a:endParaRPr lang="en-US" sz="1200" b="1" i="1">
              <a:latin typeface="Sylfaen"/>
            </a:endParaRPr>
          </a:p>
        </p:txBody>
      </p:sp>
      <p:sp>
        <p:nvSpPr>
          <p:cNvPr id="3" name="TextBox 2"/>
          <p:cNvSpPr txBox="1"/>
          <p:nvPr/>
        </p:nvSpPr>
        <p:spPr>
          <a:xfrm>
            <a:off x="9322759" y="6532467"/>
            <a:ext cx="3048000" cy="276999"/>
          </a:xfrm>
          <a:prstGeom prst="rect">
            <a:avLst/>
          </a:prstGeom>
        </p:spPr>
        <p:txBody>
          <a:bodyPr lIns="91440" tIns="45720" rIns="91440" bIns="45720" rtlCol="0" anchor="t">
            <a:spAutoFit/>
          </a:bodyPr>
          <a:lstStyle/>
          <a:p>
            <a:r>
              <a:rPr lang="hy-AM" sz="1200">
                <a:latin typeface="Sylfaen"/>
              </a:rPr>
              <a:t>Դիտարկման ամսաթիվ` 23/06/202</a:t>
            </a:r>
            <a:r>
              <a:rPr lang="en-US" sz="1200">
                <a:latin typeface="Sylfaen"/>
              </a:rPr>
              <a:t>2</a:t>
            </a:r>
            <a:r>
              <a:rPr lang="hy-AM" sz="1200">
                <a:latin typeface="Sylfaen"/>
              </a:rPr>
              <a:t>թ</a:t>
            </a:r>
            <a:endParaRPr lang="en-US" sz="1200">
              <a:latin typeface="Sylfaen"/>
            </a:endParaRPr>
          </a:p>
        </p:txBody>
      </p:sp>
      <p:graphicFrame>
        <p:nvGraphicFramePr>
          <p:cNvPr id="5" name="Table 4"/>
          <p:cNvGraphicFramePr/>
          <p:nvPr>
            <p:extLst>
              <p:ext uri="{D42A27DB-BD31-4B8C-83A1-F6EECF244321}">
                <p14:modId xmlns:p14="http://schemas.microsoft.com/office/powerpoint/2010/main" val="3458233152"/>
              </p:ext>
            </p:extLst>
          </p:nvPr>
        </p:nvGraphicFramePr>
        <p:xfrm>
          <a:off x="1861404" y="778862"/>
          <a:ext cx="9385300" cy="4743450"/>
        </p:xfrm>
        <a:graphic>
          <a:graphicData uri="http://schemas.openxmlformats.org/drawingml/2006/table">
            <a:tbl>
              <a:tblPr>
                <a:tableStyleId>{5940675A-B579-460E-94D1-54222C63F5DA}</a:tableStyleId>
              </a:tblPr>
              <a:tblGrid>
                <a:gridCol w="1000592">
                  <a:extLst>
                    <a:ext uri="{9D8B030D-6E8A-4147-A177-3AD203B41FA5}">
                      <a16:colId xmlns:a16="http://schemas.microsoft.com/office/drawing/2014/main" val="1983909569"/>
                    </a:ext>
                  </a:extLst>
                </a:gridCol>
                <a:gridCol w="759943">
                  <a:extLst>
                    <a:ext uri="{9D8B030D-6E8A-4147-A177-3AD203B41FA5}">
                      <a16:colId xmlns:a16="http://schemas.microsoft.com/office/drawing/2014/main" val="348937262"/>
                    </a:ext>
                  </a:extLst>
                </a:gridCol>
                <a:gridCol w="1358399">
                  <a:extLst>
                    <a:ext uri="{9D8B030D-6E8A-4147-A177-3AD203B41FA5}">
                      <a16:colId xmlns:a16="http://schemas.microsoft.com/office/drawing/2014/main" val="1567169847"/>
                    </a:ext>
                  </a:extLst>
                </a:gridCol>
                <a:gridCol w="94993">
                  <a:extLst>
                    <a:ext uri="{9D8B030D-6E8A-4147-A177-3AD203B41FA5}">
                      <a16:colId xmlns:a16="http://schemas.microsoft.com/office/drawing/2014/main" val="2809203918"/>
                    </a:ext>
                  </a:extLst>
                </a:gridCol>
                <a:gridCol w="1253906">
                  <a:extLst>
                    <a:ext uri="{9D8B030D-6E8A-4147-A177-3AD203B41FA5}">
                      <a16:colId xmlns:a16="http://schemas.microsoft.com/office/drawing/2014/main" val="1263238527"/>
                    </a:ext>
                  </a:extLst>
                </a:gridCol>
                <a:gridCol w="1431227">
                  <a:extLst>
                    <a:ext uri="{9D8B030D-6E8A-4147-A177-3AD203B41FA5}">
                      <a16:colId xmlns:a16="http://schemas.microsoft.com/office/drawing/2014/main" val="184857075"/>
                    </a:ext>
                  </a:extLst>
                </a:gridCol>
                <a:gridCol w="807440">
                  <a:extLst>
                    <a:ext uri="{9D8B030D-6E8A-4147-A177-3AD203B41FA5}">
                      <a16:colId xmlns:a16="http://schemas.microsoft.com/office/drawing/2014/main" val="4037551720"/>
                    </a:ext>
                  </a:extLst>
                </a:gridCol>
                <a:gridCol w="1025923">
                  <a:extLst>
                    <a:ext uri="{9D8B030D-6E8A-4147-A177-3AD203B41FA5}">
                      <a16:colId xmlns:a16="http://schemas.microsoft.com/office/drawing/2014/main" val="3409195574"/>
                    </a:ext>
                  </a:extLst>
                </a:gridCol>
                <a:gridCol w="1652877">
                  <a:extLst>
                    <a:ext uri="{9D8B030D-6E8A-4147-A177-3AD203B41FA5}">
                      <a16:colId xmlns:a16="http://schemas.microsoft.com/office/drawing/2014/main" val="231628288"/>
                    </a:ext>
                  </a:extLst>
                </a:gridCol>
              </a:tblGrid>
              <a:tr h="272955">
                <a:tc gridSpan="9">
                  <a:txBody>
                    <a:bodyPr/>
                    <a:lstStyle/>
                    <a:p>
                      <a:pPr marL="0" marR="0" algn="ctr" rtl="0" eaLnBrk="1" latinLnBrk="0" hangingPunct="1">
                        <a:lnSpc>
                          <a:spcPct val="150000"/>
                        </a:lnSpc>
                        <a:spcBef>
                          <a:spcPts val="0"/>
                        </a:spcBef>
                        <a:spcAft>
                          <a:spcPts val="0"/>
                        </a:spcAft>
                      </a:pPr>
                      <a:r>
                        <a:rPr lang="hy-AM" sz="1200">
                          <a:effectLst/>
                        </a:rPr>
                        <a:t>Հաստատության ջրամատակարարումը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9520368"/>
                  </a:ext>
                </a:extLst>
              </a:tr>
              <a:tr h="349250">
                <a:tc gridSpan="4">
                  <a:txBody>
                    <a:bodyPr/>
                    <a:lstStyle/>
                    <a:p>
                      <a:pPr marL="0" marR="0" rtl="0" latinLnBrk="0">
                        <a:lnSpc>
                          <a:spcPct val="150000"/>
                        </a:lnSpc>
                        <a:spcBef>
                          <a:spcPts val="0"/>
                        </a:spcBef>
                        <a:spcAft>
                          <a:spcPts val="0"/>
                        </a:spcAft>
                      </a:pPr>
                      <a:r>
                        <a:rPr lang="hy-AM" sz="1200">
                          <a:effectLst/>
                        </a:rPr>
                        <a:t>Ապահովված է շուրջօրյա հոսող խմելու ջրով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Ապահովված է հոսող խմելու ջրով, շուրջօրյա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r>
                        <a:rPr lang="hy-AM" sz="1200">
                          <a:effectLst/>
                        </a:rPr>
                        <a:t>Ապահովված է հոսող խմելու ջրով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621405946"/>
                  </a:ext>
                </a:extLst>
              </a:tr>
              <a:tr h="279400">
                <a:tc gridSpan="4">
                  <a:txBody>
                    <a:bodyPr/>
                    <a:lstStyle/>
                    <a:p>
                      <a:pPr marL="0" marR="0" rtl="0" latinLnBrk="0">
                        <a:lnSpc>
                          <a:spcPct val="150000"/>
                        </a:lnSpc>
                        <a:spcBef>
                          <a:spcPts val="0"/>
                        </a:spcBef>
                        <a:spcAft>
                          <a:spcPts val="0"/>
                        </a:spcAft>
                      </a:pPr>
                      <a:r>
                        <a:rPr lang="hy-AM" sz="1200" u="sng">
                          <a:effectLst/>
                        </a:rPr>
                        <a:t>այո</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Օրեկան քանի՞ ժամ է ջրամատակարարումը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r>
                        <a:rPr lang="hy-AM" sz="1200">
                          <a:effectLst/>
                        </a:rPr>
                        <a:t>շուրջօրյա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1580918564"/>
                  </a:ext>
                </a:extLst>
              </a:tr>
              <a:tr h="217043">
                <a:tc gridSpan="4">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endParaRPr lang="en-US" sz="1200">
                        <a:effectLst/>
                        <a:latin typeface="Calibri" panose="020F0502020204030204" pitchFamily="34" charset="0"/>
                      </a:endParaRPr>
                    </a:p>
                  </a:txBody>
                  <a:tcPr marL="0" marR="0" marT="0" marB="0" anchor="ctr"/>
                </a:tc>
                <a:tc hMerge="1">
                  <a:txBody>
                    <a:bodyPr/>
                    <a:lstStyle/>
                    <a:p>
                      <a:endParaRPr lang="en-US"/>
                    </a:p>
                  </a:txBody>
                  <a:tcPr/>
                </a:tc>
                <a:extLst>
                  <a:ext uri="{0D108BD9-81ED-4DB2-BD59-A6C34878D82A}">
                    <a16:rowId xmlns:a16="http://schemas.microsoft.com/office/drawing/2014/main" val="2544180729"/>
                  </a:ext>
                </a:extLst>
              </a:tr>
              <a:tr h="69850">
                <a:tc gridSpan="9">
                  <a:txBody>
                    <a:bodyPr/>
                    <a:lstStyle/>
                    <a:p>
                      <a:pPr marL="0" marR="0" rtl="0" latinLnBrk="0">
                        <a:lnSpc>
                          <a:spcPct val="150000"/>
                        </a:lnSpc>
                        <a:spcBef>
                          <a:spcPts val="0"/>
                        </a:spcBef>
                        <a:spcAft>
                          <a:spcPts val="1000"/>
                        </a:spcAft>
                      </a:pPr>
                      <a:r>
                        <a:rPr lang="hy-AM" sz="1200">
                          <a:effectLst/>
                        </a:rPr>
                        <a:t>Հաստատության սանհանգույցները և դրանց վիճակը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5155223"/>
                  </a:ext>
                </a:extLst>
              </a:tr>
              <a:tr h="989457">
                <a:tc>
                  <a:txBody>
                    <a:bodyPr/>
                    <a:lstStyle/>
                    <a:p>
                      <a:pPr marL="0" marR="0" algn="ctr" rtl="0" latinLnBrk="0">
                        <a:lnSpc>
                          <a:spcPct val="150000"/>
                        </a:lnSpc>
                        <a:spcBef>
                          <a:spcPts val="0"/>
                        </a:spcBef>
                        <a:spcAft>
                          <a:spcPts val="0"/>
                        </a:spcAft>
                      </a:pPr>
                      <a:r>
                        <a:rPr lang="hy-AM" sz="1200" dirty="0">
                          <a:effectLst/>
                        </a:rPr>
                        <a:t>Շենքի հարկը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Սանհան </a:t>
                      </a:r>
                      <a:endParaRPr lang="hy-AM" dirty="0">
                        <a:effectLst/>
                      </a:endParaRPr>
                    </a:p>
                    <a:p>
                      <a:pPr marL="0" marR="0" algn="ctr" rtl="0" latinLnBrk="0">
                        <a:lnSpc>
                          <a:spcPct val="150000"/>
                        </a:lnSpc>
                        <a:spcBef>
                          <a:spcPts val="0"/>
                        </a:spcBef>
                        <a:spcAft>
                          <a:spcPts val="0"/>
                        </a:spcAft>
                      </a:pPr>
                      <a:r>
                        <a:rPr lang="hy-AM" sz="1200" dirty="0">
                          <a:effectLst/>
                        </a:rPr>
                        <a:t>գույցների թիվը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Աղջիկների սան-հանգույցի առկայությունը </a:t>
                      </a:r>
                      <a:endParaRPr lang="hy-AM" dirty="0">
                        <a:effectLst/>
                      </a:endParaRPr>
                    </a:p>
                  </a:txBody>
                  <a:tcPr marL="0" marR="0" marT="0" marB="0" anchor="ctr"/>
                </a:tc>
                <a:tc gridSpan="2">
                  <a:txBody>
                    <a:bodyPr/>
                    <a:lstStyle/>
                    <a:p>
                      <a:pPr marL="0" marR="0" algn="ctr" rtl="0" latinLnBrk="0">
                        <a:lnSpc>
                          <a:spcPct val="150000"/>
                        </a:lnSpc>
                        <a:spcBef>
                          <a:spcPts val="0"/>
                        </a:spcBef>
                        <a:spcAft>
                          <a:spcPts val="0"/>
                        </a:spcAft>
                      </a:pPr>
                      <a:r>
                        <a:rPr lang="hy-AM" sz="1200" dirty="0">
                          <a:effectLst/>
                        </a:rPr>
                        <a:t>Տղաների սան-հանգույցի առկայությունը </a:t>
                      </a:r>
                      <a:endParaRPr lang="hy-AM" dirty="0">
                        <a:effectLst/>
                      </a:endParaRPr>
                    </a:p>
                  </a:txBody>
                  <a:tcPr marL="0" marR="0" marT="0" marB="0" anchor="ctr"/>
                </a:tc>
                <a:tc hMerge="1">
                  <a:txBody>
                    <a:bodyPr/>
                    <a:lstStyle/>
                    <a:p>
                      <a:pPr marL="0" marR="0" rtl="0" latinLnBrk="0">
                        <a:lnSpc>
                          <a:spcPct val="150000"/>
                        </a:lnSpc>
                        <a:spcBef>
                          <a:spcPts val="0"/>
                        </a:spcBef>
                        <a:spcAft>
                          <a:spcPts val="0"/>
                        </a:spcAft>
                      </a:pPr>
                      <a:endParaRPr lang="hy-AM">
                        <a:effectLst/>
                      </a:endParaRPr>
                    </a:p>
                  </a:txBody>
                  <a:tcPr/>
                </a:tc>
                <a:tc>
                  <a:txBody>
                    <a:bodyPr/>
                    <a:lstStyle/>
                    <a:p>
                      <a:pPr marL="0" marR="0" algn="ctr" rtl="0" latinLnBrk="0">
                        <a:lnSpc>
                          <a:spcPct val="150000"/>
                        </a:lnSpc>
                        <a:spcBef>
                          <a:spcPts val="0"/>
                        </a:spcBef>
                        <a:spcAft>
                          <a:spcPts val="0"/>
                        </a:spcAft>
                      </a:pPr>
                      <a:r>
                        <a:rPr lang="hy-AM" sz="1200" dirty="0">
                          <a:effectLst/>
                        </a:rPr>
                        <a:t>Հիգիենայի պարագաների առկայությունը </a:t>
                      </a:r>
                      <a:endParaRPr lang="hy-AM" dirty="0">
                        <a:effectLst/>
                      </a:endParaRPr>
                    </a:p>
                  </a:txBody>
                  <a:tcPr marL="0" marR="0" marT="0" marB="0" anchor="ctr"/>
                </a:tc>
                <a:tc gridSpan="2">
                  <a:txBody>
                    <a:bodyPr/>
                    <a:lstStyle/>
                    <a:p>
                      <a:pPr marL="0" marR="0" algn="ctr" rtl="0" latinLnBrk="0">
                        <a:lnSpc>
                          <a:spcPct val="150000"/>
                        </a:lnSpc>
                        <a:spcBef>
                          <a:spcPts val="0"/>
                        </a:spcBef>
                        <a:spcAft>
                          <a:spcPts val="0"/>
                        </a:spcAft>
                      </a:pPr>
                      <a:r>
                        <a:rPr lang="hy-AM" sz="1200" dirty="0">
                          <a:effectLst/>
                        </a:rPr>
                        <a:t>Հարմարեցվածությունը հաշմանդամություն ունեցող անձանց կարիքներին </a:t>
                      </a:r>
                      <a:endParaRPr lang="hy-AM" dirty="0">
                        <a:effectLst/>
                      </a:endParaRPr>
                    </a:p>
                  </a:txBody>
                  <a:tcPr marL="0" marR="0" marT="0" marB="0" anchor="ctr"/>
                </a:tc>
                <a:tc hMerge="1">
                  <a:txBody>
                    <a:bodyPr/>
                    <a:lstStyle/>
                    <a:p>
                      <a:endParaRPr lang="en-US"/>
                    </a:p>
                  </a:txBody>
                  <a:tcPr/>
                </a:tc>
                <a:tc>
                  <a:txBody>
                    <a:bodyPr/>
                    <a:lstStyle/>
                    <a:p>
                      <a:pPr marL="0" marR="0" algn="ctr" rtl="0" latinLnBrk="0">
                        <a:lnSpc>
                          <a:spcPct val="150000"/>
                        </a:lnSpc>
                        <a:spcBef>
                          <a:spcPts val="0"/>
                        </a:spcBef>
                        <a:spcAft>
                          <a:spcPts val="1000"/>
                        </a:spcAft>
                      </a:pPr>
                      <a:r>
                        <a:rPr lang="hy-AM" sz="1200" dirty="0">
                          <a:effectLst/>
                        </a:rPr>
                        <a:t>Վերանորոգված են, թե ոչ </a:t>
                      </a:r>
                      <a:endParaRPr lang="hy-AM" dirty="0">
                        <a:effectLst/>
                      </a:endParaRPr>
                    </a:p>
                  </a:txBody>
                  <a:tcPr marL="0" marR="0" marT="0" marB="0" anchor="ctr"/>
                </a:tc>
                <a:extLst>
                  <a:ext uri="{0D108BD9-81ED-4DB2-BD59-A6C34878D82A}">
                    <a16:rowId xmlns:a16="http://schemas.microsoft.com/office/drawing/2014/main" val="1303792408"/>
                  </a:ext>
                </a:extLst>
              </a:tr>
              <a:tr h="303149">
                <a:tc>
                  <a:txBody>
                    <a:bodyPr/>
                    <a:lstStyle/>
                    <a:p>
                      <a:pPr marL="0" marR="0" algn="ctr" rtl="0" eaLnBrk="1" latinLnBrk="0" hangingPunct="1">
                        <a:lnSpc>
                          <a:spcPct val="150000"/>
                        </a:lnSpc>
                        <a:spcBef>
                          <a:spcPts val="0"/>
                        </a:spcBef>
                        <a:spcAft>
                          <a:spcPts val="0"/>
                        </a:spcAft>
                      </a:pPr>
                      <a:r>
                        <a:rPr lang="hy-AM" sz="1200" dirty="0">
                          <a:effectLst/>
                        </a:rPr>
                        <a:t>1-ին հարկ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2</a:t>
                      </a:r>
                      <a:r>
                        <a:rPr lang="hy-AM" sz="1200" dirty="0">
                          <a:effectLst/>
                        </a:rPr>
                        <a:t> հատ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216322631"/>
                  </a:ext>
                </a:extLst>
              </a:tr>
              <a:tr h="303149">
                <a:tc>
                  <a:txBody>
                    <a:bodyPr/>
                    <a:lstStyle/>
                    <a:p>
                      <a:pPr marL="0" marR="0" algn="ctr" rtl="0" eaLnBrk="1" latinLnBrk="0" hangingPunct="1">
                        <a:lnSpc>
                          <a:spcPct val="150000"/>
                        </a:lnSpc>
                        <a:spcBef>
                          <a:spcPts val="0"/>
                        </a:spcBef>
                        <a:spcAft>
                          <a:spcPts val="0"/>
                        </a:spcAft>
                      </a:pPr>
                      <a:r>
                        <a:rPr lang="hy-AM" sz="1200">
                          <a:effectLst/>
                        </a:rPr>
                        <a:t>2-</a:t>
                      </a:r>
                      <a:r>
                        <a:rPr lang="en-US" sz="1200" err="1">
                          <a:effectLst/>
                        </a:rPr>
                        <a:t>րդ</a:t>
                      </a:r>
                      <a:r>
                        <a:rPr lang="hy-AM" sz="1200">
                          <a:effectLst/>
                        </a:rPr>
                        <a:t> հարկ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 հատ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2506262276"/>
                  </a:ext>
                </a:extLst>
              </a:tr>
              <a:tr h="303149">
                <a:tc>
                  <a:txBody>
                    <a:bodyPr/>
                    <a:lstStyle/>
                    <a:p>
                      <a:pPr marL="0" marR="0" algn="ctr" rtl="0" eaLnBrk="1" latinLnBrk="0" hangingPunct="1">
                        <a:lnSpc>
                          <a:spcPct val="150000"/>
                        </a:lnSpc>
                        <a:spcBef>
                          <a:spcPts val="0"/>
                        </a:spcBef>
                        <a:spcAft>
                          <a:spcPts val="0"/>
                        </a:spcAft>
                      </a:pPr>
                      <a:r>
                        <a:rPr lang="hy-AM" sz="1200">
                          <a:effectLst/>
                        </a:rPr>
                        <a:t>3-</a:t>
                      </a:r>
                      <a:r>
                        <a:rPr lang="en-US" sz="1200" err="1">
                          <a:effectLst/>
                        </a:rPr>
                        <a:t>րդ</a:t>
                      </a:r>
                      <a:r>
                        <a:rPr lang="hy-AM" sz="1200">
                          <a:effectLst/>
                        </a:rPr>
                        <a:t> հարկ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1հատ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1085867210"/>
                  </a:ext>
                </a:extLst>
              </a:tr>
              <a:tr h="303149">
                <a:tc>
                  <a:txBody>
                    <a:bodyPr/>
                    <a:lstStyle/>
                    <a:p>
                      <a:pPr marL="0" marR="0" algn="ctr" rtl="0" eaLnBrk="1" latinLnBrk="0" hangingPunct="1">
                        <a:lnSpc>
                          <a:spcPct val="150000"/>
                        </a:lnSpc>
                        <a:spcBef>
                          <a:spcPts val="0"/>
                        </a:spcBef>
                        <a:spcAft>
                          <a:spcPts val="0"/>
                        </a:spcAft>
                      </a:pPr>
                      <a:r>
                        <a:rPr lang="en-US" sz="1200">
                          <a:effectLst/>
                        </a:rPr>
                        <a:t>4</a:t>
                      </a:r>
                      <a:r>
                        <a:rPr lang="hy-AM" sz="1200">
                          <a:effectLst/>
                        </a:rPr>
                        <a:t>-</a:t>
                      </a:r>
                      <a:r>
                        <a:rPr lang="en-US" sz="1200" err="1">
                          <a:effectLst/>
                        </a:rPr>
                        <a:t>րդ</a:t>
                      </a:r>
                      <a:r>
                        <a:rPr lang="hy-AM" sz="1200">
                          <a:effectLst/>
                        </a:rPr>
                        <a:t> հարկ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1հատ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1000"/>
                        </a:spcAft>
                      </a:pPr>
                      <a:r>
                        <a:rPr lang="hy-AM" sz="1200" u="none" dirty="0">
                          <a:effectLst/>
                        </a:rPr>
                        <a:t>Ոչ </a:t>
                      </a:r>
                      <a:endParaRPr lang="hy-AM" u="none" dirty="0">
                        <a:effectLst/>
                      </a:endParaRPr>
                    </a:p>
                  </a:txBody>
                  <a:tcPr marL="0" marR="0" marT="0" marB="0" anchor="ctr"/>
                </a:tc>
                <a:extLst>
                  <a:ext uri="{0D108BD9-81ED-4DB2-BD59-A6C34878D82A}">
                    <a16:rowId xmlns:a16="http://schemas.microsoft.com/office/drawing/2014/main" val="10009"/>
                  </a:ext>
                </a:extLst>
              </a:tr>
            </a:tbl>
          </a:graphicData>
        </a:graphic>
      </p:graphicFrame>
      <p:sp>
        <p:nvSpPr>
          <p:cNvPr id="6" name="TextBox 5"/>
          <p:cNvSpPr txBox="1"/>
          <p:nvPr/>
        </p:nvSpPr>
        <p:spPr>
          <a:xfrm>
            <a:off x="1488355" y="5951712"/>
            <a:ext cx="8295650" cy="523220"/>
          </a:xfrm>
          <a:prstGeom prst="rect">
            <a:avLst/>
          </a:prstGeom>
        </p:spPr>
        <p:txBody>
          <a:bodyPr rtlCol="0" anchor="t">
            <a:spAutoFit/>
          </a:bodyPr>
          <a:lstStyle/>
          <a:p>
            <a:r>
              <a:rPr lang="hy-AM" sz="1400" b="1" i="1">
                <a:latin typeface="Sylfaen"/>
              </a:rPr>
              <a:t>Բոլոր սանհանգաույցները գործող են,  պահովված են շուրջօրյա ջրամատակարարումով, </a:t>
            </a:r>
            <a:r>
              <a:rPr lang="en-US" sz="1400" b="1" i="1" err="1">
                <a:latin typeface="Sylfaen"/>
              </a:rPr>
              <a:t>հիմնանորոգված</a:t>
            </a:r>
            <a:r>
              <a:rPr lang="en-US" sz="1400" b="1" i="1">
                <a:latin typeface="Sylfaen"/>
              </a:rPr>
              <a:t> </a:t>
            </a:r>
            <a:r>
              <a:rPr lang="en-US" sz="1400" b="1" i="1" err="1">
                <a:latin typeface="Sylfaen"/>
              </a:rPr>
              <a:t>են</a:t>
            </a:r>
            <a:r>
              <a:rPr lang="hy-AM" sz="1400" b="1" i="1">
                <a:latin typeface="Sylfaen"/>
              </a:rPr>
              <a:t>:</a:t>
            </a:r>
            <a:endParaRPr lang="hy-AM" sz="1200" b="1" i="1" u="sng">
              <a:latin typeface="Sylfaen"/>
            </a:endParaRPr>
          </a:p>
        </p:txBody>
      </p:sp>
    </p:spTree>
    <p:extLst>
      <p:ext uri="{BB962C8B-B14F-4D97-AF65-F5344CB8AC3E}">
        <p14:creationId xmlns:p14="http://schemas.microsoft.com/office/powerpoint/2010/main" val="4178504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858" y="778420"/>
            <a:ext cx="10155643" cy="523220"/>
          </a:xfrm>
          <a:prstGeom prst="rect">
            <a:avLst/>
          </a:prstGeom>
        </p:spPr>
        <p:txBody>
          <a:bodyPr wrap="square" lIns="91440" tIns="45720" rIns="91440" bIns="45720" rtlCol="0" anchor="t">
            <a:spAutoFit/>
          </a:bodyPr>
          <a:lstStyle/>
          <a:p>
            <a:pPr algn="ctr"/>
            <a:r>
              <a:rPr lang="hy-AM" sz="1400" b="1" i="1" dirty="0">
                <a:latin typeface="Sylfaen"/>
              </a:rPr>
              <a:t>Աղյուսակ 16.                            Տվյալներ ուսումնական հաստատությունում բուժկետի առկայության</a:t>
            </a:r>
          </a:p>
          <a:p>
            <a:pPr algn="ctr"/>
            <a:r>
              <a:rPr lang="hy-AM" sz="1400" b="1" i="1" dirty="0">
                <a:latin typeface="Sylfaen"/>
              </a:rPr>
              <a:t>                                                                                          և բուժսպասարկման վիճակի վերաբերյալ </a:t>
            </a:r>
            <a:endParaRPr lang="en-US" sz="1400" b="1" i="1" dirty="0">
              <a:latin typeface="Sylfaen"/>
            </a:endParaRPr>
          </a:p>
        </p:txBody>
      </p:sp>
      <p:sp>
        <p:nvSpPr>
          <p:cNvPr id="3" name="TextBox 2"/>
          <p:cNvSpPr txBox="1"/>
          <p:nvPr/>
        </p:nvSpPr>
        <p:spPr>
          <a:xfrm>
            <a:off x="9060431" y="6279285"/>
            <a:ext cx="3048000" cy="276999"/>
          </a:xfrm>
          <a:prstGeom prst="rect">
            <a:avLst/>
          </a:prstGeom>
        </p:spPr>
        <p:txBody>
          <a:bodyPr lIns="91440" tIns="45720" rIns="91440" bIns="45720" rtlCol="0" anchor="t">
            <a:spAutoFit/>
          </a:bodyPr>
          <a:lstStyle/>
          <a:p>
            <a:r>
              <a:rPr lang="hy-AM" sz="1200" dirty="0">
                <a:latin typeface="Sylfaen"/>
              </a:rPr>
              <a:t>Դիտարկման ա</a:t>
            </a:r>
            <a:r>
              <a:rPr lang="en-GB" sz="1200" dirty="0" err="1">
                <a:latin typeface="Sylfaen"/>
              </a:rPr>
              <a:t>մսաթիվ</a:t>
            </a:r>
            <a:r>
              <a:rPr lang="en-GB" sz="1200" dirty="0">
                <a:latin typeface="Sylfaen"/>
              </a:rPr>
              <a:t>՝  </a:t>
            </a:r>
            <a:r>
              <a:rPr lang="en-GB" sz="1200" dirty="0" smtClean="0">
                <a:latin typeface="Sylfaen"/>
              </a:rPr>
              <a:t>01.06.2024թ</a:t>
            </a:r>
            <a:r>
              <a:rPr lang="en-GB" sz="1200" dirty="0">
                <a:latin typeface="Sylfaen"/>
              </a:rPr>
              <a:t>.</a:t>
            </a:r>
            <a:endParaRPr lang="en-US" dirty="0"/>
          </a:p>
        </p:txBody>
      </p:sp>
      <p:graphicFrame>
        <p:nvGraphicFramePr>
          <p:cNvPr id="5" name="Table 4"/>
          <p:cNvGraphicFramePr/>
          <p:nvPr>
            <p:extLst>
              <p:ext uri="{D42A27DB-BD31-4B8C-83A1-F6EECF244321}">
                <p14:modId xmlns:p14="http://schemas.microsoft.com/office/powerpoint/2010/main" val="3186646329"/>
              </p:ext>
            </p:extLst>
          </p:nvPr>
        </p:nvGraphicFramePr>
        <p:xfrm>
          <a:off x="1707179" y="1766253"/>
          <a:ext cx="8686800" cy="3291840"/>
        </p:xfrm>
        <a:graphic>
          <a:graphicData uri="http://schemas.openxmlformats.org/drawingml/2006/table">
            <a:tbl>
              <a:tblPr>
                <a:tableStyleId>{5940675A-B579-460E-94D1-54222C63F5DA}</a:tableStyleId>
              </a:tblPr>
              <a:tblGrid>
                <a:gridCol w="1209233">
                  <a:extLst>
                    <a:ext uri="{9D8B030D-6E8A-4147-A177-3AD203B41FA5}">
                      <a16:colId xmlns:a16="http://schemas.microsoft.com/office/drawing/2014/main" val="307216795"/>
                    </a:ext>
                  </a:extLst>
                </a:gridCol>
                <a:gridCol w="1520392">
                  <a:extLst>
                    <a:ext uri="{9D8B030D-6E8A-4147-A177-3AD203B41FA5}">
                      <a16:colId xmlns:a16="http://schemas.microsoft.com/office/drawing/2014/main" val="1282803760"/>
                    </a:ext>
                  </a:extLst>
                </a:gridCol>
                <a:gridCol w="1120462">
                  <a:extLst>
                    <a:ext uri="{9D8B030D-6E8A-4147-A177-3AD203B41FA5}">
                      <a16:colId xmlns:a16="http://schemas.microsoft.com/office/drawing/2014/main" val="29389055"/>
                    </a:ext>
                  </a:extLst>
                </a:gridCol>
                <a:gridCol w="713895">
                  <a:extLst>
                    <a:ext uri="{9D8B030D-6E8A-4147-A177-3AD203B41FA5}">
                      <a16:colId xmlns:a16="http://schemas.microsoft.com/office/drawing/2014/main" val="358569815"/>
                    </a:ext>
                  </a:extLst>
                </a:gridCol>
                <a:gridCol w="228516">
                  <a:extLst>
                    <a:ext uri="{9D8B030D-6E8A-4147-A177-3AD203B41FA5}">
                      <a16:colId xmlns:a16="http://schemas.microsoft.com/office/drawing/2014/main" val="3163313592"/>
                    </a:ext>
                  </a:extLst>
                </a:gridCol>
                <a:gridCol w="1675788">
                  <a:extLst>
                    <a:ext uri="{9D8B030D-6E8A-4147-A177-3AD203B41FA5}">
                      <a16:colId xmlns:a16="http://schemas.microsoft.com/office/drawing/2014/main" val="3320957540"/>
                    </a:ext>
                  </a:extLst>
                </a:gridCol>
                <a:gridCol w="2218514">
                  <a:extLst>
                    <a:ext uri="{9D8B030D-6E8A-4147-A177-3AD203B41FA5}">
                      <a16:colId xmlns:a16="http://schemas.microsoft.com/office/drawing/2014/main" val="3636776113"/>
                    </a:ext>
                  </a:extLst>
                </a:gridCol>
              </a:tblGrid>
              <a:tr h="147193">
                <a:tc gridSpan="7">
                  <a:txBody>
                    <a:bodyPr/>
                    <a:lstStyle/>
                    <a:p>
                      <a:pPr marL="0" marR="0" algn="ctr" rtl="0" eaLnBrk="1" latinLnBrk="0" hangingPunct="1">
                        <a:lnSpc>
                          <a:spcPct val="150000"/>
                        </a:lnSpc>
                        <a:spcBef>
                          <a:spcPts val="0"/>
                        </a:spcBef>
                        <a:spcAft>
                          <a:spcPts val="0"/>
                        </a:spcAft>
                      </a:pPr>
                      <a:r>
                        <a:rPr lang="hy-AM" sz="1200">
                          <a:effectLst/>
                        </a:rPr>
                        <a:t>Ուսումնական հաստատությունում առկա է բուժկետ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5523102"/>
                  </a:ext>
                </a:extLst>
              </a:tr>
              <a:tr h="243078">
                <a:tc gridSpan="4">
                  <a:txBody>
                    <a:bodyPr/>
                    <a:lstStyle/>
                    <a:p>
                      <a:pPr marL="0" marR="0" rtl="0" latinLnBrk="0">
                        <a:lnSpc>
                          <a:spcPct val="150000"/>
                        </a:lnSpc>
                        <a:spcBef>
                          <a:spcPts val="0"/>
                        </a:spcBef>
                        <a:spcAft>
                          <a:spcPts val="0"/>
                        </a:spcAft>
                      </a:pPr>
                      <a:r>
                        <a:rPr lang="hy-AM" sz="1200" u="sng">
                          <a:effectLst/>
                        </a:rPr>
                        <a:t>Այո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6622603"/>
                  </a:ext>
                </a:extLst>
              </a:tr>
              <a:tr h="147193">
                <a:tc gridSpan="7">
                  <a:txBody>
                    <a:bodyPr/>
                    <a:lstStyle/>
                    <a:p>
                      <a:pPr marL="0" marR="0" rtl="0" latinLnBrk="0">
                        <a:lnSpc>
                          <a:spcPct val="150000"/>
                        </a:lnSpc>
                        <a:spcBef>
                          <a:spcPts val="0"/>
                        </a:spcBef>
                        <a:spcAft>
                          <a:spcPts val="1000"/>
                        </a:spcAft>
                      </a:pPr>
                      <a:r>
                        <a:rPr lang="hy-AM" sz="1200">
                          <a:effectLst/>
                        </a:rPr>
                        <a:t>Ուսումնական հաստատությունն ունի բուժաշխատող և կարող է տրամադրել առաջին բուժօգնություն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4221421"/>
                  </a:ext>
                </a:extLst>
              </a:tr>
              <a:tr h="147193">
                <a:tc gridSpan="4">
                  <a:txBody>
                    <a:bodyPr/>
                    <a:lstStyle/>
                    <a:p>
                      <a:pPr marL="0" marR="0" rtl="0" latinLnBrk="0">
                        <a:lnSpc>
                          <a:spcPct val="150000"/>
                        </a:lnSpc>
                        <a:spcBef>
                          <a:spcPts val="0"/>
                        </a:spcBef>
                        <a:spcAft>
                          <a:spcPts val="0"/>
                        </a:spcAft>
                      </a:pPr>
                      <a:r>
                        <a:rPr lang="hy-AM" sz="1200" u="sng">
                          <a:effectLst/>
                        </a:rPr>
                        <a:t>Այո</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23423819"/>
                  </a:ext>
                </a:extLst>
              </a:tr>
              <a:tr h="1086866">
                <a:tc>
                  <a:txBody>
                    <a:bodyPr/>
                    <a:lstStyle/>
                    <a:p>
                      <a:pPr marL="0" marR="0" algn="ctr" rtl="0" latinLnBrk="0">
                        <a:lnSpc>
                          <a:spcPct val="150000"/>
                        </a:lnSpc>
                        <a:spcBef>
                          <a:spcPts val="0"/>
                        </a:spcBef>
                        <a:spcAft>
                          <a:spcPts val="0"/>
                        </a:spcAft>
                      </a:pPr>
                      <a:r>
                        <a:rPr lang="hy-AM" sz="1200" dirty="0">
                          <a:effectLst/>
                        </a:rPr>
                        <a:t>Բուժկետի գտնվելու հարկը և տարածքը (քմ)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Բուժաշխատողն</a:t>
                      </a:r>
                      <a:r>
                        <a:rPr lang="en-US" sz="1200" dirty="0" err="1">
                          <a:effectLst/>
                        </a:rPr>
                        <a:t>երի</a:t>
                      </a:r>
                      <a:r>
                        <a:rPr lang="hy-AM" sz="1200" dirty="0">
                          <a:effectLst/>
                        </a:rPr>
                        <a:t> թիվը և նրանց պաշտոնները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a:effectLst/>
                        </a:rPr>
                        <a:t>Բուժկետում առկա գույքը </a:t>
                      </a:r>
                      <a:endParaRPr lang="hy-AM">
                        <a:effectLst/>
                      </a:endParaRPr>
                    </a:p>
                  </a:txBody>
                  <a:tcPr marL="0" marR="0" marT="0" marB="0" anchor="ctr"/>
                </a:tc>
                <a:tc gridSpan="2">
                  <a:txBody>
                    <a:bodyPr/>
                    <a:lstStyle/>
                    <a:p>
                      <a:pPr marL="0" marR="0" algn="ctr" rtl="0" latinLnBrk="0">
                        <a:lnSpc>
                          <a:spcPct val="150000"/>
                        </a:lnSpc>
                        <a:spcBef>
                          <a:spcPts val="0"/>
                        </a:spcBef>
                        <a:spcAft>
                          <a:spcPts val="0"/>
                        </a:spcAft>
                      </a:pPr>
                      <a:r>
                        <a:rPr lang="hy-AM" sz="1200">
                          <a:effectLst/>
                        </a:rPr>
                        <a:t>Բուժկետը վերանորո</a:t>
                      </a:r>
                      <a:r>
                        <a:rPr lang="en-US" sz="1200" err="1">
                          <a:effectLst/>
                        </a:rPr>
                        <a:t>գվ</a:t>
                      </a:r>
                      <a:r>
                        <a:rPr lang="hy-AM" sz="1200">
                          <a:effectLst/>
                        </a:rPr>
                        <a:t>ած է,</a:t>
                      </a:r>
                      <a:endParaRPr lang="en-US" sz="1200">
                        <a:effectLst/>
                      </a:endParaRPr>
                    </a:p>
                    <a:p>
                      <a:pPr marL="0" marR="0" algn="ctr" rtl="0" latinLnBrk="0">
                        <a:lnSpc>
                          <a:spcPct val="150000"/>
                        </a:lnSpc>
                        <a:spcBef>
                          <a:spcPts val="0"/>
                        </a:spcBef>
                        <a:spcAft>
                          <a:spcPts val="0"/>
                        </a:spcAft>
                      </a:pPr>
                      <a:r>
                        <a:rPr lang="hy-AM" sz="1200">
                          <a:effectLst/>
                        </a:rPr>
                        <a:t> թե ոչ </a:t>
                      </a:r>
                      <a:endParaRPr lang="hy-AM">
                        <a:effectLst/>
                      </a:endParaRPr>
                    </a:p>
                  </a:txBody>
                  <a:tcPr marL="0" marR="0" marT="0" marB="0" anchor="ctr"/>
                </a:tc>
                <a:tc hMerge="1">
                  <a:txBody>
                    <a:bodyPr/>
                    <a:lstStyle/>
                    <a:p>
                      <a:endParaRPr lang="en-US"/>
                    </a:p>
                  </a:txBody>
                  <a:tcPr/>
                </a:tc>
                <a:tc>
                  <a:txBody>
                    <a:bodyPr/>
                    <a:lstStyle/>
                    <a:p>
                      <a:pPr marL="0" marR="0" algn="ctr" rtl="0" latinLnBrk="0">
                        <a:lnSpc>
                          <a:spcPct val="150000"/>
                        </a:lnSpc>
                        <a:spcBef>
                          <a:spcPts val="0"/>
                        </a:spcBef>
                        <a:spcAft>
                          <a:spcPts val="0"/>
                        </a:spcAft>
                      </a:pPr>
                      <a:r>
                        <a:rPr lang="hy-AM" sz="1200">
                          <a:effectLst/>
                        </a:rPr>
                        <a:t>Սանիտարական վիճակը </a:t>
                      </a:r>
                      <a:endParaRPr lang="hy-AM">
                        <a:effectLst/>
                      </a:endParaRPr>
                    </a:p>
                  </a:txBody>
                  <a:tcPr marL="0" marR="0" marT="0" marB="0" anchor="ctr"/>
                </a:tc>
                <a:tc>
                  <a:txBody>
                    <a:bodyPr/>
                    <a:lstStyle/>
                    <a:p>
                      <a:pPr marL="0" marR="0" algn="ctr" rtl="0" latinLnBrk="0">
                        <a:lnSpc>
                          <a:spcPct val="150000"/>
                        </a:lnSpc>
                        <a:spcBef>
                          <a:spcPts val="0"/>
                        </a:spcBef>
                        <a:spcAft>
                          <a:spcPts val="1000"/>
                        </a:spcAft>
                      </a:pPr>
                      <a:r>
                        <a:rPr lang="hy-AM" sz="1200">
                          <a:effectLst/>
                        </a:rPr>
                        <a:t>Առաջին բուժօգնության միջոցների և դեղերի առկայությունը </a:t>
                      </a:r>
                      <a:endParaRPr lang="hy-AM">
                        <a:effectLst/>
                      </a:endParaRPr>
                    </a:p>
                  </a:txBody>
                  <a:tcPr marL="0" marR="0" marT="0" marB="0" anchor="ctr"/>
                </a:tc>
                <a:extLst>
                  <a:ext uri="{0D108BD9-81ED-4DB2-BD59-A6C34878D82A}">
                    <a16:rowId xmlns:a16="http://schemas.microsoft.com/office/drawing/2014/main" val="4086940001"/>
                  </a:ext>
                </a:extLst>
              </a:tr>
              <a:tr h="367919">
                <a:tc>
                  <a:txBody>
                    <a:bodyPr/>
                    <a:lstStyle/>
                    <a:p>
                      <a:pPr marL="0" marR="0" algn="ctr" rtl="0" eaLnBrk="1" latinLnBrk="0" hangingPunct="1">
                        <a:lnSpc>
                          <a:spcPct val="150000"/>
                        </a:lnSpc>
                        <a:spcBef>
                          <a:spcPts val="0"/>
                        </a:spcBef>
                        <a:spcAft>
                          <a:spcPts val="0"/>
                        </a:spcAft>
                      </a:pPr>
                      <a:r>
                        <a:rPr lang="hy-AM" sz="1200">
                          <a:effectLst/>
                        </a:rPr>
                        <a:t>1-ին հարկ </a:t>
                      </a:r>
                      <a:endParaRPr lang="hy-AM">
                        <a:effectLst/>
                      </a:endParaRPr>
                    </a:p>
                    <a:p>
                      <a:pPr marL="0" marR="0" algn="ctr" rtl="0" eaLnBrk="1" latinLnBrk="0" hangingPunct="1">
                        <a:lnSpc>
                          <a:spcPct val="150000"/>
                        </a:lnSpc>
                        <a:spcBef>
                          <a:spcPts val="0"/>
                        </a:spcBef>
                        <a:spcAft>
                          <a:spcPts val="0"/>
                        </a:spcAft>
                      </a:pPr>
                      <a:r>
                        <a:rPr lang="hy-AM" sz="1200">
                          <a:effectLst/>
                        </a:rPr>
                        <a:t>12 մ</a:t>
                      </a:r>
                      <a:r>
                        <a:rPr lang="hy-AM" sz="1200" baseline="30000">
                          <a:effectLst/>
                        </a:rPr>
                        <a:t>2</a:t>
                      </a:r>
                      <a:r>
                        <a:rPr lang="hy-AM" sz="1200">
                          <a:effectLst/>
                        </a:rPr>
                        <a:t>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 բուժքույր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a:effectLst/>
                        </a:rPr>
                        <a:t>Բժշկական պահարան, անհրաժեշտ պարագաներ </a:t>
                      </a:r>
                      <a:endParaRPr lang="hy-AM"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dirty="0">
                          <a:effectLst/>
                        </a:rPr>
                        <a:t>Այո </a:t>
                      </a:r>
                      <a:endParaRPr lang="hy-AM" dirty="0">
                        <a:effectLst/>
                      </a:endParaRPr>
                    </a:p>
                    <a:p>
                      <a:pPr marL="0" marR="0" algn="ctr" rtl="0" eaLnBrk="1" latinLnBrk="0" hangingPunct="1">
                        <a:lnSpc>
                          <a:spcPct val="150000"/>
                        </a:lnSpc>
                        <a:spcBef>
                          <a:spcPts val="0"/>
                        </a:spcBef>
                        <a:spcAft>
                          <a:spcPts val="0"/>
                        </a:spcAft>
                      </a:pPr>
                      <a:r>
                        <a:rPr lang="hy-AM" sz="1200" u="sng" dirty="0">
                          <a:effectLst/>
                        </a:rPr>
                        <a:t>Ոչ</a:t>
                      </a:r>
                      <a:r>
                        <a:rPr lang="hy-AM" sz="1200" dirty="0">
                          <a:effectLst/>
                        </a:rPr>
                        <a:t> </a:t>
                      </a:r>
                      <a:endParaRPr lang="hy-AM" dirty="0">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dirty="0">
                          <a:effectLst/>
                        </a:rPr>
                        <a:t>բավարար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200" dirty="0">
                          <a:effectLst/>
                        </a:rPr>
                        <a:t>առկա է </a:t>
                      </a:r>
                      <a:endParaRPr lang="hy-AM" dirty="0">
                        <a:effectLst/>
                      </a:endParaRPr>
                    </a:p>
                  </a:txBody>
                  <a:tcPr marL="0" marR="0" marT="0" marB="0" anchor="ctr"/>
                </a:tc>
                <a:extLst>
                  <a:ext uri="{0D108BD9-81ED-4DB2-BD59-A6C34878D82A}">
                    <a16:rowId xmlns:a16="http://schemas.microsoft.com/office/drawing/2014/main" val="3075007239"/>
                  </a:ext>
                </a:extLst>
              </a:tr>
            </a:tbl>
          </a:graphicData>
        </a:graphic>
      </p:graphicFrame>
      <p:sp>
        <p:nvSpPr>
          <p:cNvPr id="6" name="TextBox 5"/>
          <p:cNvSpPr txBox="1"/>
          <p:nvPr/>
        </p:nvSpPr>
        <p:spPr>
          <a:xfrm>
            <a:off x="1420125" y="5313363"/>
            <a:ext cx="8160302" cy="646112"/>
          </a:xfrm>
          <a:prstGeom prst="rect">
            <a:avLst/>
          </a:prstGeom>
        </p:spPr>
        <p:txBody>
          <a:bodyPr rtlCol="0">
            <a:spAutoFit/>
          </a:bodyPr>
          <a:lstStyle/>
          <a:p>
            <a:r>
              <a:rPr lang="en-US"/>
              <a:t>Վիճակը բավարար է, կարող է տրամադրել առաջին անհրաժեշտության բուժօգնություն:</a:t>
            </a:r>
          </a:p>
        </p:txBody>
      </p:sp>
    </p:spTree>
    <p:extLst>
      <p:ext uri="{BB962C8B-B14F-4D97-AF65-F5344CB8AC3E}">
        <p14:creationId xmlns:p14="http://schemas.microsoft.com/office/powerpoint/2010/main" val="18626608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241" t="18750" r="8186" b="-2500"/>
          <a:stretch/>
        </p:blipFill>
        <p:spPr>
          <a:xfrm>
            <a:off x="1995921" y="762569"/>
            <a:ext cx="8313112" cy="912530"/>
          </a:xfrm>
          <a:prstGeom prst="rect">
            <a:avLst/>
          </a:prstGeom>
          <a:ln>
            <a:noFill/>
          </a:ln>
          <a:effectLst>
            <a:softEdge rad="112500"/>
          </a:effectLst>
        </p:spPr>
      </p:pic>
      <p:pic>
        <p:nvPicPr>
          <p:cNvPr id="4" name="Picture 3"/>
          <p:cNvPicPr>
            <a:picLocks noChangeAspect="1"/>
          </p:cNvPicPr>
          <p:nvPr/>
        </p:nvPicPr>
        <p:blipFill rotWithShape="1">
          <a:blip r:embed="rId4" cstate="print"/>
          <a:srcRect l="3193" t="48148" r="5619" b="27160"/>
          <a:stretch/>
        </p:blipFill>
        <p:spPr>
          <a:xfrm>
            <a:off x="2430746" y="3669385"/>
            <a:ext cx="8114848" cy="909101"/>
          </a:xfrm>
          <a:prstGeom prst="rect">
            <a:avLst/>
          </a:prstGeom>
        </p:spPr>
      </p:pic>
      <p:sp>
        <p:nvSpPr>
          <p:cNvPr id="3" name="TextBox 2">
            <a:extLst>
              <a:ext uri="{FF2B5EF4-FFF2-40B4-BE49-F238E27FC236}">
                <a16:creationId xmlns:a16="http://schemas.microsoft.com/office/drawing/2014/main" id="{89E56457-8821-4752-99B3-B664C9AF1BB6}"/>
              </a:ext>
            </a:extLst>
          </p:cNvPr>
          <p:cNvSpPr txBox="1"/>
          <p:nvPr/>
        </p:nvSpPr>
        <p:spPr>
          <a:xfrm>
            <a:off x="2382608" y="2686249"/>
            <a:ext cx="82065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Տարածքը</a:t>
            </a:r>
            <a:r>
              <a:rPr lang="en-US" b="1"/>
              <a:t> </a:t>
            </a:r>
            <a:r>
              <a:rPr lang="en-US" b="1" err="1"/>
              <a:t>ապահով</a:t>
            </a:r>
            <a:r>
              <a:rPr lang="en-US" b="1"/>
              <a:t> է, </a:t>
            </a:r>
            <a:r>
              <a:rPr lang="en-US" b="1" err="1"/>
              <a:t>ցանկապատված</a:t>
            </a:r>
            <a:r>
              <a:rPr lang="en-US" b="1"/>
              <a:t> և </a:t>
            </a:r>
            <a:r>
              <a:rPr lang="en-US" b="1" err="1"/>
              <a:t>ունի</a:t>
            </a:r>
            <a:r>
              <a:rPr lang="en-US" b="1"/>
              <a:t> </a:t>
            </a:r>
            <a:r>
              <a:rPr lang="en-US" b="1" err="1"/>
              <a:t>դարպաս</a:t>
            </a:r>
            <a:r>
              <a:rPr lang="en-US" b="1"/>
              <a:t>:</a:t>
            </a:r>
          </a:p>
        </p:txBody>
      </p:sp>
    </p:spTree>
    <p:extLst>
      <p:ext uri="{BB962C8B-B14F-4D97-AF65-F5344CB8AC3E}">
        <p14:creationId xmlns:p14="http://schemas.microsoft.com/office/powerpoint/2010/main" val="9103270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940968" y="761550"/>
            <a:ext cx="8593997" cy="897563"/>
          </a:xfrm>
          <a:prstGeom prst="rect">
            <a:avLst/>
          </a:prstGeom>
          <a:ln>
            <a:noFill/>
          </a:ln>
          <a:effectLst>
            <a:softEdge rad="112500"/>
          </a:effectLst>
        </p:spPr>
      </p:pic>
      <p:pic>
        <p:nvPicPr>
          <p:cNvPr id="5" name="Picture 4" descr="A picture containing table&#10;&#10;Description generated with very high confidence">
            <a:extLst>
              <a:ext uri="{FF2B5EF4-FFF2-40B4-BE49-F238E27FC236}">
                <a16:creationId xmlns:a16="http://schemas.microsoft.com/office/drawing/2014/main" id="{C561E78E-6691-40A1-81E3-F397150E5C77}"/>
              </a:ext>
            </a:extLst>
          </p:cNvPr>
          <p:cNvPicPr>
            <a:picLocks noChangeAspect="1"/>
          </p:cNvPicPr>
          <p:nvPr/>
        </p:nvPicPr>
        <p:blipFill rotWithShape="1">
          <a:blip r:embed="rId4" cstate="print"/>
          <a:srcRect b="83562"/>
          <a:stretch/>
        </p:blipFill>
        <p:spPr>
          <a:xfrm>
            <a:off x="1750621" y="3340517"/>
            <a:ext cx="9416971" cy="689971"/>
          </a:xfrm>
          <a:prstGeom prst="rect">
            <a:avLst/>
          </a:prstGeom>
          <a:ln>
            <a:noFill/>
          </a:ln>
          <a:effectLst>
            <a:softEdge rad="112500"/>
          </a:effectLst>
        </p:spPr>
      </p:pic>
    </p:spTree>
    <p:extLst>
      <p:ext uri="{BB962C8B-B14F-4D97-AF65-F5344CB8AC3E}">
        <p14:creationId xmlns:p14="http://schemas.microsoft.com/office/powerpoint/2010/main" val="24567669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956974" y="542701"/>
            <a:ext cx="9138429" cy="1274524"/>
          </a:xfrm>
          <a:prstGeom prst="rect">
            <a:avLst/>
          </a:prstGeom>
          <a:ln>
            <a:noFill/>
          </a:ln>
          <a:effectLst>
            <a:softEdge rad="112500"/>
          </a:effectLst>
        </p:spPr>
      </p:pic>
      <p:pic>
        <p:nvPicPr>
          <p:cNvPr id="4" name="Picture 3"/>
          <p:cNvPicPr>
            <a:picLocks noChangeAspect="1"/>
          </p:cNvPicPr>
          <p:nvPr/>
        </p:nvPicPr>
        <p:blipFill>
          <a:blip r:embed="rId4" cstate="print"/>
          <a:srcRect t="12103"/>
          <a:stretch>
            <a:fillRect/>
          </a:stretch>
        </p:blipFill>
        <p:spPr>
          <a:xfrm>
            <a:off x="1795735" y="2685327"/>
            <a:ext cx="9446322" cy="3721307"/>
          </a:xfrm>
          <a:prstGeom prst="rect">
            <a:avLst/>
          </a:prstGeom>
          <a:ln>
            <a:noFill/>
          </a:ln>
          <a:effectLst>
            <a:softEdge rad="112500"/>
          </a:effectLst>
        </p:spPr>
      </p:pic>
      <p:sp>
        <p:nvSpPr>
          <p:cNvPr id="5" name="TextBox 4"/>
          <p:cNvSpPr txBox="1"/>
          <p:nvPr/>
        </p:nvSpPr>
        <p:spPr>
          <a:xfrm>
            <a:off x="1886673" y="2037144"/>
            <a:ext cx="9167150" cy="584775"/>
          </a:xfrm>
          <a:prstGeom prst="rect">
            <a:avLst/>
          </a:prstGeom>
          <a:noFill/>
          <a:ln>
            <a:noFill/>
          </a:ln>
        </p:spPr>
        <p:txBody>
          <a:bodyPr wrap="square" rtlCol="0">
            <a:spAutoFit/>
          </a:bodyPr>
          <a:lstStyle/>
          <a:p>
            <a:pPr marL="115888" indent="-115888">
              <a:buFont typeface="Arial" pitchFamily="34" charset="0"/>
              <a:buChar char="•"/>
            </a:pPr>
            <a:r>
              <a:rPr lang="en-US" sz="1600"/>
              <a:t> </a:t>
            </a:r>
            <a:r>
              <a:rPr lang="en-US" sz="1600" err="1"/>
              <a:t>Ուսումնական</a:t>
            </a:r>
            <a:r>
              <a:rPr lang="en-US" sz="1600"/>
              <a:t> </a:t>
            </a:r>
            <a:r>
              <a:rPr lang="en-US" sz="1600" err="1"/>
              <a:t>հաստատության</a:t>
            </a:r>
            <a:r>
              <a:rPr lang="en-US" sz="1600"/>
              <a:t> </a:t>
            </a:r>
            <a:r>
              <a:rPr lang="en-US" sz="1600" err="1"/>
              <a:t>շենքը</a:t>
            </a:r>
            <a:r>
              <a:rPr lang="en-US" sz="1600"/>
              <a:t> </a:t>
            </a:r>
            <a:r>
              <a:rPr lang="en-US" sz="1600" err="1"/>
              <a:t>հիմնանորոգված</a:t>
            </a:r>
            <a:r>
              <a:rPr lang="en-US" sz="1600"/>
              <a:t> է և </a:t>
            </a:r>
            <a:r>
              <a:rPr lang="en-US" sz="1600" err="1"/>
              <a:t>շենքի</a:t>
            </a:r>
            <a:r>
              <a:rPr lang="en-US" sz="1600"/>
              <a:t> </a:t>
            </a:r>
            <a:r>
              <a:rPr lang="en-US" sz="1600" err="1"/>
              <a:t>շահագործումը</a:t>
            </a:r>
            <a:r>
              <a:rPr lang="en-US" sz="1600"/>
              <a:t>                                            </a:t>
            </a:r>
            <a:r>
              <a:rPr lang="en-US" sz="1600" err="1"/>
              <a:t>համապատասխանում</a:t>
            </a:r>
            <a:r>
              <a:rPr lang="en-US" sz="1600"/>
              <a:t> է </a:t>
            </a:r>
            <a:r>
              <a:rPr lang="en-US" sz="1600" err="1"/>
              <a:t>շահագործման</a:t>
            </a:r>
            <a:r>
              <a:rPr lang="en-US" sz="1600"/>
              <a:t> </a:t>
            </a:r>
            <a:r>
              <a:rPr lang="en-US" sz="1600" err="1"/>
              <a:t>անվտանգության</a:t>
            </a:r>
            <a:r>
              <a:rPr lang="en-US" sz="1600"/>
              <a:t> </a:t>
            </a:r>
            <a:r>
              <a:rPr lang="en-US" sz="1600" err="1"/>
              <a:t>նորմատիվներին</a:t>
            </a:r>
            <a:r>
              <a:rPr lang="en-US" sz="1600"/>
              <a:t>:</a:t>
            </a:r>
          </a:p>
        </p:txBody>
      </p:sp>
    </p:spTree>
    <p:extLst>
      <p:ext uri="{BB962C8B-B14F-4D97-AF65-F5344CB8AC3E}">
        <p14:creationId xmlns:p14="http://schemas.microsoft.com/office/powerpoint/2010/main" val="25661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94597" y="644335"/>
            <a:ext cx="9708846" cy="1012529"/>
          </a:xfrm>
          <a:prstGeom prst="rect">
            <a:avLst/>
          </a:prstGeom>
          <a:ln>
            <a:noFill/>
          </a:ln>
          <a:effectLst>
            <a:softEdge rad="112500"/>
          </a:effectLst>
        </p:spPr>
      </p:pic>
      <p:sp>
        <p:nvSpPr>
          <p:cNvPr id="5" name="TextBox 4"/>
          <p:cNvSpPr txBox="1"/>
          <p:nvPr/>
        </p:nvSpPr>
        <p:spPr>
          <a:xfrm>
            <a:off x="1694785" y="1784038"/>
            <a:ext cx="8925445" cy="4093428"/>
          </a:xfrm>
          <a:prstGeom prst="rect">
            <a:avLst/>
          </a:prstGeom>
        </p:spPr>
        <p:txBody>
          <a:bodyPr lIns="91440" tIns="45720" rIns="91440" bIns="45720" rtlCol="0" anchor="t">
            <a:spAutoFit/>
          </a:bodyPr>
          <a:lstStyle/>
          <a:p>
            <a:pPr marL="342900" indent="-342900" algn="just">
              <a:buFont typeface="Arial" panose="020B0604020202020204" pitchFamily="34" charset="0"/>
              <a:buChar char="•"/>
            </a:pPr>
            <a:r>
              <a:rPr lang="hy-AM" sz="2000" err="1">
                <a:solidFill>
                  <a:srgbClr val="000000"/>
                </a:solidFill>
                <a:latin typeface="Sylfaen"/>
                <a:sym typeface="Wingdings 2" charset="0"/>
              </a:rPr>
              <a:t>Ոսումնական</a:t>
            </a:r>
            <a:r>
              <a:rPr lang="hy-AM" sz="2000">
                <a:solidFill>
                  <a:srgbClr val="000000"/>
                </a:solidFill>
                <a:latin typeface="Sylfaen"/>
                <a:sym typeface="Wingdings 2" charset="0"/>
              </a:rPr>
              <a:t> հաստատության կահույքը համապատասխանում է անվտանգ կենսագործունեության պահանջներին, ամուր և բարվոք վիճակում է: </a:t>
            </a:r>
            <a:endParaRPr lang="en-US">
              <a:solidFill>
                <a:srgbClr val="000000"/>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charset="0"/>
                <a:sym typeface="Wingdings 2" charset="0"/>
              </a:rPr>
              <a:t>Ուսումնական հաստատությունում մշակված և առկա է սովորողների ու անձնակազմի տարհանման պլան, հաշմանդամների համար շենքային պայմանները հարմարեցված չեն: </a:t>
            </a:r>
            <a:endParaRPr lang="en-US">
              <a:solidFill>
                <a:srgbClr val="000000"/>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charset="0"/>
                <a:sym typeface="Wingdings 2" charset="0"/>
              </a:rPr>
              <a:t>Ուսումնական հաստատության նախասրահում, բոլոր հարկերում, դասասենյակներում փակցված են տարհանման պլան-սխեմաները` համապատասխան գունային ցուցասլաքներով: Դրանց մասին բոլոր աշակերտները տեղեկացված են և փորձնական տարհանումների միջոցով աշակերտները գիտեն/սովորում են օգտվել դրանցից. </a:t>
            </a:r>
            <a:endParaRPr lang="en-US">
              <a:solidFill>
                <a:srgbClr val="0BD0D9"/>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a:rPr>
              <a:t>Ուսումնական  հաստատության </a:t>
            </a:r>
            <a:r>
              <a:rPr lang="hy-AM" sz="2000" err="1">
                <a:solidFill>
                  <a:srgbClr val="000000"/>
                </a:solidFill>
                <a:latin typeface="Sylfaen"/>
              </a:rPr>
              <a:t>տարհանման</a:t>
            </a:r>
            <a:r>
              <a:rPr lang="hy-AM" sz="2000">
                <a:solidFill>
                  <a:srgbClr val="000000"/>
                </a:solidFill>
                <a:latin typeface="Sylfaen"/>
              </a:rPr>
              <a:t> ուղիները ազատ են ավելորդ իրերից և արգելափակված չեն ծանր իրերով: </a:t>
            </a:r>
            <a:r>
              <a:rPr lang="hy-AM">
                <a:solidFill>
                  <a:srgbClr val="000000"/>
                </a:solidFill>
                <a:latin typeface="Sylfaen"/>
              </a:rPr>
              <a:t> </a:t>
            </a:r>
            <a:endParaRPr lang="en-US">
              <a:solidFill>
                <a:srgbClr val="000000"/>
              </a:solidFill>
              <a:latin typeface="Sylfaen" charset="0"/>
            </a:endParaRPr>
          </a:p>
        </p:txBody>
      </p:sp>
    </p:spTree>
    <p:extLst>
      <p:ext uri="{BB962C8B-B14F-4D97-AF65-F5344CB8AC3E}">
        <p14:creationId xmlns:p14="http://schemas.microsoft.com/office/powerpoint/2010/main" val="2970790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213" y="0"/>
            <a:ext cx="12234553" cy="276999"/>
          </a:xfrm>
          <a:prstGeom prst="rect">
            <a:avLst/>
          </a:prstGeom>
        </p:spPr>
        <p:txBody>
          <a:bodyPr rtlCol="0">
            <a:spAutoFit/>
          </a:bodyPr>
          <a:lstStyle/>
          <a:p>
            <a:pPr algn="just"/>
            <a:r>
              <a:rPr lang="hy-AM" sz="1200" b="1" i="1">
                <a:latin typeface="Sylfaen"/>
              </a:rPr>
              <a:t>Աղյուսակ 17. Տվյալներ ուսումնական հաստատության սովորողների ֆիզիկական, հոգեկան և սոցիալական    </a:t>
            </a:r>
            <a:r>
              <a:rPr lang="hy-AM" sz="1200" b="1" i="1" err="1">
                <a:latin typeface="Sylfaen"/>
              </a:rPr>
              <a:t>աողջությանն</a:t>
            </a:r>
            <a:r>
              <a:rPr lang="hy-AM" sz="1200" b="1" i="1">
                <a:latin typeface="Sylfaen"/>
              </a:rPr>
              <a:t> ուղղված աշխատանքների վերաբերյալ </a:t>
            </a:r>
            <a:endParaRPr lang="en-US" sz="1400" b="1" i="1">
              <a:latin typeface="Sylfaen"/>
            </a:endParaRPr>
          </a:p>
        </p:txBody>
      </p:sp>
      <p:graphicFrame>
        <p:nvGraphicFramePr>
          <p:cNvPr id="3" name="Table 2"/>
          <p:cNvGraphicFramePr/>
          <p:nvPr>
            <p:extLst>
              <p:ext uri="{D42A27DB-BD31-4B8C-83A1-F6EECF244321}">
                <p14:modId xmlns:p14="http://schemas.microsoft.com/office/powerpoint/2010/main" val="1798577340"/>
              </p:ext>
            </p:extLst>
          </p:nvPr>
        </p:nvGraphicFramePr>
        <p:xfrm>
          <a:off x="0" y="1"/>
          <a:ext cx="11971421" cy="6600944"/>
        </p:xfrm>
        <a:graphic>
          <a:graphicData uri="http://schemas.openxmlformats.org/drawingml/2006/table">
            <a:tbl>
              <a:tblPr>
                <a:tableStyleId>{5940675A-B579-460E-94D1-54222C63F5DA}</a:tableStyleId>
              </a:tblPr>
              <a:tblGrid>
                <a:gridCol w="4738343">
                  <a:extLst>
                    <a:ext uri="{9D8B030D-6E8A-4147-A177-3AD203B41FA5}">
                      <a16:colId xmlns:a16="http://schemas.microsoft.com/office/drawing/2014/main" val="2012089873"/>
                    </a:ext>
                  </a:extLst>
                </a:gridCol>
                <a:gridCol w="991285">
                  <a:extLst>
                    <a:ext uri="{9D8B030D-6E8A-4147-A177-3AD203B41FA5}">
                      <a16:colId xmlns:a16="http://schemas.microsoft.com/office/drawing/2014/main" val="3241034091"/>
                    </a:ext>
                  </a:extLst>
                </a:gridCol>
                <a:gridCol w="1929702">
                  <a:extLst>
                    <a:ext uri="{9D8B030D-6E8A-4147-A177-3AD203B41FA5}">
                      <a16:colId xmlns:a16="http://schemas.microsoft.com/office/drawing/2014/main" val="2315328513"/>
                    </a:ext>
                  </a:extLst>
                </a:gridCol>
                <a:gridCol w="1467102">
                  <a:extLst>
                    <a:ext uri="{9D8B030D-6E8A-4147-A177-3AD203B41FA5}">
                      <a16:colId xmlns:a16="http://schemas.microsoft.com/office/drawing/2014/main" val="1636931236"/>
                    </a:ext>
                  </a:extLst>
                </a:gridCol>
                <a:gridCol w="277560">
                  <a:extLst>
                    <a:ext uri="{9D8B030D-6E8A-4147-A177-3AD203B41FA5}">
                      <a16:colId xmlns:a16="http://schemas.microsoft.com/office/drawing/2014/main" val="3599732883"/>
                    </a:ext>
                  </a:extLst>
                </a:gridCol>
                <a:gridCol w="1060675">
                  <a:extLst>
                    <a:ext uri="{9D8B030D-6E8A-4147-A177-3AD203B41FA5}">
                      <a16:colId xmlns:a16="http://schemas.microsoft.com/office/drawing/2014/main" val="2278006942"/>
                    </a:ext>
                  </a:extLst>
                </a:gridCol>
                <a:gridCol w="1506754">
                  <a:extLst>
                    <a:ext uri="{9D8B030D-6E8A-4147-A177-3AD203B41FA5}">
                      <a16:colId xmlns:a16="http://schemas.microsoft.com/office/drawing/2014/main" val="3441054366"/>
                    </a:ext>
                  </a:extLst>
                </a:gridCol>
              </a:tblGrid>
              <a:tr h="534705">
                <a:tc gridSpan="7">
                  <a:txBody>
                    <a:bodyPr/>
                    <a:lstStyle/>
                    <a:p>
                      <a:pPr marL="0" marR="0" algn="just" rtl="0" eaLnBrk="1" latinLnBrk="0" hangingPunct="1">
                        <a:lnSpc>
                          <a:spcPct val="150000"/>
                        </a:lnSpc>
                        <a:spcBef>
                          <a:spcPts val="0"/>
                        </a:spcBef>
                        <a:spcAft>
                          <a:spcPts val="1000"/>
                        </a:spcAft>
                      </a:pPr>
                      <a:r>
                        <a:rPr lang="hy-AM" sz="1100">
                          <a:effectLst/>
                        </a:rPr>
                        <a:t>Ալկոհոլի, ծխախոտի, թմրամիջոցների և հոգեմետ նյութերի օգտագործումն կանխարգելելու ուղղությամբ իրականացված ուսումնական ծրագրերը և միջոցառումները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93618355"/>
                  </a:ext>
                </a:extLst>
              </a:tr>
              <a:tr h="267414">
                <a:tc gridSpan="3">
                  <a:txBody>
                    <a:bodyPr/>
                    <a:lstStyle/>
                    <a:p>
                      <a:pPr marL="0" marR="0" algn="just" rtl="0" eaLnBrk="1" latinLnBrk="0" hangingPunct="1">
                        <a:lnSpc>
                          <a:spcPct val="150000"/>
                        </a:lnSpc>
                        <a:spcBef>
                          <a:spcPts val="0"/>
                        </a:spcBef>
                        <a:spcAft>
                          <a:spcPts val="0"/>
                        </a:spcAft>
                      </a:pPr>
                      <a:r>
                        <a:rPr lang="hy-AM" sz="1100">
                          <a:effectLst/>
                        </a:rPr>
                        <a:t>Ծրագիրը կամ միջոցառումը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Ամսաթիվը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Դասարանը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574528960"/>
                  </a:ext>
                </a:extLst>
              </a:tr>
              <a:tr h="734709">
                <a:tc gridSpan="3">
                  <a:txBody>
                    <a:bodyPr/>
                    <a:lstStyle/>
                    <a:p>
                      <a:pPr marL="347472" marR="0" indent="-347472" algn="just" rtl="0" eaLnBrk="1" latinLnBrk="0" hangingPunct="1">
                        <a:lnSpc>
                          <a:spcPct val="150000"/>
                        </a:lnSpc>
                        <a:spcBef>
                          <a:spcPts val="0"/>
                        </a:spcBef>
                        <a:spcAft>
                          <a:spcPts val="0"/>
                        </a:spcAft>
                      </a:pPr>
                      <a:r>
                        <a:rPr lang="hy-AM" sz="1100">
                          <a:effectLst/>
                        </a:rPr>
                        <a:t>1.Հանդիպումներ Ճանապարհային Ոստիկանության աշխատակիցների հետ:</a:t>
                      </a:r>
                      <a:endParaRPr lang="en-US" sz="1100">
                        <a:effectLst/>
                      </a:endParaRPr>
                    </a:p>
                    <a:p>
                      <a:pPr marL="347345" marR="0" indent="-347345" algn="just" rtl="0" eaLnBrk="1" latinLnBrk="0" hangingPunct="1">
                        <a:lnSpc>
                          <a:spcPct val="150000"/>
                        </a:lnSpc>
                        <a:spcBef>
                          <a:spcPts val="0"/>
                        </a:spcBef>
                        <a:spcAft>
                          <a:spcPts val="0"/>
                        </a:spcAft>
                      </a:pPr>
                      <a:r>
                        <a:rPr lang="en-US" sz="1100" baseline="0">
                          <a:effectLst/>
                        </a:rPr>
                        <a:t>  </a:t>
                      </a:r>
                      <a:r>
                        <a:rPr lang="hy-AM" sz="1100">
                          <a:effectLst/>
                        </a:rPr>
                        <a:t>Թեմա՝ &lt;</a:t>
                      </a:r>
                      <a:r>
                        <a:rPr lang="en-US" sz="1100">
                          <a:effectLst/>
                        </a:rPr>
                        <a:t>&lt;</a:t>
                      </a:r>
                      <a:r>
                        <a:rPr lang="en-US" sz="1100" err="1">
                          <a:effectLst/>
                        </a:rPr>
                        <a:t>Դեռահասության</a:t>
                      </a:r>
                      <a:r>
                        <a:rPr lang="en-US" sz="1100" baseline="0">
                          <a:effectLst/>
                        </a:rPr>
                        <a:t> </a:t>
                      </a:r>
                      <a:r>
                        <a:rPr lang="en-US" sz="1100" baseline="0" err="1">
                          <a:effectLst/>
                        </a:rPr>
                        <a:t>խնդիրները</a:t>
                      </a:r>
                      <a:r>
                        <a:rPr lang="hy-AM" sz="1100">
                          <a:effectLst/>
                        </a:rPr>
                        <a:t>&gt;&gt;</a:t>
                      </a:r>
                      <a:r>
                        <a:rPr lang="en-US" sz="1100">
                          <a:effectLst/>
                        </a:rPr>
                        <a:t>,,&lt;&lt;</a:t>
                      </a:r>
                      <a:r>
                        <a:rPr lang="en-US" sz="1100" err="1">
                          <a:effectLst/>
                        </a:rPr>
                        <a:t>Ճանապարհային</a:t>
                      </a:r>
                      <a:r>
                        <a:rPr lang="en-US" sz="1100">
                          <a:effectLst/>
                        </a:rPr>
                        <a:t> </a:t>
                      </a:r>
                      <a:r>
                        <a:rPr lang="en-US" sz="1100" err="1">
                          <a:effectLst/>
                        </a:rPr>
                        <a:t>երթևուկյան</a:t>
                      </a:r>
                      <a:r>
                        <a:rPr lang="en-US" sz="1100">
                          <a:effectLst/>
                        </a:rPr>
                        <a:t> </a:t>
                      </a:r>
                      <a:r>
                        <a:rPr lang="en-US" sz="1100" err="1">
                          <a:effectLst/>
                        </a:rPr>
                        <a:t>պահպանման</a:t>
                      </a:r>
                      <a:r>
                        <a:rPr lang="en-US" sz="1100">
                          <a:effectLst/>
                        </a:rPr>
                        <a:t> </a:t>
                      </a:r>
                      <a:r>
                        <a:rPr lang="en-US" sz="1100" err="1">
                          <a:effectLst/>
                        </a:rPr>
                        <a:t>կարևորությունը</a:t>
                      </a:r>
                      <a:r>
                        <a:rPr lang="en-US" sz="1100">
                          <a:effectLst/>
                        </a:rPr>
                        <a:t>. </a:t>
                      </a:r>
                      <a:r>
                        <a:rPr lang="hy-AM" sz="1100">
                          <a:effectLst/>
                        </a:rPr>
                        <a:t>Ճ</a:t>
                      </a:r>
                      <a:r>
                        <a:rPr lang="en-US" sz="1100" err="1">
                          <a:effectLst/>
                        </a:rPr>
                        <a:t>անապարհայի</a:t>
                      </a:r>
                      <a:r>
                        <a:rPr lang="en-US" sz="1100">
                          <a:effectLst/>
                        </a:rPr>
                        <a:t> </a:t>
                      </a:r>
                      <a:r>
                        <a:rPr lang="en-US" sz="1100" err="1">
                          <a:effectLst/>
                        </a:rPr>
                        <a:t>պատահարներ</a:t>
                      </a:r>
                      <a:r>
                        <a:rPr lang="en-US" sz="1100">
                          <a:effectLst/>
                        </a:rPr>
                        <a:t>&gt;&gt;</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dirty="0">
                          <a:effectLst/>
                        </a:rPr>
                        <a:t>Ս</a:t>
                      </a:r>
                      <a:r>
                        <a:rPr lang="en-US" sz="1100" dirty="0" err="1">
                          <a:effectLst/>
                        </a:rPr>
                        <a:t>եպտեմբեր</a:t>
                      </a:r>
                      <a:r>
                        <a:rPr lang="en-US" sz="1100" dirty="0">
                          <a:effectLst/>
                        </a:rPr>
                        <a:t>-</a:t>
                      </a:r>
                      <a:r>
                        <a:rPr lang="hy-AM" sz="1100" dirty="0">
                          <a:effectLst/>
                        </a:rPr>
                        <a:t>հոկտեմբեր 20</a:t>
                      </a:r>
                      <a:r>
                        <a:rPr lang="en-US" sz="1100" dirty="0" smtClean="0">
                          <a:effectLst/>
                        </a:rPr>
                        <a:t>24</a:t>
                      </a:r>
                      <a:r>
                        <a:rPr lang="hy-AM" sz="1100" dirty="0" smtClean="0">
                          <a:effectLst/>
                        </a:rPr>
                        <a:t>թ</a:t>
                      </a:r>
                      <a:r>
                        <a:rPr lang="hy-AM" sz="1100" dirty="0">
                          <a:effectLst/>
                        </a:rPr>
                        <a:t>. </a:t>
                      </a:r>
                      <a:endParaRPr lang="hy-AM" dirty="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hy-AM" sz="1100">
                          <a:effectLst/>
                        </a:rPr>
                        <a:t>10-րդ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226521175"/>
                  </a:ext>
                </a:extLst>
              </a:tr>
              <a:tr h="666597">
                <a:tc gridSpan="3">
                  <a:txBody>
                    <a:bodyPr/>
                    <a:lstStyle/>
                    <a:p>
                      <a:pPr marL="347472" marR="0" indent="-347472" algn="just" rtl="0" eaLnBrk="1" latinLnBrk="0" hangingPunct="1">
                        <a:lnSpc>
                          <a:spcPct val="150000"/>
                        </a:lnSpc>
                        <a:spcBef>
                          <a:spcPts val="0"/>
                        </a:spcBef>
                        <a:spcAft>
                          <a:spcPts val="0"/>
                        </a:spcAft>
                      </a:pPr>
                      <a:r>
                        <a:rPr lang="hy-AM" sz="1100">
                          <a:effectLst/>
                        </a:rPr>
                        <a:t>1.Հանդիպում Ոստիկանության անչափահասների գծով վարչության աշխատակիցների հետ </a:t>
                      </a:r>
                      <a:endParaRPr lang="hy-AM">
                        <a:effectLst/>
                      </a:endParaRPr>
                    </a:p>
                    <a:p>
                      <a:pPr marL="457200" marR="0" algn="just" rtl="0" eaLnBrk="1" latinLnBrk="0" hangingPunct="1">
                        <a:lnSpc>
                          <a:spcPct val="150000"/>
                        </a:lnSpc>
                        <a:spcBef>
                          <a:spcPts val="0"/>
                        </a:spcBef>
                        <a:spcAft>
                          <a:spcPts val="0"/>
                        </a:spcAft>
                      </a:pPr>
                      <a:r>
                        <a:rPr lang="hy-AM" sz="1100">
                          <a:effectLst/>
                        </a:rPr>
                        <a:t>Թեմա՝ &lt;&lt;Սառը զեն</a:t>
                      </a:r>
                      <a:r>
                        <a:rPr lang="en-US" sz="1100">
                          <a:effectLst/>
                        </a:rPr>
                        <a:t>ք</a:t>
                      </a:r>
                      <a:r>
                        <a:rPr lang="hy-AM" sz="1100">
                          <a:effectLst/>
                        </a:rPr>
                        <a:t>ի տեսակները&gt;&gt;</a:t>
                      </a:r>
                      <a:r>
                        <a:rPr lang="en-US" sz="1100">
                          <a:effectLst/>
                        </a:rPr>
                        <a:t>, &lt;&lt;</a:t>
                      </a:r>
                      <a:r>
                        <a:rPr lang="en-US" sz="1100" err="1">
                          <a:effectLst/>
                        </a:rPr>
                        <a:t>Անչափահասը</a:t>
                      </a:r>
                      <a:r>
                        <a:rPr lang="en-US" sz="1100" baseline="0">
                          <a:effectLst/>
                        </a:rPr>
                        <a:t> և </a:t>
                      </a:r>
                      <a:r>
                        <a:rPr lang="en-US" sz="1100" baseline="0" err="1">
                          <a:effectLst/>
                        </a:rPr>
                        <a:t>ալկոհոլը</a:t>
                      </a:r>
                      <a:r>
                        <a:rPr lang="en-US" sz="1100" baseline="0">
                          <a:effectLst/>
                        </a:rPr>
                        <a:t>&gt;&gt;</a:t>
                      </a:r>
                      <a:r>
                        <a:rPr lang="hy-AM" sz="11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endParaRPr lang="hy-AM" sz="1100" dirty="0">
                        <a:effectLst/>
                      </a:endParaRPr>
                    </a:p>
                    <a:p>
                      <a:pPr marL="0" marR="0" algn="just" rtl="0" eaLnBrk="1" latinLnBrk="0" hangingPunct="1">
                        <a:lnSpc>
                          <a:spcPct val="150000"/>
                        </a:lnSpc>
                        <a:spcBef>
                          <a:spcPts val="0"/>
                        </a:spcBef>
                        <a:spcAft>
                          <a:spcPts val="0"/>
                        </a:spcAft>
                      </a:pPr>
                      <a:r>
                        <a:rPr lang="hy-AM" sz="1100" dirty="0">
                          <a:effectLst/>
                        </a:rPr>
                        <a:t>Մարտ</a:t>
                      </a:r>
                      <a:r>
                        <a:rPr lang="en-US" sz="1100" dirty="0">
                          <a:effectLst/>
                        </a:rPr>
                        <a:t> </a:t>
                      </a:r>
                      <a:r>
                        <a:rPr lang="hy-AM" sz="1100" dirty="0">
                          <a:effectLst/>
                        </a:rPr>
                        <a:t>20</a:t>
                      </a:r>
                      <a:r>
                        <a:rPr lang="en-US" sz="1100" dirty="0" smtClean="0">
                          <a:effectLst/>
                        </a:rPr>
                        <a:t>25</a:t>
                      </a:r>
                      <a:r>
                        <a:rPr lang="hy-AM" sz="1100" dirty="0" smtClean="0">
                          <a:effectLst/>
                        </a:rPr>
                        <a:t>թ</a:t>
                      </a:r>
                      <a:r>
                        <a:rPr lang="hy-AM" sz="1100" dirty="0">
                          <a:effectLst/>
                        </a:rPr>
                        <a:t> </a:t>
                      </a:r>
                      <a:endParaRPr lang="hy-AM" dirty="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hy-AM" sz="1100">
                          <a:effectLst/>
                        </a:rPr>
                        <a:t>10-11-րդ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186926781"/>
                  </a:ext>
                </a:extLst>
              </a:tr>
              <a:tr h="469052">
                <a:tc gridSpan="3">
                  <a:txBody>
                    <a:bodyPr/>
                    <a:lstStyle/>
                    <a:p>
                      <a:pPr marL="457200" marR="0" algn="just" rtl="0" eaLnBrk="1" latinLnBrk="0" hangingPunct="1">
                        <a:lnSpc>
                          <a:spcPct val="150000"/>
                        </a:lnSpc>
                        <a:spcBef>
                          <a:spcPts val="0"/>
                        </a:spcBef>
                        <a:spcAft>
                          <a:spcPts val="0"/>
                        </a:spcAft>
                      </a:pPr>
                      <a:r>
                        <a:rPr lang="en-US" sz="1100" err="1">
                          <a:effectLst/>
                        </a:rPr>
                        <a:t>Քննարկումներ</a:t>
                      </a:r>
                      <a:r>
                        <a:rPr lang="en-US" sz="1100">
                          <a:effectLst/>
                        </a:rPr>
                        <a:t>  &lt;&lt;</a:t>
                      </a:r>
                      <a:r>
                        <a:rPr lang="en-US" sz="1100" err="1">
                          <a:effectLst/>
                        </a:rPr>
                        <a:t>Բուլինգի</a:t>
                      </a:r>
                      <a:r>
                        <a:rPr lang="en-US" sz="1100" baseline="0">
                          <a:effectLst/>
                        </a:rPr>
                        <a:t> </a:t>
                      </a:r>
                      <a:r>
                        <a:rPr lang="en-US" sz="1100" baseline="0" err="1">
                          <a:effectLst/>
                        </a:rPr>
                        <a:t>մասին</a:t>
                      </a:r>
                      <a:r>
                        <a:rPr lang="en-US" sz="1100" baseline="0">
                          <a:effectLst/>
                        </a:rPr>
                        <a:t>&gt;&gt; ԱԽ </a:t>
                      </a:r>
                      <a:r>
                        <a:rPr lang="en-US" sz="1100" baseline="0" err="1">
                          <a:effectLst/>
                        </a:rPr>
                        <a:t>նախաձեռնությամբ</a:t>
                      </a:r>
                      <a:endParaRPr lang="hy-AM" sz="1100">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en-US" sz="1100" dirty="0" err="1">
                          <a:effectLst/>
                        </a:rPr>
                        <a:t>Ապրիլ</a:t>
                      </a:r>
                      <a:r>
                        <a:rPr lang="en-US" sz="1100" dirty="0">
                          <a:effectLst/>
                        </a:rPr>
                        <a:t> </a:t>
                      </a:r>
                      <a:r>
                        <a:rPr lang="en-US" sz="1100" dirty="0" smtClean="0">
                          <a:effectLst/>
                        </a:rPr>
                        <a:t>2025թ</a:t>
                      </a:r>
                      <a:endParaRPr lang="hy-AM" sz="1100" dirty="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en-US" sz="1100">
                          <a:effectLst/>
                        </a:rPr>
                        <a:t>10-12-րդ </a:t>
                      </a:r>
                      <a:r>
                        <a:rPr lang="en-US" sz="1100" err="1">
                          <a:effectLst/>
                        </a:rPr>
                        <a:t>դասարաններ</a:t>
                      </a:r>
                      <a:endParaRPr lang="hy-AM" sz="1100">
                        <a:effectLst/>
                      </a:endParaRPr>
                    </a:p>
                  </a:txBody>
                  <a:tcPr marL="0" marR="0" marT="0" marB="0" anchor="ctr"/>
                </a:tc>
                <a:tc hMerge="1">
                  <a:txBody>
                    <a:bodyPr/>
                    <a:lstStyle/>
                    <a:p>
                      <a:endParaRPr lang="en-US"/>
                    </a:p>
                  </a:txBody>
                  <a:tcPr/>
                </a:tc>
                <a:extLst>
                  <a:ext uri="{0D108BD9-81ED-4DB2-BD59-A6C34878D82A}">
                    <a16:rowId xmlns:a16="http://schemas.microsoft.com/office/drawing/2014/main" val="10004"/>
                  </a:ext>
                </a:extLst>
              </a:tr>
              <a:tr h="267414">
                <a:tc gridSpan="3">
                  <a:txBody>
                    <a:bodyPr/>
                    <a:lstStyle/>
                    <a:p>
                      <a:pPr marL="347345" marR="0" indent="-347345" algn="just" rtl="0" eaLnBrk="1" latinLnBrk="0" hangingPunct="1">
                        <a:lnSpc>
                          <a:spcPct val="150000"/>
                        </a:lnSpc>
                        <a:spcBef>
                          <a:spcPts val="0"/>
                        </a:spcBef>
                        <a:spcAft>
                          <a:spcPts val="0"/>
                        </a:spcAft>
                      </a:pPr>
                      <a:r>
                        <a:rPr lang="hy-AM" sz="1100">
                          <a:effectLst/>
                        </a:rPr>
                        <a:t>1.Դասղեկի ժամեր </a:t>
                      </a:r>
                      <a:r>
                        <a:rPr lang="en-US" sz="1100">
                          <a:effectLst/>
                        </a:rPr>
                        <a:t>, </a:t>
                      </a:r>
                      <a:r>
                        <a:rPr lang="en-US" sz="1100" err="1">
                          <a:effectLst/>
                        </a:rPr>
                        <a:t>բանվեճեր</a:t>
                      </a:r>
                      <a:r>
                        <a:rPr lang="en-US" sz="1100">
                          <a:effectLst/>
                        </a:rPr>
                        <a:t>, </a:t>
                      </a:r>
                      <a:r>
                        <a:rPr lang="en-US" sz="1100" err="1">
                          <a:effectLst/>
                        </a:rPr>
                        <a:t>զրույցներ</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en-US" sz="1100">
                          <a:effectLst/>
                        </a:rPr>
                        <a:t>10</a:t>
                      </a:r>
                      <a:r>
                        <a:rPr lang="hy-AM" sz="1100">
                          <a:effectLst/>
                        </a:rPr>
                        <a:t>-12-րդ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095409608"/>
                  </a:ext>
                </a:extLst>
              </a:tr>
              <a:tr h="802119">
                <a:tc gridSpan="7">
                  <a:txBody>
                    <a:bodyPr/>
                    <a:lstStyle/>
                    <a:p>
                      <a:pPr marL="0" marR="0" algn="just" rtl="0" eaLnBrk="1" latinLnBrk="0" hangingPunct="1">
                        <a:lnSpc>
                          <a:spcPct val="150000"/>
                        </a:lnSpc>
                        <a:spcBef>
                          <a:spcPts val="0"/>
                        </a:spcBef>
                        <a:spcAft>
                          <a:spcPts val="0"/>
                        </a:spcAft>
                      </a:pPr>
                      <a:r>
                        <a:rPr lang="hy-AM" sz="1100">
                          <a:effectLst/>
                        </a:rPr>
                        <a:t>Ուսումնական հասատության կողմից երեխայի խնամքի ու դաստիարակության, ընտանիքում ծնողական պարտականությունների նկատմամբ պատասխանատվության բարձրացման, ինչպես նաև բռնության, ֆիզիկական կամ հոգեբանական ճնշման բացառման, երեխային զարգացման համար անվտանգ միջավայրի ձևավորման հարցերի վերաբերյալ ծնողների իրազեկմանն ուղղված միջոցառումներ և մեխանիզմներ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3857930"/>
                  </a:ext>
                </a:extLst>
              </a:tr>
              <a:tr h="298890">
                <a:tc>
                  <a:txBody>
                    <a:bodyPr/>
                    <a:lstStyle/>
                    <a:p>
                      <a:pPr marL="0" marR="0" algn="just" rtl="0" eaLnBrk="1" latinLnBrk="0" hangingPunct="1">
                        <a:lnSpc>
                          <a:spcPct val="150000"/>
                        </a:lnSpc>
                        <a:spcBef>
                          <a:spcPts val="0"/>
                        </a:spcBef>
                        <a:spcAft>
                          <a:spcPts val="0"/>
                        </a:spcAft>
                      </a:pPr>
                      <a:r>
                        <a:rPr lang="hy-AM" sz="1100">
                          <a:effectLst/>
                        </a:rPr>
                        <a:t>Միջոցառում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Մասնակիցների թիվը </a:t>
                      </a:r>
                      <a:endParaRPr lang="hy-AM">
                        <a:effectLst/>
                      </a:endParaRPr>
                    </a:p>
                  </a:txBody>
                  <a:tcPr marL="0" marR="0" marT="0" marB="0" anchor="ctr"/>
                </a:tc>
                <a:tc gridSpan="4">
                  <a:txBody>
                    <a:bodyPr/>
                    <a:lstStyle/>
                    <a:p>
                      <a:pPr marL="0" marR="0" algn="just" rtl="0" eaLnBrk="1" latinLnBrk="0" hangingPunct="1">
                        <a:lnSpc>
                          <a:spcPct val="150000"/>
                        </a:lnSpc>
                        <a:spcBef>
                          <a:spcPts val="0"/>
                        </a:spcBef>
                        <a:spcAft>
                          <a:spcPts val="1000"/>
                        </a:spcAft>
                      </a:pPr>
                      <a:r>
                        <a:rPr lang="hy-AM" sz="1100">
                          <a:effectLst/>
                        </a:rPr>
                        <a:t>Առաջադրված մեխանիզմ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0191787"/>
                  </a:ext>
                </a:extLst>
              </a:tr>
              <a:tr h="1199839">
                <a:tc>
                  <a:txBody>
                    <a:bodyPr/>
                    <a:lstStyle/>
                    <a:p>
                      <a:pPr marL="347345" marR="0" indent="-347345" rtl="0" latinLnBrk="0">
                        <a:lnSpc>
                          <a:spcPct val="150000"/>
                        </a:lnSpc>
                        <a:spcBef>
                          <a:spcPts val="0"/>
                        </a:spcBef>
                        <a:spcAft>
                          <a:spcPts val="0"/>
                        </a:spcAft>
                      </a:pPr>
                      <a:r>
                        <a:rPr lang="hy-AM" sz="1100">
                          <a:effectLst/>
                        </a:rPr>
                        <a:t>  1. Ծնողական խորհրդի նիստեր՝&lt;&lt;Դպրոց-ընտանիք կապի ամրապնդում&gt;&gt; </a:t>
                      </a:r>
                      <a:endParaRPr lang="hy-AM">
                        <a:effectLst/>
                      </a:endParaRPr>
                    </a:p>
                    <a:p>
                      <a:pPr marL="228600" marR="0" rtl="0" eaLnBrk="1" latinLnBrk="0" hangingPunct="1">
                        <a:lnSpc>
                          <a:spcPct val="150000"/>
                        </a:lnSpc>
                        <a:spcBef>
                          <a:spcPts val="0"/>
                        </a:spcBef>
                        <a:spcAft>
                          <a:spcPts val="0"/>
                        </a:spcAft>
                      </a:pPr>
                      <a:r>
                        <a:rPr lang="hy-AM" sz="1100">
                          <a:effectLst/>
                        </a:rPr>
                        <a:t> 2.   Հանդիպում </a:t>
                      </a:r>
                      <a:r>
                        <a:rPr lang="hy-AM" sz="1100" err="1">
                          <a:effectLst/>
                        </a:rPr>
                        <a:t>հոգեբանի</a:t>
                      </a:r>
                      <a:r>
                        <a:rPr lang="hy-AM" sz="1100">
                          <a:effectLst/>
                        </a:rPr>
                        <a:t> հետ.&lt;&lt;</a:t>
                      </a:r>
                      <a:r>
                        <a:rPr lang="hy-AM" sz="1100" err="1">
                          <a:effectLst/>
                        </a:rPr>
                        <a:t>Դեռահասության</a:t>
                      </a:r>
                      <a:r>
                        <a:rPr lang="hy-AM" sz="1100">
                          <a:effectLst/>
                        </a:rPr>
                        <a:t>                              </a:t>
                      </a:r>
                      <a:endParaRPr lang="hy-AM">
                        <a:effectLst/>
                      </a:endParaRPr>
                    </a:p>
                    <a:p>
                      <a:pPr marL="228600" marR="0" rtl="0" eaLnBrk="1" latinLnBrk="0" hangingPunct="1">
                        <a:lnSpc>
                          <a:spcPct val="150000"/>
                        </a:lnSpc>
                        <a:spcBef>
                          <a:spcPts val="0"/>
                        </a:spcBef>
                        <a:spcAft>
                          <a:spcPts val="0"/>
                        </a:spcAft>
                      </a:pPr>
                      <a:r>
                        <a:rPr lang="hy-AM" sz="1100">
                          <a:effectLst/>
                        </a:rPr>
                        <a:t>        առանձնահատկությունները&gt;&gt; </a:t>
                      </a:r>
                      <a:endParaRPr lang="hy-AM">
                        <a:effectLst/>
                      </a:endParaRPr>
                    </a:p>
                  </a:txBody>
                  <a:tcPr marL="0" marR="0" marT="0" marB="0" anchor="ctr"/>
                </a:tc>
                <a:tc>
                  <a:txBody>
                    <a:bodyPr/>
                    <a:lstStyle/>
                    <a:p>
                      <a:pPr marL="0" marR="0" rtl="0" eaLnBrk="1"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a:txBody>
                    <a:bodyPr/>
                    <a:lstStyle/>
                    <a:p>
                      <a:pPr marL="0" marR="0" rtl="0" eaLnBrk="1" latinLnBrk="0" hangingPunct="1">
                        <a:lnSpc>
                          <a:spcPct val="150000"/>
                        </a:lnSpc>
                        <a:spcBef>
                          <a:spcPts val="0"/>
                        </a:spcBef>
                        <a:spcAft>
                          <a:spcPts val="0"/>
                        </a:spcAft>
                      </a:pPr>
                      <a:r>
                        <a:rPr lang="hy-AM" sz="1100">
                          <a:effectLst/>
                        </a:rPr>
                        <a:t>Ծնողներ, </a:t>
                      </a:r>
                      <a:r>
                        <a:rPr lang="hy-AM" sz="1100" err="1">
                          <a:effectLst/>
                        </a:rPr>
                        <a:t>ուսուցչներ</a:t>
                      </a:r>
                      <a:r>
                        <a:rPr lang="hy-AM" sz="1100">
                          <a:effectLst/>
                        </a:rPr>
                        <a:t>, աշակերտներ: </a:t>
                      </a:r>
                      <a:endParaRPr lang="hy-AM">
                        <a:effectLst/>
                      </a:endParaRPr>
                    </a:p>
                  </a:txBody>
                  <a:tcPr marL="0" marR="0" marT="0" marB="0" anchor="ctr"/>
                </a:tc>
                <a:tc gridSpan="4">
                  <a:txBody>
                    <a:bodyPr/>
                    <a:lstStyle/>
                    <a:p>
                      <a:pPr marL="0" marR="0" rtl="0" eaLnBrk="1" latinLnBrk="0" hangingPunct="1">
                        <a:lnSpc>
                          <a:spcPct val="150000"/>
                        </a:lnSpc>
                        <a:spcBef>
                          <a:spcPts val="0"/>
                        </a:spcBef>
                        <a:spcAft>
                          <a:spcPts val="1000"/>
                        </a:spcAft>
                      </a:pPr>
                      <a:r>
                        <a:rPr lang="hy-AM" sz="1100">
                          <a:effectLst/>
                        </a:rPr>
                        <a:t>Աջակցություն ծնողին ճիշտ ընկալելու երեխային՝ իբրև դեռահասի, ստեղծել միասնական ոճ դպրոց-ծնող կապի ամրակցումով դաստիարակության հարցերում: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53060476"/>
                  </a:ext>
                </a:extLst>
              </a:tr>
              <a:tr h="298831">
                <a:tc gridSpan="7">
                  <a:txBody>
                    <a:bodyPr/>
                    <a:lstStyle/>
                    <a:p>
                      <a:pPr marL="0" marR="0" algn="just" rtl="0" eaLnBrk="1" latinLnBrk="0" hangingPunct="1">
                        <a:lnSpc>
                          <a:spcPct val="150000"/>
                        </a:lnSpc>
                        <a:spcBef>
                          <a:spcPts val="0"/>
                        </a:spcBef>
                        <a:spcAft>
                          <a:spcPts val="0"/>
                        </a:spcAft>
                      </a:pPr>
                      <a:r>
                        <a:rPr lang="hy-AM" sz="1100">
                          <a:effectLst/>
                        </a:rPr>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4917485"/>
                  </a:ext>
                </a:extLst>
              </a:tr>
              <a:tr h="252695">
                <a:tc gridSpan="3">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100">
                          <a:effectLst/>
                        </a:rPr>
                        <a:t>Ամսաթիվ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100">
                          <a:effectLst/>
                        </a:rPr>
                        <a:t>Դասարանը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1365688068"/>
                  </a:ext>
                </a:extLst>
              </a:tr>
              <a:tr h="789008">
                <a:tc gridSpan="3">
                  <a:txBody>
                    <a:bodyPr/>
                    <a:lstStyle/>
                    <a:p>
                      <a:pPr marL="54610" marR="0" indent="-54610" algn="just" rtl="0" eaLnBrk="1" latinLnBrk="0" hangingPunct="1">
                        <a:lnSpc>
                          <a:spcPct val="150000"/>
                        </a:lnSpc>
                        <a:spcBef>
                          <a:spcPts val="0"/>
                        </a:spcBef>
                        <a:spcAft>
                          <a:spcPts val="0"/>
                        </a:spcAft>
                      </a:pPr>
                      <a:r>
                        <a:rPr lang="hy-AM" sz="1100">
                          <a:effectLst/>
                        </a:rPr>
                        <a:t>1. </a:t>
                      </a:r>
                      <a:r>
                        <a:rPr lang="en-US" sz="1100" err="1">
                          <a:effectLst/>
                        </a:rPr>
                        <a:t>Պաստառների</a:t>
                      </a:r>
                      <a:r>
                        <a:rPr lang="en-US" sz="1100">
                          <a:effectLst/>
                        </a:rPr>
                        <a:t>, </a:t>
                      </a:r>
                      <a:r>
                        <a:rPr lang="en-US" sz="1100" err="1">
                          <a:effectLst/>
                        </a:rPr>
                        <a:t>շնորհանդեսների</a:t>
                      </a:r>
                      <a:r>
                        <a:rPr lang="en-US" sz="1100">
                          <a:effectLst/>
                        </a:rPr>
                        <a:t> </a:t>
                      </a:r>
                      <a:r>
                        <a:rPr lang="en-US" sz="1100" err="1">
                          <a:effectLst/>
                        </a:rPr>
                        <a:t>պատրաստում</a:t>
                      </a:r>
                      <a:r>
                        <a:rPr lang="en-US" sz="1100">
                          <a:effectLst/>
                        </a:rPr>
                        <a:t>:</a:t>
                      </a:r>
                      <a:endParaRPr lang="hy-AM">
                        <a:effectLst/>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indent="0" algn="just" rtl="0" eaLnBrk="1" fontAlgn="auto"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100">
                          <a:effectLst/>
                        </a:rPr>
                        <a:t>10-1</a:t>
                      </a:r>
                      <a:r>
                        <a:rPr lang="en-US" sz="1100">
                          <a:effectLst/>
                        </a:rPr>
                        <a:t>2</a:t>
                      </a:r>
                      <a:r>
                        <a:rPr lang="hy-AM" sz="1100">
                          <a:effectLst/>
                        </a:rPr>
                        <a:t>-</a:t>
                      </a:r>
                      <a:r>
                        <a:rPr lang="hy-AM" sz="1100" err="1">
                          <a:effectLst/>
                        </a:rPr>
                        <a:t>րդ</a:t>
                      </a:r>
                      <a:r>
                        <a:rPr lang="hy-AM" sz="1100">
                          <a:effectLst/>
                        </a:rPr>
                        <a:t> դասարաններ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1000"/>
                        </a:spcAft>
                      </a:pPr>
                      <a:r>
                        <a:rPr lang="hy-AM" sz="1100" dirty="0">
                          <a:effectLst/>
                        </a:rPr>
                        <a:t>396աշակերտ </a:t>
                      </a:r>
                      <a:endParaRPr lang="hy-AM" dirty="0">
                        <a:effectLst/>
                      </a:endParaRPr>
                    </a:p>
                  </a:txBody>
                  <a:tcPr marL="0" marR="0" marT="0" marB="0" anchor="ctr"/>
                </a:tc>
                <a:extLst>
                  <a:ext uri="{0D108BD9-81ED-4DB2-BD59-A6C34878D82A}">
                    <a16:rowId xmlns:a16="http://schemas.microsoft.com/office/drawing/2014/main" val="481236127"/>
                  </a:ext>
                </a:extLst>
              </a:tr>
            </a:tbl>
          </a:graphicData>
        </a:graphic>
      </p:graphicFrame>
    </p:spTree>
    <p:extLst>
      <p:ext uri="{BB962C8B-B14F-4D97-AF65-F5344CB8AC3E}">
        <p14:creationId xmlns:p14="http://schemas.microsoft.com/office/powerpoint/2010/main" val="24383523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583" y="0"/>
            <a:ext cx="12234553" cy="276999"/>
          </a:xfrm>
          <a:prstGeom prst="rect">
            <a:avLst/>
          </a:prstGeom>
        </p:spPr>
        <p:txBody>
          <a:bodyPr rtlCol="0">
            <a:spAutoFit/>
          </a:bodyPr>
          <a:lstStyle/>
          <a:p>
            <a:pPr algn="just"/>
            <a:r>
              <a:rPr lang="hy-AM" sz="1200" b="1" i="1">
                <a:latin typeface="Sylfaen"/>
              </a:rPr>
              <a:t>Աղյուսակ 17. Տվյալներ ուսումնական հաստատության սովորողների ֆիզիկական, հոգեկան և սոցիալական    </a:t>
            </a:r>
            <a:r>
              <a:rPr lang="hy-AM" sz="1200" b="1" i="1" err="1">
                <a:latin typeface="Sylfaen"/>
              </a:rPr>
              <a:t>աողջությանն</a:t>
            </a:r>
            <a:r>
              <a:rPr lang="hy-AM" sz="1200" b="1" i="1">
                <a:latin typeface="Sylfaen"/>
              </a:rPr>
              <a:t> ուղղված աշխատանքների վերաբերյալ </a:t>
            </a:r>
            <a:endParaRPr lang="en-US" sz="1400" b="1" i="1">
              <a:latin typeface="Sylfaen"/>
            </a:endParaRPr>
          </a:p>
        </p:txBody>
      </p:sp>
      <p:graphicFrame>
        <p:nvGraphicFramePr>
          <p:cNvPr id="3" name="Table 2"/>
          <p:cNvGraphicFramePr/>
          <p:nvPr>
            <p:extLst>
              <p:ext uri="{D42A27DB-BD31-4B8C-83A1-F6EECF244321}">
                <p14:modId xmlns:p14="http://schemas.microsoft.com/office/powerpoint/2010/main" val="3563344116"/>
              </p:ext>
            </p:extLst>
          </p:nvPr>
        </p:nvGraphicFramePr>
        <p:xfrm>
          <a:off x="212075" y="346761"/>
          <a:ext cx="11036300" cy="5532120"/>
        </p:xfrm>
        <a:graphic>
          <a:graphicData uri="http://schemas.openxmlformats.org/drawingml/2006/table">
            <a:tbl>
              <a:tblPr>
                <a:tableStyleId>{5940675A-B579-460E-94D1-54222C63F5DA}</a:tableStyleId>
              </a:tblPr>
              <a:tblGrid>
                <a:gridCol w="4903964">
                  <a:extLst>
                    <a:ext uri="{9D8B030D-6E8A-4147-A177-3AD203B41FA5}">
                      <a16:colId xmlns:a16="http://schemas.microsoft.com/office/drawing/2014/main" val="1438483663"/>
                    </a:ext>
                  </a:extLst>
                </a:gridCol>
                <a:gridCol w="1612436">
                  <a:extLst>
                    <a:ext uri="{9D8B030D-6E8A-4147-A177-3AD203B41FA5}">
                      <a16:colId xmlns:a16="http://schemas.microsoft.com/office/drawing/2014/main" val="686500219"/>
                    </a:ext>
                  </a:extLst>
                </a:gridCol>
                <a:gridCol w="1612436">
                  <a:extLst>
                    <a:ext uri="{9D8B030D-6E8A-4147-A177-3AD203B41FA5}">
                      <a16:colId xmlns:a16="http://schemas.microsoft.com/office/drawing/2014/main" val="991288330"/>
                    </a:ext>
                  </a:extLst>
                </a:gridCol>
                <a:gridCol w="2907464">
                  <a:extLst>
                    <a:ext uri="{9D8B030D-6E8A-4147-A177-3AD203B41FA5}">
                      <a16:colId xmlns:a16="http://schemas.microsoft.com/office/drawing/2014/main" val="3249197570"/>
                    </a:ext>
                  </a:extLst>
                </a:gridCol>
              </a:tblGrid>
              <a:tr h="51816">
                <a:tc gridSpan="4">
                  <a:txBody>
                    <a:bodyPr/>
                    <a:lstStyle/>
                    <a:p>
                      <a:pPr marL="0" marR="0" algn="just" rtl="0" eaLnBrk="1" latinLnBrk="0" hangingPunct="1">
                        <a:lnSpc>
                          <a:spcPct val="150000"/>
                        </a:lnSpc>
                        <a:spcBef>
                          <a:spcPts val="0"/>
                        </a:spcBef>
                        <a:spcAft>
                          <a:spcPts val="0"/>
                        </a:spcAft>
                      </a:pPr>
                      <a:r>
                        <a:rPr lang="hy-AM" sz="1100">
                          <a:effectLst/>
                        </a:rPr>
                        <a:t>Հաստատությունում կազմակերպված ՄԻԱՎ/ՁԻԱՀ-ի կանխարգելմանն ուղղված միջոցառումները` ՄԻԱՎ/ՁԻԱՀ-ի փոխանցման ուղիների և կանխարգելման մասին սովորողների գիտելիքների մակարդակը բարձրացնելու նպատակով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65659045"/>
                  </a:ext>
                </a:extLst>
              </a:tr>
              <a:tr h="101219">
                <a:tc>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Դասարանը(</a:t>
                      </a:r>
                      <a:r>
                        <a:rPr lang="hy-AM" sz="1100" err="1">
                          <a:effectLst/>
                        </a:rPr>
                        <a:t>ները</a:t>
                      </a:r>
                      <a:r>
                        <a:rPr lang="hy-AM" sz="1100">
                          <a:effectLst/>
                        </a:rPr>
                        <a:t>)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2960314283"/>
                  </a:ext>
                </a:extLst>
              </a:tr>
              <a:tr h="135001">
                <a:tc>
                  <a:txBody>
                    <a:bodyPr/>
                    <a:lstStyle/>
                    <a:p>
                      <a:pPr marL="0" marR="0" indent="0" rtl="0" latinLnBrk="0">
                        <a:lnSpc>
                          <a:spcPct val="150000"/>
                        </a:lnSpc>
                        <a:spcBef>
                          <a:spcPts val="0"/>
                        </a:spcBef>
                        <a:spcAft>
                          <a:spcPts val="0"/>
                        </a:spcAft>
                      </a:pPr>
                      <a:r>
                        <a:rPr lang="hy-AM" sz="1100" err="1">
                          <a:effectLst/>
                        </a:rPr>
                        <a:t>Դասղեկի</a:t>
                      </a:r>
                      <a:r>
                        <a:rPr lang="hy-AM" sz="1100">
                          <a:effectLst/>
                        </a:rPr>
                        <a:t> ժամեր՝ ՁԻԱՀԻ դեմ պայքարի միջազգային օրվան նվիրված </a:t>
                      </a:r>
                      <a:endParaRPr lang="hy-AM">
                        <a:effectLst/>
                      </a:endParaRPr>
                    </a:p>
                    <a:p>
                      <a:pPr marL="0" marR="0" rtl="0" latinLnBrk="0">
                        <a:lnSpc>
                          <a:spcPct val="150000"/>
                        </a:lnSpc>
                        <a:spcBef>
                          <a:spcPts val="0"/>
                        </a:spcBef>
                        <a:spcAft>
                          <a:spcPts val="0"/>
                        </a:spcAft>
                      </a:pPr>
                      <a:r>
                        <a:rPr lang="hy-AM" sz="1100">
                          <a:effectLst/>
                        </a:rPr>
                        <a:t>Թեմաներ՝ 1.Ինչ է ՄԻԱՎ, ՁԻԱՀԸ, 2.ՄԻԱՎԻ փոխանցման ուղիները, </a:t>
                      </a:r>
                      <a:endParaRPr lang="hy-AM">
                        <a:effectLst/>
                      </a:endParaRPr>
                    </a:p>
                    <a:p>
                      <a:pPr marL="0" marR="0" rtl="0" latinLnBrk="0">
                        <a:lnSpc>
                          <a:spcPct val="150000"/>
                        </a:lnSpc>
                        <a:spcBef>
                          <a:spcPts val="0"/>
                        </a:spcBef>
                        <a:spcAft>
                          <a:spcPts val="0"/>
                        </a:spcAft>
                      </a:pPr>
                      <a:r>
                        <a:rPr lang="hy-AM" sz="1100">
                          <a:effectLst/>
                        </a:rPr>
                        <a:t>3.ՄԻԱՎ-ՁԻԱՀԸ և մարդու իրավունքները: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100" dirty="0" smtClean="0">
                          <a:effectLst/>
                        </a:rPr>
                        <a:t>03.12.2024</a:t>
                      </a:r>
                      <a:r>
                        <a:rPr lang="en-US" sz="1100" baseline="0" dirty="0" smtClean="0">
                          <a:effectLst/>
                        </a:rPr>
                        <a:t> </a:t>
                      </a:r>
                      <a:r>
                        <a:rPr lang="en-US" sz="1100" baseline="0" dirty="0">
                          <a:effectLst/>
                        </a:rPr>
                        <a:t>թ.</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10-1</a:t>
                      </a:r>
                      <a:r>
                        <a:rPr lang="en-US" sz="1100">
                          <a:effectLst/>
                        </a:rPr>
                        <a:t>2</a:t>
                      </a:r>
                      <a:r>
                        <a:rPr lang="hy-AM" sz="1100">
                          <a:effectLst/>
                        </a:rPr>
                        <a:t>-րդ դասարաններ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dirty="0">
                          <a:effectLst/>
                        </a:rPr>
                        <a:t> </a:t>
                      </a:r>
                      <a:r>
                        <a:rPr lang="en-US" sz="1100" dirty="0" smtClean="0">
                          <a:effectLst/>
                        </a:rPr>
                        <a:t>170 </a:t>
                      </a:r>
                      <a:r>
                        <a:rPr lang="hy-AM" sz="1100" dirty="0">
                          <a:effectLst/>
                        </a:rPr>
                        <a:t>աշակերտ </a:t>
                      </a:r>
                      <a:endParaRPr lang="hy-AM" dirty="0">
                        <a:effectLst/>
                      </a:endParaRPr>
                    </a:p>
                  </a:txBody>
                  <a:tcPr marL="0" marR="0" marT="0" marB="0" anchor="ctr"/>
                </a:tc>
                <a:extLst>
                  <a:ext uri="{0D108BD9-81ED-4DB2-BD59-A6C34878D82A}">
                    <a16:rowId xmlns:a16="http://schemas.microsoft.com/office/drawing/2014/main" val="1795370506"/>
                  </a:ext>
                </a:extLst>
              </a:tr>
              <a:tr h="328549">
                <a:tc>
                  <a:txBody>
                    <a:bodyPr/>
                    <a:lstStyle/>
                    <a:p>
                      <a:pPr marL="347345" marR="0" indent="-347345" rtl="0" latinLnBrk="0">
                        <a:lnSpc>
                          <a:spcPct val="150000"/>
                        </a:lnSpc>
                        <a:spcBef>
                          <a:spcPts val="0"/>
                        </a:spcBef>
                        <a:spcAft>
                          <a:spcPts val="0"/>
                        </a:spcAft>
                      </a:pPr>
                      <a:r>
                        <a:rPr lang="hy-AM" sz="1100">
                          <a:effectLst/>
                        </a:rPr>
                        <a:t>1. &lt;&lt;Առողջ ապրելակերպ&gt;&gt;-ի  դասընթացներ՝ </a:t>
                      </a:r>
                      <a:endParaRPr lang="hy-AM">
                        <a:effectLst/>
                      </a:endParaRPr>
                    </a:p>
                    <a:p>
                      <a:pPr marL="54610" marR="0" indent="-54610" rtl="0" latinLnBrk="0">
                        <a:lnSpc>
                          <a:spcPct val="150000"/>
                        </a:lnSpc>
                        <a:spcBef>
                          <a:spcPts val="0"/>
                        </a:spcBef>
                        <a:spcAft>
                          <a:spcPts val="0"/>
                        </a:spcAft>
                      </a:pPr>
                      <a:r>
                        <a:rPr lang="hy-AM" sz="1100">
                          <a:effectLst/>
                        </a:rPr>
                        <a:t>           Թեմա՝ </a:t>
                      </a:r>
                      <a:r>
                        <a:rPr lang="hy-AM" sz="1100" err="1">
                          <a:effectLst/>
                        </a:rPr>
                        <a:t>Սեռավարակներ</a:t>
                      </a:r>
                      <a:r>
                        <a:rPr lang="hy-AM" sz="1100">
                          <a:effectLst/>
                        </a:rPr>
                        <a:t>, հիվանդություններ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100" dirty="0" smtClean="0">
                          <a:effectLst/>
                        </a:rPr>
                        <a:t>15.02.25 </a:t>
                      </a:r>
                      <a:r>
                        <a:rPr lang="en-US" sz="1100" dirty="0">
                          <a:effectLst/>
                        </a:rPr>
                        <a:t>թ.</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10</a:t>
                      </a:r>
                      <a:r>
                        <a:rPr lang="en-US" sz="1100">
                          <a:effectLst/>
                        </a:rPr>
                        <a:t>-11-րդ</a:t>
                      </a:r>
                      <a:r>
                        <a:rPr lang="en-US" sz="1100" baseline="0">
                          <a:effectLst/>
                        </a:rPr>
                        <a:t> </a:t>
                      </a:r>
                      <a:r>
                        <a:rPr lang="en-US" sz="1100" baseline="0" err="1">
                          <a:effectLst/>
                        </a:rPr>
                        <a:t>դասարաններ</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dirty="0">
                          <a:effectLst/>
                        </a:rPr>
                        <a:t> </a:t>
                      </a:r>
                      <a:r>
                        <a:rPr lang="hy-AM" sz="1100" dirty="0" smtClean="0">
                          <a:effectLst/>
                        </a:rPr>
                        <a:t>3</a:t>
                      </a:r>
                      <a:r>
                        <a:rPr lang="en-US" sz="1100" dirty="0" smtClean="0">
                          <a:effectLst/>
                        </a:rPr>
                        <a:t>20</a:t>
                      </a:r>
                      <a:r>
                        <a:rPr lang="hy-AM" sz="1100" dirty="0" smtClean="0">
                          <a:effectLst/>
                        </a:rPr>
                        <a:t> </a:t>
                      </a:r>
                      <a:r>
                        <a:rPr lang="hy-AM" sz="1100" dirty="0">
                          <a:effectLst/>
                        </a:rPr>
                        <a:t>աշակերտ </a:t>
                      </a:r>
                      <a:endParaRPr lang="hy-AM" dirty="0">
                        <a:effectLst/>
                      </a:endParaRPr>
                    </a:p>
                  </a:txBody>
                  <a:tcPr marL="0" marR="0" marT="0" marB="0" anchor="ctr"/>
                </a:tc>
                <a:extLst>
                  <a:ext uri="{0D108BD9-81ED-4DB2-BD59-A6C34878D82A}">
                    <a16:rowId xmlns:a16="http://schemas.microsoft.com/office/drawing/2014/main" val="431070145"/>
                  </a:ext>
                </a:extLst>
              </a:tr>
              <a:tr h="50546">
                <a:tc gridSpan="4">
                  <a:txBody>
                    <a:bodyPr/>
                    <a:lstStyle/>
                    <a:p>
                      <a:pPr marL="0" marR="0" algn="just" rtl="0" eaLnBrk="1" latinLnBrk="0" hangingPunct="1">
                        <a:lnSpc>
                          <a:spcPct val="150000"/>
                        </a:lnSpc>
                        <a:spcBef>
                          <a:spcPts val="0"/>
                        </a:spcBef>
                        <a:spcAft>
                          <a:spcPts val="0"/>
                        </a:spcAft>
                      </a:pPr>
                      <a:r>
                        <a:rPr lang="hy-AM" sz="1100">
                          <a:effectLst/>
                        </a:rPr>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1183421"/>
                  </a:ext>
                </a:extLst>
              </a:tr>
              <a:tr h="101219">
                <a:tc>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Դասարանը(</a:t>
                      </a:r>
                      <a:r>
                        <a:rPr lang="hy-AM" sz="1100" err="1">
                          <a:effectLst/>
                        </a:rPr>
                        <a:t>ները</a:t>
                      </a:r>
                      <a:r>
                        <a:rPr lang="hy-AM" sz="1100">
                          <a:effectLst/>
                        </a:rPr>
                        <a: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3648669967"/>
                  </a:ext>
                </a:extLst>
              </a:tr>
              <a:tr h="135001">
                <a:tc>
                  <a:txBody>
                    <a:bodyPr/>
                    <a:lstStyle/>
                    <a:p>
                      <a:pPr marL="54610" marR="0" indent="-54610" algn="just" rtl="0" eaLnBrk="1" latinLnBrk="0" hangingPunct="1">
                        <a:lnSpc>
                          <a:spcPct val="150000"/>
                        </a:lnSpc>
                        <a:spcBef>
                          <a:spcPts val="0"/>
                        </a:spcBef>
                        <a:spcAft>
                          <a:spcPts val="0"/>
                        </a:spcAft>
                      </a:pPr>
                      <a:r>
                        <a:rPr lang="hy-AM" sz="1100">
                          <a:effectLst/>
                        </a:rPr>
                        <a:t>1. </a:t>
                      </a:r>
                      <a:r>
                        <a:rPr lang="hy-AM" sz="1100" err="1">
                          <a:effectLst/>
                        </a:rPr>
                        <a:t>Դասղեկի</a:t>
                      </a:r>
                      <a:r>
                        <a:rPr lang="hy-AM" sz="1100">
                          <a:effectLst/>
                        </a:rPr>
                        <a:t> ժամեր: </a:t>
                      </a:r>
                      <a:endParaRPr lang="hy-AM">
                        <a:effectLst/>
                      </a:endParaRPr>
                    </a:p>
                    <a:p>
                      <a:pPr marL="54610" marR="0" indent="-54610" algn="just" rtl="0" eaLnBrk="1" latinLnBrk="0" hangingPunct="1">
                        <a:lnSpc>
                          <a:spcPct val="150000"/>
                        </a:lnSpc>
                        <a:spcBef>
                          <a:spcPts val="0"/>
                        </a:spcBef>
                        <a:spcAft>
                          <a:spcPts val="0"/>
                        </a:spcAft>
                      </a:pPr>
                      <a:r>
                        <a:rPr lang="hy-AM" sz="1100">
                          <a:effectLst/>
                        </a:rPr>
                        <a:t>Թեմաներ՝ </a:t>
                      </a:r>
                      <a:endParaRPr lang="hy-AM">
                        <a:effectLst/>
                      </a:endParaRPr>
                    </a:p>
                    <a:p>
                      <a:pPr marL="54610" marR="0" indent="-54610" algn="just" rtl="0" eaLnBrk="1" latinLnBrk="0" hangingPunct="1">
                        <a:lnSpc>
                          <a:spcPct val="150000"/>
                        </a:lnSpc>
                        <a:spcBef>
                          <a:spcPts val="0"/>
                        </a:spcBef>
                        <a:spcAft>
                          <a:spcPts val="0"/>
                        </a:spcAft>
                      </a:pPr>
                      <a:r>
                        <a:rPr lang="hy-AM" sz="1100">
                          <a:effectLst/>
                        </a:rPr>
                        <a:t>&lt;&lt;Անչափահասների տարիքային առանձնահատկությունները&gt;&gt; Սերգեյ Արզումանյան և </a:t>
                      </a:r>
                      <a:r>
                        <a:rPr lang="hy-AM" sz="1100" err="1">
                          <a:effectLst/>
                        </a:rPr>
                        <a:t>Էլդա</a:t>
                      </a:r>
                      <a:r>
                        <a:rPr lang="hy-AM" sz="1100">
                          <a:effectLst/>
                        </a:rPr>
                        <a:t> Գրին &lt;&lt;Իրավաբանական հոգեբանություն&gt;&gt; դասագիրք: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10-11-րդ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dirty="0">
                          <a:effectLst/>
                        </a:rPr>
                        <a:t> </a:t>
                      </a:r>
                      <a:r>
                        <a:rPr lang="hy-AM" sz="1100" dirty="0" smtClean="0">
                          <a:effectLst/>
                        </a:rPr>
                        <a:t>3</a:t>
                      </a:r>
                      <a:r>
                        <a:rPr lang="en-US" sz="1100" dirty="0" smtClean="0">
                          <a:effectLst/>
                        </a:rPr>
                        <a:t>20</a:t>
                      </a:r>
                      <a:r>
                        <a:rPr lang="hy-AM" sz="1100" dirty="0">
                          <a:effectLst/>
                        </a:rPr>
                        <a:t> Աշակերտներ </a:t>
                      </a:r>
                      <a:endParaRPr lang="hy-AM" dirty="0">
                        <a:effectLst/>
                      </a:endParaRPr>
                    </a:p>
                  </a:txBody>
                  <a:tcPr marL="0" marR="0" marT="0" marB="0" anchor="ctr"/>
                </a:tc>
                <a:extLst>
                  <a:ext uri="{0D108BD9-81ED-4DB2-BD59-A6C34878D82A}">
                    <a16:rowId xmlns:a16="http://schemas.microsoft.com/office/drawing/2014/main" val="1432850568"/>
                  </a:ext>
                </a:extLst>
              </a:tr>
              <a:tr h="118110">
                <a:tc>
                  <a:txBody>
                    <a:bodyPr/>
                    <a:lstStyle/>
                    <a:p>
                      <a:pPr marL="54610" marR="0" indent="-54610" rtl="0" latinLnBrk="0">
                        <a:lnSpc>
                          <a:spcPct val="150000"/>
                        </a:lnSpc>
                        <a:spcBef>
                          <a:spcPts val="0"/>
                        </a:spcBef>
                        <a:spcAft>
                          <a:spcPts val="0"/>
                        </a:spcAft>
                      </a:pPr>
                      <a:r>
                        <a:rPr lang="hy-AM" sz="1100">
                          <a:effectLst/>
                        </a:rPr>
                        <a:t>2.Քննարկումներ &lt;&lt;Երեխաների իրավունքների մասին կոնվենցիայի&gt;&gt; 37-րդ և 40-րդ հոդվածները: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պարբերաբար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12-րդ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Ուսուցիչներ և աշակերտներ: </a:t>
                      </a:r>
                      <a:endParaRPr lang="hy-AM">
                        <a:effectLst/>
                      </a:endParaRPr>
                    </a:p>
                  </a:txBody>
                  <a:tcPr marL="0" marR="0" marT="0" marB="0" anchor="ctr"/>
                </a:tc>
                <a:extLst>
                  <a:ext uri="{0D108BD9-81ED-4DB2-BD59-A6C34878D82A}">
                    <a16:rowId xmlns:a16="http://schemas.microsoft.com/office/drawing/2014/main" val="2230731563"/>
                  </a:ext>
                </a:extLst>
              </a:tr>
              <a:tr h="135001">
                <a:tc>
                  <a:txBody>
                    <a:bodyPr/>
                    <a:lstStyle/>
                    <a:p>
                      <a:pPr marL="0" marR="0" rtl="0" latinLnBrk="0">
                        <a:lnSpc>
                          <a:spcPct val="150000"/>
                        </a:lnSpc>
                        <a:spcBef>
                          <a:spcPts val="0"/>
                        </a:spcBef>
                        <a:spcAft>
                          <a:spcPts val="0"/>
                        </a:spcAft>
                      </a:pPr>
                      <a:r>
                        <a:rPr lang="hy-AM" sz="1100">
                          <a:effectLst/>
                        </a:rPr>
                        <a:t>2.&lt;&lt;</a:t>
                      </a:r>
                      <a:r>
                        <a:rPr lang="hy-AM" sz="1100" err="1">
                          <a:effectLst/>
                        </a:rPr>
                        <a:t>Անչափահասության</a:t>
                      </a:r>
                      <a:r>
                        <a:rPr lang="hy-AM" sz="1100">
                          <a:effectLst/>
                        </a:rPr>
                        <a:t> տարիքի ճգնաժամերը&gt;&gt;, </a:t>
                      </a:r>
                      <a:endParaRPr lang="hy-AM">
                        <a:effectLst/>
                      </a:endParaRPr>
                    </a:p>
                    <a:p>
                      <a:pPr marL="0" marR="0" rtl="0" latinLnBrk="0">
                        <a:lnSpc>
                          <a:spcPct val="150000"/>
                        </a:lnSpc>
                        <a:spcBef>
                          <a:spcPts val="0"/>
                        </a:spcBef>
                        <a:spcAft>
                          <a:spcPts val="0"/>
                        </a:spcAft>
                      </a:pPr>
                      <a:r>
                        <a:rPr lang="hy-AM" sz="1100">
                          <a:effectLst/>
                        </a:rPr>
                        <a:t>Պետրոսյան &lt;&lt;Ընդհանուր հոգեբանություն&gt;&gt;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պարբերաբար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10-12-րդ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dirty="0">
                          <a:effectLst/>
                        </a:rPr>
                        <a:t>Բոլոր աշակերտները </a:t>
                      </a:r>
                      <a:endParaRPr lang="hy-AM" dirty="0">
                        <a:effectLst/>
                      </a:endParaRPr>
                    </a:p>
                  </a:txBody>
                  <a:tcPr marL="0" marR="0" marT="0" marB="0" anchor="ctr"/>
                </a:tc>
                <a:extLst>
                  <a:ext uri="{0D108BD9-81ED-4DB2-BD59-A6C34878D82A}">
                    <a16:rowId xmlns:a16="http://schemas.microsoft.com/office/drawing/2014/main" val="3984566813"/>
                  </a:ext>
                </a:extLst>
              </a:tr>
            </a:tbl>
          </a:graphicData>
        </a:graphic>
      </p:graphicFrame>
      <p:sp>
        <p:nvSpPr>
          <p:cNvPr id="4" name="TextBox 3"/>
          <p:cNvSpPr txBox="1"/>
          <p:nvPr/>
        </p:nvSpPr>
        <p:spPr>
          <a:xfrm>
            <a:off x="274638" y="5846763"/>
            <a:ext cx="9505760" cy="646331"/>
          </a:xfrm>
          <a:prstGeom prst="rect">
            <a:avLst/>
          </a:prstGeom>
        </p:spPr>
        <p:txBody>
          <a:bodyPr rtlCol="0">
            <a:spAutoFit/>
          </a:bodyPr>
          <a:lstStyle/>
          <a:p>
            <a:pPr algn="ctr"/>
            <a:r>
              <a:rPr lang="en-US"/>
              <a:t>Վերոնշյալ միջոցառումները նպատակաուղղված են, արդյունավետ՝ միտված դեռահասների տեղեկացվածությանն ու արժեհամակարգի ձևավորմանը:</a:t>
            </a:r>
            <a:endParaRPr lang="en-US">
              <a:solidFill>
                <a:srgbClr val="000000"/>
              </a:solidFill>
              <a:latin typeface="Trebuchet MS"/>
            </a:endParaRPr>
          </a:p>
        </p:txBody>
      </p:sp>
    </p:spTree>
    <p:extLst>
      <p:ext uri="{BB962C8B-B14F-4D97-AF65-F5344CB8AC3E}">
        <p14:creationId xmlns:p14="http://schemas.microsoft.com/office/powerpoint/2010/main" val="1871481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5690" t="60000" r="36027"/>
          <a:stretch/>
        </p:blipFill>
        <p:spPr>
          <a:xfrm>
            <a:off x="4093731" y="1921151"/>
            <a:ext cx="1910015" cy="705102"/>
          </a:xfrm>
          <a:prstGeom prst="rect">
            <a:avLst/>
          </a:prstGeom>
          <a:ln>
            <a:noFill/>
          </a:ln>
          <a:effectLst>
            <a:softEdge rad="112500"/>
          </a:effectLst>
        </p:spPr>
      </p:pic>
      <p:sp>
        <p:nvSpPr>
          <p:cNvPr id="3" name="TextBox 2"/>
          <p:cNvSpPr txBox="1"/>
          <p:nvPr/>
        </p:nvSpPr>
        <p:spPr>
          <a:xfrm>
            <a:off x="2338814" y="3110126"/>
            <a:ext cx="7324355" cy="830997"/>
          </a:xfrm>
          <a:prstGeom prst="rect">
            <a:avLst/>
          </a:prstGeom>
        </p:spPr>
        <p:txBody>
          <a:bodyPr rtlCol="0">
            <a:spAutoFit/>
          </a:bodyPr>
          <a:lstStyle/>
          <a:p>
            <a:pPr algn="ctr"/>
            <a:r>
              <a:rPr lang="en-US" sz="2400" b="1"/>
              <a:t>Ուսումնական հաստատության գործունեության արդյունավետություն</a:t>
            </a:r>
            <a:endParaRPr lang="en-US" sz="2400" b="1">
              <a:solidFill>
                <a:srgbClr val="000000"/>
              </a:solidFill>
              <a:latin typeface="Trebuchet MS"/>
            </a:endParaRPr>
          </a:p>
        </p:txBody>
      </p:sp>
    </p:spTree>
    <p:extLst>
      <p:ext uri="{BB962C8B-B14F-4D97-AF65-F5344CB8AC3E}">
        <p14:creationId xmlns:p14="http://schemas.microsoft.com/office/powerpoint/2010/main" val="2854537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extLst>
              <p:ext uri="{D42A27DB-BD31-4B8C-83A1-F6EECF244321}">
                <p14:modId xmlns:p14="http://schemas.microsoft.com/office/powerpoint/2010/main" val="2948376776"/>
              </p:ext>
            </p:extLst>
          </p:nvPr>
        </p:nvGraphicFramePr>
        <p:xfrm>
          <a:off x="568713" y="1874648"/>
          <a:ext cx="7296903" cy="4209099"/>
        </p:xfrm>
        <a:graphic>
          <a:graphicData uri="http://schemas.openxmlformats.org/drawingml/2006/table">
            <a:tbl>
              <a:tblPr>
                <a:tableStyleId>{5940675A-B579-460E-94D1-54222C63F5DA}</a:tableStyleId>
              </a:tblPr>
              <a:tblGrid>
                <a:gridCol w="1878213">
                  <a:extLst>
                    <a:ext uri="{9D8B030D-6E8A-4147-A177-3AD203B41FA5}">
                      <a16:colId xmlns:a16="http://schemas.microsoft.com/office/drawing/2014/main" val="3493213844"/>
                    </a:ext>
                  </a:extLst>
                </a:gridCol>
                <a:gridCol w="1467239">
                  <a:extLst>
                    <a:ext uri="{9D8B030D-6E8A-4147-A177-3AD203B41FA5}">
                      <a16:colId xmlns:a16="http://schemas.microsoft.com/office/drawing/2014/main" val="90052206"/>
                    </a:ext>
                  </a:extLst>
                </a:gridCol>
                <a:gridCol w="1732033">
                  <a:extLst>
                    <a:ext uri="{9D8B030D-6E8A-4147-A177-3AD203B41FA5}">
                      <a16:colId xmlns:a16="http://schemas.microsoft.com/office/drawing/2014/main" val="1607906401"/>
                    </a:ext>
                  </a:extLst>
                </a:gridCol>
                <a:gridCol w="2219418">
                  <a:extLst>
                    <a:ext uri="{9D8B030D-6E8A-4147-A177-3AD203B41FA5}">
                      <a16:colId xmlns:a16="http://schemas.microsoft.com/office/drawing/2014/main" val="580478252"/>
                    </a:ext>
                  </a:extLst>
                </a:gridCol>
              </a:tblGrid>
              <a:tr h="2124900">
                <a:tc rowSpan="2">
                  <a:txBody>
                    <a:bodyPr/>
                    <a:lstStyle/>
                    <a:p>
                      <a:pPr marL="0" marR="0" algn="just" rtl="0" eaLnBrk="1" latinLnBrk="0" hangingPunct="1">
                        <a:lnSpc>
                          <a:spcPct val="150000"/>
                        </a:lnSpc>
                        <a:spcBef>
                          <a:spcPts val="0"/>
                        </a:spcBef>
                        <a:spcAft>
                          <a:spcPts val="0"/>
                        </a:spcAft>
                      </a:pPr>
                      <a:r>
                        <a:rPr lang="hy-AM" sz="1400" dirty="0">
                          <a:effectLst/>
                        </a:rPr>
                        <a:t>Հիմնական առարկաներ </a:t>
                      </a:r>
                      <a:endParaRPr lang="hy-AM" dirty="0">
                        <a:effectLst/>
                      </a:endParaRP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Սովորողների թիվը </a:t>
                      </a:r>
                    </a:p>
                    <a:p>
                      <a:pPr marL="0" marR="0" algn="ctr" rtl="0" eaLnBrk="1" latinLnBrk="0" hangingPunct="1">
                        <a:lnSpc>
                          <a:spcPct val="150000"/>
                        </a:lnSpc>
                        <a:spcBef>
                          <a:spcPts val="0"/>
                        </a:spcBef>
                        <a:spcAft>
                          <a:spcPts val="0"/>
                        </a:spcAft>
                      </a:pP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Հիմնական առարկաներից տարեկան գնահատականների միջինը</a:t>
                      </a: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12-րդ դասարաններում  պետական ավարտական քննությունների միավորների միջինը</a:t>
                      </a:r>
                      <a:r>
                        <a:rPr lang="hy-AM" sz="1800" dirty="0">
                          <a:effectLst/>
                        </a:rPr>
                        <a:t> </a:t>
                      </a:r>
                      <a:endParaRPr lang="hy-AM" dirty="0">
                        <a:effectLst/>
                      </a:endParaRPr>
                    </a:p>
                  </a:txBody>
                  <a:tcPr marL="0" marR="0" marT="0" marB="0" anchor="ctr"/>
                </a:tc>
                <a:extLst>
                  <a:ext uri="{0D108BD9-81ED-4DB2-BD59-A6C34878D82A}">
                    <a16:rowId xmlns:a16="http://schemas.microsoft.com/office/drawing/2014/main" val="2749104081"/>
                  </a:ext>
                </a:extLst>
              </a:tr>
              <a:tr h="858545">
                <a:tc vMerge="1">
                  <a:txBody>
                    <a:bodyPr/>
                    <a:lstStyle/>
                    <a:p>
                      <a:endParaRPr lang="en-US"/>
                    </a:p>
                  </a:txBody>
                  <a:tcP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eaLnBrk="1" latinLnBrk="0" hangingPunct="1">
                        <a:lnSpc>
                          <a:spcPct val="150000"/>
                        </a:lnSpc>
                        <a:spcBef>
                          <a:spcPts val="0"/>
                        </a:spcBef>
                        <a:spcAft>
                          <a:spcPts val="0"/>
                        </a:spcAft>
                      </a:pPr>
                      <a:r>
                        <a:rPr lang="hy-AM" sz="1400">
                          <a:effectLst/>
                        </a:rPr>
                        <a:t>դաս. </a:t>
                      </a:r>
                      <a:endParaRPr lang="hy-AM">
                        <a:effectLst/>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latinLnBrk="0">
                        <a:lnSpc>
                          <a:spcPct val="150000"/>
                        </a:lnSpc>
                        <a:spcBef>
                          <a:spcPts val="0"/>
                        </a:spcBef>
                        <a:spcAft>
                          <a:spcPts val="0"/>
                        </a:spcAft>
                      </a:pPr>
                      <a:r>
                        <a:rPr lang="hy-AM" sz="1400">
                          <a:effectLst/>
                        </a:rPr>
                        <a:t>դաս.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12-րդ. </a:t>
                      </a:r>
                      <a:endParaRPr lang="hy-AM" dirty="0">
                        <a:effectLst/>
                      </a:endParaRPr>
                    </a:p>
                    <a:p>
                      <a:pPr marL="0" marR="0" algn="ctr" rtl="0" latinLnBrk="0">
                        <a:lnSpc>
                          <a:spcPct val="150000"/>
                        </a:lnSpc>
                        <a:spcBef>
                          <a:spcPts val="0"/>
                        </a:spcBef>
                        <a:spcAft>
                          <a:spcPts val="0"/>
                        </a:spcAft>
                      </a:pPr>
                      <a:r>
                        <a:rPr lang="hy-AM" sz="1400" dirty="0">
                          <a:effectLst/>
                        </a:rPr>
                        <a:t>դաս. </a:t>
                      </a:r>
                      <a:endParaRPr lang="hy-AM" dirty="0">
                        <a:effectLst/>
                      </a:endParaRPr>
                    </a:p>
                  </a:txBody>
                  <a:tcPr marL="0" marR="0" marT="0" marB="0" anchor="ctr"/>
                </a:tc>
                <a:extLst>
                  <a:ext uri="{0D108BD9-81ED-4DB2-BD59-A6C34878D82A}">
                    <a16:rowId xmlns:a16="http://schemas.microsoft.com/office/drawing/2014/main" val="170862417"/>
                  </a:ext>
                </a:extLst>
              </a:tr>
              <a:tr h="431500">
                <a:tc>
                  <a:txBody>
                    <a:bodyPr/>
                    <a:lstStyle/>
                    <a:p>
                      <a:pPr marL="0" marR="0" algn="just" rtl="0" eaLnBrk="1" latinLnBrk="0" hangingPunct="1">
                        <a:lnSpc>
                          <a:spcPct val="150000"/>
                        </a:lnSpc>
                        <a:spcBef>
                          <a:spcPts val="0"/>
                        </a:spcBef>
                        <a:spcAft>
                          <a:spcPts val="0"/>
                        </a:spcAft>
                      </a:pPr>
                      <a:r>
                        <a:rPr lang="hy-AM" sz="1400" dirty="0">
                          <a:effectLst/>
                        </a:rPr>
                        <a:t>Հայոց լեզու </a:t>
                      </a:r>
                      <a:r>
                        <a:rPr lang="en-US" sz="1400" dirty="0" smtClean="0">
                          <a:effectLst/>
                        </a:rPr>
                        <a:t>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smtClean="0">
                          <a:effectLst/>
                        </a:rPr>
                        <a:t>186</a:t>
                      </a:r>
                      <a:endParaRPr lang="en-US" sz="1200" dirty="0">
                        <a:effectLst/>
                      </a:endParaRPr>
                    </a:p>
                  </a:txBody>
                  <a:tcPr marL="0" marR="0" marT="0" marB="0" anchor="ctr"/>
                </a:tc>
                <a:tc>
                  <a:txBody>
                    <a:bodyPr/>
                    <a:lstStyle/>
                    <a:p>
                      <a:pPr marL="0" marR="0" algn="ctr" rtl="0" eaLnBrk="1" latinLnBrk="0" hangingPunct="1">
                        <a:spcBef>
                          <a:spcPts val="0"/>
                        </a:spcBef>
                        <a:spcAft>
                          <a:spcPts val="0"/>
                        </a:spcAft>
                      </a:pPr>
                      <a:r>
                        <a:rPr lang="en-US" sz="1200" dirty="0">
                          <a:effectLst/>
                        </a:rPr>
                        <a:t>8</a:t>
                      </a: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13</a:t>
                      </a:r>
                    </a:p>
                  </a:txBody>
                  <a:tcPr marL="0" marR="0" marT="0" marB="0" anchor="ctr"/>
                </a:tc>
                <a:extLst>
                  <a:ext uri="{0D108BD9-81ED-4DB2-BD59-A6C34878D82A}">
                    <a16:rowId xmlns:a16="http://schemas.microsoft.com/office/drawing/2014/main" val="3832790016"/>
                  </a:ext>
                </a:extLst>
              </a:tr>
              <a:tr h="429272">
                <a:tc>
                  <a:txBody>
                    <a:bodyPr/>
                    <a:lstStyle/>
                    <a:p>
                      <a:pPr marL="0" marR="0" algn="just" rtl="0" eaLnBrk="1" latinLnBrk="0" hangingPunct="1">
                        <a:lnSpc>
                          <a:spcPct val="150000"/>
                        </a:lnSpc>
                        <a:spcBef>
                          <a:spcPts val="0"/>
                        </a:spcBef>
                        <a:spcAft>
                          <a:spcPts val="0"/>
                        </a:spcAft>
                      </a:pPr>
                      <a:r>
                        <a:rPr lang="hy-AM" sz="1400" dirty="0">
                          <a:effectLst/>
                        </a:rPr>
                        <a:t>Մաթեմատիկա </a:t>
                      </a:r>
                      <a:endParaRPr lang="hy-AM" dirty="0">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Century Gothic"/>
                          <a:ea typeface="+mn-ea"/>
                          <a:cs typeface="+mn-cs"/>
                        </a:rPr>
                        <a:t>186</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Century Gothic"/>
                          <a:ea typeface="+mn-ea"/>
                          <a:cs typeface="+mn-cs"/>
                        </a:rPr>
                        <a:t>8</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14</a:t>
                      </a:r>
                      <a:endParaRPr lang="en-US" dirty="0"/>
                    </a:p>
                  </a:txBody>
                  <a:tcPr marL="0" marR="0" marT="0" marB="0" anchor="ctr"/>
                </a:tc>
                <a:extLst>
                  <a:ext uri="{0D108BD9-81ED-4DB2-BD59-A6C34878D82A}">
                    <a16:rowId xmlns:a16="http://schemas.microsoft.com/office/drawing/2014/main" val="2424857177"/>
                  </a:ext>
                </a:extLst>
              </a:tr>
              <a:tr h="364882">
                <a:tc>
                  <a:txBody>
                    <a:bodyPr/>
                    <a:lstStyle/>
                    <a:p>
                      <a:pPr marL="0" marR="0" algn="just" rtl="0" eaLnBrk="1" latinLnBrk="0" hangingPunct="1">
                        <a:spcBef>
                          <a:spcPts val="0"/>
                        </a:spcBef>
                        <a:spcAft>
                          <a:spcPts val="0"/>
                        </a:spcAft>
                      </a:pPr>
                      <a:r>
                        <a:rPr lang="hy-AM" sz="1400" dirty="0">
                          <a:effectLst/>
                        </a:rPr>
                        <a:t>Հայոց պատմ </a:t>
                      </a:r>
                      <a:endParaRPr lang="hy-AM" dirty="0">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Century Gothic"/>
                          <a:ea typeface="+mn-ea"/>
                          <a:cs typeface="+mn-cs"/>
                        </a:rPr>
                        <a:t>186</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Century Gothic"/>
                          <a:ea typeface="+mn-ea"/>
                          <a:cs typeface="+mn-cs"/>
                        </a:rPr>
                        <a:t>8</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16</a:t>
                      </a:r>
                      <a:endParaRPr lang="en-US" dirty="0"/>
                    </a:p>
                  </a:txBody>
                  <a:tcPr marL="0" marR="0" marT="0" marB="0" anchor="ctr"/>
                </a:tc>
                <a:extLst>
                  <a:ext uri="{0D108BD9-81ED-4DB2-BD59-A6C34878D82A}">
                    <a16:rowId xmlns:a16="http://schemas.microsoft.com/office/drawing/2014/main" val="3125733567"/>
                  </a:ext>
                </a:extLst>
              </a:tr>
            </a:tbl>
          </a:graphicData>
        </a:graphic>
      </p:graphicFrame>
      <p:pic>
        <p:nvPicPr>
          <p:cNvPr id="3" name="Рисунок 2"/>
          <p:cNvPicPr>
            <a:picLocks noChangeAspect="1"/>
          </p:cNvPicPr>
          <p:nvPr/>
        </p:nvPicPr>
        <p:blipFill>
          <a:blip r:embed="rId3" cstate="print"/>
          <a:stretch>
            <a:fillRect/>
          </a:stretch>
        </p:blipFill>
        <p:spPr>
          <a:xfrm>
            <a:off x="2016170" y="790321"/>
            <a:ext cx="9516681" cy="676715"/>
          </a:xfrm>
          <a:prstGeom prst="rect">
            <a:avLst/>
          </a:prstGeom>
        </p:spPr>
      </p:pic>
      <p:graphicFrame>
        <p:nvGraphicFramePr>
          <p:cNvPr id="2" name="Таблица 1"/>
          <p:cNvGraphicFramePr>
            <a:graphicFrameLocks noGrp="1"/>
          </p:cNvGraphicFramePr>
          <p:nvPr>
            <p:extLst>
              <p:ext uri="{D42A27DB-BD31-4B8C-83A1-F6EECF244321}">
                <p14:modId xmlns:p14="http://schemas.microsoft.com/office/powerpoint/2010/main" val="761859198"/>
              </p:ext>
            </p:extLst>
          </p:nvPr>
        </p:nvGraphicFramePr>
        <p:xfrm>
          <a:off x="7865616" y="1876876"/>
          <a:ext cx="2041863" cy="4206871"/>
        </p:xfrm>
        <a:graphic>
          <a:graphicData uri="http://schemas.openxmlformats.org/drawingml/2006/table">
            <a:tbl>
              <a:tblPr>
                <a:tableStyleId>{5940675A-B579-460E-94D1-54222C63F5DA}</a:tableStyleId>
              </a:tblPr>
              <a:tblGrid>
                <a:gridCol w="2041863">
                  <a:extLst>
                    <a:ext uri="{9D8B030D-6E8A-4147-A177-3AD203B41FA5}">
                      <a16:colId xmlns:a16="http://schemas.microsoft.com/office/drawing/2014/main" val="2941750935"/>
                    </a:ext>
                  </a:extLst>
                </a:gridCol>
              </a:tblGrid>
              <a:tr h="2124900">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12-րդ դասարաններում  պետական ավարտական քննությունների միավորների միջինը</a:t>
                      </a:r>
                      <a:r>
                        <a:rPr lang="hy-AM" sz="1800" dirty="0">
                          <a:effectLst/>
                        </a:rPr>
                        <a:t> </a:t>
                      </a:r>
                      <a:endParaRPr lang="hy-AM" dirty="0">
                        <a:effectLst/>
                      </a:endParaRPr>
                    </a:p>
                  </a:txBody>
                  <a:tcPr marL="0" marR="0" marT="0" marB="0" anchor="ctr"/>
                </a:tc>
                <a:extLst>
                  <a:ext uri="{0D108BD9-81ED-4DB2-BD59-A6C34878D82A}">
                    <a16:rowId xmlns:a16="http://schemas.microsoft.com/office/drawing/2014/main" val="3237127397"/>
                  </a:ext>
                </a:extLst>
              </a:tr>
              <a:tr h="858545">
                <a:tc>
                  <a:txBody>
                    <a:bodyPr/>
                    <a:lstStyle/>
                    <a:p>
                      <a:pPr marL="0" marR="0" algn="ctr" rtl="0" latinLnBrk="0">
                        <a:lnSpc>
                          <a:spcPct val="150000"/>
                        </a:lnSpc>
                        <a:spcBef>
                          <a:spcPts val="0"/>
                        </a:spcBef>
                        <a:spcAft>
                          <a:spcPts val="0"/>
                        </a:spcAft>
                      </a:pPr>
                      <a:r>
                        <a:rPr lang="hy-AM" sz="1400" dirty="0">
                          <a:effectLst/>
                        </a:rPr>
                        <a:t>12-րդ. </a:t>
                      </a:r>
                      <a:endParaRPr lang="hy-AM" dirty="0">
                        <a:effectLst/>
                      </a:endParaRPr>
                    </a:p>
                    <a:p>
                      <a:pPr marL="0" marR="0" algn="ctr" rtl="0" latinLnBrk="0">
                        <a:lnSpc>
                          <a:spcPct val="150000"/>
                        </a:lnSpc>
                        <a:spcBef>
                          <a:spcPts val="0"/>
                        </a:spcBef>
                        <a:spcAft>
                          <a:spcPts val="0"/>
                        </a:spcAft>
                      </a:pPr>
                      <a:r>
                        <a:rPr lang="hy-AM" sz="1400" dirty="0">
                          <a:effectLst/>
                        </a:rPr>
                        <a:t>դաս. </a:t>
                      </a:r>
                      <a:r>
                        <a:rPr lang="en-US" sz="1400" dirty="0" smtClean="0">
                          <a:effectLst/>
                        </a:rPr>
                        <a:t>2023-2024</a:t>
                      </a:r>
                      <a:endParaRPr lang="hy-AM" dirty="0">
                        <a:effectLst/>
                      </a:endParaRPr>
                    </a:p>
                  </a:txBody>
                  <a:tcPr marL="0" marR="0" marT="0" marB="0" anchor="ctr"/>
                </a:tc>
                <a:extLst>
                  <a:ext uri="{0D108BD9-81ED-4DB2-BD59-A6C34878D82A}">
                    <a16:rowId xmlns:a16="http://schemas.microsoft.com/office/drawing/2014/main" val="2617165331"/>
                  </a:ext>
                </a:extLst>
              </a:tr>
              <a:tr h="429272">
                <a:tc>
                  <a:txBody>
                    <a:bodyPr/>
                    <a:lstStyle/>
                    <a:p>
                      <a:pPr marL="0" marR="0" algn="ctr" rtl="0" eaLnBrk="1" latinLnBrk="0" hangingPunct="1">
                        <a:lnSpc>
                          <a:spcPct val="150000"/>
                        </a:lnSpc>
                        <a:spcBef>
                          <a:spcPts val="0"/>
                        </a:spcBef>
                        <a:spcAft>
                          <a:spcPts val="0"/>
                        </a:spcAft>
                      </a:pPr>
                      <a:r>
                        <a:rPr lang="en-US" sz="1200" dirty="0" smtClean="0">
                          <a:effectLst/>
                        </a:rPr>
                        <a:t>15</a:t>
                      </a:r>
                      <a:endParaRPr lang="en-US" sz="1200" dirty="0">
                        <a:effectLst/>
                      </a:endParaRPr>
                    </a:p>
                  </a:txBody>
                  <a:tcPr marL="0" marR="0" marT="0" marB="0" anchor="ctr"/>
                </a:tc>
                <a:extLst>
                  <a:ext uri="{0D108BD9-81ED-4DB2-BD59-A6C34878D82A}">
                    <a16:rowId xmlns:a16="http://schemas.microsoft.com/office/drawing/2014/main" val="490527874"/>
                  </a:ext>
                </a:extLst>
              </a:tr>
              <a:tr h="429272">
                <a:tc>
                  <a:txBody>
                    <a:bodyPr/>
                    <a:lstStyle/>
                    <a:p>
                      <a:pPr marL="0" marR="0" algn="ctr" rtl="0" eaLnBrk="1" latinLnBrk="0" hangingPunct="1">
                        <a:lnSpc>
                          <a:spcPct val="150000"/>
                        </a:lnSpc>
                        <a:spcBef>
                          <a:spcPts val="0"/>
                        </a:spcBef>
                        <a:spcAft>
                          <a:spcPts val="0"/>
                        </a:spcAft>
                      </a:pPr>
                      <a:r>
                        <a:rPr lang="en-US" sz="1200" dirty="0" smtClean="0">
                          <a:effectLst/>
                        </a:rPr>
                        <a:t>15</a:t>
                      </a:r>
                      <a:endParaRPr lang="en-US" dirty="0"/>
                    </a:p>
                  </a:txBody>
                  <a:tcPr marL="0" marR="0" marT="0" marB="0" anchor="ctr"/>
                </a:tc>
                <a:extLst>
                  <a:ext uri="{0D108BD9-81ED-4DB2-BD59-A6C34878D82A}">
                    <a16:rowId xmlns:a16="http://schemas.microsoft.com/office/drawing/2014/main" val="78344998"/>
                  </a:ext>
                </a:extLst>
              </a:tr>
              <a:tr h="364882">
                <a:tc>
                  <a:txBody>
                    <a:bodyPr/>
                    <a:lstStyle/>
                    <a:p>
                      <a:pPr marL="0" marR="0" algn="ctr" rtl="0" eaLnBrk="1" latinLnBrk="0" hangingPunct="1">
                        <a:lnSpc>
                          <a:spcPct val="150000"/>
                        </a:lnSpc>
                        <a:spcBef>
                          <a:spcPts val="0"/>
                        </a:spcBef>
                        <a:spcAft>
                          <a:spcPts val="0"/>
                        </a:spcAft>
                      </a:pPr>
                      <a:r>
                        <a:rPr lang="en-US" sz="1200" dirty="0" smtClean="0">
                          <a:effectLst/>
                        </a:rPr>
                        <a:t>17</a:t>
                      </a:r>
                      <a:endParaRPr lang="en-US" dirty="0"/>
                    </a:p>
                  </a:txBody>
                  <a:tcPr marL="0" marR="0" marT="0" marB="0" anchor="ctr"/>
                </a:tc>
                <a:extLst>
                  <a:ext uri="{0D108BD9-81ED-4DB2-BD59-A6C34878D82A}">
                    <a16:rowId xmlns:a16="http://schemas.microsoft.com/office/drawing/2014/main" val="4012246044"/>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85470097"/>
              </p:ext>
            </p:extLst>
          </p:nvPr>
        </p:nvGraphicFramePr>
        <p:xfrm>
          <a:off x="9907479" y="1876876"/>
          <a:ext cx="1979721" cy="4206871"/>
        </p:xfrm>
        <a:graphic>
          <a:graphicData uri="http://schemas.openxmlformats.org/drawingml/2006/table">
            <a:tbl>
              <a:tblPr>
                <a:tableStyleId>{5940675A-B579-460E-94D1-54222C63F5DA}</a:tableStyleId>
              </a:tblPr>
              <a:tblGrid>
                <a:gridCol w="1979721">
                  <a:extLst>
                    <a:ext uri="{9D8B030D-6E8A-4147-A177-3AD203B41FA5}">
                      <a16:colId xmlns:a16="http://schemas.microsoft.com/office/drawing/2014/main" val="2910825617"/>
                    </a:ext>
                  </a:extLst>
                </a:gridCol>
              </a:tblGrid>
              <a:tr h="2124900">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12-րդ դասարաններում  պետական ավարտական քննությունների միավորների միջինը</a:t>
                      </a:r>
                      <a:r>
                        <a:rPr lang="hy-AM" sz="1800" dirty="0">
                          <a:effectLst/>
                        </a:rPr>
                        <a:t> </a:t>
                      </a:r>
                      <a:endParaRPr lang="hy-AM" dirty="0">
                        <a:effectLst/>
                      </a:endParaRPr>
                    </a:p>
                  </a:txBody>
                  <a:tcPr marL="0" marR="0" marT="0" marB="0" anchor="ctr"/>
                </a:tc>
                <a:extLst>
                  <a:ext uri="{0D108BD9-81ED-4DB2-BD59-A6C34878D82A}">
                    <a16:rowId xmlns:a16="http://schemas.microsoft.com/office/drawing/2014/main" val="3121655555"/>
                  </a:ext>
                </a:extLst>
              </a:tr>
              <a:tr h="858545">
                <a:tc>
                  <a:txBody>
                    <a:bodyPr/>
                    <a:lstStyle/>
                    <a:p>
                      <a:pPr marL="0" marR="0" algn="ctr" rtl="0" latinLnBrk="0">
                        <a:lnSpc>
                          <a:spcPct val="150000"/>
                        </a:lnSpc>
                        <a:spcBef>
                          <a:spcPts val="0"/>
                        </a:spcBef>
                        <a:spcAft>
                          <a:spcPts val="0"/>
                        </a:spcAft>
                      </a:pPr>
                      <a:r>
                        <a:rPr lang="hy-AM" sz="1400" dirty="0">
                          <a:effectLst/>
                        </a:rPr>
                        <a:t>12-րդ. </a:t>
                      </a:r>
                      <a:endParaRPr lang="hy-AM" dirty="0">
                        <a:effectLst/>
                      </a:endParaRPr>
                    </a:p>
                    <a:p>
                      <a:pPr marL="0" marR="0" algn="ctr" rtl="0" latinLnBrk="0">
                        <a:lnSpc>
                          <a:spcPct val="150000"/>
                        </a:lnSpc>
                        <a:spcBef>
                          <a:spcPts val="0"/>
                        </a:spcBef>
                        <a:spcAft>
                          <a:spcPts val="0"/>
                        </a:spcAft>
                      </a:pPr>
                      <a:r>
                        <a:rPr lang="hy-AM" sz="1400" dirty="0">
                          <a:effectLst/>
                        </a:rPr>
                        <a:t>դաս. </a:t>
                      </a:r>
                      <a:r>
                        <a:rPr lang="en-US" sz="1400" dirty="0" smtClean="0">
                          <a:effectLst/>
                        </a:rPr>
                        <a:t>2024-2025</a:t>
                      </a:r>
                      <a:endParaRPr lang="hy-AM" dirty="0">
                        <a:effectLst/>
                      </a:endParaRPr>
                    </a:p>
                  </a:txBody>
                  <a:tcPr marL="0" marR="0" marT="0" marB="0" anchor="ctr"/>
                </a:tc>
                <a:extLst>
                  <a:ext uri="{0D108BD9-81ED-4DB2-BD59-A6C34878D82A}">
                    <a16:rowId xmlns:a16="http://schemas.microsoft.com/office/drawing/2014/main" val="877876144"/>
                  </a:ext>
                </a:extLst>
              </a:tr>
              <a:tr h="429272">
                <a:tc>
                  <a:txBody>
                    <a:bodyPr/>
                    <a:lstStyle/>
                    <a:p>
                      <a:pPr marL="0" marR="0" algn="ctr" rtl="0" eaLnBrk="1" latinLnBrk="0" hangingPunct="1">
                        <a:lnSpc>
                          <a:spcPct val="150000"/>
                        </a:lnSpc>
                        <a:spcBef>
                          <a:spcPts val="0"/>
                        </a:spcBef>
                        <a:spcAft>
                          <a:spcPts val="0"/>
                        </a:spcAft>
                      </a:pPr>
                      <a:r>
                        <a:rPr lang="en-US" sz="1200" dirty="0" smtClean="0">
                          <a:effectLst/>
                        </a:rPr>
                        <a:t>15քն/8</a:t>
                      </a:r>
                      <a:endParaRPr lang="en-US" sz="1200" dirty="0"/>
                    </a:p>
                  </a:txBody>
                  <a:tcPr marL="0" marR="0" marT="0" marB="0" anchor="ctr"/>
                </a:tc>
                <a:extLst>
                  <a:ext uri="{0D108BD9-81ED-4DB2-BD59-A6C34878D82A}">
                    <a16:rowId xmlns:a16="http://schemas.microsoft.com/office/drawing/2014/main" val="1609211814"/>
                  </a:ext>
                </a:extLst>
              </a:tr>
              <a:tr h="429272">
                <a:tc>
                  <a:txBody>
                    <a:bodyPr/>
                    <a:lstStyle/>
                    <a:p>
                      <a:pPr marL="0" marR="0" algn="ctr" rtl="0" eaLnBrk="1" latinLnBrk="0" hangingPunct="1">
                        <a:lnSpc>
                          <a:spcPct val="150000"/>
                        </a:lnSpc>
                        <a:spcBef>
                          <a:spcPts val="0"/>
                        </a:spcBef>
                        <a:spcAft>
                          <a:spcPts val="0"/>
                        </a:spcAft>
                      </a:pPr>
                      <a:r>
                        <a:rPr lang="en-US" sz="1200" dirty="0" smtClean="0">
                          <a:effectLst/>
                        </a:rPr>
                        <a:t>16քն/8</a:t>
                      </a:r>
                      <a:endParaRPr lang="en-US" dirty="0"/>
                    </a:p>
                  </a:txBody>
                  <a:tcPr marL="0" marR="0" marT="0" marB="0" anchor="ctr"/>
                </a:tc>
                <a:extLst>
                  <a:ext uri="{0D108BD9-81ED-4DB2-BD59-A6C34878D82A}">
                    <a16:rowId xmlns:a16="http://schemas.microsoft.com/office/drawing/2014/main" val="2209483581"/>
                  </a:ext>
                </a:extLst>
              </a:tr>
              <a:tr h="364882">
                <a:tc>
                  <a:txBody>
                    <a:bodyPr/>
                    <a:lstStyle/>
                    <a:p>
                      <a:pPr marL="0" marR="0" algn="ctr" rtl="0" eaLnBrk="1" latinLnBrk="0" hangingPunct="1">
                        <a:lnSpc>
                          <a:spcPct val="150000"/>
                        </a:lnSpc>
                        <a:spcBef>
                          <a:spcPts val="0"/>
                        </a:spcBef>
                        <a:spcAft>
                          <a:spcPts val="0"/>
                        </a:spcAft>
                      </a:pPr>
                      <a:r>
                        <a:rPr lang="en-US" sz="1200" dirty="0" smtClean="0">
                          <a:effectLst/>
                        </a:rPr>
                        <a:t>16քն/8</a:t>
                      </a:r>
                      <a:endParaRPr lang="en-US" sz="1200" dirty="0"/>
                    </a:p>
                  </a:txBody>
                  <a:tcPr marL="0" marR="0" marT="0" marB="0" anchor="ctr"/>
                </a:tc>
                <a:extLst>
                  <a:ext uri="{0D108BD9-81ED-4DB2-BD59-A6C34878D82A}">
                    <a16:rowId xmlns:a16="http://schemas.microsoft.com/office/drawing/2014/main" val="1797560443"/>
                  </a:ext>
                </a:extLst>
              </a:tr>
            </a:tbl>
          </a:graphicData>
        </a:graphic>
      </p:graphicFrame>
    </p:spTree>
    <p:extLst>
      <p:ext uri="{BB962C8B-B14F-4D97-AF65-F5344CB8AC3E}">
        <p14:creationId xmlns:p14="http://schemas.microsoft.com/office/powerpoint/2010/main" val="38127750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3" cstate="print"/>
          <a:stretch>
            <a:fillRect/>
          </a:stretch>
        </p:blipFill>
        <p:spPr>
          <a:xfrm>
            <a:off x="1555667" y="107545"/>
            <a:ext cx="8159767" cy="847417"/>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70514930"/>
              </p:ext>
            </p:extLst>
          </p:nvPr>
        </p:nvGraphicFramePr>
        <p:xfrm>
          <a:off x="1215190" y="1371601"/>
          <a:ext cx="9685422" cy="4273014"/>
        </p:xfrm>
        <a:graphic>
          <a:graphicData uri="http://schemas.openxmlformats.org/drawingml/2006/table">
            <a:tbl>
              <a:tblPr/>
              <a:tblGrid>
                <a:gridCol w="2769706">
                  <a:extLst>
                    <a:ext uri="{9D8B030D-6E8A-4147-A177-3AD203B41FA5}">
                      <a16:colId xmlns:a16="http://schemas.microsoft.com/office/drawing/2014/main" val="20000"/>
                    </a:ext>
                  </a:extLst>
                </a:gridCol>
                <a:gridCol w="2367927">
                  <a:extLst>
                    <a:ext uri="{9D8B030D-6E8A-4147-A177-3AD203B41FA5}">
                      <a16:colId xmlns:a16="http://schemas.microsoft.com/office/drawing/2014/main" val="20001"/>
                    </a:ext>
                  </a:extLst>
                </a:gridCol>
                <a:gridCol w="2367927">
                  <a:extLst>
                    <a:ext uri="{9D8B030D-6E8A-4147-A177-3AD203B41FA5}">
                      <a16:colId xmlns:a16="http://schemas.microsoft.com/office/drawing/2014/main" val="20002"/>
                    </a:ext>
                  </a:extLst>
                </a:gridCol>
                <a:gridCol w="2179862">
                  <a:extLst>
                    <a:ext uri="{9D8B030D-6E8A-4147-A177-3AD203B41FA5}">
                      <a16:colId xmlns:a16="http://schemas.microsoft.com/office/drawing/2014/main" val="20003"/>
                    </a:ext>
                  </a:extLst>
                </a:gridCol>
              </a:tblGrid>
              <a:tr h="1443788">
                <a:tc rowSpan="2">
                  <a:txBody>
                    <a:bodyPr/>
                    <a:lstStyle/>
                    <a:p>
                      <a:pPr algn="just" fontAlgn="base"/>
                      <a:r>
                        <a:rPr lang="hy-AM" sz="1400" b="0" i="0">
                          <a:solidFill>
                            <a:srgbClr val="000000"/>
                          </a:solidFill>
                          <a:latin typeface="Century Gothic"/>
                        </a:rPr>
                        <a:t>Հիմնական առարկաներ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just" fontAlgn="base"/>
                      <a:r>
                        <a:rPr lang="hy-AM" sz="1400" b="0" i="0">
                          <a:solidFill>
                            <a:srgbClr val="000000"/>
                          </a:solidFill>
                          <a:latin typeface="Century Gothic"/>
                        </a:rPr>
                        <a:t>Սովորողների թիվը ​</a:t>
                      </a:r>
                      <a:endParaRPr lang="hy-AM" sz="1400" b="0" i="0">
                        <a:solidFill>
                          <a:srgbClr val="000000"/>
                        </a:solidFill>
                      </a:endParaRPr>
                    </a:p>
                    <a:p>
                      <a:pPr algn="just" fontAlgn="base"/>
                      <a:r>
                        <a:rPr lang="hy-AM" sz="1400" b="0" i="0">
                          <a:solidFill>
                            <a:srgbClr val="000000"/>
                          </a:solidFill>
                          <a:latin typeface="Century Gothic"/>
                        </a:rPr>
                        <a:t>​</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fontAlgn="base"/>
                      <a:r>
                        <a:rPr lang="hy-AM" sz="1400" b="0" i="0">
                          <a:solidFill>
                            <a:srgbClr val="000000"/>
                          </a:solidFill>
                          <a:latin typeface="Century Gothic"/>
                        </a:rPr>
                        <a:t>Հիմնական առարկաներից տարեկան գնահատականների միջինը​</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fontAlgn="base"/>
                      <a:r>
                        <a:rPr lang="hy-AM" sz="1400" b="0" i="0">
                          <a:solidFill>
                            <a:srgbClr val="000000"/>
                          </a:solidFill>
                          <a:latin typeface="Century Gothic"/>
                        </a:rPr>
                        <a:t>12-րդ դասարաններում  պետական ավարտական քննությունների միավորների միջինը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68030">
                <a:tc vMerge="1">
                  <a:txBody>
                    <a:bodyPr/>
                    <a:lstStyle/>
                    <a:p>
                      <a:endParaRPr lang="en-US"/>
                    </a:p>
                  </a:txBody>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4014">
                <a:tc>
                  <a:txBody>
                    <a:bodyPr/>
                    <a:lstStyle/>
                    <a:p>
                      <a:pPr algn="just" fontAlgn="base"/>
                      <a:r>
                        <a:rPr lang="hy-AM" sz="1400" b="0" i="0">
                          <a:solidFill>
                            <a:srgbClr val="000000"/>
                          </a:solidFill>
                          <a:latin typeface="Century Gothic"/>
                        </a:rPr>
                        <a:t>Հայոց լեզու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186</a:t>
                      </a:r>
                      <a:endParaRPr lang="en-US" sz="1400" b="1" i="0" dirty="0">
                        <a:solidFill>
                          <a:srgbClr val="000000"/>
                        </a:solidFill>
                        <a:latin typeface="Century Gothic"/>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8​</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13</a:t>
                      </a:r>
                      <a:endParaRPr lang="en-US" sz="1400" b="1" i="0" dirty="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84014">
                <a:tc>
                  <a:txBody>
                    <a:bodyPr/>
                    <a:lstStyle/>
                    <a:p>
                      <a:pPr algn="just" fontAlgn="base"/>
                      <a:r>
                        <a:rPr lang="hy-AM" sz="1400" b="0" i="0">
                          <a:solidFill>
                            <a:srgbClr val="000000"/>
                          </a:solidFill>
                          <a:latin typeface="Century Gothic"/>
                        </a:rPr>
                        <a:t>Մաթեմատիկա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457200" rtl="0" eaLnBrk="1" fontAlgn="base"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srgbClr val="000000"/>
                          </a:solidFill>
                          <a:effectLst/>
                          <a:uLnTx/>
                          <a:uFillTx/>
                          <a:latin typeface="Century Gothic"/>
                          <a:ea typeface="+mn-ea"/>
                          <a:cs typeface="+mn-cs"/>
                        </a:rPr>
                        <a:t>186</a:t>
                      </a:r>
                      <a:endParaRPr kumimoji="0" lang="en-US" sz="1400" b="1" i="0" u="none" strike="noStrike" kern="1200" cap="none" spc="0" normalizeH="0" baseline="0" noProof="0" dirty="0">
                        <a:ln>
                          <a:noFill/>
                        </a:ln>
                        <a:solidFill>
                          <a:srgbClr val="000000"/>
                        </a:solidFill>
                        <a:effectLst/>
                        <a:uLnTx/>
                        <a:uFillTx/>
                        <a:latin typeface="Century Gothic"/>
                        <a:ea typeface="+mn-ea"/>
                        <a:cs typeface="+mn-cs"/>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7​</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14</a:t>
                      </a:r>
                      <a:endParaRPr lang="en-US" sz="1400" b="1" i="0" dirty="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3168">
                <a:tc>
                  <a:txBody>
                    <a:bodyPr/>
                    <a:lstStyle/>
                    <a:p>
                      <a:pPr algn="just" fontAlgn="base"/>
                      <a:r>
                        <a:rPr lang="hy-AM" sz="1400" b="0" i="0">
                          <a:solidFill>
                            <a:srgbClr val="000000"/>
                          </a:solidFill>
                          <a:latin typeface="Century Gothic"/>
                        </a:rPr>
                        <a:t>Հայոց պատմ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457200" rtl="0" eaLnBrk="1" fontAlgn="base"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0000"/>
                          </a:solidFill>
                          <a:effectLst/>
                          <a:uLnTx/>
                          <a:uFillTx/>
                          <a:latin typeface="Century Gothic"/>
                          <a:ea typeface="+mn-ea"/>
                          <a:cs typeface="+mn-cs"/>
                        </a:rPr>
                        <a:t>186</a:t>
                      </a:r>
                      <a:endParaRPr kumimoji="0" lang="en-US" sz="1400" b="1" i="0" u="none" strike="noStrike" kern="1200" cap="none" spc="0" normalizeH="0" baseline="0" noProof="0" dirty="0">
                        <a:ln>
                          <a:noFill/>
                        </a:ln>
                        <a:solidFill>
                          <a:srgbClr val="000000"/>
                        </a:solidFill>
                        <a:effectLst/>
                        <a:uLnTx/>
                        <a:uFillTx/>
                        <a:latin typeface="Century Gothic"/>
                        <a:ea typeface="+mn-ea"/>
                        <a:cs typeface="+mn-cs"/>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7​</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16​</a:t>
                      </a:r>
                      <a:endParaRPr lang="en-US" sz="1400" b="1" i="0" dirty="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2705" name="Rectangle 1"/>
          <p:cNvSpPr>
            <a:spLocks noChangeArrowheads="1"/>
          </p:cNvSpPr>
          <p:nvPr/>
        </p:nvSpPr>
        <p:spPr bwMode="auto">
          <a:xfrm>
            <a:off x="0" y="0"/>
            <a:ext cx="12192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078735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18945" y="242035"/>
            <a:ext cx="9817138" cy="830997"/>
          </a:xfrm>
          <a:prstGeom prst="rect">
            <a:avLst/>
          </a:prstGeom>
        </p:spPr>
        <p:txBody>
          <a:bodyPr rtlCol="0" anchor="t">
            <a:spAutoFit/>
          </a:bodyPr>
          <a:lstStyle/>
          <a:p>
            <a:pPr algn="just"/>
            <a:r>
              <a:rPr lang="hy" sz="1600" b="1" i="1">
                <a:latin typeface="Sylfaen"/>
              </a:rPr>
              <a:t>Աղյուսակ 20. </a:t>
            </a:r>
            <a:r>
              <a:rPr lang="hy-AM" sz="1600" b="1" i="1">
                <a:latin typeface="Sylfaen"/>
              </a:rPr>
              <a:t>Տվյալներ </a:t>
            </a:r>
            <a:r>
              <a:rPr lang="hy" sz="1600" b="1" i="1">
                <a:latin typeface="Sylfaen"/>
              </a:rPr>
              <a:t>12-րդ դասարաններում պետական ավարտական</a:t>
            </a:r>
            <a:endParaRPr lang="en-US" sz="1600" b="1" i="1">
              <a:latin typeface="Sylfaen"/>
            </a:endParaRPr>
          </a:p>
          <a:p>
            <a:pPr algn="just"/>
            <a:r>
              <a:rPr lang="hy" sz="1600" b="1" i="1">
                <a:latin typeface="Sylfaen" charset="0"/>
              </a:rPr>
              <a:t>                           քննությունների արդյունքների փոփոխության դինամիկայի վերաբերյալ</a:t>
            </a:r>
            <a:endParaRPr lang="en-US" sz="1600" b="1" i="1">
              <a:latin typeface="Sylfaen" charset="0"/>
            </a:endParaRPr>
          </a:p>
          <a:p>
            <a:endParaRPr lang="hy-AM" sz="1600" b="1" i="1">
              <a:latin typeface="Sylfaen"/>
            </a:endParaRPr>
          </a:p>
        </p:txBody>
      </p:sp>
      <p:graphicFrame>
        <p:nvGraphicFramePr>
          <p:cNvPr id="6" name="Table 5"/>
          <p:cNvGraphicFramePr/>
          <p:nvPr>
            <p:extLst>
              <p:ext uri="{D42A27DB-BD31-4B8C-83A1-F6EECF244321}">
                <p14:modId xmlns:p14="http://schemas.microsoft.com/office/powerpoint/2010/main" val="2120554678"/>
              </p:ext>
            </p:extLst>
          </p:nvPr>
        </p:nvGraphicFramePr>
        <p:xfrm>
          <a:off x="390059" y="1000696"/>
          <a:ext cx="9038026" cy="3799904"/>
        </p:xfrm>
        <a:graphic>
          <a:graphicData uri="http://schemas.openxmlformats.org/drawingml/2006/table">
            <a:tbl>
              <a:tblPr>
                <a:tableStyleId>{5940675A-B579-460E-94D1-54222C63F5DA}</a:tableStyleId>
              </a:tblPr>
              <a:tblGrid>
                <a:gridCol w="1971402">
                  <a:extLst>
                    <a:ext uri="{9D8B030D-6E8A-4147-A177-3AD203B41FA5}">
                      <a16:colId xmlns:a16="http://schemas.microsoft.com/office/drawing/2014/main" val="3985563431"/>
                    </a:ext>
                  </a:extLst>
                </a:gridCol>
                <a:gridCol w="1994569">
                  <a:extLst>
                    <a:ext uri="{9D8B030D-6E8A-4147-A177-3AD203B41FA5}">
                      <a16:colId xmlns:a16="http://schemas.microsoft.com/office/drawing/2014/main" val="2469638002"/>
                    </a:ext>
                  </a:extLst>
                </a:gridCol>
                <a:gridCol w="1751807">
                  <a:extLst>
                    <a:ext uri="{9D8B030D-6E8A-4147-A177-3AD203B41FA5}">
                      <a16:colId xmlns:a16="http://schemas.microsoft.com/office/drawing/2014/main" val="1759628595"/>
                    </a:ext>
                  </a:extLst>
                </a:gridCol>
                <a:gridCol w="3320248">
                  <a:extLst>
                    <a:ext uri="{9D8B030D-6E8A-4147-A177-3AD203B41FA5}">
                      <a16:colId xmlns:a16="http://schemas.microsoft.com/office/drawing/2014/main" val="3313105563"/>
                    </a:ext>
                  </a:extLst>
                </a:gridCol>
              </a:tblGrid>
              <a:tr h="767440">
                <a:tc rowSpan="3">
                  <a:txBody>
                    <a:bodyPr/>
                    <a:lstStyle/>
                    <a:p>
                      <a:pPr marL="0" marR="0" algn="just" rtl="0" eaLnBrk="1" latinLnBrk="0" hangingPunct="1">
                        <a:lnSpc>
                          <a:spcPct val="150000"/>
                        </a:lnSpc>
                        <a:spcBef>
                          <a:spcPts val="0"/>
                        </a:spcBef>
                        <a:spcAft>
                          <a:spcPts val="0"/>
                        </a:spcAft>
                      </a:pPr>
                      <a:r>
                        <a:rPr lang="hy-AM" sz="1400" dirty="0">
                          <a:effectLst/>
                        </a:rPr>
                        <a:t>Քննական առարկաներ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gridSpan="3">
                  <a:txBody>
                    <a:bodyPr/>
                    <a:lstStyle/>
                    <a:p>
                      <a:pPr marL="0" marR="0" algn="just" rtl="0" eaLnBrk="1" latinLnBrk="0" hangingPunct="1">
                        <a:lnSpc>
                          <a:spcPct val="150000"/>
                        </a:lnSpc>
                        <a:spcBef>
                          <a:spcPts val="0"/>
                        </a:spcBef>
                        <a:spcAft>
                          <a:spcPts val="0"/>
                        </a:spcAft>
                      </a:pPr>
                      <a:r>
                        <a:rPr lang="hy-AM" sz="1400">
                          <a:effectLst/>
                        </a:rPr>
                        <a:t>Քննությունների միջին միավորների փոփոխությունը նախորդ ուսումնական տարվա նկատմամբ՝ ըստ կրթական աստիճանների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en-US"/>
                    </a:p>
                  </a:txBody>
                  <a:tcPr/>
                </a:tc>
                <a:extLst>
                  <a:ext uri="{0D108BD9-81ED-4DB2-BD59-A6C34878D82A}">
                    <a16:rowId xmlns:a16="http://schemas.microsoft.com/office/drawing/2014/main" val="3643364749"/>
                  </a:ext>
                </a:extLst>
              </a:tr>
              <a:tr h="772733">
                <a:tc vMerge="1">
                  <a:txBody>
                    <a:bodyPr/>
                    <a:lstStyle/>
                    <a:p>
                      <a:endParaRPr lang="en-US"/>
                    </a:p>
                  </a:txBody>
                  <a:tcPr/>
                </a:tc>
                <a:tc gridSpan="2">
                  <a:txBody>
                    <a:bodyPr/>
                    <a:lstStyle/>
                    <a:p>
                      <a:pPr marL="0" marR="0" algn="ctr" rtl="0" latinLnBrk="0">
                        <a:lnSpc>
                          <a:spcPct val="150000"/>
                        </a:lnSpc>
                        <a:spcBef>
                          <a:spcPts val="0"/>
                        </a:spcBef>
                        <a:spcAft>
                          <a:spcPts val="0"/>
                        </a:spcAft>
                      </a:pPr>
                      <a:r>
                        <a:rPr lang="hy-AM" sz="1400" dirty="0">
                          <a:effectLst/>
                        </a:rPr>
                        <a:t>Քննությունների միջին միավորների աճի տոկոսը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ru-RU"/>
                    </a:p>
                  </a:txBody>
                  <a:tcPr/>
                </a:tc>
                <a:tc>
                  <a:txBody>
                    <a:bodyPr/>
                    <a:lstStyle/>
                    <a:p>
                      <a:pPr marL="0" marR="0" algn="ctr" rtl="0" latinLnBrk="0">
                        <a:lnSpc>
                          <a:spcPct val="150000"/>
                        </a:lnSpc>
                        <a:spcBef>
                          <a:spcPts val="0"/>
                        </a:spcBef>
                        <a:spcAft>
                          <a:spcPts val="0"/>
                        </a:spcAft>
                      </a:pPr>
                      <a:r>
                        <a:rPr lang="hy-AM" sz="1400" dirty="0">
                          <a:effectLst/>
                        </a:rPr>
                        <a:t>Քննությունների միջին միավորների նվազման տոկոսը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740766"/>
                  </a:ext>
                </a:extLst>
              </a:tr>
              <a:tr h="652437">
                <a:tc vMerge="1">
                  <a:txBody>
                    <a:bodyPr/>
                    <a:lstStyle/>
                    <a:p>
                      <a:endParaRPr lang="en-US"/>
                    </a:p>
                  </a:txBody>
                  <a:tcPr/>
                </a:tc>
                <a:tc>
                  <a:txBody>
                    <a:bodyPr/>
                    <a:lstStyle/>
                    <a:p>
                      <a:pPr marL="0" marR="0" lvl="0" algn="ctr" rtl="0">
                        <a:lnSpc>
                          <a:spcPct val="150000"/>
                        </a:lnSpc>
                        <a:spcBef>
                          <a:spcPts val="0"/>
                        </a:spcBef>
                        <a:spcAft>
                          <a:spcPts val="0"/>
                        </a:spcAft>
                        <a:buNone/>
                      </a:pPr>
                      <a:r>
                        <a:rPr lang="hy-AM" sz="1400" dirty="0">
                          <a:effectLst/>
                        </a:rPr>
                        <a:t>12-րդ. դաս.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hy-AM" sz="1400" b="1" dirty="0" smtClean="0">
                          <a:effectLst/>
                        </a:rPr>
                        <a:t>12-րդ. դաս. </a:t>
                      </a:r>
                    </a:p>
                    <a:p>
                      <a:pPr marL="0" marR="0" lvl="0" algn="ctr" rtl="0">
                        <a:lnSpc>
                          <a:spcPct val="150000"/>
                        </a:lnSpc>
                        <a:spcBef>
                          <a:spcPts val="0"/>
                        </a:spcBef>
                        <a:spcAft>
                          <a:spcPts val="0"/>
                        </a:spcAft>
                        <a:buNone/>
                      </a:pPr>
                      <a:r>
                        <a:rPr lang="en-US" sz="1400" b="1" dirty="0" smtClean="0">
                          <a:effectLst/>
                        </a:rPr>
                        <a:t>2023-2024</a:t>
                      </a:r>
                      <a:endParaRPr lang="hy-AM" sz="1400" b="1" dirty="0">
                        <a:effectLst/>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r>
                        <a:rPr lang="hy-AM" sz="1400" dirty="0">
                          <a:effectLst/>
                        </a:rPr>
                        <a:t>12-րդ. դաս.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749181"/>
                  </a:ext>
                </a:extLst>
              </a:tr>
              <a:tr h="399090">
                <a:tc>
                  <a:txBody>
                    <a:bodyPr/>
                    <a:lstStyle/>
                    <a:p>
                      <a:pPr marL="0" marR="0" algn="just" rtl="0" eaLnBrk="1" latinLnBrk="0" hangingPunct="1">
                        <a:lnSpc>
                          <a:spcPct val="150000"/>
                        </a:lnSpc>
                        <a:spcBef>
                          <a:spcPts val="0"/>
                        </a:spcBef>
                        <a:spcAft>
                          <a:spcPts val="0"/>
                        </a:spcAft>
                      </a:pPr>
                      <a:r>
                        <a:rPr lang="hy-AM" sz="1400">
                          <a:effectLst/>
                        </a:rPr>
                        <a:t>Հայոց լեզու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lvl="0" algn="ctr" defTabSz="457200" eaLnBrk="1" fontAlgn="auto" latinLnBrk="0" hangingPunct="1">
                        <a:buClrTx/>
                        <a:buSzTx/>
                        <a:buNone/>
                        <a:tabLst/>
                        <a:defRPr/>
                      </a:pPr>
                      <a:endParaRPr lang="en-US" sz="1400" b="0" i="0" u="none" strike="noStrike" noProof="0" dirty="0">
                        <a:solidFill>
                          <a:srgbClr val="000000"/>
                        </a:solidFill>
                        <a:effectLst/>
                        <a:latin typeface="Sylfaen"/>
                      </a:endParaRP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lvl="0" algn="ctr" defTabSz="457200" eaLnBrk="1" fontAlgn="auto" latinLnBrk="0" hangingPunct="1">
                        <a:buClrTx/>
                        <a:buSzTx/>
                        <a:buNone/>
                        <a:tabLst/>
                        <a:defRPr/>
                      </a:pPr>
                      <a:r>
                        <a:rPr lang="en-US" sz="1400" b="0" i="0" u="none" strike="noStrike" noProof="0" dirty="0" smtClean="0">
                          <a:solidFill>
                            <a:srgbClr val="000000"/>
                          </a:solidFill>
                          <a:effectLst/>
                          <a:latin typeface="Sylfaen"/>
                        </a:rPr>
                        <a:t>15</a:t>
                      </a:r>
                      <a:r>
                        <a:rPr lang="en-US" sz="1400" dirty="0" smtClean="0">
                          <a:effectLst/>
                          <a:latin typeface="Sylfaen"/>
                        </a:rPr>
                        <a:t>%</a:t>
                      </a:r>
                      <a:endParaRPr lang="en-US" sz="1400" b="0" i="0" u="none" strike="noStrike" noProof="0" dirty="0">
                        <a:solidFill>
                          <a:srgbClr val="000000"/>
                        </a:solidFill>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r>
                        <a:rPr lang="en-US" sz="1400" u="none" dirty="0">
                          <a:solidFill>
                            <a:schemeClr val="tx1"/>
                          </a:solidFill>
                          <a:effectLst/>
                          <a:latin typeface="Sylfaen"/>
                        </a:rPr>
                        <a:t>10%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408479"/>
                  </a:ext>
                </a:extLst>
              </a:tr>
              <a:tr h="398362">
                <a:tc>
                  <a:txBody>
                    <a:bodyPr/>
                    <a:lstStyle/>
                    <a:p>
                      <a:pPr marL="0" marR="0" algn="just" rtl="0" eaLnBrk="1" latinLnBrk="0" hangingPunct="1">
                        <a:lnSpc>
                          <a:spcPct val="150000"/>
                        </a:lnSpc>
                        <a:spcBef>
                          <a:spcPts val="0"/>
                        </a:spcBef>
                        <a:spcAft>
                          <a:spcPts val="0"/>
                        </a:spcAft>
                      </a:pPr>
                      <a:r>
                        <a:rPr lang="hy-AM" sz="1400">
                          <a:effectLst/>
                        </a:rPr>
                        <a:t>Մաթեմատիկա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dirty="0">
                          <a:effectLst/>
                          <a:latin typeface="Sylfaen"/>
                        </a:rPr>
                        <a:t>10%</a:t>
                      </a: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dirty="0" smtClean="0">
                          <a:effectLst/>
                          <a:latin typeface="Sylfaen"/>
                        </a:rPr>
                        <a:t>7%</a:t>
                      </a:r>
                      <a:endParaRPr lang="en-US" sz="1400" dirty="0">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sz="1400" dirty="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8014101"/>
                  </a:ext>
                </a:extLst>
              </a:tr>
              <a:tr h="398362">
                <a:tc>
                  <a:txBody>
                    <a:bodyPr/>
                    <a:lstStyle/>
                    <a:p>
                      <a:pPr marL="0" marR="0" algn="just" rtl="0" eaLnBrk="1" latinLnBrk="0" hangingPunct="1">
                        <a:spcBef>
                          <a:spcPts val="0"/>
                        </a:spcBef>
                        <a:spcAft>
                          <a:spcPts val="0"/>
                        </a:spcAft>
                      </a:pPr>
                      <a:r>
                        <a:rPr lang="hy-AM" sz="1400">
                          <a:effectLst/>
                        </a:rPr>
                        <a:t>Հայոց պատմություն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a:effectLst/>
                          <a:latin typeface="Sylfaen"/>
                        </a:rPr>
                        <a:t>10%</a:t>
                      </a: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dirty="0" smtClean="0">
                          <a:effectLst/>
                          <a:latin typeface="Sylfaen"/>
                        </a:rPr>
                        <a:t>6%</a:t>
                      </a:r>
                      <a:endParaRPr lang="en-US" sz="1400" dirty="0">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sz="1400" dirty="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710585"/>
                  </a:ext>
                </a:extLst>
              </a:tr>
              <a:tr h="398362">
                <a:tc>
                  <a:txBody>
                    <a:bodyPr/>
                    <a:lstStyle/>
                    <a:p>
                      <a:pPr marL="0" marR="0" algn="just" rtl="0" eaLnBrk="1" latinLnBrk="0" hangingPunct="1">
                        <a:spcBef>
                          <a:spcPts val="0"/>
                        </a:spcBef>
                        <a:spcAft>
                          <a:spcPts val="0"/>
                        </a:spcAft>
                      </a:pP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endParaRPr lang="en-US" sz="1400" dirty="0">
                        <a:effectLst/>
                        <a:latin typeface="Sylfaen"/>
                      </a:endParaRP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endParaRPr lang="en-US" sz="1400" dirty="0">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dirty="0"/>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Box 3"/>
          <p:cNvSpPr txBox="1"/>
          <p:nvPr/>
        </p:nvSpPr>
        <p:spPr>
          <a:xfrm>
            <a:off x="830179" y="4800600"/>
            <a:ext cx="10876547" cy="923330"/>
          </a:xfrm>
          <a:prstGeom prst="rect">
            <a:avLst/>
          </a:prstGeom>
          <a:noFill/>
        </p:spPr>
        <p:txBody>
          <a:bodyPr wrap="square" rtlCol="0">
            <a:spAutoFit/>
          </a:bodyPr>
          <a:lstStyle/>
          <a:p>
            <a:pPr algn="just"/>
            <a:r>
              <a:rPr lang="en-US" sz="1200" i="1" u="sng">
                <a:latin typeface="Sylfaen"/>
              </a:rPr>
              <a:t>   Ք</a:t>
            </a:r>
            <a:r>
              <a:rPr lang="hy-AM" sz="1200" i="1" u="sng">
                <a:latin typeface="Sylfaen"/>
              </a:rPr>
              <a:t>ննության միջին միավորների տատանումները 1-2 բալի սահմաններում է, որը բնական է և պայմանավորված է ենթահոսքերում սովորող աշակերտների </a:t>
            </a:r>
            <a:r>
              <a:rPr lang="en-US" sz="1200" i="1" u="sng">
                <a:latin typeface="Sylfaen"/>
              </a:rPr>
              <a:t> </a:t>
            </a:r>
            <a:r>
              <a:rPr lang="hy-AM" sz="1200" i="1" u="sng">
                <a:latin typeface="Sylfaen"/>
              </a:rPr>
              <a:t>թվաքանակների տարբերությամբ;</a:t>
            </a:r>
          </a:p>
          <a:p>
            <a:pPr algn="just"/>
            <a:r>
              <a:rPr lang="en-US" sz="1200" err="1">
                <a:latin typeface="Sylfaen"/>
              </a:rPr>
              <a:t>Հայոց</a:t>
            </a:r>
            <a:r>
              <a:rPr lang="en-US" sz="1200">
                <a:latin typeface="Sylfaen"/>
              </a:rPr>
              <a:t> </a:t>
            </a:r>
            <a:r>
              <a:rPr lang="en-US" sz="1200" err="1">
                <a:latin typeface="Sylfaen"/>
              </a:rPr>
              <a:t>լեզվից</a:t>
            </a:r>
            <a:r>
              <a:rPr lang="en-US" sz="1200">
                <a:latin typeface="Sylfaen"/>
              </a:rPr>
              <a:t> 29 % </a:t>
            </a:r>
            <a:r>
              <a:rPr lang="hy-AM" sz="1200">
                <a:latin typeface="Sylfaen"/>
              </a:rPr>
              <a:t>նվազումը պայմանավորված է սովորողների բնագիտամաթեմատիկական ուղվածությամբ:</a:t>
            </a:r>
          </a:p>
          <a:p>
            <a:endParaRPr lang="en-US"/>
          </a:p>
        </p:txBody>
      </p:sp>
      <p:graphicFrame>
        <p:nvGraphicFramePr>
          <p:cNvPr id="2" name="Таблица 1"/>
          <p:cNvGraphicFramePr>
            <a:graphicFrameLocks noGrp="1"/>
          </p:cNvGraphicFramePr>
          <p:nvPr>
            <p:extLst>
              <p:ext uri="{D42A27DB-BD31-4B8C-83A1-F6EECF244321}">
                <p14:modId xmlns:p14="http://schemas.microsoft.com/office/powerpoint/2010/main" val="1231183743"/>
              </p:ext>
            </p:extLst>
          </p:nvPr>
        </p:nvGraphicFramePr>
        <p:xfrm>
          <a:off x="9428086" y="1757780"/>
          <a:ext cx="2636668" cy="3055468"/>
        </p:xfrm>
        <a:graphic>
          <a:graphicData uri="http://schemas.openxmlformats.org/drawingml/2006/table">
            <a:tbl>
              <a:tblPr>
                <a:tableStyleId>{5940675A-B579-460E-94D1-54222C63F5DA}</a:tableStyleId>
              </a:tblPr>
              <a:tblGrid>
                <a:gridCol w="2636668">
                  <a:extLst>
                    <a:ext uri="{9D8B030D-6E8A-4147-A177-3AD203B41FA5}">
                      <a16:colId xmlns:a16="http://schemas.microsoft.com/office/drawing/2014/main" val="4265091059"/>
                    </a:ext>
                  </a:extLst>
                </a:gridCol>
              </a:tblGrid>
              <a:tr h="759496">
                <a:tc>
                  <a:txBody>
                    <a:bodyPr/>
                    <a:lstStyle/>
                    <a:p>
                      <a:pPr marL="0" marR="0" algn="ctr" rtl="0" latinLnBrk="0">
                        <a:lnSpc>
                          <a:spcPct val="150000"/>
                        </a:lnSpc>
                        <a:spcBef>
                          <a:spcPts val="0"/>
                        </a:spcBef>
                        <a:spcAft>
                          <a:spcPts val="0"/>
                        </a:spcAft>
                      </a:pPr>
                      <a:r>
                        <a:rPr lang="hy-AM" sz="1400" dirty="0">
                          <a:effectLst/>
                        </a:rPr>
                        <a:t>Քննությունների միջին միավորների նվազման տոկոսը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4667769"/>
                  </a:ext>
                </a:extLst>
              </a:tr>
              <a:tr h="659249">
                <a:tc>
                  <a:txBody>
                    <a:bodyPr/>
                    <a:lstStyle/>
                    <a:p>
                      <a:pPr marL="0" marR="0" lvl="0" algn="ctr" rtl="0">
                        <a:lnSpc>
                          <a:spcPct val="150000"/>
                        </a:lnSpc>
                        <a:spcBef>
                          <a:spcPts val="0"/>
                        </a:spcBef>
                        <a:spcAft>
                          <a:spcPts val="0"/>
                        </a:spcAft>
                        <a:buNone/>
                      </a:pPr>
                      <a:r>
                        <a:rPr lang="hy-AM" sz="1400" dirty="0">
                          <a:effectLst/>
                        </a:rPr>
                        <a:t>12-րդ. դաս. </a:t>
                      </a:r>
                      <a:endParaRPr lang="en-US" sz="1400" dirty="0" smtClean="0">
                        <a:effectLst/>
                      </a:endParaRPr>
                    </a:p>
                    <a:p>
                      <a:pPr marL="0" marR="0" lvl="0" algn="ctr" rtl="0">
                        <a:lnSpc>
                          <a:spcPct val="150000"/>
                        </a:lnSpc>
                        <a:spcBef>
                          <a:spcPts val="0"/>
                        </a:spcBef>
                        <a:spcAft>
                          <a:spcPts val="0"/>
                        </a:spcAft>
                        <a:buNone/>
                      </a:pPr>
                      <a:r>
                        <a:rPr lang="en-US" sz="1400" dirty="0" smtClean="0">
                          <a:effectLst/>
                        </a:rPr>
                        <a:t>2024-2025</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7442841"/>
                  </a:ext>
                </a:extLst>
              </a:tr>
              <a:tr h="403257">
                <a:tc>
                  <a:txBody>
                    <a:bodyPr/>
                    <a:lstStyle/>
                    <a:p>
                      <a:pPr marL="0" marR="0" lvl="0" algn="ctr" rtl="0">
                        <a:lnSpc>
                          <a:spcPct val="150000"/>
                        </a:lnSpc>
                        <a:spcBef>
                          <a:spcPts val="0"/>
                        </a:spcBef>
                        <a:spcAft>
                          <a:spcPts val="0"/>
                        </a:spcAft>
                        <a:buNone/>
                      </a:pPr>
                      <a:r>
                        <a:rPr lang="en-US" sz="1400" u="none" dirty="0" smtClean="0">
                          <a:solidFill>
                            <a:schemeClr val="tx1"/>
                          </a:solidFill>
                          <a:effectLst/>
                          <a:latin typeface="Sylfaen"/>
                        </a:rPr>
                        <a:t>10%</a:t>
                      </a:r>
                      <a:endParaRPr lang="en-US" sz="1400" u="none" dirty="0">
                        <a:solidFill>
                          <a:schemeClr val="tx1"/>
                        </a:solidFill>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059926"/>
                  </a:ext>
                </a:extLst>
              </a:tr>
              <a:tr h="415169">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1400" dirty="0" smtClean="0">
                          <a:effectLst/>
                          <a:latin typeface="Sylfaen"/>
                        </a:rPr>
                        <a:t>6% </a:t>
                      </a:r>
                      <a:r>
                        <a:rPr lang="en-US" sz="1400" dirty="0" err="1" smtClean="0">
                          <a:effectLst/>
                          <a:latin typeface="Sylfaen"/>
                        </a:rPr>
                        <a:t>աճ</a:t>
                      </a:r>
                      <a:endParaRPr lang="en-US" sz="1400" dirty="0" smtClean="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745409"/>
                  </a:ext>
                </a:extLst>
              </a:tr>
              <a:tr h="402521">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1400" dirty="0" smtClean="0">
                          <a:effectLst/>
                          <a:latin typeface="Sylfaen"/>
                        </a:rPr>
                        <a:t>6% </a:t>
                      </a:r>
                      <a:r>
                        <a:rPr lang="en-US" sz="1400" dirty="0" err="1" smtClean="0">
                          <a:effectLst/>
                          <a:latin typeface="Sylfaen"/>
                        </a:rPr>
                        <a:t>նվազում</a:t>
                      </a:r>
                      <a:endParaRPr lang="en-US" sz="1400" dirty="0" smtClean="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7746046"/>
                  </a:ext>
                </a:extLst>
              </a:tr>
              <a:tr h="415776">
                <a:tc>
                  <a:txBody>
                    <a:bodyPr/>
                    <a:lstStyle/>
                    <a:p>
                      <a:pPr marL="0" marR="0" lvl="0" algn="ctr" rtl="0">
                        <a:lnSpc>
                          <a:spcPct val="150000"/>
                        </a:lnSpc>
                        <a:spcBef>
                          <a:spcPts val="0"/>
                        </a:spcBef>
                        <a:spcAft>
                          <a:spcPts val="0"/>
                        </a:spcAft>
                        <a:buNone/>
                      </a:pPr>
                      <a:endParaRPr lang="en-US" dirty="0"/>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7566477"/>
                  </a:ext>
                </a:extLst>
              </a:tr>
            </a:tbl>
          </a:graphicData>
        </a:graphic>
      </p:graphicFrame>
    </p:spTree>
    <p:extLst>
      <p:ext uri="{BB962C8B-B14F-4D97-AF65-F5344CB8AC3E}">
        <p14:creationId xmlns:p14="http://schemas.microsoft.com/office/powerpoint/2010/main" val="38250300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4788" y="0"/>
            <a:ext cx="9363892" cy="646331"/>
          </a:xfrm>
          <a:prstGeom prst="rect">
            <a:avLst/>
          </a:prstGeom>
        </p:spPr>
        <p:txBody>
          <a:bodyPr rtlCol="0">
            <a:spAutoFit/>
          </a:bodyPr>
          <a:lstStyle/>
          <a:p>
            <a:pPr algn="just"/>
            <a:r>
              <a:rPr lang="hy-AM" b="1" i="1">
                <a:latin typeface="Sylfaen"/>
              </a:rPr>
              <a:t>Աղյուսակ 21. Տվյալներ սովորողների առաջադիմության վերաբերյալ տվյալ և նախորդ</a:t>
            </a:r>
            <a:r>
              <a:rPr lang="en-US">
                <a:latin typeface="Sylfaen"/>
              </a:rPr>
              <a:t>​</a:t>
            </a:r>
            <a:endParaRPr lang="hy-AM">
              <a:latin typeface="Sylfaen"/>
            </a:endParaRPr>
          </a:p>
          <a:p>
            <a:pPr algn="just"/>
            <a:r>
              <a:rPr lang="hy-AM" b="1" i="1">
                <a:latin typeface="Sylfaen"/>
              </a:rPr>
              <a:t>                          2 ուստարիների համար՝ ըստ կրթական աստիճանների</a:t>
            </a:r>
            <a:r>
              <a:rPr lang="en-US">
                <a:latin typeface="Sylfaen"/>
              </a:rPr>
              <a:t>​</a:t>
            </a:r>
          </a:p>
        </p:txBody>
      </p:sp>
      <p:graphicFrame>
        <p:nvGraphicFramePr>
          <p:cNvPr id="5" name="Table 4"/>
          <p:cNvGraphicFramePr/>
          <p:nvPr>
            <p:extLst>
              <p:ext uri="{D42A27DB-BD31-4B8C-83A1-F6EECF244321}">
                <p14:modId xmlns:p14="http://schemas.microsoft.com/office/powerpoint/2010/main" val="1125962653"/>
              </p:ext>
            </p:extLst>
          </p:nvPr>
        </p:nvGraphicFramePr>
        <p:xfrm>
          <a:off x="1097142" y="926562"/>
          <a:ext cx="9512134" cy="5736439"/>
        </p:xfrm>
        <a:graphic>
          <a:graphicData uri="http://schemas.openxmlformats.org/drawingml/2006/table">
            <a:tbl>
              <a:tblPr>
                <a:tableStyleId>{5940675A-B579-460E-94D1-54222C63F5DA}</a:tableStyleId>
              </a:tblPr>
              <a:tblGrid>
                <a:gridCol w="5918519">
                  <a:extLst>
                    <a:ext uri="{9D8B030D-6E8A-4147-A177-3AD203B41FA5}">
                      <a16:colId xmlns:a16="http://schemas.microsoft.com/office/drawing/2014/main" val="315140185"/>
                    </a:ext>
                  </a:extLst>
                </a:gridCol>
                <a:gridCol w="1228132">
                  <a:extLst>
                    <a:ext uri="{9D8B030D-6E8A-4147-A177-3AD203B41FA5}">
                      <a16:colId xmlns:a16="http://schemas.microsoft.com/office/drawing/2014/main" val="1210082133"/>
                    </a:ext>
                  </a:extLst>
                </a:gridCol>
                <a:gridCol w="1204580">
                  <a:extLst>
                    <a:ext uri="{9D8B030D-6E8A-4147-A177-3AD203B41FA5}">
                      <a16:colId xmlns:a16="http://schemas.microsoft.com/office/drawing/2014/main" val="3230369239"/>
                    </a:ext>
                  </a:extLst>
                </a:gridCol>
                <a:gridCol w="1160903">
                  <a:extLst>
                    <a:ext uri="{9D8B030D-6E8A-4147-A177-3AD203B41FA5}">
                      <a16:colId xmlns:a16="http://schemas.microsoft.com/office/drawing/2014/main" val="1014931734"/>
                    </a:ext>
                  </a:extLst>
                </a:gridCol>
              </a:tblGrid>
              <a:tr h="631411">
                <a:tc rowSpan="2">
                  <a:txBody>
                    <a:bodyPr/>
                    <a:lstStyle/>
                    <a:p>
                      <a:pPr marL="0" marR="0" algn="ctr" rtl="0" eaLnBrk="1" latinLnBrk="0" hangingPunct="1">
                        <a:lnSpc>
                          <a:spcPct val="150000"/>
                        </a:lnSpc>
                        <a:spcBef>
                          <a:spcPts val="0"/>
                        </a:spcBef>
                        <a:spcAft>
                          <a:spcPts val="0"/>
                        </a:spcAft>
                      </a:pPr>
                      <a:r>
                        <a:rPr lang="hy-AM" sz="1800" dirty="0">
                          <a:effectLst/>
                        </a:rPr>
                        <a:t>Ցուցանիշ</a:t>
                      </a:r>
                      <a:r>
                        <a:rPr lang="hy-AM" sz="1200" dirty="0">
                          <a:effectLst/>
                        </a:rPr>
                        <a:t> </a:t>
                      </a:r>
                      <a:endParaRPr lang="hy-AM" dirty="0">
                        <a:effectLst/>
                      </a:endParaRP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200" dirty="0">
                          <a:effectLst/>
                        </a:rPr>
                        <a:t>20</a:t>
                      </a:r>
                      <a:r>
                        <a:rPr lang="ru-RU" sz="1200" dirty="0">
                          <a:effectLst/>
                        </a:rPr>
                        <a:t>22</a:t>
                      </a:r>
                      <a:r>
                        <a:rPr lang="hy-AM" sz="1200" dirty="0">
                          <a:effectLst/>
                        </a:rPr>
                        <a:t>-2023 </a:t>
                      </a:r>
                      <a:r>
                        <a:rPr lang="en-US" sz="1200" dirty="0">
                          <a:effectLst/>
                        </a:rPr>
                        <a:t>ո</a:t>
                      </a:r>
                      <a:r>
                        <a:rPr lang="hy-AM" sz="1200" dirty="0">
                          <a:effectLst/>
                        </a:rPr>
                        <a:t>ւստարի </a:t>
                      </a: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200" dirty="0">
                          <a:effectLst/>
                        </a:rPr>
                        <a:t>20</a:t>
                      </a:r>
                      <a:r>
                        <a:rPr lang="ru-RU" sz="1200" dirty="0" smtClean="0">
                          <a:effectLst/>
                        </a:rPr>
                        <a:t>2</a:t>
                      </a:r>
                      <a:r>
                        <a:rPr lang="en-US" sz="1200" dirty="0" smtClean="0">
                          <a:effectLst/>
                        </a:rPr>
                        <a:t>3</a:t>
                      </a:r>
                      <a:r>
                        <a:rPr lang="hy-AM" sz="1200" dirty="0" smtClean="0">
                          <a:effectLst/>
                        </a:rPr>
                        <a:t>-202</a:t>
                      </a:r>
                      <a:r>
                        <a:rPr lang="en-US" sz="1200" dirty="0" smtClean="0">
                          <a:effectLst/>
                        </a:rPr>
                        <a:t>4</a:t>
                      </a:r>
                      <a:r>
                        <a:rPr lang="hy-AM" sz="1200" dirty="0">
                          <a:effectLst/>
                        </a:rPr>
                        <a:t> </a:t>
                      </a:r>
                      <a:r>
                        <a:rPr lang="en-US" sz="1200" dirty="0">
                          <a:effectLst/>
                        </a:rPr>
                        <a:t>ո</a:t>
                      </a:r>
                      <a:r>
                        <a:rPr lang="hy-AM" sz="1200" dirty="0">
                          <a:effectLst/>
                        </a:rPr>
                        <a:t>ւստարի </a:t>
                      </a: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200" dirty="0">
                          <a:effectLst/>
                        </a:rPr>
                        <a:t>20</a:t>
                      </a:r>
                      <a:r>
                        <a:rPr lang="ru-RU" sz="1200" dirty="0" smtClean="0">
                          <a:effectLst/>
                        </a:rPr>
                        <a:t>2</a:t>
                      </a:r>
                      <a:r>
                        <a:rPr lang="en-US" sz="1200" dirty="0" smtClean="0">
                          <a:effectLst/>
                        </a:rPr>
                        <a:t>4</a:t>
                      </a:r>
                      <a:r>
                        <a:rPr lang="hy-AM" sz="1200" dirty="0" smtClean="0">
                          <a:effectLst/>
                        </a:rPr>
                        <a:t>-202</a:t>
                      </a:r>
                      <a:r>
                        <a:rPr lang="en-US" sz="1200" dirty="0" smtClean="0">
                          <a:effectLst/>
                        </a:rPr>
                        <a:t>5</a:t>
                      </a:r>
                      <a:r>
                        <a:rPr lang="hy-AM" sz="1200" dirty="0">
                          <a:effectLst/>
                        </a:rPr>
                        <a:t> </a:t>
                      </a:r>
                      <a:r>
                        <a:rPr lang="en-US" sz="1200" dirty="0">
                          <a:effectLst/>
                        </a:rPr>
                        <a:t>ո</a:t>
                      </a:r>
                      <a:r>
                        <a:rPr lang="hy-AM" sz="1200" dirty="0">
                          <a:effectLst/>
                        </a:rPr>
                        <a:t>ւստարի </a:t>
                      </a:r>
                    </a:p>
                  </a:txBody>
                  <a:tcPr marL="0" marR="0" marT="0" marB="0" anchor="ctr"/>
                </a:tc>
                <a:extLst>
                  <a:ext uri="{0D108BD9-81ED-4DB2-BD59-A6C34878D82A}">
                    <a16:rowId xmlns:a16="http://schemas.microsoft.com/office/drawing/2014/main" val="3108366517"/>
                  </a:ext>
                </a:extLst>
              </a:tr>
              <a:tr h="911361">
                <a:tc vMerge="1">
                  <a:txBody>
                    <a:bodyPr/>
                    <a:lstStyle/>
                    <a:p>
                      <a:endParaRPr lang="en-US"/>
                    </a:p>
                  </a:txBody>
                  <a:tcPr/>
                </a:tc>
                <a:tc>
                  <a:txBody>
                    <a:bodyPr/>
                    <a:lstStyle/>
                    <a:p>
                      <a:pPr marL="0" marR="0" algn="ctr" rtl="0" latinLnBrk="0">
                        <a:lnSpc>
                          <a:spcPct val="150000"/>
                        </a:lnSpc>
                        <a:spcBef>
                          <a:spcPts val="0"/>
                        </a:spcBef>
                        <a:spcAft>
                          <a:spcPts val="0"/>
                        </a:spcAft>
                      </a:pPr>
                      <a:r>
                        <a:rPr lang="hy-AM" sz="12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gn="ctr" rtl="0" latinLnBrk="0">
                        <a:lnSpc>
                          <a:spcPct val="150000"/>
                        </a:lnSpc>
                        <a:spcBef>
                          <a:spcPts val="0"/>
                        </a:spcBef>
                        <a:spcAft>
                          <a:spcPts val="0"/>
                        </a:spcAft>
                      </a:pPr>
                      <a:r>
                        <a:rPr lang="hy-AM" sz="12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tc>
                <a:extLst>
                  <a:ext uri="{0D108BD9-81ED-4DB2-BD59-A6C34878D82A}">
                    <a16:rowId xmlns:a16="http://schemas.microsoft.com/office/drawing/2014/main" val="3890471133"/>
                  </a:ext>
                </a:extLst>
              </a:tr>
              <a:tr h="607533">
                <a:tc>
                  <a:txBody>
                    <a:bodyPr/>
                    <a:lstStyle/>
                    <a:p>
                      <a:pPr marL="0" marR="0" rtl="0" latinLnBrk="0">
                        <a:lnSpc>
                          <a:spcPct val="150000"/>
                        </a:lnSpc>
                        <a:spcBef>
                          <a:spcPts val="0"/>
                        </a:spcBef>
                        <a:spcAft>
                          <a:spcPts val="0"/>
                        </a:spcAft>
                      </a:pPr>
                      <a:r>
                        <a:rPr lang="hy-AM" sz="1200">
                          <a:effectLst/>
                        </a:rPr>
                        <a:t>Գերազանց </a:t>
                      </a:r>
                      <a:r>
                        <a:rPr lang="hy-AM" sz="1200" err="1">
                          <a:effectLst/>
                        </a:rPr>
                        <a:t>առաջադիմությամբ</a:t>
                      </a:r>
                      <a:r>
                        <a:rPr lang="hy-AM" sz="1200">
                          <a:effectLst/>
                        </a:rPr>
                        <a:t> սովորողների թիվը և տոկոսը՝ ըստ կրթական աստիճանների </a:t>
                      </a:r>
                      <a:endParaRPr lang="hy-AM">
                        <a:effectLst/>
                      </a:endParaRPr>
                    </a:p>
                  </a:txBody>
                  <a:tcPr marL="0" marR="0" marT="0" marB="0" anchor="ctr"/>
                </a:tc>
                <a:tc>
                  <a:txBody>
                    <a:bodyPr/>
                    <a:lstStyle/>
                    <a:p>
                      <a:pPr lvl="0" algn="ctr">
                        <a:buNone/>
                      </a:pPr>
                      <a:r>
                        <a:rPr lang="ru-RU" sz="1200" dirty="0"/>
                        <a:t>29</a:t>
                      </a:r>
                    </a:p>
                  </a:txBody>
                  <a:tcPr marL="0" marR="0" marT="0" marB="0" anchor="ctr"/>
                </a:tc>
                <a:tc>
                  <a:txBody>
                    <a:bodyPr/>
                    <a:lstStyle/>
                    <a:p>
                      <a:pPr lvl="0" algn="ctr">
                        <a:buNone/>
                      </a:pPr>
                      <a:r>
                        <a:rPr lang="en-US" sz="1200" dirty="0" smtClean="0"/>
                        <a:t>44 </a:t>
                      </a:r>
                      <a:r>
                        <a:rPr lang="en-US" sz="1200" dirty="0" err="1" smtClean="0"/>
                        <a:t>աշ</a:t>
                      </a:r>
                      <a:r>
                        <a:rPr lang="en-US" sz="1200" dirty="0" smtClean="0"/>
                        <a: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10%</a:t>
                      </a:r>
                      <a:endParaRPr lang="ru-RU" sz="1200" dirty="0" smtClean="0"/>
                    </a:p>
                  </a:txBody>
                  <a:tcPr marL="0" marR="0" marT="0" marB="0" anchor="ctr"/>
                </a:tc>
                <a:tc>
                  <a:txBody>
                    <a:bodyPr/>
                    <a:lstStyle/>
                    <a:p>
                      <a:pPr lvl="0" algn="ctr">
                        <a:buNone/>
                      </a:pPr>
                      <a:r>
                        <a:rPr lang="en-US" sz="1200" dirty="0" smtClean="0"/>
                        <a:t>63 </a:t>
                      </a:r>
                      <a:r>
                        <a:rPr lang="en-US" sz="1200" dirty="0" err="1" smtClean="0"/>
                        <a:t>աշ</a:t>
                      </a:r>
                      <a:r>
                        <a:rPr lang="en-US" sz="1200" dirty="0" smtClean="0"/>
                        <a: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15%</a:t>
                      </a:r>
                      <a:endParaRPr lang="ru-RU" sz="1200" dirty="0" smtClean="0"/>
                    </a:p>
                  </a:txBody>
                  <a:tcPr marL="0" marR="0" marT="0" marB="0" anchor="ctr">
                    <a:solidFill>
                      <a:schemeClr val="accent5">
                        <a:lumMod val="20000"/>
                        <a:lumOff val="80000"/>
                      </a:schemeClr>
                    </a:solidFill>
                  </a:tcPr>
                </a:tc>
                <a:extLst>
                  <a:ext uri="{0D108BD9-81ED-4DB2-BD59-A6C34878D82A}">
                    <a16:rowId xmlns:a16="http://schemas.microsoft.com/office/drawing/2014/main" val="2129612580"/>
                  </a:ext>
                </a:extLst>
              </a:tr>
              <a:tr h="607533">
                <a:tc>
                  <a:txBody>
                    <a:bodyPr/>
                    <a:lstStyle/>
                    <a:p>
                      <a:pPr marL="0" marR="0" rtl="0" latinLnBrk="0">
                        <a:lnSpc>
                          <a:spcPct val="150000"/>
                        </a:lnSpc>
                        <a:spcBef>
                          <a:spcPts val="0"/>
                        </a:spcBef>
                        <a:spcAft>
                          <a:spcPts val="0"/>
                        </a:spcAft>
                      </a:pPr>
                      <a:r>
                        <a:rPr lang="hy-AM" sz="1200">
                          <a:effectLst/>
                        </a:rPr>
                        <a:t>Ցածր </a:t>
                      </a:r>
                      <a:r>
                        <a:rPr lang="hy-AM" sz="1200" err="1">
                          <a:effectLst/>
                        </a:rPr>
                        <a:t>առաջադիմությամբ</a:t>
                      </a:r>
                      <a:r>
                        <a:rPr lang="hy-AM" sz="1200">
                          <a:effectLst/>
                        </a:rPr>
                        <a:t> սովորողների թիվը և տոկոսը` ըստ կրթական աստիճանների </a:t>
                      </a:r>
                      <a:endParaRPr lang="hy-AM">
                        <a:effectLst/>
                      </a:endParaRPr>
                    </a:p>
                  </a:txBody>
                  <a:tcPr marL="0" marR="0" marT="0" marB="0" anchor="ctr"/>
                </a:tc>
                <a:tc>
                  <a:txBody>
                    <a:bodyPr/>
                    <a:lstStyle/>
                    <a:p>
                      <a:pPr lvl="0" algn="ctr">
                        <a:buNone/>
                      </a:pPr>
                      <a:endParaRPr lang="en-US" sz="1200" dirty="0"/>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a:t>
                      </a:r>
                      <a:endParaRPr lang="ru-RU" sz="1200" dirty="0" smtClean="0"/>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a:t>
                      </a:r>
                      <a:endParaRPr lang="ru-RU" sz="1200" dirty="0" smtClean="0"/>
                    </a:p>
                  </a:txBody>
                  <a:tcPr marL="0" marR="0" marT="0" marB="0" anchor="ctr">
                    <a:solidFill>
                      <a:schemeClr val="accent5">
                        <a:lumMod val="20000"/>
                        <a:lumOff val="80000"/>
                      </a:schemeClr>
                    </a:solidFill>
                  </a:tcPr>
                </a:tc>
                <a:extLst>
                  <a:ext uri="{0D108BD9-81ED-4DB2-BD59-A6C34878D82A}">
                    <a16:rowId xmlns:a16="http://schemas.microsoft.com/office/drawing/2014/main" val="3581883669"/>
                  </a:ext>
                </a:extLst>
              </a:tr>
              <a:tr h="303828">
                <a:tc>
                  <a:txBody>
                    <a:bodyPr/>
                    <a:lstStyle/>
                    <a:p>
                      <a:pPr marL="0" marR="0" rtl="0" latinLnBrk="0">
                        <a:lnSpc>
                          <a:spcPct val="150000"/>
                        </a:lnSpc>
                        <a:spcBef>
                          <a:spcPts val="0"/>
                        </a:spcBef>
                        <a:spcAft>
                          <a:spcPts val="0"/>
                        </a:spcAft>
                      </a:pPr>
                      <a:r>
                        <a:rPr lang="hy-AM" sz="1200">
                          <a:effectLst/>
                        </a:rPr>
                        <a:t>Ավարտման գործակից՝ ըստ կրթական աստիճանների </a:t>
                      </a:r>
                      <a:endParaRPr lang="hy-AM">
                        <a:effectLst/>
                      </a:endParaRPr>
                    </a:p>
                  </a:txBody>
                  <a:tcPr marL="0" marR="0" marT="0" marB="0" anchor="ctr"/>
                </a:tc>
                <a:tc>
                  <a:txBody>
                    <a:bodyPr/>
                    <a:lstStyle/>
                    <a:p>
                      <a:pPr algn="ctr"/>
                      <a:r>
                        <a:rPr lang="hy-AM" sz="1200" dirty="0"/>
                        <a:t>100</a:t>
                      </a:r>
                      <a:r>
                        <a:rPr lang="en-US" sz="1200" dirty="0"/>
                        <a:t>%</a:t>
                      </a:r>
                      <a:endParaRPr lang="ru-RU" sz="1200" dirty="0"/>
                    </a:p>
                  </a:txBody>
                  <a:tcPr marL="0" marR="0" marT="0" marB="0" anchor="ctr"/>
                </a:tc>
                <a:tc>
                  <a:txBody>
                    <a:bodyPr/>
                    <a:lstStyle/>
                    <a:p>
                      <a:pPr algn="ctr"/>
                      <a:r>
                        <a:rPr lang="hy-AM" sz="1200" dirty="0"/>
                        <a:t>100</a:t>
                      </a:r>
                      <a:r>
                        <a:rPr lang="en-US" sz="1200" dirty="0"/>
                        <a:t>%</a:t>
                      </a:r>
                      <a:endParaRPr lang="ru-RU" sz="1200" dirty="0"/>
                    </a:p>
                  </a:txBody>
                  <a:tcPr marL="0" marR="0" marT="0" marB="0" anchor="ctr"/>
                </a:tc>
                <a:tc>
                  <a:txBody>
                    <a:bodyPr/>
                    <a:lstStyle/>
                    <a:p>
                      <a:pPr algn="ctr"/>
                      <a:r>
                        <a:rPr lang="hy-AM" sz="1200" dirty="0"/>
                        <a:t>100</a:t>
                      </a:r>
                      <a:r>
                        <a:rPr lang="en-US" sz="1200" dirty="0"/>
                        <a:t>%</a:t>
                      </a:r>
                      <a:endParaRPr lang="ru-RU" sz="1200" dirty="0"/>
                    </a:p>
                  </a:txBody>
                  <a:tcPr marL="0" marR="0" marT="0" marB="0" anchor="ctr"/>
                </a:tc>
                <a:extLst>
                  <a:ext uri="{0D108BD9-81ED-4DB2-BD59-A6C34878D82A}">
                    <a16:rowId xmlns:a16="http://schemas.microsoft.com/office/drawing/2014/main" val="2504113211"/>
                  </a:ext>
                </a:extLst>
              </a:tr>
              <a:tr h="548346">
                <a:tc>
                  <a:txBody>
                    <a:bodyPr/>
                    <a:lstStyle/>
                    <a:p>
                      <a:pPr marL="0" marR="0" rtl="0" latinLnBrk="0">
                        <a:lnSpc>
                          <a:spcPct val="150000"/>
                        </a:lnSpc>
                        <a:spcBef>
                          <a:spcPts val="0"/>
                        </a:spcBef>
                        <a:spcAft>
                          <a:spcPts val="0"/>
                        </a:spcAft>
                      </a:pPr>
                      <a:r>
                        <a:rPr lang="hy-AM" sz="1200" err="1">
                          <a:effectLst/>
                        </a:rPr>
                        <a:t>Երկտարեցիների</a:t>
                      </a:r>
                      <a:r>
                        <a:rPr lang="hy-AM" sz="1200">
                          <a:effectLst/>
                        </a:rPr>
                        <a:t> թիվը և տոկոսը՝ ըստ կրթական աստիճանների </a:t>
                      </a:r>
                      <a:endParaRPr lang="hy-AM">
                        <a:effectLst/>
                      </a:endParaRPr>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a:t>-</a:t>
                      </a:r>
                      <a:endParaRPr lang="ru-RU" dirty="0"/>
                    </a:p>
                  </a:txBody>
                  <a:tcPr marL="0" marR="0" marT="0" marB="0" anchor="ctr"/>
                </a:tc>
                <a:extLst>
                  <a:ext uri="{0D108BD9-81ED-4DB2-BD59-A6C34878D82A}">
                    <a16:rowId xmlns:a16="http://schemas.microsoft.com/office/drawing/2014/main" val="2624630060"/>
                  </a:ext>
                </a:extLst>
              </a:tr>
              <a:tr h="607533">
                <a:tc>
                  <a:txBody>
                    <a:bodyPr/>
                    <a:lstStyle/>
                    <a:p>
                      <a:pPr marL="0" marR="0" rtl="0" latinLnBrk="0">
                        <a:lnSpc>
                          <a:spcPct val="150000"/>
                        </a:lnSpc>
                        <a:spcBef>
                          <a:spcPts val="0"/>
                        </a:spcBef>
                        <a:spcAft>
                          <a:spcPts val="0"/>
                        </a:spcAft>
                      </a:pPr>
                      <a:r>
                        <a:rPr lang="hy-AM" sz="1200" err="1">
                          <a:effectLst/>
                        </a:rPr>
                        <a:t>Կրկնուսույցների</a:t>
                      </a:r>
                      <a:r>
                        <a:rPr lang="hy-AM" sz="1200">
                          <a:effectLst/>
                        </a:rPr>
                        <a:t> մոտ պարապող սովորողների թիվը և տոկոսը՝ ըստ կրթական աստիճանների </a:t>
                      </a:r>
                      <a:endParaRPr lang="hy-AM">
                        <a:effectLst/>
                      </a:endParaRPr>
                    </a:p>
                  </a:txBody>
                  <a:tcPr marL="0" marR="0" marT="0" marB="0" anchor="ctr"/>
                </a:tc>
                <a:tc>
                  <a:txBody>
                    <a:bodyPr/>
                    <a:lstStyle/>
                    <a:p>
                      <a:pPr algn="ctr"/>
                      <a:r>
                        <a:rPr lang="en-US" sz="1200" dirty="0"/>
                        <a:t>40</a:t>
                      </a:r>
                    </a:p>
                  </a:txBody>
                  <a:tcPr marL="0" marR="0" marT="0" marB="0" anchor="ctr"/>
                </a:tc>
                <a:tc>
                  <a:txBody>
                    <a:bodyPr/>
                    <a:lstStyle/>
                    <a:p>
                      <a:pPr algn="ctr"/>
                      <a:r>
                        <a:rPr lang="en-US" sz="1200" dirty="0" smtClean="0"/>
                        <a:t>38%</a:t>
                      </a:r>
                      <a:endParaRPr lang="en-US" sz="1200" dirty="0"/>
                    </a:p>
                  </a:txBody>
                  <a:tcPr marL="0" marR="0" marT="0" marB="0" anchor="ctr"/>
                </a:tc>
                <a:tc>
                  <a:txBody>
                    <a:bodyPr/>
                    <a:lstStyle/>
                    <a:p>
                      <a:pPr lvl="0" algn="ctr">
                        <a:buNone/>
                      </a:pPr>
                      <a:r>
                        <a:rPr lang="en-US" sz="1200" dirty="0" smtClean="0"/>
                        <a:t>76 </a:t>
                      </a:r>
                      <a:r>
                        <a:rPr lang="en-US" sz="1200" dirty="0" err="1" smtClean="0"/>
                        <a:t>աշ</a:t>
                      </a:r>
                      <a:r>
                        <a:rPr lang="en-US" sz="1200" dirty="0" smtClean="0"/>
                        <a: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41%</a:t>
                      </a:r>
                      <a:endParaRPr lang="ru-RU" sz="1200" dirty="0" smtClean="0"/>
                    </a:p>
                  </a:txBody>
                  <a:tcPr marL="0" marR="0" marT="0" marB="0" anchor="ctr"/>
                </a:tc>
                <a:extLst>
                  <a:ext uri="{0D108BD9-81ED-4DB2-BD59-A6C34878D82A}">
                    <a16:rowId xmlns:a16="http://schemas.microsoft.com/office/drawing/2014/main" val="655027330"/>
                  </a:ext>
                </a:extLst>
              </a:tr>
              <a:tr h="607533">
                <a:tc>
                  <a:txBody>
                    <a:bodyPr/>
                    <a:lstStyle/>
                    <a:p>
                      <a:pPr marL="0" marR="0" rtl="0" latinLnBrk="0">
                        <a:lnSpc>
                          <a:spcPct val="150000"/>
                        </a:lnSpc>
                        <a:spcBef>
                          <a:spcPts val="0"/>
                        </a:spcBef>
                        <a:spcAft>
                          <a:spcPts val="0"/>
                        </a:spcAft>
                      </a:pPr>
                      <a:r>
                        <a:rPr lang="hy-AM" sz="1200">
                          <a:effectLst/>
                        </a:rPr>
                        <a:t>Միասնական քննություններին մասնակիցների թիվը և տոկոսը՝ շրջանավարտների ընդհանուր թվի նկատմամբ </a:t>
                      </a:r>
                      <a:endParaRPr lang="hy-AM">
                        <a:effectLst/>
                      </a:endParaRPr>
                    </a:p>
                  </a:txBody>
                  <a:tcPr marL="0" marR="0" marT="0" marB="0" anchor="ctr"/>
                </a:tc>
                <a:tc>
                  <a:txBody>
                    <a:bodyPr/>
                    <a:lstStyle/>
                    <a:p>
                      <a:pPr algn="ctr"/>
                      <a:r>
                        <a:rPr lang="en-US" sz="1200" dirty="0"/>
                        <a:t>25</a:t>
                      </a:r>
                    </a:p>
                  </a:txBody>
                  <a:tcPr marL="0" marR="0" marT="0" marB="0" anchor="ctr"/>
                </a:tc>
                <a:tc>
                  <a:txBody>
                    <a:bodyPr/>
                    <a:lstStyle/>
                    <a:p>
                      <a:pPr algn="ctr"/>
                      <a:r>
                        <a:rPr lang="en-US" sz="1200" dirty="0" smtClean="0"/>
                        <a:t>90 </a:t>
                      </a:r>
                      <a:r>
                        <a:rPr lang="en-US" sz="1200" dirty="0" err="1" smtClean="0"/>
                        <a:t>աշ</a:t>
                      </a:r>
                      <a:r>
                        <a:rPr lang="en-US" sz="1200" dirty="0" smtClean="0"/>
                        <a:t>.</a:t>
                      </a:r>
                    </a:p>
                    <a:p>
                      <a:pPr algn="ctr"/>
                      <a:r>
                        <a:rPr lang="en-US" sz="1200" dirty="0" smtClean="0"/>
                        <a:t>59%</a:t>
                      </a:r>
                      <a:endParaRPr lang="en-US" sz="1200" dirty="0"/>
                    </a:p>
                  </a:txBody>
                  <a:tcPr marL="0" marR="0" marT="0" marB="0" anchor="ctr"/>
                </a:tc>
                <a:tc>
                  <a:txBody>
                    <a:bodyPr/>
                    <a:lstStyle/>
                    <a:p>
                      <a:pPr algn="ctr"/>
                      <a:r>
                        <a:rPr lang="en-US" sz="1200" dirty="0" smtClean="0"/>
                        <a:t>79 </a:t>
                      </a:r>
                      <a:r>
                        <a:rPr lang="en-US" sz="1200" dirty="0" err="1" smtClean="0"/>
                        <a:t>աշ</a:t>
                      </a:r>
                      <a:r>
                        <a:rPr lang="en-US" sz="1200" dirty="0" smtClean="0"/>
                        <a:t>.</a:t>
                      </a:r>
                    </a:p>
                    <a:p>
                      <a:pPr algn="ctr"/>
                      <a:r>
                        <a:rPr lang="en-US" sz="1200" dirty="0" smtClean="0"/>
                        <a:t>42%</a:t>
                      </a:r>
                      <a:endParaRPr lang="en-US" sz="1200" dirty="0"/>
                    </a:p>
                  </a:txBody>
                  <a:tcPr marL="0" marR="0" marT="0" marB="0" anchor="ctr"/>
                </a:tc>
                <a:extLst>
                  <a:ext uri="{0D108BD9-81ED-4DB2-BD59-A6C34878D82A}">
                    <a16:rowId xmlns:a16="http://schemas.microsoft.com/office/drawing/2014/main" val="3813427074"/>
                  </a:ext>
                </a:extLst>
              </a:tr>
              <a:tr h="911361">
                <a:tc>
                  <a:txBody>
                    <a:bodyPr/>
                    <a:lstStyle/>
                    <a:p>
                      <a:pPr marL="0" marR="0" rtl="0" latinLnBrk="0">
                        <a:lnSpc>
                          <a:spcPct val="150000"/>
                        </a:lnSpc>
                        <a:spcBef>
                          <a:spcPts val="0"/>
                        </a:spcBef>
                        <a:spcAft>
                          <a:spcPts val="0"/>
                        </a:spcAft>
                      </a:pPr>
                      <a:r>
                        <a:rPr lang="hy-AM" sz="1200">
                          <a:effectLst/>
                        </a:rPr>
                        <a:t>Ավարտական և միասնական քննություններից անբավարար ստացած շրջանավարտների թիվը և տոկոսը՝ շրջանավարտների ընդհանուր թվի նկատմամբ </a:t>
                      </a:r>
                      <a:endParaRPr lang="hy-AM">
                        <a:effectLst/>
                      </a:endParaRPr>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sz="1200" dirty="0" smtClean="0">
                          <a:latin typeface="Sylfaen" panose="010A0502050306030303" pitchFamily="18" charset="0"/>
                        </a:rPr>
                        <a:t>3 </a:t>
                      </a:r>
                      <a:r>
                        <a:rPr lang="en-US" sz="1200" dirty="0" err="1" smtClean="0">
                          <a:latin typeface="Sylfaen" panose="010A0502050306030303" pitchFamily="18" charset="0"/>
                        </a:rPr>
                        <a:t>աշ</a:t>
                      </a:r>
                      <a:r>
                        <a:rPr lang="en-US" sz="1200" dirty="0" smtClean="0">
                          <a:latin typeface="Sylfaen" panose="010A0502050306030303" pitchFamily="18" charset="0"/>
                        </a:rPr>
                        <a:t>.</a:t>
                      </a:r>
                    </a:p>
                    <a:p>
                      <a:pPr algn="ctr"/>
                      <a:r>
                        <a:rPr lang="en-US" sz="1200" dirty="0" smtClean="0">
                          <a:latin typeface="Sylfaen" panose="010A0502050306030303" pitchFamily="18" charset="0"/>
                        </a:rPr>
                        <a:t>1,6%</a:t>
                      </a:r>
                    </a:p>
                  </a:txBody>
                  <a:tcPr marL="0" marR="0" marT="0" marB="0" anchor="ctr"/>
                </a:tc>
                <a:extLst>
                  <a:ext uri="{0D108BD9-81ED-4DB2-BD59-A6C34878D82A}">
                    <a16:rowId xmlns:a16="http://schemas.microsoft.com/office/drawing/2014/main" val="2863737447"/>
                  </a:ext>
                </a:extLst>
              </a:tr>
            </a:tbl>
          </a:graphicData>
        </a:graphic>
      </p:graphicFrame>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143AB703-B5B4-68F4-94B2-4BB883DF92F6}"/>
                  </a:ext>
                </a:extLst>
              </p14:cNvPr>
              <p14:cNvContentPartPr/>
              <p14:nvPr/>
            </p14:nvContentPartPr>
            <p14:xfrm>
              <a:off x="8262470" y="5304117"/>
              <a:ext cx="14941" cy="14941"/>
            </p14:xfrm>
          </p:contentPart>
        </mc:Choice>
        <mc:Fallback xmlns="">
          <p:pic>
            <p:nvPicPr>
              <p:cNvPr id="12" name="Ink 11">
                <a:extLst>
                  <a:ext uri="{FF2B5EF4-FFF2-40B4-BE49-F238E27FC236}">
                    <a16:creationId xmlns:a16="http://schemas.microsoft.com/office/drawing/2014/main" id="{143AB703-B5B4-68F4-94B2-4BB883DF92F6}"/>
                  </a:ext>
                </a:extLst>
              </p:cNvPr>
              <p:cNvPicPr/>
              <p:nvPr/>
            </p:nvPicPr>
            <p:blipFill>
              <a:blip r:embed="rId4"/>
              <a:stretch>
                <a:fillRect/>
              </a:stretch>
            </p:blipFill>
            <p:spPr>
              <a:xfrm>
                <a:off x="7515420" y="4557067"/>
                <a:ext cx="1494100" cy="14941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C33605FD-6975-7120-2A6E-EEDC86A98AA6}"/>
                  </a:ext>
                </a:extLst>
              </p14:cNvPr>
              <p14:cNvContentPartPr/>
              <p14:nvPr/>
            </p14:nvContentPartPr>
            <p14:xfrm>
              <a:off x="13999881" y="3555999"/>
              <a:ext cx="14941" cy="14941"/>
            </p14:xfrm>
          </p:contentPart>
        </mc:Choice>
        <mc:Fallback xmlns="">
          <p:pic>
            <p:nvPicPr>
              <p:cNvPr id="13" name="Ink 12">
                <a:extLst>
                  <a:ext uri="{FF2B5EF4-FFF2-40B4-BE49-F238E27FC236}">
                    <a16:creationId xmlns:a16="http://schemas.microsoft.com/office/drawing/2014/main" id="{C33605FD-6975-7120-2A6E-EEDC86A98AA6}"/>
                  </a:ext>
                </a:extLst>
              </p:cNvPr>
              <p:cNvPicPr/>
              <p:nvPr/>
            </p:nvPicPr>
            <p:blipFill>
              <a:blip r:embed="rId4"/>
              <a:stretch>
                <a:fillRect/>
              </a:stretch>
            </p:blipFill>
            <p:spPr>
              <a:xfrm>
                <a:off x="13252831" y="2808949"/>
                <a:ext cx="1494100" cy="1494100"/>
              </a:xfrm>
              <a:prstGeom prst="rect">
                <a:avLst/>
              </a:prstGeom>
            </p:spPr>
          </p:pic>
        </mc:Fallback>
      </mc:AlternateContent>
    </p:spTree>
    <p:extLst>
      <p:ext uri="{BB962C8B-B14F-4D97-AF65-F5344CB8AC3E}">
        <p14:creationId xmlns:p14="http://schemas.microsoft.com/office/powerpoint/2010/main" val="16974121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25" y="112713"/>
            <a:ext cx="9420792" cy="584775"/>
          </a:xfrm>
          <a:prstGeom prst="rect">
            <a:avLst/>
          </a:prstGeom>
        </p:spPr>
        <p:txBody>
          <a:bodyPr rtlCol="0">
            <a:spAutoFit/>
          </a:bodyPr>
          <a:lstStyle/>
          <a:p>
            <a:pPr algn="just"/>
            <a:r>
              <a:rPr lang="hy-AM" sz="1600" b="1" i="1">
                <a:latin typeface="Sylfaen"/>
              </a:rPr>
              <a:t>Աղյուսակ 21. Տվյալներ սովորողների առաջադիմության վերաբերյալ տվյալ և նախորդ</a:t>
            </a:r>
            <a:endParaRPr lang="en-US" sz="1600" b="1" i="1">
              <a:latin typeface="Sylfaen"/>
            </a:endParaRPr>
          </a:p>
          <a:p>
            <a:pPr algn="just"/>
            <a:r>
              <a:rPr lang="hy-AM" sz="1600" b="1" i="1">
                <a:latin typeface="Sylfaen"/>
              </a:rPr>
              <a:t>                          2 </a:t>
            </a:r>
            <a:r>
              <a:rPr lang="hy-AM" sz="1600" b="1" i="1" err="1">
                <a:latin typeface="Sylfaen"/>
              </a:rPr>
              <a:t>ուստարիների</a:t>
            </a:r>
            <a:r>
              <a:rPr lang="hy-AM" sz="1600" b="1" i="1">
                <a:latin typeface="Sylfaen"/>
              </a:rPr>
              <a:t> համար՝ ըստ կրթական աստիճանների</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3474564044"/>
              </p:ext>
            </p:extLst>
          </p:nvPr>
        </p:nvGraphicFramePr>
        <p:xfrm>
          <a:off x="1585831" y="697488"/>
          <a:ext cx="8917984" cy="6067567"/>
        </p:xfrm>
        <a:graphic>
          <a:graphicData uri="http://schemas.openxmlformats.org/drawingml/2006/table">
            <a:tbl>
              <a:tblPr>
                <a:tableStyleId>{5940675A-B579-460E-94D1-54222C63F5DA}</a:tableStyleId>
              </a:tblPr>
              <a:tblGrid>
                <a:gridCol w="4395238">
                  <a:extLst>
                    <a:ext uri="{9D8B030D-6E8A-4147-A177-3AD203B41FA5}">
                      <a16:colId xmlns:a16="http://schemas.microsoft.com/office/drawing/2014/main" val="623197140"/>
                    </a:ext>
                  </a:extLst>
                </a:gridCol>
                <a:gridCol w="753791">
                  <a:extLst>
                    <a:ext uri="{9D8B030D-6E8A-4147-A177-3AD203B41FA5}">
                      <a16:colId xmlns:a16="http://schemas.microsoft.com/office/drawing/2014/main" val="3344591255"/>
                    </a:ext>
                  </a:extLst>
                </a:gridCol>
                <a:gridCol w="753791">
                  <a:extLst>
                    <a:ext uri="{9D8B030D-6E8A-4147-A177-3AD203B41FA5}">
                      <a16:colId xmlns:a16="http://schemas.microsoft.com/office/drawing/2014/main" val="4079162217"/>
                    </a:ext>
                  </a:extLst>
                </a:gridCol>
                <a:gridCol w="1507582">
                  <a:extLst>
                    <a:ext uri="{9D8B030D-6E8A-4147-A177-3AD203B41FA5}">
                      <a16:colId xmlns:a16="http://schemas.microsoft.com/office/drawing/2014/main" val="4027865415"/>
                    </a:ext>
                  </a:extLst>
                </a:gridCol>
                <a:gridCol w="1507582">
                  <a:extLst>
                    <a:ext uri="{9D8B030D-6E8A-4147-A177-3AD203B41FA5}">
                      <a16:colId xmlns:a16="http://schemas.microsoft.com/office/drawing/2014/main" val="2121613977"/>
                    </a:ext>
                  </a:extLst>
                </a:gridCol>
              </a:tblGrid>
              <a:tr h="499745">
                <a:tc rowSpan="2">
                  <a:txBody>
                    <a:bodyPr/>
                    <a:lstStyle/>
                    <a:p>
                      <a:pPr marL="0" marR="0" algn="just" rtl="0" eaLnBrk="1" latinLnBrk="0" hangingPunct="1">
                        <a:lnSpc>
                          <a:spcPct val="150000"/>
                        </a:lnSpc>
                        <a:spcBef>
                          <a:spcPts val="0"/>
                        </a:spcBef>
                        <a:spcAft>
                          <a:spcPts val="0"/>
                        </a:spcAft>
                      </a:pPr>
                      <a:r>
                        <a:rPr lang="hy-AM" sz="1200" dirty="0">
                          <a:effectLst/>
                        </a:rPr>
                        <a:t>Ցուցանիշ </a:t>
                      </a:r>
                      <a:endParaRPr lang="hy-AM" dirty="0">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dirty="0">
                          <a:effectLst/>
                        </a:rPr>
                        <a:t>20</a:t>
                      </a:r>
                      <a:r>
                        <a:rPr lang="en-US" sz="1200" dirty="0">
                          <a:effectLst/>
                        </a:rPr>
                        <a:t>22</a:t>
                      </a:r>
                      <a:r>
                        <a:rPr lang="hy-AM" sz="1200" dirty="0">
                          <a:effectLst/>
                        </a:rPr>
                        <a:t>-20</a:t>
                      </a:r>
                      <a:r>
                        <a:rPr lang="en-US" sz="1200" dirty="0">
                          <a:effectLst/>
                        </a:rPr>
                        <a:t>23 </a:t>
                      </a:r>
                      <a:r>
                        <a:rPr lang="hy-AM" sz="1200" dirty="0">
                          <a:effectLst/>
                        </a:rPr>
                        <a:t>ուստարի </a:t>
                      </a:r>
                      <a:endParaRPr lang="hy-AM" dirty="0">
                        <a:effectLst/>
                      </a:endParaRPr>
                    </a:p>
                  </a:txBody>
                  <a:tcPr marL="0" marR="0" marT="0" marB="0" anchor="ctr">
                    <a:solidFill>
                      <a:schemeClr val="bg1">
                        <a:lumMod val="95000"/>
                      </a:schemeClr>
                    </a:solidFill>
                  </a:tcP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dirty="0">
                          <a:effectLst/>
                        </a:rPr>
                        <a:t>20</a:t>
                      </a:r>
                      <a:r>
                        <a:rPr lang="en-US" sz="1200" dirty="0" smtClean="0">
                          <a:effectLst/>
                        </a:rPr>
                        <a:t>23</a:t>
                      </a:r>
                      <a:r>
                        <a:rPr lang="hy-AM" sz="1200" dirty="0" smtClean="0">
                          <a:effectLst/>
                        </a:rPr>
                        <a:t>-20</a:t>
                      </a:r>
                      <a:r>
                        <a:rPr lang="en-US" sz="1200" dirty="0" smtClean="0">
                          <a:effectLst/>
                        </a:rPr>
                        <a:t>24</a:t>
                      </a:r>
                      <a:r>
                        <a:rPr lang="en-US" sz="1200" dirty="0">
                          <a:effectLst/>
                        </a:rPr>
                        <a:t> </a:t>
                      </a:r>
                      <a:r>
                        <a:rPr lang="hy-AM" sz="1200" dirty="0">
                          <a:effectLst/>
                        </a:rPr>
                        <a:t>ուստարի </a:t>
                      </a:r>
                      <a:endParaRPr lang="hy-AM" dirty="0">
                        <a:effectLst/>
                      </a:endParaRPr>
                    </a:p>
                  </a:txBody>
                  <a:tcPr marL="0" marR="0" marT="0" marB="0" anchor="ctr">
                    <a:solidFill>
                      <a:schemeClr val="bg1">
                        <a:lumMod val="95000"/>
                      </a:schemeClr>
                    </a:solidFill>
                  </a:tcPr>
                </a:tc>
                <a:tc>
                  <a:txBody>
                    <a:bodyPr/>
                    <a:lstStyle/>
                    <a:p>
                      <a:pPr marL="0" marR="0" algn="just" rtl="0" eaLnBrk="1" latinLnBrk="0" hangingPunct="1">
                        <a:lnSpc>
                          <a:spcPct val="150000"/>
                        </a:lnSpc>
                        <a:spcBef>
                          <a:spcPts val="0"/>
                        </a:spcBef>
                        <a:spcAft>
                          <a:spcPts val="0"/>
                        </a:spcAft>
                      </a:pPr>
                      <a:r>
                        <a:rPr lang="hy-AM" sz="1200" dirty="0">
                          <a:effectLst/>
                        </a:rPr>
                        <a:t>20</a:t>
                      </a:r>
                      <a:r>
                        <a:rPr lang="en-US" sz="1200" dirty="0" smtClean="0">
                          <a:effectLst/>
                        </a:rPr>
                        <a:t>24</a:t>
                      </a:r>
                      <a:r>
                        <a:rPr lang="hy-AM" sz="1200" dirty="0" smtClean="0">
                          <a:effectLst/>
                        </a:rPr>
                        <a:t>-20</a:t>
                      </a:r>
                      <a:r>
                        <a:rPr lang="en-US" sz="1200" dirty="0" smtClean="0">
                          <a:effectLst/>
                        </a:rPr>
                        <a:t>25</a:t>
                      </a:r>
                      <a:r>
                        <a:rPr lang="en-US" sz="1200" dirty="0">
                          <a:effectLst/>
                        </a:rPr>
                        <a:t> </a:t>
                      </a:r>
                      <a:r>
                        <a:rPr lang="hy-AM" sz="1200" dirty="0">
                          <a:effectLst/>
                        </a:rPr>
                        <a:t>ուստարի </a:t>
                      </a:r>
                      <a:endParaRPr lang="hy-AM" dirty="0">
                        <a:effectLst/>
                      </a:endParaRPr>
                    </a:p>
                  </a:txBody>
                  <a:tcPr marL="0" marR="0" marT="0" marB="0" anchor="ctr">
                    <a:solidFill>
                      <a:schemeClr val="bg1">
                        <a:lumMod val="95000"/>
                      </a:schemeClr>
                    </a:solidFill>
                  </a:tcPr>
                </a:tc>
                <a:extLst>
                  <a:ext uri="{0D108BD9-81ED-4DB2-BD59-A6C34878D82A}">
                    <a16:rowId xmlns:a16="http://schemas.microsoft.com/office/drawing/2014/main" val="248650811"/>
                  </a:ext>
                </a:extLst>
              </a:tr>
              <a:tr h="749554">
                <a:tc vMerge="1">
                  <a:txBody>
                    <a:bodyPr/>
                    <a:lstStyle/>
                    <a:p>
                      <a:endParaRPr lang="en-US"/>
                    </a:p>
                  </a:txBody>
                  <a:tcPr/>
                </a:tc>
                <a:tc>
                  <a:txBody>
                    <a:bodyPr/>
                    <a:lstStyle/>
                    <a:p>
                      <a:pPr marL="0" marR="0" lvl="0" algn="ctr" rtl="0">
                        <a:lnSpc>
                          <a:spcPct val="150000"/>
                        </a:lnSpc>
                        <a:spcBef>
                          <a:spcPts val="0"/>
                        </a:spcBef>
                        <a:spcAft>
                          <a:spcPts val="0"/>
                        </a:spcAft>
                        <a:buNone/>
                      </a:pPr>
                      <a:r>
                        <a:rPr lang="hy-AM" sz="1200" dirty="0">
                          <a:effectLst/>
                        </a:rPr>
                        <a:t>9-րդ. </a:t>
                      </a:r>
                      <a:endParaRPr lang="hy-AM" dirty="0">
                        <a:effectLst/>
                      </a:endParaRPr>
                    </a:p>
                    <a:p>
                      <a:pPr marL="0" marR="0" lvl="0" algn="ctr" rtl="0">
                        <a:lnSpc>
                          <a:spcPct val="150000"/>
                        </a:lnSpc>
                        <a:spcBef>
                          <a:spcPts val="0"/>
                        </a:spcBef>
                        <a:spcAft>
                          <a:spcPts val="0"/>
                        </a:spcAft>
                        <a:buNone/>
                      </a:pPr>
                      <a:r>
                        <a:rPr lang="hy-AM" sz="1200" dirty="0">
                          <a:effectLst/>
                        </a:rPr>
                        <a:t>դաս. </a:t>
                      </a:r>
                      <a:endParaRPr lang="hy-AM" dirty="0">
                        <a:effectLst/>
                      </a:endParaRPr>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hy-AM" sz="1200" dirty="0">
                          <a:effectLst/>
                        </a:rPr>
                        <a:t>10-ից 12-րդ. </a:t>
                      </a:r>
                      <a:endParaRPr lang="hy-AM" dirty="0">
                        <a:effectLst/>
                      </a:endParaRPr>
                    </a:p>
                    <a:p>
                      <a:pPr marL="0" marR="0" lvl="0" algn="ctr" rtl="0">
                        <a:lnSpc>
                          <a:spcPct val="150000"/>
                        </a:lnSpc>
                        <a:spcBef>
                          <a:spcPts val="0"/>
                        </a:spcBef>
                        <a:spcAft>
                          <a:spcPts val="0"/>
                        </a:spcAft>
                        <a:buNone/>
                      </a:pPr>
                      <a:r>
                        <a:rPr lang="hy-AM" sz="1200" dirty="0">
                          <a:effectLst/>
                        </a:rPr>
                        <a:t>դաս. </a:t>
                      </a:r>
                      <a:endParaRPr lang="hy-AM" dirty="0">
                        <a:effectLst/>
                      </a:endParaRPr>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hy-AM" sz="1200" dirty="0" smtClean="0">
                          <a:effectLst/>
                        </a:rPr>
                        <a:t>10-ից </a:t>
                      </a:r>
                      <a:r>
                        <a:rPr lang="hy-AM" sz="1200" dirty="0">
                          <a:effectLst/>
                        </a:rPr>
                        <a:t>12-րդ. </a:t>
                      </a:r>
                      <a:endParaRPr lang="hy-AM" dirty="0">
                        <a:effectLst/>
                      </a:endParaRPr>
                    </a:p>
                    <a:p>
                      <a:pPr marL="0" marR="0" lvl="0" algn="ctr" rtl="0">
                        <a:lnSpc>
                          <a:spcPct val="150000"/>
                        </a:lnSpc>
                        <a:spcBef>
                          <a:spcPts val="0"/>
                        </a:spcBef>
                        <a:spcAft>
                          <a:spcPts val="0"/>
                        </a:spcAft>
                        <a:buNone/>
                      </a:pPr>
                      <a:r>
                        <a:rPr lang="hy-AM" sz="1200" dirty="0">
                          <a:effectLst/>
                        </a:rPr>
                        <a:t>դաս. </a:t>
                      </a:r>
                      <a:endParaRPr lang="hy-AM" dirty="0">
                        <a:effectLst/>
                      </a:endParaRPr>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hy-AM" sz="1200" dirty="0" smtClean="0">
                          <a:effectLst/>
                        </a:rPr>
                        <a:t>10-ից </a:t>
                      </a:r>
                      <a:r>
                        <a:rPr lang="hy-AM" sz="1200" dirty="0">
                          <a:effectLst/>
                        </a:rPr>
                        <a:t>12-րդ. </a:t>
                      </a:r>
                      <a:endParaRPr lang="hy-AM" dirty="0">
                        <a:effectLst/>
                      </a:endParaRPr>
                    </a:p>
                    <a:p>
                      <a:pPr marL="0" marR="0" lvl="0" algn="ctr" rtl="0">
                        <a:lnSpc>
                          <a:spcPct val="150000"/>
                        </a:lnSpc>
                        <a:spcBef>
                          <a:spcPts val="0"/>
                        </a:spcBef>
                        <a:spcAft>
                          <a:spcPts val="0"/>
                        </a:spcAft>
                        <a:buNone/>
                      </a:pPr>
                      <a:r>
                        <a:rPr lang="hy-AM" sz="1200" dirty="0">
                          <a:effectLst/>
                        </a:rPr>
                        <a:t>դաս. </a:t>
                      </a:r>
                      <a:endParaRPr lang="hy-AM" dirty="0">
                        <a:effectLst/>
                      </a:endParaRPr>
                    </a:p>
                  </a:txBody>
                  <a:tcPr marL="0" marR="0" marT="0" marB="0" anchor="ctr">
                    <a:solidFill>
                      <a:schemeClr val="bg1">
                        <a:lumMod val="95000"/>
                      </a:schemeClr>
                    </a:solidFill>
                  </a:tcPr>
                </a:tc>
                <a:extLst>
                  <a:ext uri="{0D108BD9-81ED-4DB2-BD59-A6C34878D82A}">
                    <a16:rowId xmlns:a16="http://schemas.microsoft.com/office/drawing/2014/main" val="3511407387"/>
                  </a:ext>
                </a:extLst>
              </a:tr>
              <a:tr h="499745">
                <a:tc>
                  <a:txBody>
                    <a:bodyPr/>
                    <a:lstStyle/>
                    <a:p>
                      <a:pPr marL="0" marR="0" rtl="0" latinLnBrk="0">
                        <a:lnSpc>
                          <a:spcPct val="150000"/>
                        </a:lnSpc>
                        <a:spcBef>
                          <a:spcPts val="0"/>
                        </a:spcBef>
                        <a:spcAft>
                          <a:spcPts val="0"/>
                        </a:spcAft>
                      </a:pPr>
                      <a:r>
                        <a:rPr lang="hy-AM" sz="1200">
                          <a:effectLst/>
                        </a:rPr>
                        <a:t>Հիմնական դպրոցն ավարտած </a:t>
                      </a:r>
                      <a:r>
                        <a:rPr lang="hy-AM" sz="1200" err="1">
                          <a:effectLst/>
                        </a:rPr>
                        <a:t>սովորողներից</a:t>
                      </a:r>
                      <a:r>
                        <a:rPr lang="hy-AM" sz="1200">
                          <a:effectLst/>
                        </a:rPr>
                        <a:t> նախնական </a:t>
                      </a:r>
                      <a:r>
                        <a:rPr lang="en-US" sz="1200">
                          <a:effectLst/>
                        </a:rPr>
                        <a:t>և </a:t>
                      </a:r>
                      <a:r>
                        <a:rPr lang="en-US" sz="1200" err="1">
                          <a:effectLst/>
                        </a:rPr>
                        <a:t>միջին</a:t>
                      </a:r>
                      <a:r>
                        <a:rPr lang="en-US" sz="1200">
                          <a:effectLst/>
                        </a:rPr>
                        <a:t> </a:t>
                      </a:r>
                      <a:r>
                        <a:rPr lang="en-US" sz="1200" err="1">
                          <a:effectLst/>
                        </a:rPr>
                        <a:t>մասնագիտական</a:t>
                      </a:r>
                      <a:r>
                        <a:rPr lang="en-US" sz="1200">
                          <a:effectLst/>
                        </a:rPr>
                        <a:t> </a:t>
                      </a:r>
                      <a:r>
                        <a:rPr lang="en-US" sz="1200" err="1">
                          <a:effectLst/>
                        </a:rPr>
                        <a:t>հաստատություններ</a:t>
                      </a:r>
                      <a:r>
                        <a:rPr lang="en-US" sz="1200">
                          <a:effectLst/>
                        </a:rPr>
                        <a:t> </a:t>
                      </a:r>
                      <a:r>
                        <a:rPr lang="en-US" sz="1200" err="1">
                          <a:effectLst/>
                        </a:rPr>
                        <a:t>ընդունվածների</a:t>
                      </a:r>
                      <a:r>
                        <a:rPr lang="en-US" sz="1200">
                          <a:effectLst/>
                        </a:rPr>
                        <a:t> </a:t>
                      </a:r>
                      <a:r>
                        <a:rPr lang="en-US" sz="1200" err="1">
                          <a:effectLst/>
                        </a:rPr>
                        <a:t>թիվը</a:t>
                      </a:r>
                      <a:r>
                        <a:rPr lang="en-US" sz="1200">
                          <a:effectLst/>
                        </a:rPr>
                        <a:t> և </a:t>
                      </a:r>
                      <a:r>
                        <a:rPr lang="en-US" sz="1200" err="1">
                          <a:effectLst/>
                        </a:rPr>
                        <a:t>տոկոսը</a:t>
                      </a:r>
                      <a:endParaRPr lang="hy-AM">
                        <a:effectLst/>
                      </a:endParaRPr>
                    </a:p>
                  </a:txBody>
                  <a:tcPr marL="0" marR="0" marT="0" marB="0" anchor="ctr"/>
                </a:tc>
                <a:tc>
                  <a:txBody>
                    <a:bodyPr/>
                    <a:lstStyle/>
                    <a:p>
                      <a:pPr algn="ctr"/>
                      <a:r>
                        <a:rPr lang="en-US" dirty="0"/>
                        <a:t>-</a:t>
                      </a:r>
                      <a:endParaRPr lang="ru-RU" dirty="0"/>
                    </a:p>
                  </a:txBody>
                  <a:tcPr marL="0" marR="0" marT="0" marB="0" anchor="ctr">
                    <a:solidFill>
                      <a:schemeClr val="bg1">
                        <a:lumMod val="95000"/>
                      </a:schemeClr>
                    </a:solidFill>
                  </a:tcPr>
                </a:tc>
                <a:tc>
                  <a:txBody>
                    <a:bodyPr/>
                    <a:lstStyle/>
                    <a:p>
                      <a:pPr algn="ctr"/>
                      <a:r>
                        <a:rPr lang="en-US" dirty="0"/>
                        <a:t>-</a:t>
                      </a:r>
                      <a:endParaRPr lang="ru-RU" dirty="0"/>
                    </a:p>
                  </a:txBody>
                  <a:tcPr marL="0" marR="0" marT="0" marB="0" anchor="ctr">
                    <a:solidFill>
                      <a:schemeClr val="bg1">
                        <a:lumMod val="95000"/>
                      </a:schemeClr>
                    </a:solidFill>
                  </a:tcPr>
                </a:tc>
                <a:tc>
                  <a:txBody>
                    <a:bodyPr/>
                    <a:lstStyle/>
                    <a:p>
                      <a:pPr algn="ctr"/>
                      <a:r>
                        <a:rPr lang="en-US" dirty="0" smtClean="0"/>
                        <a:t>-</a:t>
                      </a:r>
                      <a:endParaRPr lang="ru-RU" dirty="0"/>
                    </a:p>
                  </a:txBody>
                  <a:tcPr marL="0" marR="0" marT="0" marB="0" anchor="ctr">
                    <a:solidFill>
                      <a:schemeClr val="bg1">
                        <a:lumMod val="95000"/>
                      </a:schemeClr>
                    </a:solidFill>
                  </a:tcPr>
                </a:tc>
                <a:tc>
                  <a:txBody>
                    <a:bodyPr/>
                    <a:lstStyle/>
                    <a:p>
                      <a:pPr algn="ctr"/>
                      <a:r>
                        <a:rPr lang="en-US" dirty="0" smtClean="0"/>
                        <a:t>-</a:t>
                      </a:r>
                      <a:endParaRPr lang="ru-RU" dirty="0"/>
                    </a:p>
                  </a:txBody>
                  <a:tcPr marL="0" marR="0" marT="0" marB="0" anchor="ctr">
                    <a:solidFill>
                      <a:schemeClr val="bg1">
                        <a:lumMod val="95000"/>
                      </a:schemeClr>
                    </a:solidFill>
                  </a:tcPr>
                </a:tc>
                <a:extLst>
                  <a:ext uri="{0D108BD9-81ED-4DB2-BD59-A6C34878D82A}">
                    <a16:rowId xmlns:a16="http://schemas.microsoft.com/office/drawing/2014/main" val="2167982510"/>
                  </a:ext>
                </a:extLst>
              </a:tr>
              <a:tr h="749554">
                <a:tc>
                  <a:txBody>
                    <a:bodyPr/>
                    <a:lstStyle/>
                    <a:p>
                      <a:pPr marL="0" marR="0" rtl="0" latinLnBrk="0">
                        <a:lnSpc>
                          <a:spcPct val="150000"/>
                        </a:lnSpc>
                        <a:spcBef>
                          <a:spcPts val="0"/>
                        </a:spcBef>
                        <a:spcAft>
                          <a:spcPts val="0"/>
                        </a:spcAft>
                      </a:pPr>
                      <a:r>
                        <a:rPr lang="hy-AM" sz="1200">
                          <a:effectLst/>
                        </a:rPr>
                        <a:t>Հիմնական դպրոցն ավարտած սովորողների թիվը և տոկոսը, որոնք ուսումը շարունակում են ավագ դպրոցներում կամ ավագ դասարաններում </a:t>
                      </a:r>
                      <a:endParaRPr lang="hy-AM">
                        <a:effectLst/>
                      </a:endParaRPr>
                    </a:p>
                  </a:txBody>
                  <a:tcPr marL="0" marR="0" marT="0" marB="0" anchor="ctr"/>
                </a:tc>
                <a:tc>
                  <a:txBody>
                    <a:bodyPr/>
                    <a:lstStyle/>
                    <a:p>
                      <a:pPr algn="ctr"/>
                      <a:r>
                        <a:rPr lang="en-US" dirty="0"/>
                        <a:t>-</a:t>
                      </a:r>
                      <a:endParaRPr lang="ru-RU" dirty="0"/>
                    </a:p>
                  </a:txBody>
                  <a:tcPr marL="0" marR="0" marT="0" marB="0" anchor="ctr">
                    <a:solidFill>
                      <a:schemeClr val="bg1">
                        <a:lumMod val="95000"/>
                      </a:schemeClr>
                    </a:solidFill>
                  </a:tcPr>
                </a:tc>
                <a:tc>
                  <a:txBody>
                    <a:bodyPr/>
                    <a:lstStyle/>
                    <a:p>
                      <a:pPr algn="ctr"/>
                      <a:r>
                        <a:rPr lang="en-US" dirty="0"/>
                        <a:t>-</a:t>
                      </a:r>
                      <a:endParaRPr lang="ru-RU" dirty="0"/>
                    </a:p>
                  </a:txBody>
                  <a:tcPr marL="0" marR="0" marT="0" marB="0" anchor="ctr">
                    <a:solidFill>
                      <a:schemeClr val="bg1">
                        <a:lumMod val="95000"/>
                      </a:schemeClr>
                    </a:solidFill>
                  </a:tcPr>
                </a:tc>
                <a:tc>
                  <a:txBody>
                    <a:bodyPr/>
                    <a:lstStyle/>
                    <a:p>
                      <a:pPr algn="ctr"/>
                      <a:r>
                        <a:rPr lang="en-US" dirty="0" smtClean="0"/>
                        <a:t>-</a:t>
                      </a:r>
                      <a:endParaRPr lang="ru-RU" dirty="0"/>
                    </a:p>
                  </a:txBody>
                  <a:tcPr marL="0" marR="0" marT="0" marB="0" anchor="ctr">
                    <a:solidFill>
                      <a:schemeClr val="bg1">
                        <a:lumMod val="95000"/>
                      </a:schemeClr>
                    </a:solidFill>
                  </a:tcPr>
                </a:tc>
                <a:tc>
                  <a:txBody>
                    <a:bodyPr/>
                    <a:lstStyle/>
                    <a:p>
                      <a:pPr algn="ctr"/>
                      <a:r>
                        <a:rPr lang="en-US" dirty="0" smtClean="0"/>
                        <a:t>-</a:t>
                      </a:r>
                      <a:endParaRPr lang="ru-RU" dirty="0"/>
                    </a:p>
                  </a:txBody>
                  <a:tcPr marL="0" marR="0" marT="0" marB="0" anchor="ctr">
                    <a:solidFill>
                      <a:schemeClr val="bg1">
                        <a:lumMod val="95000"/>
                      </a:schemeClr>
                    </a:solidFill>
                  </a:tcPr>
                </a:tc>
                <a:extLst>
                  <a:ext uri="{0D108BD9-81ED-4DB2-BD59-A6C34878D82A}">
                    <a16:rowId xmlns:a16="http://schemas.microsoft.com/office/drawing/2014/main" val="711124281"/>
                  </a:ext>
                </a:extLst>
              </a:tr>
              <a:tr h="999363">
                <a:tc>
                  <a:txBody>
                    <a:bodyPr/>
                    <a:lstStyle/>
                    <a:p>
                      <a:pPr marL="0" marR="0" rtl="0" latinLnBrk="0">
                        <a:lnSpc>
                          <a:spcPct val="150000"/>
                        </a:lnSpc>
                        <a:spcBef>
                          <a:spcPts val="0"/>
                        </a:spcBef>
                        <a:spcAft>
                          <a:spcPts val="0"/>
                        </a:spcAft>
                      </a:pPr>
                      <a:r>
                        <a:rPr lang="hy-AM" sz="1200">
                          <a:effectLst/>
                        </a:rPr>
                        <a:t>Նախնական (արհեստագործական) և միջին մասնագիտական հաստատություններ ընդունված 12-րդ դասարանի շրջանավարտների թիվը և տոկոսը </a:t>
                      </a:r>
                      <a:endParaRPr lang="hy-AM">
                        <a:effectLst/>
                      </a:endParaRPr>
                    </a:p>
                  </a:txBody>
                  <a:tcPr marL="0" marR="0" marT="0" marB="0" anchor="ctr"/>
                </a:tc>
                <a:tc>
                  <a:txBody>
                    <a:bodyPr/>
                    <a:lstStyle/>
                    <a:p>
                      <a:pPr algn="ctr"/>
                      <a:r>
                        <a:rPr lang="en-US" sz="1200" dirty="0"/>
                        <a:t>-</a:t>
                      </a:r>
                      <a:endParaRPr lang="ru-RU" sz="1200" dirty="0"/>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en-US" sz="1200" dirty="0">
                          <a:effectLst/>
                        </a:rPr>
                        <a:t>3</a:t>
                      </a:r>
                      <a:r>
                        <a:rPr lang="hy-AM" sz="1200" dirty="0">
                          <a:effectLst/>
                        </a:rPr>
                        <a:t>աշ </a:t>
                      </a:r>
                      <a:endParaRPr lang="en-US" sz="1200" dirty="0"/>
                    </a:p>
                    <a:p>
                      <a:pPr marL="0" marR="0" lvl="0" algn="ctr" rtl="0">
                        <a:lnSpc>
                          <a:spcPct val="150000"/>
                        </a:lnSpc>
                        <a:spcBef>
                          <a:spcPts val="0"/>
                        </a:spcBef>
                        <a:spcAft>
                          <a:spcPts val="0"/>
                        </a:spcAft>
                        <a:buNone/>
                      </a:pPr>
                      <a:r>
                        <a:rPr lang="en-US" sz="1200" dirty="0">
                          <a:effectLst/>
                        </a:rPr>
                        <a:t>3.8 </a:t>
                      </a:r>
                      <a:r>
                        <a:rPr lang="hy-AM" sz="1200" dirty="0">
                          <a:effectLst/>
                        </a:rPr>
                        <a:t>% </a:t>
                      </a:r>
                      <a:endParaRPr lang="hy-AM" sz="1200" dirty="0"/>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en-US" sz="1200" dirty="0" smtClean="0">
                          <a:effectLst/>
                        </a:rPr>
                        <a:t>5</a:t>
                      </a:r>
                      <a:r>
                        <a:rPr lang="hy-AM" sz="1200" dirty="0" smtClean="0">
                          <a:effectLst/>
                        </a:rPr>
                        <a:t>աշ</a:t>
                      </a:r>
                      <a:r>
                        <a:rPr lang="hy-AM" sz="1200" dirty="0">
                          <a:effectLst/>
                        </a:rPr>
                        <a:t> </a:t>
                      </a:r>
                      <a:endParaRPr lang="en-US" sz="1200" dirty="0"/>
                    </a:p>
                    <a:p>
                      <a:pPr marL="0" marR="0" lvl="0" algn="ctr" rtl="0">
                        <a:lnSpc>
                          <a:spcPct val="150000"/>
                        </a:lnSpc>
                        <a:spcBef>
                          <a:spcPts val="0"/>
                        </a:spcBef>
                        <a:spcAft>
                          <a:spcPts val="0"/>
                        </a:spcAft>
                        <a:buNone/>
                      </a:pPr>
                      <a:r>
                        <a:rPr lang="en-US" sz="1200" dirty="0" smtClean="0">
                          <a:effectLst/>
                        </a:rPr>
                        <a:t>3.7 </a:t>
                      </a:r>
                      <a:r>
                        <a:rPr lang="hy-AM" sz="1200" dirty="0">
                          <a:effectLst/>
                        </a:rPr>
                        <a:t>% </a:t>
                      </a:r>
                      <a:endParaRPr lang="hy-AM" sz="1200" dirty="0"/>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en-US" sz="1200" dirty="0" smtClean="0">
                          <a:effectLst/>
                        </a:rPr>
                        <a:t>10 </a:t>
                      </a:r>
                      <a:r>
                        <a:rPr lang="hy-AM" sz="1200" dirty="0" smtClean="0">
                          <a:effectLst/>
                        </a:rPr>
                        <a:t>աշ</a:t>
                      </a:r>
                      <a:r>
                        <a:rPr lang="hy-AM" sz="1200" dirty="0">
                          <a:effectLst/>
                        </a:rPr>
                        <a:t> </a:t>
                      </a:r>
                      <a:endParaRPr lang="en-US" sz="1200" dirty="0"/>
                    </a:p>
                    <a:p>
                      <a:pPr marL="0" marR="0" lvl="0" algn="ctr" rtl="0">
                        <a:lnSpc>
                          <a:spcPct val="150000"/>
                        </a:lnSpc>
                        <a:spcBef>
                          <a:spcPts val="0"/>
                        </a:spcBef>
                        <a:spcAft>
                          <a:spcPts val="0"/>
                        </a:spcAft>
                        <a:buNone/>
                      </a:pPr>
                      <a:r>
                        <a:rPr lang="en-US" sz="1200" dirty="0" smtClean="0">
                          <a:effectLst/>
                        </a:rPr>
                        <a:t>5 </a:t>
                      </a:r>
                      <a:r>
                        <a:rPr lang="hy-AM" sz="1200" dirty="0">
                          <a:effectLst/>
                        </a:rPr>
                        <a:t>% </a:t>
                      </a:r>
                      <a:endParaRPr lang="hy-AM" sz="1200" dirty="0"/>
                    </a:p>
                  </a:txBody>
                  <a:tcPr marL="0" marR="0" marT="0" marB="0" anchor="ctr">
                    <a:solidFill>
                      <a:schemeClr val="bg1">
                        <a:lumMod val="95000"/>
                      </a:schemeClr>
                    </a:solidFill>
                  </a:tcPr>
                </a:tc>
                <a:extLst>
                  <a:ext uri="{0D108BD9-81ED-4DB2-BD59-A6C34878D82A}">
                    <a16:rowId xmlns:a16="http://schemas.microsoft.com/office/drawing/2014/main" val="2715903840"/>
                  </a:ext>
                </a:extLst>
              </a:tr>
              <a:tr h="749554">
                <a:tc>
                  <a:txBody>
                    <a:bodyPr/>
                    <a:lstStyle/>
                    <a:p>
                      <a:pPr marL="0" marR="0" rtl="0" latinLnBrk="0">
                        <a:lnSpc>
                          <a:spcPct val="150000"/>
                        </a:lnSpc>
                        <a:spcBef>
                          <a:spcPts val="0"/>
                        </a:spcBef>
                        <a:spcAft>
                          <a:spcPts val="0"/>
                        </a:spcAft>
                      </a:pPr>
                      <a:r>
                        <a:rPr lang="hy-AM" sz="1200">
                          <a:effectLst/>
                        </a:rPr>
                        <a:t>Բուհեր ընդունված շրջանավարտների թիվը և տոկոսը՝ շրջանավարտների ընդհանուր թվի համեմատ </a:t>
                      </a:r>
                      <a:endParaRPr lang="hy-AM">
                        <a:effectLst/>
                      </a:endParaRPr>
                    </a:p>
                  </a:txBody>
                  <a:tcPr marL="0" marR="0" marT="0" marB="0" anchor="ctr"/>
                </a:tc>
                <a:tc>
                  <a:txBody>
                    <a:bodyPr/>
                    <a:lstStyle/>
                    <a:p>
                      <a:pPr algn="ctr"/>
                      <a:endParaRPr lang="ru-RU" sz="1200" dirty="0"/>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en-US" sz="1200" dirty="0">
                          <a:effectLst/>
                        </a:rPr>
                        <a:t>40</a:t>
                      </a:r>
                    </a:p>
                    <a:p>
                      <a:pPr marL="0" marR="0" lvl="0" algn="ctr">
                        <a:lnSpc>
                          <a:spcPct val="150000"/>
                        </a:lnSpc>
                        <a:spcBef>
                          <a:spcPts val="0"/>
                        </a:spcBef>
                        <a:spcAft>
                          <a:spcPts val="0"/>
                        </a:spcAft>
                        <a:buNone/>
                      </a:pPr>
                      <a:r>
                        <a:rPr lang="en-US" sz="1200" dirty="0">
                          <a:effectLst/>
                        </a:rPr>
                        <a:t>50%</a:t>
                      </a:r>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en-US" sz="1200" dirty="0" smtClean="0">
                          <a:effectLst/>
                        </a:rPr>
                        <a:t>80</a:t>
                      </a:r>
                      <a:endParaRPr lang="en-US" sz="1200" dirty="0">
                        <a:effectLst/>
                      </a:endParaRPr>
                    </a:p>
                    <a:p>
                      <a:pPr marL="0" marR="0" lvl="0" algn="ctr">
                        <a:lnSpc>
                          <a:spcPct val="150000"/>
                        </a:lnSpc>
                        <a:spcBef>
                          <a:spcPts val="0"/>
                        </a:spcBef>
                        <a:spcAft>
                          <a:spcPts val="0"/>
                        </a:spcAft>
                        <a:buNone/>
                      </a:pPr>
                      <a:r>
                        <a:rPr lang="en-US" sz="1200" dirty="0" smtClean="0">
                          <a:effectLst/>
                        </a:rPr>
                        <a:t>59%</a:t>
                      </a:r>
                      <a:endParaRPr lang="en-US" sz="1200" dirty="0">
                        <a:effectLst/>
                      </a:endParaRPr>
                    </a:p>
                  </a:txBody>
                  <a:tcPr marL="0" marR="0" marT="0" marB="0" anchor="ctr">
                    <a:solidFill>
                      <a:schemeClr val="bg1">
                        <a:lumMod val="95000"/>
                      </a:schemeClr>
                    </a:solidFill>
                  </a:tcPr>
                </a:tc>
                <a:tc>
                  <a:txBody>
                    <a:bodyPr/>
                    <a:lstStyle/>
                    <a:p>
                      <a:pPr marL="0" marR="0" lvl="0" algn="ctr" rtl="0">
                        <a:lnSpc>
                          <a:spcPct val="150000"/>
                        </a:lnSpc>
                        <a:spcBef>
                          <a:spcPts val="0"/>
                        </a:spcBef>
                        <a:spcAft>
                          <a:spcPts val="0"/>
                        </a:spcAft>
                        <a:buNone/>
                      </a:pPr>
                      <a:r>
                        <a:rPr lang="en-US" sz="1200" dirty="0" smtClean="0">
                          <a:effectLst/>
                        </a:rPr>
                        <a:t>120</a:t>
                      </a:r>
                      <a:endParaRPr lang="en-US" sz="1200" dirty="0">
                        <a:effectLst/>
                      </a:endParaRPr>
                    </a:p>
                    <a:p>
                      <a:pPr marL="0" marR="0" lvl="0" algn="ctr">
                        <a:lnSpc>
                          <a:spcPct val="150000"/>
                        </a:lnSpc>
                        <a:spcBef>
                          <a:spcPts val="0"/>
                        </a:spcBef>
                        <a:spcAft>
                          <a:spcPts val="0"/>
                        </a:spcAft>
                        <a:buNone/>
                      </a:pPr>
                      <a:r>
                        <a:rPr lang="en-US" sz="1200" dirty="0" smtClean="0">
                          <a:effectLst/>
                        </a:rPr>
                        <a:t>64%</a:t>
                      </a:r>
                      <a:endParaRPr lang="en-US" sz="1200" dirty="0">
                        <a:effectLst/>
                      </a:endParaRPr>
                    </a:p>
                  </a:txBody>
                  <a:tcPr marL="0" marR="0" marT="0" marB="0" anchor="ctr">
                    <a:solidFill>
                      <a:schemeClr val="bg1">
                        <a:lumMod val="95000"/>
                      </a:schemeClr>
                    </a:solidFill>
                  </a:tcPr>
                </a:tc>
                <a:extLst>
                  <a:ext uri="{0D108BD9-81ED-4DB2-BD59-A6C34878D82A}">
                    <a16:rowId xmlns:a16="http://schemas.microsoft.com/office/drawing/2014/main" val="3043463689"/>
                  </a:ext>
                </a:extLst>
              </a:tr>
              <a:tr h="499745">
                <a:tc>
                  <a:txBody>
                    <a:bodyPr/>
                    <a:lstStyle/>
                    <a:p>
                      <a:pPr marL="0" marR="0" rtl="0" latinLnBrk="0">
                        <a:lnSpc>
                          <a:spcPct val="150000"/>
                        </a:lnSpc>
                        <a:spcBef>
                          <a:spcPts val="0"/>
                        </a:spcBef>
                        <a:spcAft>
                          <a:spcPts val="0"/>
                        </a:spcAft>
                      </a:pPr>
                      <a:r>
                        <a:rPr lang="hy-AM" sz="1200">
                          <a:effectLst/>
                        </a:rPr>
                        <a:t>Սովորողների </a:t>
                      </a:r>
                      <a:r>
                        <a:rPr lang="hy-AM" sz="1200" err="1">
                          <a:effectLst/>
                        </a:rPr>
                        <a:t>բացակայությունների</a:t>
                      </a:r>
                      <a:r>
                        <a:rPr lang="hy-AM" sz="1200">
                          <a:effectLst/>
                        </a:rPr>
                        <a:t> թիվը ժամերով՝ ըստ կրթական աստիճանների . </a:t>
                      </a:r>
                      <a:endParaRPr lang="hy-AM">
                        <a:effectLst/>
                      </a:endParaRPr>
                    </a:p>
                  </a:txBody>
                  <a:tcPr marL="0" marR="0" marT="0" marB="0" anchor="ctr"/>
                </a:tc>
                <a:tc>
                  <a:txBody>
                    <a:bodyPr/>
                    <a:lstStyle/>
                    <a:p>
                      <a:pPr algn="ctr"/>
                      <a:endParaRPr lang="ru-RU" sz="1200"/>
                    </a:p>
                  </a:txBody>
                  <a:tcPr marL="0" marR="0" marT="0" marB="0" anchor="ctr">
                    <a:solidFill>
                      <a:schemeClr val="bg1">
                        <a:lumMod val="95000"/>
                      </a:schemeClr>
                    </a:solidFill>
                  </a:tcPr>
                </a:tc>
                <a:tc>
                  <a:txBody>
                    <a:bodyPr/>
                    <a:lstStyle/>
                    <a:p>
                      <a:pPr algn="ctr"/>
                      <a:r>
                        <a:rPr lang="en-US" sz="1200" b="0" i="0" kern="1200" dirty="0">
                          <a:solidFill>
                            <a:schemeClr val="tx1"/>
                          </a:solidFill>
                          <a:latin typeface="+mn-lt"/>
                          <a:ea typeface="+mn-ea"/>
                          <a:cs typeface="+mn-cs"/>
                        </a:rPr>
                        <a:t>25600</a:t>
                      </a:r>
                    </a:p>
                  </a:txBody>
                  <a:tcPr marL="0" marR="0" marT="0" marB="0" anchor="ctr">
                    <a:solidFill>
                      <a:schemeClr val="bg1">
                        <a:lumMod val="95000"/>
                      </a:schemeClr>
                    </a:solidFill>
                  </a:tcPr>
                </a:tc>
                <a:tc>
                  <a:txBody>
                    <a:bodyPr/>
                    <a:lstStyle/>
                    <a:p>
                      <a:pPr algn="ctr"/>
                      <a:endParaRPr lang="en-US" sz="1200" b="0" i="0" kern="1200" dirty="0" smtClean="0">
                        <a:solidFill>
                          <a:schemeClr val="tx1"/>
                        </a:solidFill>
                        <a:latin typeface="+mn-lt"/>
                        <a:ea typeface="+mn-ea"/>
                        <a:cs typeface="+mn-cs"/>
                      </a:endParaRPr>
                    </a:p>
                    <a:p>
                      <a:pPr algn="ctr"/>
                      <a:r>
                        <a:rPr lang="en-US" sz="1200" b="0" i="0" kern="1200" dirty="0" smtClean="0">
                          <a:solidFill>
                            <a:schemeClr val="tx1"/>
                          </a:solidFill>
                          <a:latin typeface="+mn-lt"/>
                          <a:ea typeface="+mn-ea"/>
                          <a:cs typeface="+mn-cs"/>
                        </a:rPr>
                        <a:t>24711</a:t>
                      </a:r>
                      <a:endParaRPr lang="en-US" sz="1200" b="0" i="0" kern="1200" dirty="0">
                        <a:solidFill>
                          <a:schemeClr val="tx1"/>
                        </a:solidFill>
                        <a:latin typeface="+mn-lt"/>
                        <a:ea typeface="+mn-ea"/>
                        <a:cs typeface="+mn-cs"/>
                      </a:endParaRPr>
                    </a:p>
                  </a:txBody>
                  <a:tcPr marL="0" marR="0" marT="0" marB="0" anchor="ctr">
                    <a:solidFill>
                      <a:schemeClr val="bg1">
                        <a:lumMod val="95000"/>
                      </a:schemeClr>
                    </a:solidFill>
                  </a:tcPr>
                </a:tc>
                <a:tc>
                  <a:txBody>
                    <a:bodyPr/>
                    <a:lstStyle/>
                    <a:p>
                      <a:pPr algn="ctr"/>
                      <a:endParaRPr lang="en-US" sz="1200" b="0" i="0" kern="1200" dirty="0" smtClean="0">
                        <a:solidFill>
                          <a:schemeClr val="tx1"/>
                        </a:solidFill>
                        <a:latin typeface="+mn-lt"/>
                        <a:ea typeface="+mn-ea"/>
                        <a:cs typeface="+mn-cs"/>
                      </a:endParaRPr>
                    </a:p>
                    <a:p>
                      <a:pPr algn="ctr"/>
                      <a:r>
                        <a:rPr lang="en-US" sz="1200" b="0" i="0" kern="1200" dirty="0" smtClean="0">
                          <a:solidFill>
                            <a:schemeClr val="tx1"/>
                          </a:solidFill>
                          <a:latin typeface="+mn-lt"/>
                          <a:ea typeface="+mn-ea"/>
                          <a:cs typeface="+mn-cs"/>
                        </a:rPr>
                        <a:t>17579</a:t>
                      </a:r>
                      <a:endParaRPr lang="en-US" sz="1200" b="0" i="0" kern="1200" dirty="0">
                        <a:solidFill>
                          <a:schemeClr val="tx1"/>
                        </a:solidFill>
                        <a:latin typeface="+mn-lt"/>
                        <a:ea typeface="+mn-ea"/>
                        <a:cs typeface="+mn-cs"/>
                      </a:endParaRPr>
                    </a:p>
                  </a:txBody>
                  <a:tcPr marL="0" marR="0" marT="0" marB="0" anchor="ctr">
                    <a:solidFill>
                      <a:schemeClr val="bg1">
                        <a:lumMod val="95000"/>
                      </a:schemeClr>
                    </a:solidFill>
                  </a:tcPr>
                </a:tc>
                <a:extLst>
                  <a:ext uri="{0D108BD9-81ED-4DB2-BD59-A6C34878D82A}">
                    <a16:rowId xmlns:a16="http://schemas.microsoft.com/office/drawing/2014/main" val="4070126633"/>
                  </a:ext>
                </a:extLst>
              </a:tr>
              <a:tr h="801385">
                <a:tc>
                  <a:txBody>
                    <a:bodyPr/>
                    <a:lstStyle/>
                    <a:p>
                      <a:pPr marL="0" marR="0" rtl="0" latinLnBrk="0">
                        <a:lnSpc>
                          <a:spcPct val="150000"/>
                        </a:lnSpc>
                        <a:spcBef>
                          <a:spcPts val="0"/>
                        </a:spcBef>
                        <a:spcAft>
                          <a:spcPts val="0"/>
                        </a:spcAft>
                      </a:pPr>
                      <a:r>
                        <a:rPr lang="hy-AM" sz="1200">
                          <a:effectLst/>
                        </a:rPr>
                        <a:t>Դասարանից դասարան վաղաժամկետ փոխադրված սովորողների թիվը և </a:t>
                      </a:r>
                      <a:r>
                        <a:rPr lang="hy-AM" sz="1200" err="1">
                          <a:effectLst/>
                        </a:rPr>
                        <a:t>տոկոսը՝ըստ</a:t>
                      </a:r>
                      <a:r>
                        <a:rPr lang="hy-AM" sz="1200">
                          <a:effectLst/>
                        </a:rPr>
                        <a:t> կրթական </a:t>
                      </a:r>
                      <a:r>
                        <a:rPr lang="hy-AM" sz="1200" err="1">
                          <a:effectLst/>
                        </a:rPr>
                        <a:t>ատիճանների</a:t>
                      </a:r>
                      <a:r>
                        <a:rPr lang="hy-AM" sz="1200">
                          <a:effectLst/>
                        </a:rPr>
                        <a:t> </a:t>
                      </a:r>
                      <a:endParaRPr lang="hy-AM">
                        <a:effectLst/>
                      </a:endParaRPr>
                    </a:p>
                  </a:txBody>
                  <a:tcPr marL="0" marR="0" marT="0" marB="0" anchor="ctr"/>
                </a:tc>
                <a:tc>
                  <a:txBody>
                    <a:bodyPr/>
                    <a:lstStyle/>
                    <a:p>
                      <a:pPr algn="ctr"/>
                      <a:r>
                        <a:rPr lang="en-US"/>
                        <a:t>-</a:t>
                      </a:r>
                      <a:endParaRPr lang="ru-RU"/>
                    </a:p>
                  </a:txBody>
                  <a:tcPr marL="0" marR="0" marT="0" marB="0" anchor="ctr">
                    <a:solidFill>
                      <a:schemeClr val="bg1">
                        <a:lumMod val="95000"/>
                      </a:schemeClr>
                    </a:solidFill>
                  </a:tcPr>
                </a:tc>
                <a:tc>
                  <a:txBody>
                    <a:bodyPr/>
                    <a:lstStyle/>
                    <a:p>
                      <a:pPr algn="ctr"/>
                      <a:r>
                        <a:rPr lang="en-US" dirty="0" smtClean="0"/>
                        <a:t>-</a:t>
                      </a:r>
                      <a:endParaRPr lang="ru-RU" dirty="0"/>
                    </a:p>
                  </a:txBody>
                  <a:tcPr marL="0" marR="0" marT="0" marB="0" anchor="ctr">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aseline="0" dirty="0" smtClean="0"/>
                        <a:t>                               </a:t>
                      </a:r>
                      <a:r>
                        <a:rPr lang="en-US" dirty="0" smtClean="0"/>
                        <a:t>-</a:t>
                      </a:r>
                      <a:endParaRPr lang="ru-RU" dirty="0" smtClean="0"/>
                    </a:p>
                  </a:txBody>
                  <a:tcPr marL="0" marR="0" marT="0" marB="0" anchor="ctr">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aseline="0" dirty="0" smtClean="0"/>
                        <a:t>                               </a:t>
                      </a:r>
                      <a:r>
                        <a:rPr lang="en-US" dirty="0" smtClean="0"/>
                        <a:t>-</a:t>
                      </a:r>
                      <a:endParaRPr lang="ru-RU" dirty="0" smtClean="0"/>
                    </a:p>
                  </a:txBody>
                  <a:tcPr marL="0" marR="0" marT="0" marB="0" anchor="ctr">
                    <a:solidFill>
                      <a:schemeClr val="bg1">
                        <a:lumMod val="95000"/>
                      </a:schemeClr>
                    </a:solidFill>
                  </a:tcPr>
                </a:tc>
                <a:extLst>
                  <a:ext uri="{0D108BD9-81ED-4DB2-BD59-A6C34878D82A}">
                    <a16:rowId xmlns:a16="http://schemas.microsoft.com/office/drawing/2014/main" val="44592604"/>
                  </a:ext>
                </a:extLst>
              </a:tr>
            </a:tbl>
          </a:graphicData>
        </a:graphic>
      </p:graphicFrame>
    </p:spTree>
    <p:extLst>
      <p:ext uri="{BB962C8B-B14F-4D97-AF65-F5344CB8AC3E}">
        <p14:creationId xmlns:p14="http://schemas.microsoft.com/office/powerpoint/2010/main" val="3796942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9063" y="0"/>
            <a:ext cx="9506142" cy="646331"/>
          </a:xfrm>
          <a:prstGeom prst="rect">
            <a:avLst/>
          </a:prstGeom>
        </p:spPr>
        <p:txBody>
          <a:bodyPr rtlCol="0">
            <a:spAutoFit/>
          </a:bodyPr>
          <a:lstStyle/>
          <a:p>
            <a:pPr algn="just"/>
            <a:r>
              <a:rPr lang="hy-AM" b="1" i="1">
                <a:latin typeface="Sylfaen"/>
              </a:rPr>
              <a:t>Աղյուսակ 21. Տվյալներ սովորողների առաջադիմության վերաբերյալ տվյալ և նախորդ</a:t>
            </a:r>
            <a:r>
              <a:rPr lang="en-US">
                <a:latin typeface="Sylfaen"/>
              </a:rPr>
              <a:t>​</a:t>
            </a:r>
            <a:endParaRPr lang="hy-AM">
              <a:latin typeface="Sylfaen"/>
            </a:endParaRPr>
          </a:p>
          <a:p>
            <a:pPr algn="just"/>
            <a:r>
              <a:rPr lang="hy-AM" b="1" i="1">
                <a:latin typeface="Sylfaen"/>
              </a:rPr>
              <a:t>                          2 ուստարիների համար՝ ըստ կրթական աստիճանների</a:t>
            </a:r>
            <a:r>
              <a:rPr lang="en-US">
                <a:latin typeface="Sylfaen"/>
              </a:rPr>
              <a:t>​</a:t>
            </a:r>
          </a:p>
        </p:txBody>
      </p:sp>
      <p:graphicFrame>
        <p:nvGraphicFramePr>
          <p:cNvPr id="4" name="Table 3"/>
          <p:cNvGraphicFramePr/>
          <p:nvPr>
            <p:extLst>
              <p:ext uri="{D42A27DB-BD31-4B8C-83A1-F6EECF244321}">
                <p14:modId xmlns:p14="http://schemas.microsoft.com/office/powerpoint/2010/main" val="2865590000"/>
              </p:ext>
            </p:extLst>
          </p:nvPr>
        </p:nvGraphicFramePr>
        <p:xfrm>
          <a:off x="1218052" y="781236"/>
          <a:ext cx="8407153" cy="5810509"/>
        </p:xfrm>
        <a:graphic>
          <a:graphicData uri="http://schemas.openxmlformats.org/drawingml/2006/table">
            <a:tbl>
              <a:tblPr>
                <a:tableStyleId>{5940675A-B579-460E-94D1-54222C63F5DA}</a:tableStyleId>
              </a:tblPr>
              <a:tblGrid>
                <a:gridCol w="5582243">
                  <a:extLst>
                    <a:ext uri="{9D8B030D-6E8A-4147-A177-3AD203B41FA5}">
                      <a16:colId xmlns:a16="http://schemas.microsoft.com/office/drawing/2014/main" val="2170794522"/>
                    </a:ext>
                  </a:extLst>
                </a:gridCol>
                <a:gridCol w="1420427">
                  <a:extLst>
                    <a:ext uri="{9D8B030D-6E8A-4147-A177-3AD203B41FA5}">
                      <a16:colId xmlns:a16="http://schemas.microsoft.com/office/drawing/2014/main" val="2226049335"/>
                    </a:ext>
                  </a:extLst>
                </a:gridCol>
                <a:gridCol w="1404483">
                  <a:extLst>
                    <a:ext uri="{9D8B030D-6E8A-4147-A177-3AD203B41FA5}">
                      <a16:colId xmlns:a16="http://schemas.microsoft.com/office/drawing/2014/main" val="551177141"/>
                    </a:ext>
                  </a:extLst>
                </a:gridCol>
              </a:tblGrid>
              <a:tr h="701643">
                <a:tc rowSpan="2">
                  <a:txBody>
                    <a:bodyPr/>
                    <a:lstStyle/>
                    <a:p>
                      <a:pPr marL="0" marR="0" algn="just" rtl="0" eaLnBrk="1" latinLnBrk="0" hangingPunct="1">
                        <a:lnSpc>
                          <a:spcPct val="150000"/>
                        </a:lnSpc>
                        <a:spcBef>
                          <a:spcPts val="0"/>
                        </a:spcBef>
                        <a:spcAft>
                          <a:spcPts val="0"/>
                        </a:spcAft>
                      </a:pPr>
                      <a:r>
                        <a:rPr lang="hy-AM" sz="1400" dirty="0">
                          <a:effectLst/>
                        </a:rPr>
                        <a:t>Ցուցանիշ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20</a:t>
                      </a:r>
                      <a:r>
                        <a:rPr lang="en-US" sz="1400" dirty="0">
                          <a:effectLst/>
                        </a:rPr>
                        <a:t>22</a:t>
                      </a:r>
                      <a:r>
                        <a:rPr lang="hy-AM" sz="1400" dirty="0">
                          <a:effectLst/>
                        </a:rPr>
                        <a:t>-202</a:t>
                      </a:r>
                      <a:r>
                        <a:rPr lang="en-US" sz="1400" dirty="0">
                          <a:effectLst/>
                        </a:rPr>
                        <a:t>3 </a:t>
                      </a:r>
                      <a:r>
                        <a:rPr lang="hy-AM" sz="1400" dirty="0">
                          <a:effectLst/>
                        </a:rPr>
                        <a:t>ուստարի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20</a:t>
                      </a:r>
                      <a:r>
                        <a:rPr lang="en-US" sz="1400" dirty="0" smtClean="0">
                          <a:effectLst/>
                        </a:rPr>
                        <a:t>23</a:t>
                      </a:r>
                      <a:r>
                        <a:rPr lang="hy-AM" sz="1400" dirty="0" smtClean="0">
                          <a:effectLst/>
                        </a:rPr>
                        <a:t>-202</a:t>
                      </a:r>
                      <a:r>
                        <a:rPr lang="en-US" sz="1400" dirty="0" smtClean="0">
                          <a:effectLst/>
                        </a:rPr>
                        <a:t>4 </a:t>
                      </a:r>
                      <a:r>
                        <a:rPr lang="hy-AM" sz="1400" dirty="0">
                          <a:effectLst/>
                        </a:rPr>
                        <a:t>ուստարի </a:t>
                      </a:r>
                      <a:endParaRPr lang="hy-AM" dirty="0">
                        <a:effectLst/>
                      </a:endParaRPr>
                    </a:p>
                  </a:txBody>
                  <a:tcPr marL="0" marR="0" marT="0" marB="0" anchor="ctr"/>
                </a:tc>
                <a:extLst>
                  <a:ext uri="{0D108BD9-81ED-4DB2-BD59-A6C34878D82A}">
                    <a16:rowId xmlns:a16="http://schemas.microsoft.com/office/drawing/2014/main" val="2518082208"/>
                  </a:ext>
                </a:extLst>
              </a:tr>
              <a:tr h="1052403">
                <a:tc vMerge="1">
                  <a:txBody>
                    <a:bodyPr/>
                    <a:lstStyle/>
                    <a:p>
                      <a:endParaRPr lang="en-US"/>
                    </a:p>
                  </a:txBody>
                  <a:tcPr/>
                </a:tc>
                <a:tc>
                  <a:txBody>
                    <a:bodyPr/>
                    <a:lstStyle/>
                    <a:p>
                      <a:pPr marL="0" marR="0" algn="ctr" rtl="0" latinLnBrk="0">
                        <a:lnSpc>
                          <a:spcPct val="150000"/>
                        </a:lnSpc>
                        <a:spcBef>
                          <a:spcPts val="0"/>
                        </a:spcBef>
                        <a:spcAft>
                          <a:spcPts val="0"/>
                        </a:spcAft>
                      </a:pPr>
                      <a:r>
                        <a:rPr lang="hy-AM" sz="14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400" dirty="0">
                          <a:effectLst/>
                        </a:rPr>
                        <a:t>դաս.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400" dirty="0">
                          <a:effectLst/>
                        </a:rPr>
                        <a:t>դաս. </a:t>
                      </a:r>
                      <a:endParaRPr lang="hy-AM" dirty="0">
                        <a:effectLst/>
                      </a:endParaRPr>
                    </a:p>
                  </a:txBody>
                  <a:tcPr marL="0" marR="0" marT="0" marB="0" anchor="ctr"/>
                </a:tc>
                <a:extLst>
                  <a:ext uri="{0D108BD9-81ED-4DB2-BD59-A6C34878D82A}">
                    <a16:rowId xmlns:a16="http://schemas.microsoft.com/office/drawing/2014/main" val="4159785921"/>
                  </a:ext>
                </a:extLst>
              </a:tr>
              <a:tr h="1388187">
                <a:tc>
                  <a:txBody>
                    <a:bodyPr/>
                    <a:lstStyle/>
                    <a:p>
                      <a:pPr marL="0" marR="0" algn="l" rtl="0" latinLnBrk="0">
                        <a:lnSpc>
                          <a:spcPct val="150000"/>
                        </a:lnSpc>
                        <a:spcBef>
                          <a:spcPts val="0"/>
                        </a:spcBef>
                        <a:spcAft>
                          <a:spcPts val="0"/>
                        </a:spcAft>
                      </a:pPr>
                      <a:r>
                        <a:rPr lang="hy-AM" sz="1400" dirty="0">
                          <a:effectLst/>
                        </a:rPr>
                        <a:t>Ուսումնական տարվա </a:t>
                      </a:r>
                      <a:r>
                        <a:rPr lang="hy-AM" sz="1400" dirty="0" smtClean="0">
                          <a:effectLst/>
                        </a:rPr>
                        <a:t>ը</a:t>
                      </a:r>
                      <a:r>
                        <a:rPr lang="en-US" sz="1400" dirty="0" smtClean="0">
                          <a:effectLst/>
                        </a:rPr>
                        <a:t>ն</a:t>
                      </a:r>
                      <a:r>
                        <a:rPr lang="hy-AM" sz="1400" dirty="0" smtClean="0">
                          <a:effectLst/>
                        </a:rPr>
                        <a:t>թացքում </a:t>
                      </a:r>
                      <a:r>
                        <a:rPr lang="hy-AM" sz="1400" dirty="0">
                          <a:effectLst/>
                        </a:rPr>
                        <a:t>տվյալ հաստատությունից այլ հաստատություն տեղափոխված սովորողների թիվը և տոկոսը ըստ կրթական աստիճանների </a:t>
                      </a:r>
                      <a:endParaRPr lang="hy-AM" dirty="0">
                        <a:effectLst/>
                      </a:endParaRPr>
                    </a:p>
                  </a:txBody>
                  <a:tcPr marL="0" marR="0" marT="0" marB="0" anchor="ctr"/>
                </a:tc>
                <a:tc>
                  <a:txBody>
                    <a:bodyPr/>
                    <a:lstStyle/>
                    <a:p>
                      <a:pPr algn="ctr"/>
                      <a:r>
                        <a:rPr lang="ru-RU" sz="1200" dirty="0"/>
                        <a:t>29</a:t>
                      </a:r>
                    </a:p>
                    <a:p>
                      <a:pPr lvl="0" algn="ctr">
                        <a:buNone/>
                      </a:pPr>
                      <a:r>
                        <a:rPr lang="ru-RU" sz="1200" dirty="0"/>
                        <a:t>7%</a:t>
                      </a:r>
                    </a:p>
                  </a:txBody>
                  <a:tcPr marL="0" marR="0" marT="0" marB="0" anchor="ctr"/>
                </a:tc>
                <a:tc>
                  <a:txBody>
                    <a:bodyPr/>
                    <a:lstStyle/>
                    <a:p>
                      <a:pPr algn="ctr"/>
                      <a:r>
                        <a:rPr lang="en-US" sz="1200" dirty="0" smtClean="0"/>
                        <a:t>25 </a:t>
                      </a:r>
                      <a:r>
                        <a:rPr lang="en-US" sz="1200" dirty="0" err="1" smtClean="0"/>
                        <a:t>աշ</a:t>
                      </a:r>
                      <a:r>
                        <a:rPr lang="en-US" sz="1200" dirty="0" smtClean="0"/>
                        <a:t>.</a:t>
                      </a:r>
                      <a:endParaRPr lang="ru-RU" sz="1200" dirty="0"/>
                    </a:p>
                    <a:p>
                      <a:pPr lvl="0" algn="ctr">
                        <a:buNone/>
                      </a:pPr>
                      <a:r>
                        <a:rPr lang="en-US" sz="1200" dirty="0" smtClean="0"/>
                        <a:t>5,8</a:t>
                      </a:r>
                      <a:r>
                        <a:rPr lang="ru-RU" sz="1200" dirty="0" smtClean="0"/>
                        <a:t>%</a:t>
                      </a:r>
                      <a:endParaRPr lang="ru-RU" sz="1200" dirty="0"/>
                    </a:p>
                  </a:txBody>
                  <a:tcPr marL="0" marR="0" marT="0" marB="0" anchor="ctr"/>
                </a:tc>
                <a:extLst>
                  <a:ext uri="{0D108BD9-81ED-4DB2-BD59-A6C34878D82A}">
                    <a16:rowId xmlns:a16="http://schemas.microsoft.com/office/drawing/2014/main" val="477529728"/>
                  </a:ext>
                </a:extLst>
              </a:tr>
              <a:tr h="1172162">
                <a:tc>
                  <a:txBody>
                    <a:bodyPr/>
                    <a:lstStyle/>
                    <a:p>
                      <a:pPr marL="0" marR="0" algn="l" rtl="0" latinLnBrk="0">
                        <a:lnSpc>
                          <a:spcPct val="150000"/>
                        </a:lnSpc>
                        <a:spcBef>
                          <a:spcPts val="0"/>
                        </a:spcBef>
                        <a:spcAft>
                          <a:spcPts val="0"/>
                        </a:spcAft>
                      </a:pPr>
                      <a:r>
                        <a:rPr lang="hy-AM" sz="1400">
                          <a:effectLst/>
                        </a:rPr>
                        <a:t>ՀՀ այլ հաստատություններ </a:t>
                      </a:r>
                      <a:r>
                        <a:rPr lang="hy-AM" sz="1400" err="1">
                          <a:effectLst/>
                        </a:rPr>
                        <a:t>տեղափոխվածների</a:t>
                      </a:r>
                      <a:r>
                        <a:rPr lang="hy-AM" sz="1400">
                          <a:effectLst/>
                        </a:rPr>
                        <a:t> թիվը </a:t>
                      </a:r>
                      <a:endParaRPr lang="hy-AM">
                        <a:effectLst/>
                      </a:endParaRPr>
                    </a:p>
                  </a:txBody>
                  <a:tcPr marL="0" marR="0" marT="0" marB="0" anchor="ctr"/>
                </a:tc>
                <a:tc>
                  <a:txBody>
                    <a:bodyPr/>
                    <a:lstStyle/>
                    <a:p>
                      <a:pPr algn="ctr"/>
                      <a:r>
                        <a:rPr lang="ru-RU" sz="1200" dirty="0"/>
                        <a:t>23</a:t>
                      </a:r>
                    </a:p>
                    <a:p>
                      <a:pPr lvl="0" algn="ctr">
                        <a:buNone/>
                      </a:pPr>
                      <a:r>
                        <a:rPr lang="ru-RU" sz="1200" dirty="0"/>
                        <a:t>5,7%</a:t>
                      </a:r>
                    </a:p>
                  </a:txBody>
                  <a:tcPr marL="0" marR="0" marT="0" marB="0" anchor="ctr"/>
                </a:tc>
                <a:tc>
                  <a:txBody>
                    <a:bodyPr/>
                    <a:lstStyle/>
                    <a:p>
                      <a:pPr algn="ctr"/>
                      <a:r>
                        <a:rPr lang="en-US" sz="1200" dirty="0" smtClean="0"/>
                        <a:t>10 </a:t>
                      </a:r>
                      <a:r>
                        <a:rPr lang="en-US" sz="1200" dirty="0" err="1" smtClean="0"/>
                        <a:t>աշ</a:t>
                      </a:r>
                      <a:r>
                        <a:rPr lang="en-US" sz="1200" dirty="0" smtClean="0"/>
                        <a:t>.</a:t>
                      </a:r>
                      <a:endParaRPr lang="ru-RU" sz="1200" dirty="0"/>
                    </a:p>
                    <a:p>
                      <a:pPr lvl="0" algn="ctr">
                        <a:buNone/>
                      </a:pPr>
                      <a:r>
                        <a:rPr lang="en-US" sz="1200" dirty="0" smtClean="0"/>
                        <a:t>2</a:t>
                      </a:r>
                      <a:r>
                        <a:rPr lang="ru-RU" sz="1200" dirty="0" smtClean="0"/>
                        <a:t>,</a:t>
                      </a:r>
                      <a:r>
                        <a:rPr lang="en-US" sz="1200" dirty="0" smtClean="0"/>
                        <a:t>3</a:t>
                      </a:r>
                      <a:r>
                        <a:rPr lang="ru-RU" sz="1200" dirty="0" smtClean="0"/>
                        <a:t>%</a:t>
                      </a:r>
                      <a:endParaRPr lang="ru-RU" sz="1200" dirty="0"/>
                    </a:p>
                  </a:txBody>
                  <a:tcPr marL="0" marR="0" marT="0" marB="0" anchor="ctr"/>
                </a:tc>
                <a:extLst>
                  <a:ext uri="{0D108BD9-81ED-4DB2-BD59-A6C34878D82A}">
                    <a16:rowId xmlns:a16="http://schemas.microsoft.com/office/drawing/2014/main" val="535968452"/>
                  </a:ext>
                </a:extLst>
              </a:tr>
              <a:tr h="802020">
                <a:tc>
                  <a:txBody>
                    <a:bodyPr/>
                    <a:lstStyle/>
                    <a:p>
                      <a:pPr marL="0" marR="0" algn="l" rtl="0" latinLnBrk="0">
                        <a:lnSpc>
                          <a:spcPct val="150000"/>
                        </a:lnSpc>
                        <a:spcBef>
                          <a:spcPts val="0"/>
                        </a:spcBef>
                        <a:spcAft>
                          <a:spcPts val="0"/>
                        </a:spcAft>
                      </a:pPr>
                      <a:r>
                        <a:rPr lang="hy-AM" sz="1400">
                          <a:effectLst/>
                        </a:rPr>
                        <a:t>-այլ երկրների ուսումնական հաստատություններ </a:t>
                      </a:r>
                      <a:r>
                        <a:rPr lang="hy-AM" sz="1400" err="1">
                          <a:effectLst/>
                        </a:rPr>
                        <a:t>տեղափոխվածների</a:t>
                      </a:r>
                      <a:r>
                        <a:rPr lang="hy-AM" sz="1400">
                          <a:effectLst/>
                        </a:rPr>
                        <a:t> թիվը </a:t>
                      </a:r>
                      <a:endParaRPr lang="hy-AM">
                        <a:effectLst/>
                      </a:endParaRPr>
                    </a:p>
                  </a:txBody>
                  <a:tcPr marL="0" marR="0" marT="0" marB="0" anchor="ctr"/>
                </a:tc>
                <a:tc>
                  <a:txBody>
                    <a:bodyPr/>
                    <a:lstStyle/>
                    <a:p>
                      <a:pPr algn="ctr"/>
                      <a:r>
                        <a:rPr lang="ru-RU" sz="1200" dirty="0"/>
                        <a:t>6</a:t>
                      </a:r>
                    </a:p>
                    <a:p>
                      <a:pPr lvl="0" algn="ctr">
                        <a:buNone/>
                      </a:pPr>
                      <a:r>
                        <a:rPr lang="ru-RU" sz="1200" dirty="0"/>
                        <a:t>1,5%</a:t>
                      </a:r>
                    </a:p>
                  </a:txBody>
                  <a:tcPr marL="0" marR="0" marT="0" marB="0" anchor="ctr"/>
                </a:tc>
                <a:tc>
                  <a:txBody>
                    <a:bodyPr/>
                    <a:lstStyle/>
                    <a:p>
                      <a:pPr algn="ctr"/>
                      <a:r>
                        <a:rPr lang="en-US" sz="1200" dirty="0" smtClean="0"/>
                        <a:t>15 </a:t>
                      </a:r>
                      <a:r>
                        <a:rPr lang="en-US" sz="1200" dirty="0" err="1" smtClean="0"/>
                        <a:t>աշ</a:t>
                      </a:r>
                      <a:r>
                        <a:rPr lang="en-US" sz="1200" dirty="0" smtClean="0"/>
                        <a:t>.</a:t>
                      </a:r>
                      <a:endParaRPr lang="ru-RU" sz="1200" dirty="0"/>
                    </a:p>
                    <a:p>
                      <a:pPr lvl="0" algn="ctr">
                        <a:buNone/>
                      </a:pPr>
                      <a:r>
                        <a:rPr lang="en-US" sz="1200" dirty="0" smtClean="0"/>
                        <a:t>3</a:t>
                      </a:r>
                      <a:r>
                        <a:rPr lang="ru-RU" sz="1200" dirty="0" smtClean="0"/>
                        <a:t>,5</a:t>
                      </a:r>
                      <a:r>
                        <a:rPr lang="ru-RU" sz="1200" dirty="0"/>
                        <a:t>%</a:t>
                      </a:r>
                    </a:p>
                  </a:txBody>
                  <a:tcPr marL="0" marR="0" marT="0" marB="0" anchor="ctr"/>
                </a:tc>
                <a:extLst>
                  <a:ext uri="{0D108BD9-81ED-4DB2-BD59-A6C34878D82A}">
                    <a16:rowId xmlns:a16="http://schemas.microsoft.com/office/drawing/2014/main" val="1711247844"/>
                  </a:ext>
                </a:extLst>
              </a:tr>
              <a:tr h="694094">
                <a:tc>
                  <a:txBody>
                    <a:bodyPr/>
                    <a:lstStyle/>
                    <a:p>
                      <a:pPr marL="0" marR="0" algn="l" rtl="0" latinLnBrk="0">
                        <a:lnSpc>
                          <a:spcPct val="150000"/>
                        </a:lnSpc>
                        <a:spcBef>
                          <a:spcPts val="0"/>
                        </a:spcBef>
                        <a:spcAft>
                          <a:spcPts val="0"/>
                        </a:spcAft>
                      </a:pPr>
                      <a:r>
                        <a:rPr lang="hy-AM" sz="1400" dirty="0" smtClean="0">
                          <a:effectLst/>
                        </a:rPr>
                        <a:t>Ո</a:t>
                      </a:r>
                      <a:r>
                        <a:rPr lang="en-US" sz="1400" dirty="0" smtClean="0">
                          <a:effectLst/>
                        </a:rPr>
                        <a:t>ւ</a:t>
                      </a:r>
                      <a:r>
                        <a:rPr lang="hy-AM" sz="1400" dirty="0" smtClean="0">
                          <a:effectLst/>
                        </a:rPr>
                        <a:t>սումնական </a:t>
                      </a:r>
                      <a:r>
                        <a:rPr lang="hy-AM" sz="1400" dirty="0">
                          <a:effectLst/>
                        </a:rPr>
                        <a:t>տարվա ընթացքում ուսումն ընդհատած </a:t>
                      </a:r>
                      <a:endParaRPr lang="hy-AM" dirty="0">
                        <a:effectLst/>
                      </a:endParaRPr>
                    </a:p>
                  </a:txBody>
                  <a:tcPr marL="0" marR="0" marT="0" marB="0" anchor="ctr"/>
                </a:tc>
                <a:tc>
                  <a:txBody>
                    <a:bodyPr/>
                    <a:lstStyle/>
                    <a:p>
                      <a:pPr algn="l"/>
                      <a:r>
                        <a:rPr lang="en-US" sz="1200" dirty="0"/>
                        <a:t>-</a:t>
                      </a:r>
                      <a:endParaRPr lang="ru-RU" sz="1200" dirty="0"/>
                    </a:p>
                  </a:txBody>
                  <a:tcPr marL="0" marR="0" marT="0" marB="0" anchor="ctr"/>
                </a:tc>
                <a:tc>
                  <a:txBody>
                    <a:bodyPr/>
                    <a:lstStyle/>
                    <a:p>
                      <a:pPr algn="ctr"/>
                      <a:r>
                        <a:rPr lang="en-US" sz="1200" dirty="0"/>
                        <a:t>-</a:t>
                      </a:r>
                      <a:endParaRPr lang="ru-RU" sz="1200" dirty="0"/>
                    </a:p>
                  </a:txBody>
                  <a:tcPr marL="0" marR="0" marT="0" marB="0" anchor="ctr"/>
                </a:tc>
                <a:extLst>
                  <a:ext uri="{0D108BD9-81ED-4DB2-BD59-A6C34878D82A}">
                    <a16:rowId xmlns:a16="http://schemas.microsoft.com/office/drawing/2014/main" val="67956270"/>
                  </a:ext>
                </a:extLst>
              </a:tr>
            </a:tbl>
          </a:graphicData>
        </a:graphic>
      </p:graphicFrame>
      <p:graphicFrame>
        <p:nvGraphicFramePr>
          <p:cNvPr id="23" name="Таблица 22"/>
          <p:cNvGraphicFramePr>
            <a:graphicFrameLocks noGrp="1"/>
          </p:cNvGraphicFramePr>
          <p:nvPr>
            <p:extLst>
              <p:ext uri="{D42A27DB-BD31-4B8C-83A1-F6EECF244321}">
                <p14:modId xmlns:p14="http://schemas.microsoft.com/office/powerpoint/2010/main" val="3482443231"/>
              </p:ext>
            </p:extLst>
          </p:nvPr>
        </p:nvGraphicFramePr>
        <p:xfrm>
          <a:off x="9625205" y="781236"/>
          <a:ext cx="1216240" cy="5805762"/>
        </p:xfrm>
        <a:graphic>
          <a:graphicData uri="http://schemas.openxmlformats.org/drawingml/2006/table">
            <a:tbl>
              <a:tblPr>
                <a:tableStyleId>{5940675A-B579-460E-94D1-54222C63F5DA}</a:tableStyleId>
              </a:tblPr>
              <a:tblGrid>
                <a:gridCol w="1216240">
                  <a:extLst>
                    <a:ext uri="{9D8B030D-6E8A-4147-A177-3AD203B41FA5}">
                      <a16:colId xmlns:a16="http://schemas.microsoft.com/office/drawing/2014/main" val="698296073"/>
                    </a:ext>
                  </a:extLst>
                </a:gridCol>
              </a:tblGrid>
              <a:tr h="696896">
                <a:tc>
                  <a:txBody>
                    <a:bodyPr/>
                    <a:lstStyle/>
                    <a:p>
                      <a:pPr marL="0" marR="0" algn="ctr" rtl="0" eaLnBrk="1" latinLnBrk="0" hangingPunct="1">
                        <a:lnSpc>
                          <a:spcPct val="150000"/>
                        </a:lnSpc>
                        <a:spcBef>
                          <a:spcPts val="0"/>
                        </a:spcBef>
                        <a:spcAft>
                          <a:spcPts val="0"/>
                        </a:spcAft>
                      </a:pPr>
                      <a:r>
                        <a:rPr lang="hy-AM" sz="1400" dirty="0">
                          <a:effectLst/>
                        </a:rPr>
                        <a:t>20</a:t>
                      </a:r>
                      <a:r>
                        <a:rPr lang="en-US" sz="1400" dirty="0" smtClean="0">
                          <a:effectLst/>
                        </a:rPr>
                        <a:t>24</a:t>
                      </a:r>
                      <a:r>
                        <a:rPr lang="hy-AM" sz="1400" dirty="0" smtClean="0">
                          <a:effectLst/>
                        </a:rPr>
                        <a:t>-202</a:t>
                      </a:r>
                      <a:r>
                        <a:rPr lang="en-US" sz="1400" dirty="0" smtClean="0">
                          <a:effectLst/>
                        </a:rPr>
                        <a:t>5 </a:t>
                      </a:r>
                      <a:r>
                        <a:rPr lang="hy-AM" sz="1400" dirty="0">
                          <a:effectLst/>
                        </a:rPr>
                        <a:t>ուստարի </a:t>
                      </a:r>
                      <a:endParaRPr lang="hy-AM" dirty="0">
                        <a:effectLst/>
                      </a:endParaRPr>
                    </a:p>
                  </a:txBody>
                  <a:tcPr marL="0" marR="0" marT="0" marB="0" anchor="ctr"/>
                </a:tc>
                <a:extLst>
                  <a:ext uri="{0D108BD9-81ED-4DB2-BD59-A6C34878D82A}">
                    <a16:rowId xmlns:a16="http://schemas.microsoft.com/office/drawing/2014/main" val="782387491"/>
                  </a:ext>
                </a:extLst>
              </a:tr>
              <a:tr h="1052403">
                <a:tc>
                  <a:txBody>
                    <a:bodyPr/>
                    <a:lstStyle/>
                    <a:p>
                      <a:pPr marL="0" marR="0" algn="ctr" rtl="0" latinLnBrk="0">
                        <a:lnSpc>
                          <a:spcPct val="150000"/>
                        </a:lnSpc>
                        <a:spcBef>
                          <a:spcPts val="0"/>
                        </a:spcBef>
                        <a:spcAft>
                          <a:spcPts val="0"/>
                        </a:spcAft>
                      </a:pPr>
                      <a:r>
                        <a:rPr lang="hy-AM" sz="14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400" dirty="0">
                          <a:effectLst/>
                        </a:rPr>
                        <a:t>դաս. </a:t>
                      </a:r>
                      <a:endParaRPr lang="hy-AM" dirty="0">
                        <a:effectLst/>
                      </a:endParaRPr>
                    </a:p>
                  </a:txBody>
                  <a:tcPr marL="0" marR="0" marT="0" marB="0" anchor="ctr"/>
                </a:tc>
                <a:extLst>
                  <a:ext uri="{0D108BD9-81ED-4DB2-BD59-A6C34878D82A}">
                    <a16:rowId xmlns:a16="http://schemas.microsoft.com/office/drawing/2014/main" val="358620045"/>
                  </a:ext>
                </a:extLst>
              </a:tr>
              <a:tr h="1388187">
                <a:tc>
                  <a:txBody>
                    <a:bodyPr/>
                    <a:lstStyle/>
                    <a:p>
                      <a:pPr algn="ctr"/>
                      <a:r>
                        <a:rPr lang="en-US" sz="1200" dirty="0" smtClean="0"/>
                        <a:t>16 </a:t>
                      </a:r>
                      <a:r>
                        <a:rPr lang="en-US" sz="1200" dirty="0" err="1" smtClean="0"/>
                        <a:t>աշ</a:t>
                      </a:r>
                      <a:r>
                        <a:rPr lang="en-US" sz="1200" dirty="0" smtClean="0"/>
                        <a:t>.</a:t>
                      </a:r>
                      <a:endParaRPr lang="ru-RU" sz="1200" dirty="0"/>
                    </a:p>
                    <a:p>
                      <a:pPr lvl="0" algn="ctr">
                        <a:buNone/>
                      </a:pPr>
                      <a:r>
                        <a:rPr lang="en-US" sz="1200" dirty="0" smtClean="0"/>
                        <a:t>3,2</a:t>
                      </a:r>
                      <a:r>
                        <a:rPr lang="ru-RU" sz="1200" dirty="0" smtClean="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1113225622"/>
                  </a:ext>
                </a:extLst>
              </a:tr>
              <a:tr h="1172162">
                <a:tc>
                  <a:txBody>
                    <a:bodyPr/>
                    <a:lstStyle/>
                    <a:p>
                      <a:pPr algn="ctr"/>
                      <a:r>
                        <a:rPr lang="en-US" sz="1200" dirty="0" smtClean="0"/>
                        <a:t>7 </a:t>
                      </a:r>
                      <a:r>
                        <a:rPr lang="en-US" sz="1200" dirty="0" err="1" smtClean="0"/>
                        <a:t>աշ</a:t>
                      </a:r>
                      <a:r>
                        <a:rPr lang="en-US" sz="1200" dirty="0" smtClean="0"/>
                        <a:t>.</a:t>
                      </a:r>
                      <a:endParaRPr lang="ru-RU" sz="1200" dirty="0"/>
                    </a:p>
                    <a:p>
                      <a:pPr lvl="0" algn="ctr">
                        <a:buNone/>
                      </a:pPr>
                      <a:r>
                        <a:rPr lang="en-US" sz="1200" dirty="0" smtClean="0"/>
                        <a:t>1,6</a:t>
                      </a:r>
                      <a:r>
                        <a:rPr lang="ru-RU" sz="1200" dirty="0" smtClean="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297006605"/>
                  </a:ext>
                </a:extLst>
              </a:tr>
              <a:tr h="802020">
                <a:tc>
                  <a:txBody>
                    <a:bodyPr/>
                    <a:lstStyle/>
                    <a:p>
                      <a:pPr algn="ctr"/>
                      <a:r>
                        <a:rPr lang="en-US" sz="1200" dirty="0" smtClean="0"/>
                        <a:t>9 </a:t>
                      </a:r>
                      <a:r>
                        <a:rPr lang="en-US" sz="1200" dirty="0" err="1" smtClean="0"/>
                        <a:t>աշ</a:t>
                      </a:r>
                      <a:r>
                        <a:rPr lang="en-US" sz="1200" dirty="0" smtClean="0"/>
                        <a:t>.</a:t>
                      </a:r>
                      <a:endParaRPr lang="ru-RU" sz="1200" dirty="0"/>
                    </a:p>
                    <a:p>
                      <a:pPr lvl="0" algn="ctr">
                        <a:buNone/>
                      </a:pPr>
                      <a:r>
                        <a:rPr lang="en-US" sz="1200" dirty="0" smtClean="0"/>
                        <a:t>2,08</a:t>
                      </a:r>
                      <a:r>
                        <a:rPr lang="ru-RU" sz="1200" dirty="0" smtClean="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3864253539"/>
                  </a:ext>
                </a:extLst>
              </a:tr>
              <a:tr h="694094">
                <a:tc>
                  <a:txBody>
                    <a:bodyPr/>
                    <a:lstStyle/>
                    <a:p>
                      <a:pPr algn="ctr"/>
                      <a:r>
                        <a:rPr lang="en-US" sz="1200" dirty="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2286608608"/>
                  </a:ext>
                </a:extLst>
              </a:tr>
            </a:tbl>
          </a:graphicData>
        </a:graphic>
      </p:graphicFrame>
    </p:spTree>
    <p:extLst>
      <p:ext uri="{BB962C8B-B14F-4D97-AF65-F5344CB8AC3E}">
        <p14:creationId xmlns:p14="http://schemas.microsoft.com/office/powerpoint/2010/main" val="24569025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201613" y="177800"/>
            <a:ext cx="9172892" cy="885345"/>
          </a:xfrm>
          <a:prstGeom prst="rect">
            <a:avLst/>
          </a:prstGeom>
        </p:spPr>
      </p:pic>
      <p:graphicFrame>
        <p:nvGraphicFramePr>
          <p:cNvPr id="3" name="Table 2"/>
          <p:cNvGraphicFramePr/>
          <p:nvPr>
            <p:extLst>
              <p:ext uri="{D42A27DB-BD31-4B8C-83A1-F6EECF244321}">
                <p14:modId xmlns:p14="http://schemas.microsoft.com/office/powerpoint/2010/main" val="2048572951"/>
              </p:ext>
            </p:extLst>
          </p:nvPr>
        </p:nvGraphicFramePr>
        <p:xfrm>
          <a:off x="1082125" y="1225714"/>
          <a:ext cx="8833918" cy="5429840"/>
        </p:xfrm>
        <a:graphic>
          <a:graphicData uri="http://schemas.openxmlformats.org/drawingml/2006/table">
            <a:tbl>
              <a:tblPr>
                <a:tableStyleId>{5940675A-B579-460E-94D1-54222C63F5DA}</a:tableStyleId>
              </a:tblPr>
              <a:tblGrid>
                <a:gridCol w="5428228">
                  <a:extLst>
                    <a:ext uri="{9D8B030D-6E8A-4147-A177-3AD203B41FA5}">
                      <a16:colId xmlns:a16="http://schemas.microsoft.com/office/drawing/2014/main" val="3727358348"/>
                    </a:ext>
                  </a:extLst>
                </a:gridCol>
                <a:gridCol w="1135230">
                  <a:extLst>
                    <a:ext uri="{9D8B030D-6E8A-4147-A177-3AD203B41FA5}">
                      <a16:colId xmlns:a16="http://schemas.microsoft.com/office/drawing/2014/main" val="772041174"/>
                    </a:ext>
                  </a:extLst>
                </a:gridCol>
                <a:gridCol w="1135230">
                  <a:extLst>
                    <a:ext uri="{9D8B030D-6E8A-4147-A177-3AD203B41FA5}">
                      <a16:colId xmlns:a16="http://schemas.microsoft.com/office/drawing/2014/main" val="1861240395"/>
                    </a:ext>
                  </a:extLst>
                </a:gridCol>
                <a:gridCol w="1135230">
                  <a:extLst>
                    <a:ext uri="{9D8B030D-6E8A-4147-A177-3AD203B41FA5}">
                      <a16:colId xmlns:a16="http://schemas.microsoft.com/office/drawing/2014/main" val="2911892053"/>
                    </a:ext>
                  </a:extLst>
                </a:gridCol>
              </a:tblGrid>
              <a:tr h="685292">
                <a:tc>
                  <a:txBody>
                    <a:bodyPr/>
                    <a:lstStyle/>
                    <a:p>
                      <a:pPr marL="0" marR="0" algn="ctr" rtl="0" latinLnBrk="0">
                        <a:lnSpc>
                          <a:spcPct val="150000"/>
                        </a:lnSpc>
                        <a:spcBef>
                          <a:spcPts val="0"/>
                        </a:spcBef>
                        <a:spcAft>
                          <a:spcPts val="0"/>
                        </a:spcAft>
                      </a:pPr>
                      <a:r>
                        <a:rPr lang="hy-AM" sz="1200" dirty="0">
                          <a:effectLst/>
                        </a:rPr>
                        <a:t>Ցուցանիշ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smtClean="0">
                          <a:effectLst/>
                        </a:rPr>
                        <a:t>20</a:t>
                      </a:r>
                      <a:r>
                        <a:rPr lang="en-US" sz="1200" dirty="0" smtClean="0">
                          <a:effectLst/>
                        </a:rPr>
                        <a:t>22</a:t>
                      </a:r>
                      <a:r>
                        <a:rPr lang="hy-AM" sz="1200" dirty="0" smtClean="0">
                          <a:effectLst/>
                        </a:rPr>
                        <a:t>-202</a:t>
                      </a:r>
                      <a:r>
                        <a:rPr lang="en-US" sz="1200" dirty="0" smtClean="0">
                          <a:effectLst/>
                        </a:rPr>
                        <a:t>3</a:t>
                      </a:r>
                      <a:r>
                        <a:rPr lang="hy-AM" sz="1200" dirty="0" smtClean="0">
                          <a:effectLst/>
                        </a:rPr>
                        <a:t> </a:t>
                      </a:r>
                      <a:endParaRPr lang="hy-AM" dirty="0" smtClean="0">
                        <a:effectLst/>
                      </a:endParaRPr>
                    </a:p>
                    <a:p>
                      <a:pPr marL="0" marR="0" lvl="0" algn="ctr">
                        <a:lnSpc>
                          <a:spcPct val="150000"/>
                        </a:lnSpc>
                        <a:spcBef>
                          <a:spcPts val="0"/>
                        </a:spcBef>
                        <a:spcAft>
                          <a:spcPts val="0"/>
                        </a:spcAft>
                        <a:buNone/>
                      </a:pPr>
                      <a:r>
                        <a:rPr lang="hy-AM" sz="1200" dirty="0" smtClean="0">
                          <a:effectLst/>
                        </a:rPr>
                        <a:t> </a:t>
                      </a:r>
                      <a:r>
                        <a:rPr lang="en-US" sz="1200" dirty="0" smtClean="0">
                          <a:effectLst/>
                        </a:rPr>
                        <a:t>ո</a:t>
                      </a:r>
                      <a:r>
                        <a:rPr lang="hy-AM" sz="1200" dirty="0" smtClean="0">
                          <a:effectLst/>
                        </a:rPr>
                        <a:t>ւստարի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smtClean="0">
                          <a:effectLst/>
                        </a:rPr>
                        <a:t>20</a:t>
                      </a:r>
                      <a:r>
                        <a:rPr lang="en-US" sz="1200" dirty="0" smtClean="0">
                          <a:effectLst/>
                        </a:rPr>
                        <a:t>23</a:t>
                      </a:r>
                      <a:r>
                        <a:rPr lang="hy-AM" sz="1200" dirty="0" smtClean="0">
                          <a:effectLst/>
                        </a:rPr>
                        <a:t>-202</a:t>
                      </a:r>
                      <a:r>
                        <a:rPr lang="en-US" sz="1200" dirty="0" smtClean="0">
                          <a:effectLst/>
                        </a:rPr>
                        <a:t>4</a:t>
                      </a:r>
                      <a:r>
                        <a:rPr lang="hy-AM" sz="1200" dirty="0" smtClean="0">
                          <a:effectLst/>
                        </a:rPr>
                        <a:t> </a:t>
                      </a:r>
                      <a:endParaRPr lang="hy-AM" dirty="0" smtClean="0">
                        <a:effectLst/>
                      </a:endParaRPr>
                    </a:p>
                    <a:p>
                      <a:pPr marL="0" marR="0" lvl="0" algn="ctr">
                        <a:lnSpc>
                          <a:spcPct val="150000"/>
                        </a:lnSpc>
                        <a:spcBef>
                          <a:spcPts val="0"/>
                        </a:spcBef>
                        <a:spcAft>
                          <a:spcPts val="0"/>
                        </a:spcAft>
                        <a:buNone/>
                      </a:pPr>
                      <a:r>
                        <a:rPr lang="hy-AM" sz="1200" dirty="0" smtClean="0">
                          <a:effectLst/>
                        </a:rPr>
                        <a:t> </a:t>
                      </a:r>
                      <a:r>
                        <a:rPr lang="en-US" sz="1200" dirty="0" smtClean="0">
                          <a:effectLst/>
                        </a:rPr>
                        <a:t>ո</a:t>
                      </a:r>
                      <a:r>
                        <a:rPr lang="hy-AM" sz="1200" dirty="0" smtClean="0">
                          <a:effectLst/>
                        </a:rPr>
                        <a:t>ւստարի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smtClean="0">
                          <a:effectLst/>
                        </a:rPr>
                        <a:t>20</a:t>
                      </a:r>
                      <a:r>
                        <a:rPr lang="en-US" sz="1200" dirty="0" smtClean="0">
                          <a:effectLst/>
                        </a:rPr>
                        <a:t>24</a:t>
                      </a:r>
                      <a:r>
                        <a:rPr lang="hy-AM" sz="1200" dirty="0" smtClean="0">
                          <a:effectLst/>
                        </a:rPr>
                        <a:t>-202</a:t>
                      </a:r>
                      <a:r>
                        <a:rPr lang="en-US" sz="1200" dirty="0" smtClean="0">
                          <a:effectLst/>
                        </a:rPr>
                        <a:t>5</a:t>
                      </a:r>
                      <a:r>
                        <a:rPr lang="hy-AM" sz="1200" dirty="0" smtClean="0">
                          <a:effectLst/>
                        </a:rPr>
                        <a:t> </a:t>
                      </a:r>
                      <a:endParaRPr lang="hy-AM" dirty="0" smtClean="0">
                        <a:effectLst/>
                      </a:endParaRPr>
                    </a:p>
                    <a:p>
                      <a:pPr marL="0" marR="0" lvl="0" algn="ctr">
                        <a:lnSpc>
                          <a:spcPct val="150000"/>
                        </a:lnSpc>
                        <a:spcBef>
                          <a:spcPts val="0"/>
                        </a:spcBef>
                        <a:spcAft>
                          <a:spcPts val="0"/>
                        </a:spcAft>
                        <a:buNone/>
                      </a:pPr>
                      <a:r>
                        <a:rPr lang="hy-AM" sz="1200" dirty="0" smtClean="0">
                          <a:effectLst/>
                        </a:rPr>
                        <a:t> </a:t>
                      </a:r>
                      <a:r>
                        <a:rPr lang="en-US" sz="1200" dirty="0" smtClean="0">
                          <a:effectLst/>
                        </a:rPr>
                        <a:t>ո</a:t>
                      </a:r>
                      <a:r>
                        <a:rPr lang="hy-AM" sz="1200" dirty="0" smtClean="0">
                          <a:effectLst/>
                        </a:rPr>
                        <a:t>ւստարի </a:t>
                      </a:r>
                      <a:endParaRPr lang="hy-AM" dirty="0">
                        <a:effectLst/>
                      </a:endParaRPr>
                    </a:p>
                  </a:txBody>
                  <a:tcPr marL="0" marR="0" marT="0" marB="0" anchor="ctr"/>
                </a:tc>
                <a:extLst>
                  <a:ext uri="{0D108BD9-81ED-4DB2-BD59-A6C34878D82A}">
                    <a16:rowId xmlns:a16="http://schemas.microsoft.com/office/drawing/2014/main" val="1114426798"/>
                  </a:ext>
                </a:extLst>
              </a:tr>
              <a:tr h="654640">
                <a:tc>
                  <a:txBody>
                    <a:bodyPr/>
                    <a:lstStyle/>
                    <a:p>
                      <a:pPr marL="0" marR="0" rtl="0" latinLnBrk="0">
                        <a:lnSpc>
                          <a:spcPct val="150000"/>
                        </a:lnSpc>
                        <a:spcBef>
                          <a:spcPts val="0"/>
                        </a:spcBef>
                        <a:spcAft>
                          <a:spcPts val="0"/>
                        </a:spcAft>
                      </a:pPr>
                      <a:r>
                        <a:rPr lang="hy-AM" sz="1200">
                          <a:effectLst/>
                        </a:rPr>
                        <a:t>Մարզային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r>
                        <a:rPr lang="en-US" sz="1200" dirty="0"/>
                        <a:t>5  1%</a:t>
                      </a:r>
                    </a:p>
                  </a:txBody>
                  <a:tcPr marL="0" marR="0" marT="0" marB="0" anchor="ctr"/>
                </a:tc>
                <a:tc>
                  <a:txBody>
                    <a:bodyPr/>
                    <a:lstStyle/>
                    <a:p>
                      <a:pPr algn="ctr"/>
                      <a:r>
                        <a:rPr lang="en-US" sz="1200" dirty="0" smtClean="0"/>
                        <a:t>7 </a:t>
                      </a:r>
                      <a:r>
                        <a:rPr lang="en-US" sz="1200" dirty="0" err="1" smtClean="0"/>
                        <a:t>աշ</a:t>
                      </a:r>
                      <a:r>
                        <a:rPr lang="en-US" sz="1200" dirty="0" smtClean="0"/>
                        <a:t>. </a:t>
                      </a:r>
                    </a:p>
                    <a:p>
                      <a:pPr algn="ctr"/>
                      <a:r>
                        <a:rPr lang="en-US" sz="1200" dirty="0" smtClean="0"/>
                        <a:t>0,5%</a:t>
                      </a:r>
                      <a:endParaRPr lang="en-US" sz="1200" dirty="0"/>
                    </a:p>
                  </a:txBody>
                  <a:tcPr marL="0" marR="0" marT="0" marB="0" anchor="ctr"/>
                </a:tc>
                <a:tc>
                  <a:txBody>
                    <a:bodyPr/>
                    <a:lstStyle/>
                    <a:p>
                      <a:pPr algn="ctr"/>
                      <a:r>
                        <a:rPr lang="en-US" sz="1200" dirty="0" smtClean="0"/>
                        <a:t>3 </a:t>
                      </a:r>
                      <a:r>
                        <a:rPr lang="en-US" sz="1200" dirty="0" err="1" smtClean="0"/>
                        <a:t>աշ</a:t>
                      </a:r>
                      <a:r>
                        <a:rPr lang="en-US" sz="1200" dirty="0" smtClean="0"/>
                        <a:t>. </a:t>
                      </a:r>
                    </a:p>
                    <a:p>
                      <a:pPr algn="ctr"/>
                      <a:r>
                        <a:rPr lang="en-US" sz="1200" dirty="0" smtClean="0"/>
                        <a:t>0,7%</a:t>
                      </a:r>
                      <a:endParaRPr lang="en-US" sz="1200" dirty="0"/>
                    </a:p>
                  </a:txBody>
                  <a:tcPr marL="0" marR="0" marT="0" marB="0" anchor="ctr"/>
                </a:tc>
                <a:extLst>
                  <a:ext uri="{0D108BD9-81ED-4DB2-BD59-A6C34878D82A}">
                    <a16:rowId xmlns:a16="http://schemas.microsoft.com/office/drawing/2014/main" val="4092796963"/>
                  </a:ext>
                </a:extLst>
              </a:tr>
              <a:tr h="513969">
                <a:tc>
                  <a:txBody>
                    <a:bodyPr/>
                    <a:lstStyle/>
                    <a:p>
                      <a:pPr marL="0" marR="0" rtl="0" latinLnBrk="0">
                        <a:lnSpc>
                          <a:spcPct val="150000"/>
                        </a:lnSpc>
                        <a:spcBef>
                          <a:spcPts val="0"/>
                        </a:spcBef>
                        <a:spcAft>
                          <a:spcPts val="0"/>
                        </a:spcAft>
                      </a:pPr>
                      <a:r>
                        <a:rPr lang="hy-AM" sz="1200">
                          <a:effectLst/>
                        </a:rPr>
                        <a:t>Մարզային առարկայական </a:t>
                      </a:r>
                      <a:r>
                        <a:rPr lang="hy-AM" sz="1200" err="1">
                          <a:effectLst/>
                        </a:rPr>
                        <a:t>օլիմպիադաներին</a:t>
                      </a:r>
                      <a:r>
                        <a:rPr lang="hy-AM" sz="1200">
                          <a:effectLst/>
                        </a:rPr>
                        <a:t> մրցանակներ ստացած սովորողների թիվը և տոկոսը </a:t>
                      </a:r>
                      <a:endParaRPr lang="hy-AM">
                        <a:effectLst/>
                      </a:endParaRPr>
                    </a:p>
                  </a:txBody>
                  <a:tcPr marL="0" marR="0" marT="0" marB="0" anchor="ctr"/>
                </a:tc>
                <a:tc>
                  <a:txBody>
                    <a:bodyPr/>
                    <a:lstStyle/>
                    <a:p>
                      <a:pPr lvl="0" algn="ctr">
                        <a:buNone/>
                      </a:pPr>
                      <a:r>
                        <a:rPr lang="en-US" sz="1200" dirty="0"/>
                        <a:t>2  0,5%</a:t>
                      </a:r>
                    </a:p>
                  </a:txBody>
                  <a:tcPr marL="0" marR="0" marT="0" marB="0" anchor="ctr"/>
                </a:tc>
                <a:tc>
                  <a:txBody>
                    <a:bodyPr/>
                    <a:lstStyle/>
                    <a:p>
                      <a:pPr lvl="0" algn="ctr">
                        <a:buNone/>
                      </a:pPr>
                      <a:r>
                        <a:rPr lang="en-US" sz="1200" dirty="0" smtClean="0"/>
                        <a:t>1 </a:t>
                      </a:r>
                      <a:r>
                        <a:rPr lang="en-US" sz="1200" dirty="0" err="1" smtClean="0"/>
                        <a:t>աշ</a:t>
                      </a:r>
                      <a:r>
                        <a:rPr lang="en-US" sz="1200" dirty="0" smtClean="0"/>
                        <a:t>.</a:t>
                      </a:r>
                    </a:p>
                    <a:p>
                      <a:pPr lvl="0" algn="ctr">
                        <a:buNone/>
                      </a:pPr>
                      <a:r>
                        <a:rPr lang="en-US" sz="1200" dirty="0" smtClean="0"/>
                        <a:t>0,2%</a:t>
                      </a:r>
                      <a:endParaRPr lang="en-US" sz="1200" dirty="0"/>
                    </a:p>
                  </a:txBody>
                  <a:tcPr marL="0" marR="0" marT="0" marB="0" anchor="ctr"/>
                </a:tc>
                <a:tc>
                  <a:txBody>
                    <a:bodyPr/>
                    <a:lstStyle/>
                    <a:p>
                      <a:pPr algn="ctr"/>
                      <a:r>
                        <a:rPr lang="en-US" sz="1200" dirty="0" smtClean="0"/>
                        <a:t>-</a:t>
                      </a:r>
                      <a:endParaRPr lang="en-US" sz="1200" dirty="0"/>
                    </a:p>
                  </a:txBody>
                  <a:tcPr marL="0" marR="0" marT="0" marB="0" anchor="ctr"/>
                </a:tc>
                <a:extLst>
                  <a:ext uri="{0D108BD9-81ED-4DB2-BD59-A6C34878D82A}">
                    <a16:rowId xmlns:a16="http://schemas.microsoft.com/office/drawing/2014/main" val="2027737658"/>
                  </a:ext>
                </a:extLst>
              </a:tr>
              <a:tr h="685292">
                <a:tc>
                  <a:txBody>
                    <a:bodyPr/>
                    <a:lstStyle/>
                    <a:p>
                      <a:pPr marL="0" marR="0" rtl="0" latinLnBrk="0">
                        <a:lnSpc>
                          <a:spcPct val="150000"/>
                        </a:lnSpc>
                        <a:spcBef>
                          <a:spcPts val="0"/>
                        </a:spcBef>
                        <a:spcAft>
                          <a:spcPts val="0"/>
                        </a:spcAft>
                      </a:pPr>
                      <a:r>
                        <a:rPr lang="hy-AM" sz="1200">
                          <a:effectLst/>
                        </a:rPr>
                        <a:t>Հանրապետական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r>
                        <a:rPr lang="en-US" sz="1200" dirty="0"/>
                        <a:t>1  0,2%</a:t>
                      </a:r>
                    </a:p>
                  </a:txBody>
                  <a:tcPr marL="0" marR="0" marT="0" marB="0" anchor="ctr"/>
                </a:tc>
                <a:tc>
                  <a:txBody>
                    <a:bodyPr/>
                    <a:lstStyle/>
                    <a:p>
                      <a:pPr lvl="0" algn="ctr">
                        <a:buNone/>
                      </a:pPr>
                      <a:r>
                        <a:rPr lang="en-US" sz="1200" dirty="0" smtClean="0"/>
                        <a:t>1 </a:t>
                      </a:r>
                      <a:r>
                        <a:rPr lang="en-US" sz="1200" dirty="0" err="1" smtClean="0"/>
                        <a:t>աշ</a:t>
                      </a:r>
                      <a:r>
                        <a:rPr lang="en-US" sz="1200" dirty="0" smtClean="0"/>
                        <a:t>.</a:t>
                      </a:r>
                    </a:p>
                    <a:p>
                      <a:pPr lvl="0" algn="ctr">
                        <a:buNone/>
                      </a:pPr>
                      <a:r>
                        <a:rPr lang="en-US" sz="1200" dirty="0" smtClean="0"/>
                        <a:t>0,2%</a:t>
                      </a:r>
                      <a:endParaRPr lang="en-US" sz="1200" dirty="0"/>
                    </a:p>
                  </a:txBody>
                  <a:tcPr marL="0" marR="0" marT="0" marB="0" anchor="ctr"/>
                </a:tc>
                <a:tc>
                  <a:txBody>
                    <a:bodyPr/>
                    <a:lstStyle/>
                    <a:p>
                      <a:pPr lvl="0" algn="ctr">
                        <a:buNone/>
                      </a:pPr>
                      <a:r>
                        <a:rPr lang="en-US" sz="1200" dirty="0" smtClean="0"/>
                        <a:t>1 </a:t>
                      </a:r>
                      <a:r>
                        <a:rPr lang="en-US" sz="1200" dirty="0" err="1" smtClean="0"/>
                        <a:t>աշ</a:t>
                      </a:r>
                      <a:r>
                        <a:rPr lang="en-US" sz="1200" dirty="0" smtClean="0"/>
                        <a:t>.</a:t>
                      </a:r>
                    </a:p>
                    <a:p>
                      <a:pPr lvl="0" algn="ctr">
                        <a:buNone/>
                      </a:pPr>
                      <a:r>
                        <a:rPr lang="en-US" sz="1200" dirty="0" smtClean="0"/>
                        <a:t>0,2%</a:t>
                      </a:r>
                      <a:endParaRPr lang="en-US" sz="1200" dirty="0"/>
                    </a:p>
                  </a:txBody>
                  <a:tcPr marL="0" marR="0" marT="0" marB="0" anchor="ctr"/>
                </a:tc>
                <a:extLst>
                  <a:ext uri="{0D108BD9-81ED-4DB2-BD59-A6C34878D82A}">
                    <a16:rowId xmlns:a16="http://schemas.microsoft.com/office/drawing/2014/main" val="3433513293"/>
                  </a:ext>
                </a:extLst>
              </a:tr>
              <a:tr h="532725">
                <a:tc>
                  <a:txBody>
                    <a:bodyPr/>
                    <a:lstStyle/>
                    <a:p>
                      <a:pPr marL="0" marR="0" rtl="0" latinLnBrk="0">
                        <a:lnSpc>
                          <a:spcPct val="150000"/>
                        </a:lnSpc>
                        <a:spcBef>
                          <a:spcPts val="0"/>
                        </a:spcBef>
                        <a:spcAft>
                          <a:spcPts val="0"/>
                        </a:spcAft>
                      </a:pPr>
                      <a:r>
                        <a:rPr lang="hy-AM" sz="1200">
                          <a:effectLst/>
                        </a:rPr>
                        <a:t>Հանրապետական առարկայական </a:t>
                      </a:r>
                      <a:r>
                        <a:rPr lang="hy-AM" sz="1200" err="1">
                          <a:effectLst/>
                        </a:rPr>
                        <a:t>օլիմպիադաներին</a:t>
                      </a:r>
                      <a:r>
                        <a:rPr lang="hy-AM" sz="1200">
                          <a:effectLst/>
                        </a:rPr>
                        <a:t> մրցանակներ ստացած սովորողների թիվը և տոկոսը </a:t>
                      </a:r>
                      <a:endParaRPr lang="hy-AM">
                        <a:effectLst/>
                      </a:endParaRPr>
                    </a:p>
                  </a:txBody>
                  <a:tcPr marL="0" marR="0" marT="0" marB="0" anchor="ctr"/>
                </a:tc>
                <a:tc>
                  <a:txBody>
                    <a:bodyPr/>
                    <a:lstStyle/>
                    <a:p>
                      <a:pPr algn="ctr"/>
                      <a:r>
                        <a:rPr lang="en-US" sz="1200" dirty="0"/>
                        <a:t>1  0,2%</a:t>
                      </a:r>
                    </a:p>
                  </a:txBody>
                  <a:tcPr marL="0" marR="0" marT="0" marB="0" anchor="ctr"/>
                </a:tc>
                <a:tc>
                  <a:txBody>
                    <a:bodyPr/>
                    <a:lstStyle/>
                    <a:p>
                      <a:pPr algn="ctr"/>
                      <a:endParaRPr lang="en-US" sz="1200" dirty="0"/>
                    </a:p>
                  </a:txBody>
                  <a:tcPr marL="0" marR="0" marT="0" marB="0" anchor="ctr"/>
                </a:tc>
                <a:tc>
                  <a:txBody>
                    <a:bodyPr/>
                    <a:lstStyle/>
                    <a:p>
                      <a:pPr algn="ctr"/>
                      <a:r>
                        <a:rPr lang="en-US" sz="1200" dirty="0" smtClean="0"/>
                        <a:t>-</a:t>
                      </a:r>
                      <a:endParaRPr lang="en-US" sz="1200" dirty="0"/>
                    </a:p>
                  </a:txBody>
                  <a:tcPr marL="0" marR="0" marT="0" marB="0" anchor="ctr"/>
                </a:tc>
                <a:extLst>
                  <a:ext uri="{0D108BD9-81ED-4DB2-BD59-A6C34878D82A}">
                    <a16:rowId xmlns:a16="http://schemas.microsoft.com/office/drawing/2014/main" val="1279312626"/>
                  </a:ext>
                </a:extLst>
              </a:tr>
              <a:tr h="685292">
                <a:tc>
                  <a:txBody>
                    <a:bodyPr/>
                    <a:lstStyle/>
                    <a:p>
                      <a:pPr marL="0" marR="0" rtl="0" latinLnBrk="0">
                        <a:lnSpc>
                          <a:spcPct val="150000"/>
                        </a:lnSpc>
                        <a:spcBef>
                          <a:spcPts val="0"/>
                        </a:spcBef>
                        <a:spcAft>
                          <a:spcPts val="0"/>
                        </a:spcAft>
                      </a:pPr>
                      <a:r>
                        <a:rPr lang="hy-AM" sz="1200">
                          <a:effectLst/>
                        </a:rPr>
                        <a:t>Միջազգային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r>
                        <a:rPr lang="en-US" dirty="0"/>
                        <a:t>-</a:t>
                      </a:r>
                    </a:p>
                  </a:txBody>
                  <a:tcPr marL="0" marR="0" marT="0" marB="0" anchor="ctr"/>
                </a:tc>
                <a:tc>
                  <a:txBody>
                    <a:bodyPr/>
                    <a:lstStyle/>
                    <a:p>
                      <a:pPr algn="ctr"/>
                      <a:r>
                        <a:rPr lang="en-US" dirty="0"/>
                        <a:t>-</a:t>
                      </a:r>
                    </a:p>
                  </a:txBody>
                  <a:tcPr marL="0" marR="0" marT="0" marB="0" anchor="ctr"/>
                </a:tc>
                <a:tc>
                  <a:txBody>
                    <a:bodyPr/>
                    <a:lstStyle/>
                    <a:p>
                      <a:pPr algn="ctr"/>
                      <a:r>
                        <a:rPr lang="en-US" dirty="0"/>
                        <a:t>-</a:t>
                      </a:r>
                    </a:p>
                  </a:txBody>
                  <a:tcPr marL="0" marR="0" marT="0" marB="0" anchor="ctr"/>
                </a:tc>
                <a:extLst>
                  <a:ext uri="{0D108BD9-81ED-4DB2-BD59-A6C34878D82A}">
                    <a16:rowId xmlns:a16="http://schemas.microsoft.com/office/drawing/2014/main" val="4036154023"/>
                  </a:ext>
                </a:extLst>
              </a:tr>
              <a:tr h="342646">
                <a:tc>
                  <a:txBody>
                    <a:bodyPr/>
                    <a:lstStyle/>
                    <a:p>
                      <a:pPr marL="0" marR="0" rtl="0" latinLnBrk="0">
                        <a:spcBef>
                          <a:spcPts val="0"/>
                        </a:spcBef>
                        <a:spcAft>
                          <a:spcPts val="0"/>
                        </a:spcAft>
                      </a:pPr>
                      <a:r>
                        <a:rPr lang="hy-AM" sz="1200">
                          <a:effectLst/>
                        </a:rPr>
                        <a:t>Միջազգային օլիմպիադաներում մրցանակներ ստացած սովորողների թիվը և տոկոսը </a:t>
                      </a:r>
                      <a:endParaRPr lang="hy-AM">
                        <a:effectLst/>
                      </a:endParaRPr>
                    </a:p>
                  </a:txBody>
                  <a:tcPr marL="0" marR="0" marT="0" marB="0" anchor="ctr"/>
                </a:tc>
                <a:tc>
                  <a:txBody>
                    <a:bodyPr/>
                    <a:lstStyle/>
                    <a:p>
                      <a:pPr algn="ctr"/>
                      <a:r>
                        <a:rPr lang="en-US" dirty="0"/>
                        <a:t>-</a:t>
                      </a:r>
                    </a:p>
                  </a:txBody>
                  <a:tcPr marL="0" marR="0" marT="0" marB="0" anchor="ctr"/>
                </a:tc>
                <a:tc>
                  <a:txBody>
                    <a:bodyPr/>
                    <a:lstStyle/>
                    <a:p>
                      <a:pPr algn="ctr"/>
                      <a:r>
                        <a:rPr lang="en-US" dirty="0"/>
                        <a:t>-</a:t>
                      </a:r>
                    </a:p>
                  </a:txBody>
                  <a:tcPr marL="0" marR="0" marT="0" marB="0" anchor="ctr"/>
                </a:tc>
                <a:tc>
                  <a:txBody>
                    <a:bodyPr/>
                    <a:lstStyle/>
                    <a:p>
                      <a:pPr algn="ctr"/>
                      <a:r>
                        <a:rPr lang="en-US" dirty="0"/>
                        <a:t>-</a:t>
                      </a:r>
                    </a:p>
                  </a:txBody>
                  <a:tcPr marL="0" marR="0" marT="0" marB="0" anchor="ctr"/>
                </a:tc>
                <a:extLst>
                  <a:ext uri="{0D108BD9-81ED-4DB2-BD59-A6C34878D82A}">
                    <a16:rowId xmlns:a16="http://schemas.microsoft.com/office/drawing/2014/main" val="1446299701"/>
                  </a:ext>
                </a:extLst>
              </a:tr>
              <a:tr h="685292">
                <a:tc>
                  <a:txBody>
                    <a:bodyPr/>
                    <a:lstStyle/>
                    <a:p>
                      <a:pPr marL="0" marR="0" rtl="0" latinLnBrk="0">
                        <a:spcBef>
                          <a:spcPts val="0"/>
                        </a:spcBef>
                        <a:spcAft>
                          <a:spcPts val="0"/>
                        </a:spcAft>
                      </a:pPr>
                      <a:r>
                        <a:rPr lang="hy-AM" sz="1200">
                          <a:effectLst/>
                        </a:rPr>
                        <a:t>Մարզային և հանրապետական մարզական ու մշակույթի ոլորտում ստեղծագործական ու կատարողական մրցույթների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r>
                        <a:rPr lang="en-US" sz="1200" dirty="0"/>
                        <a:t>40</a:t>
                      </a:r>
                    </a:p>
                    <a:p>
                      <a:pPr lvl="0" algn="ctr">
                        <a:buNone/>
                      </a:pPr>
                      <a:r>
                        <a:rPr lang="en-US" sz="1200" dirty="0"/>
                        <a:t>10%</a:t>
                      </a:r>
                    </a:p>
                  </a:txBody>
                  <a:tcPr marL="0" marR="0" marT="0" marB="0" anchor="ctr"/>
                </a:tc>
                <a:tc>
                  <a:txBody>
                    <a:bodyPr/>
                    <a:lstStyle/>
                    <a:p>
                      <a:pPr algn="ctr"/>
                      <a:r>
                        <a:rPr lang="en-US" sz="1200" dirty="0" smtClean="0"/>
                        <a:t>100 </a:t>
                      </a:r>
                      <a:r>
                        <a:rPr lang="en-US" sz="1200" dirty="0" err="1" smtClean="0"/>
                        <a:t>աշ</a:t>
                      </a:r>
                      <a:r>
                        <a:rPr lang="en-US" sz="1200" dirty="0" smtClean="0"/>
                        <a:t>.</a:t>
                      </a:r>
                      <a:endParaRPr lang="en-US" sz="1200" dirty="0"/>
                    </a:p>
                    <a:p>
                      <a:pPr lvl="0" algn="ctr">
                        <a:buNone/>
                      </a:pPr>
                      <a:r>
                        <a:rPr lang="en-US" sz="1200" dirty="0" smtClean="0"/>
                        <a:t>24%</a:t>
                      </a:r>
                      <a:endParaRPr lang="en-US" sz="1200" dirty="0"/>
                    </a:p>
                  </a:txBody>
                  <a:tcPr marL="0" marR="0" marT="0" marB="0" anchor="ctr"/>
                </a:tc>
                <a:tc>
                  <a:txBody>
                    <a:bodyPr/>
                    <a:lstStyle/>
                    <a:p>
                      <a:pPr algn="ctr"/>
                      <a:r>
                        <a:rPr lang="en-US" sz="1200" dirty="0" smtClean="0"/>
                        <a:t>114 </a:t>
                      </a:r>
                      <a:r>
                        <a:rPr lang="en-US" sz="1200" dirty="0" err="1" smtClean="0"/>
                        <a:t>աշ</a:t>
                      </a:r>
                      <a:r>
                        <a:rPr lang="en-US" sz="1200" dirty="0" smtClean="0"/>
                        <a:t>.</a:t>
                      </a:r>
                      <a:endParaRPr lang="en-US" sz="1200" dirty="0"/>
                    </a:p>
                    <a:p>
                      <a:pPr lvl="0" algn="ctr">
                        <a:buNone/>
                      </a:pPr>
                      <a:r>
                        <a:rPr lang="en-US" sz="1200" dirty="0" smtClean="0"/>
                        <a:t>35%</a:t>
                      </a:r>
                      <a:endParaRPr lang="en-US" sz="1200" dirty="0"/>
                    </a:p>
                  </a:txBody>
                  <a:tcPr marL="0" marR="0" marT="0" marB="0" anchor="ctr"/>
                </a:tc>
                <a:extLst>
                  <a:ext uri="{0D108BD9-81ED-4DB2-BD59-A6C34878D82A}">
                    <a16:rowId xmlns:a16="http://schemas.microsoft.com/office/drawing/2014/main" val="3646909399"/>
                  </a:ext>
                </a:extLst>
              </a:tr>
              <a:tr h="570992">
                <a:tc>
                  <a:txBody>
                    <a:bodyPr/>
                    <a:lstStyle/>
                    <a:p>
                      <a:pPr marL="0" marR="0" rtl="0" latinLnBrk="0">
                        <a:spcBef>
                          <a:spcPts val="0"/>
                        </a:spcBef>
                        <a:spcAft>
                          <a:spcPts val="0"/>
                        </a:spcAft>
                      </a:pPr>
                      <a:r>
                        <a:rPr lang="hy-AM" sz="1200">
                          <a:effectLst/>
                        </a:rPr>
                        <a:t>Միջազգային մարզական ու մշակույթի ոլորտում ստեղծագործական ու կատարողական մրցույթներին մրցանակների ստացած </a:t>
                      </a:r>
                      <a:r>
                        <a:rPr lang="hy-AM" sz="1200" err="1">
                          <a:effectLst/>
                        </a:rPr>
                        <a:t>սովորղների</a:t>
                      </a:r>
                      <a:r>
                        <a:rPr lang="hy-AM" sz="1200">
                          <a:effectLst/>
                        </a:rPr>
                        <a:t> թիվը և տոկոսը </a:t>
                      </a:r>
                      <a:endParaRPr lang="hy-AM">
                        <a:effectLst/>
                      </a:endParaRPr>
                    </a:p>
                  </a:txBody>
                  <a:tcPr marL="0" marR="0" marT="0" marB="0" anchor="ctr"/>
                </a:tc>
                <a:tc>
                  <a:txBody>
                    <a:bodyPr/>
                    <a:lstStyle/>
                    <a:p>
                      <a:pPr algn="ctr"/>
                      <a:endParaRPr lang="en-US" dirty="0"/>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smtClean="0"/>
                        <a:t>-</a:t>
                      </a: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smtClean="0"/>
                        <a:t>-</a:t>
                      </a:r>
                    </a:p>
                  </a:txBody>
                  <a:tcPr marL="0" marR="0" marT="0" marB="0" anchor="ctr"/>
                </a:tc>
                <a:extLst>
                  <a:ext uri="{0D108BD9-81ED-4DB2-BD59-A6C34878D82A}">
                    <a16:rowId xmlns:a16="http://schemas.microsoft.com/office/drawing/2014/main" val="593322835"/>
                  </a:ext>
                </a:extLst>
              </a:tr>
            </a:tbl>
          </a:graphicData>
        </a:graphic>
      </p:graphicFrame>
    </p:spTree>
    <p:extLst>
      <p:ext uri="{BB962C8B-B14F-4D97-AF65-F5344CB8AC3E}">
        <p14:creationId xmlns:p14="http://schemas.microsoft.com/office/powerpoint/2010/main" val="4573193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52398" y="0"/>
            <a:ext cx="9349914" cy="386224"/>
          </a:xfrm>
          <a:prstGeom prst="rect">
            <a:avLst/>
          </a:prstGeom>
        </p:spPr>
      </p:pic>
      <p:graphicFrame>
        <p:nvGraphicFramePr>
          <p:cNvPr id="3" name="Table 2"/>
          <p:cNvGraphicFramePr/>
          <p:nvPr>
            <p:extLst>
              <p:ext uri="{D42A27DB-BD31-4B8C-83A1-F6EECF244321}">
                <p14:modId xmlns:p14="http://schemas.microsoft.com/office/powerpoint/2010/main" val="2745395317"/>
              </p:ext>
            </p:extLst>
          </p:nvPr>
        </p:nvGraphicFramePr>
        <p:xfrm>
          <a:off x="192752" y="409734"/>
          <a:ext cx="10201399" cy="6404796"/>
        </p:xfrm>
        <a:graphic>
          <a:graphicData uri="http://schemas.openxmlformats.org/drawingml/2006/table">
            <a:tbl>
              <a:tblPr>
                <a:tableStyleId>{5940675A-B579-460E-94D1-54222C63F5DA}</a:tableStyleId>
              </a:tblPr>
              <a:tblGrid>
                <a:gridCol w="7980370">
                  <a:extLst>
                    <a:ext uri="{9D8B030D-6E8A-4147-A177-3AD203B41FA5}">
                      <a16:colId xmlns:a16="http://schemas.microsoft.com/office/drawing/2014/main" val="2533145510"/>
                    </a:ext>
                  </a:extLst>
                </a:gridCol>
                <a:gridCol w="1055538">
                  <a:extLst>
                    <a:ext uri="{9D8B030D-6E8A-4147-A177-3AD203B41FA5}">
                      <a16:colId xmlns:a16="http://schemas.microsoft.com/office/drawing/2014/main" val="4093368793"/>
                    </a:ext>
                  </a:extLst>
                </a:gridCol>
                <a:gridCol w="1165491">
                  <a:extLst>
                    <a:ext uri="{9D8B030D-6E8A-4147-A177-3AD203B41FA5}">
                      <a16:colId xmlns:a16="http://schemas.microsoft.com/office/drawing/2014/main" val="1690955136"/>
                    </a:ext>
                  </a:extLst>
                </a:gridCol>
              </a:tblGrid>
              <a:tr h="239970">
                <a:tc>
                  <a:txBody>
                    <a:bodyPr/>
                    <a:lstStyle/>
                    <a:p>
                      <a:pPr marL="0" marR="0" rtl="0" latinLnBrk="0">
                        <a:spcBef>
                          <a:spcPts val="0"/>
                        </a:spcBef>
                        <a:spcAft>
                          <a:spcPts val="0"/>
                        </a:spcAft>
                      </a:pPr>
                      <a:r>
                        <a:rPr lang="hy-AM" sz="1100">
                          <a:effectLst/>
                        </a:rPr>
                        <a:t>Ցուցանիշ </a:t>
                      </a:r>
                      <a:endParaRPr lang="hy-AM">
                        <a:effectLst/>
                      </a:endParaRPr>
                    </a:p>
                  </a:txBody>
                  <a:tcPr marL="0" marR="0" marT="0" marB="0" anchor="ctr"/>
                </a:tc>
                <a:tc>
                  <a:txBody>
                    <a:bodyPr/>
                    <a:lstStyle/>
                    <a:p>
                      <a:pPr marL="0" marR="0" algn="ctr" rtl="0" latinLnBrk="0">
                        <a:spcBef>
                          <a:spcPts val="0"/>
                        </a:spcBef>
                        <a:spcAft>
                          <a:spcPts val="0"/>
                        </a:spcAft>
                      </a:pPr>
                      <a:r>
                        <a:rPr lang="hy-AM" sz="1100" dirty="0">
                          <a:effectLst/>
                        </a:rPr>
                        <a:t>20</a:t>
                      </a:r>
                      <a:r>
                        <a:rPr lang="en-US" sz="1100" dirty="0">
                          <a:effectLst/>
                        </a:rPr>
                        <a:t>22</a:t>
                      </a:r>
                      <a:r>
                        <a:rPr lang="hy-AM" sz="1100" dirty="0">
                          <a:effectLst/>
                        </a:rPr>
                        <a:t>-20</a:t>
                      </a:r>
                      <a:r>
                        <a:rPr lang="en-US" sz="1100" dirty="0">
                          <a:effectLst/>
                        </a:rPr>
                        <a:t>23</a:t>
                      </a:r>
                      <a:endParaRPr lang="hy-AM" sz="1100" dirty="0">
                        <a:effectLst/>
                      </a:endParaRPr>
                    </a:p>
                    <a:p>
                      <a:pPr marL="0" marR="0" algn="ctr" rtl="0" latinLnBrk="0">
                        <a:spcBef>
                          <a:spcPts val="0"/>
                        </a:spcBef>
                        <a:spcAft>
                          <a:spcPts val="0"/>
                        </a:spcAft>
                      </a:pPr>
                      <a:r>
                        <a:rPr lang="hy-AM" sz="1100" dirty="0">
                          <a:effectLst/>
                        </a:rPr>
                        <a:t>ուստարի </a:t>
                      </a:r>
                    </a:p>
                  </a:txBody>
                  <a:tcPr marL="0" marR="0" marT="0" marB="0" anchor="ctr"/>
                </a:tc>
                <a:tc>
                  <a:txBody>
                    <a:bodyPr/>
                    <a:lstStyle/>
                    <a:p>
                      <a:pPr marL="0" marR="0" algn="ctr" rtl="0" latinLnBrk="0">
                        <a:spcBef>
                          <a:spcPts val="0"/>
                        </a:spcBef>
                        <a:spcAft>
                          <a:spcPts val="0"/>
                        </a:spcAft>
                      </a:pPr>
                      <a:r>
                        <a:rPr lang="hy-AM" sz="1100" dirty="0">
                          <a:effectLst/>
                        </a:rPr>
                        <a:t>20</a:t>
                      </a:r>
                      <a:r>
                        <a:rPr lang="en-US" sz="1100" dirty="0" smtClean="0">
                          <a:effectLst/>
                        </a:rPr>
                        <a:t>23</a:t>
                      </a:r>
                      <a:r>
                        <a:rPr lang="hy-AM" sz="1100" dirty="0" smtClean="0">
                          <a:effectLst/>
                        </a:rPr>
                        <a:t>-20</a:t>
                      </a:r>
                      <a:r>
                        <a:rPr lang="en-US" sz="1100" dirty="0" smtClean="0">
                          <a:effectLst/>
                        </a:rPr>
                        <a:t>24</a:t>
                      </a:r>
                      <a:endParaRPr lang="hy-AM" sz="1100" dirty="0">
                        <a:effectLst/>
                      </a:endParaRPr>
                    </a:p>
                    <a:p>
                      <a:pPr marL="0" marR="0" algn="ctr" rtl="0" latinLnBrk="0">
                        <a:spcBef>
                          <a:spcPts val="0"/>
                        </a:spcBef>
                        <a:spcAft>
                          <a:spcPts val="0"/>
                        </a:spcAft>
                      </a:pPr>
                      <a:r>
                        <a:rPr lang="hy-AM" sz="1100" dirty="0">
                          <a:effectLst/>
                        </a:rPr>
                        <a:t>ուստարի </a:t>
                      </a:r>
                    </a:p>
                  </a:txBody>
                  <a:tcPr marL="0" marR="0" marT="0" marB="0" anchor="ctr"/>
                </a:tc>
                <a:extLst>
                  <a:ext uri="{0D108BD9-81ED-4DB2-BD59-A6C34878D82A}">
                    <a16:rowId xmlns:a16="http://schemas.microsoft.com/office/drawing/2014/main" val="3105983769"/>
                  </a:ext>
                </a:extLst>
              </a:tr>
              <a:tr h="325413">
                <a:tc>
                  <a:txBody>
                    <a:bodyPr/>
                    <a:lstStyle/>
                    <a:p>
                      <a:pPr marL="0" marR="0" rtl="0" latinLnBrk="0">
                        <a:spcBef>
                          <a:spcPts val="0"/>
                        </a:spcBef>
                        <a:spcAft>
                          <a:spcPts val="0"/>
                        </a:spcAft>
                      </a:pPr>
                      <a:r>
                        <a:rPr lang="hy-AM" sz="1100">
                          <a:effectLst/>
                        </a:rPr>
                        <a:t>Բարձրագույն մանկավարժական որակավորում ունեցող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785859246"/>
                  </a:ext>
                </a:extLst>
              </a:tr>
              <a:tr h="325413">
                <a:tc>
                  <a:txBody>
                    <a:bodyPr/>
                    <a:lstStyle/>
                    <a:p>
                      <a:r>
                        <a:rPr lang="hy-AM" sz="1100">
                          <a:effectLst/>
                        </a:rPr>
                        <a:t>Ըստ մասնագիտության դասավանդող ուսուցիչների թիվը և տոկոսը </a:t>
                      </a:r>
                      <a:endParaRPr lang="en-US" sz="1100">
                        <a:effectLst/>
                        <a:latin typeface="Trebuchet MS" charset="0"/>
                      </a:endParaRP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3421237901"/>
                  </a:ext>
                </a:extLst>
              </a:tr>
              <a:tr h="325413">
                <a:tc>
                  <a:txBody>
                    <a:bodyPr/>
                    <a:lstStyle/>
                    <a:p>
                      <a:pPr marL="0" marR="0" rtl="0" latinLnBrk="0">
                        <a:spcBef>
                          <a:spcPts val="0"/>
                        </a:spcBef>
                        <a:spcAft>
                          <a:spcPts val="0"/>
                        </a:spcAft>
                      </a:pPr>
                      <a:r>
                        <a:rPr lang="hy-AM" sz="1100">
                          <a:effectLst/>
                        </a:rPr>
                        <a:t>Տարակարգ ունեցող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a:t>
                      </a:r>
                    </a:p>
                    <a:p>
                      <a:pPr marL="0" marR="0" algn="ctr" rtl="0" latinLnBrk="0">
                        <a:spcBef>
                          <a:spcPts val="0"/>
                        </a:spcBef>
                        <a:spcAft>
                          <a:spcPts val="0"/>
                        </a:spcAft>
                      </a:pPr>
                      <a:r>
                        <a:rPr lang="en-US" sz="1100">
                          <a:effectLst/>
                        </a:rPr>
                        <a:t>6% </a:t>
                      </a:r>
                    </a:p>
                  </a:txBody>
                  <a:tcPr marL="0" marR="0" marT="0" marB="0" anchor="ctr"/>
                </a:tc>
                <a:tc>
                  <a:txBody>
                    <a:bodyPr/>
                    <a:lstStyle/>
                    <a:p>
                      <a:pPr marL="0" marR="0" algn="ctr" rtl="0" latinLnBrk="0">
                        <a:spcBef>
                          <a:spcPts val="0"/>
                        </a:spcBef>
                        <a:spcAft>
                          <a:spcPts val="0"/>
                        </a:spcAft>
                      </a:pPr>
                      <a:r>
                        <a:rPr lang="en-US" sz="1100" dirty="0" smtClean="0">
                          <a:effectLst/>
                        </a:rPr>
                        <a:t>2</a:t>
                      </a:r>
                      <a:endParaRPr lang="en-US" sz="1100" dirty="0">
                        <a:effectLst/>
                      </a:endParaRPr>
                    </a:p>
                  </a:txBody>
                  <a:tcPr marL="0" marR="0" marT="0" marB="0" anchor="ctr"/>
                </a:tc>
                <a:extLst>
                  <a:ext uri="{0D108BD9-81ED-4DB2-BD59-A6C34878D82A}">
                    <a16:rowId xmlns:a16="http://schemas.microsoft.com/office/drawing/2014/main" val="2335432185"/>
                  </a:ext>
                </a:extLst>
              </a:tr>
              <a:tr h="287076">
                <a:tc>
                  <a:txBody>
                    <a:bodyPr/>
                    <a:lstStyle/>
                    <a:p>
                      <a:pPr marL="0" marR="0" rtl="0" latinLnBrk="0">
                        <a:spcBef>
                          <a:spcPts val="0"/>
                        </a:spcBef>
                        <a:spcAft>
                          <a:spcPts val="0"/>
                        </a:spcAft>
                      </a:pPr>
                      <a:r>
                        <a:rPr lang="en-US" sz="1200" err="1">
                          <a:effectLst/>
                        </a:rPr>
                        <a:t>Կամավոր</a:t>
                      </a:r>
                      <a:r>
                        <a:rPr lang="en-US" sz="1200" baseline="0">
                          <a:effectLst/>
                        </a:rPr>
                        <a:t> </a:t>
                      </a:r>
                      <a:r>
                        <a:rPr lang="en-US" sz="1200" baseline="0" err="1">
                          <a:effectLst/>
                        </a:rPr>
                        <a:t>ատեստավորված</a:t>
                      </a:r>
                      <a:r>
                        <a:rPr lang="en-US" sz="1200" baseline="0">
                          <a:effectLst/>
                        </a:rPr>
                        <a:t> </a:t>
                      </a:r>
                      <a:r>
                        <a:rPr lang="en-US" sz="1200" baseline="0" err="1">
                          <a:effectLst/>
                        </a:rPr>
                        <a:t>ուսուցիչների</a:t>
                      </a:r>
                      <a:r>
                        <a:rPr lang="en-US" sz="1200" baseline="0">
                          <a:effectLst/>
                        </a:rPr>
                        <a:t> </a:t>
                      </a:r>
                      <a:r>
                        <a:rPr lang="en-US" sz="1200" baseline="0" err="1">
                          <a:effectLst/>
                        </a:rPr>
                        <a:t>թիվը</a:t>
                      </a:r>
                      <a:endParaRPr lang="hy-AM" sz="1200">
                        <a:effectLst/>
                      </a:endParaRPr>
                    </a:p>
                  </a:txBody>
                  <a:tcPr marL="0" marR="0" marT="0" marB="0" anchor="ctr"/>
                </a:tc>
                <a:tc>
                  <a:txBody>
                    <a:bodyPr/>
                    <a:lstStyle/>
                    <a:p>
                      <a:pPr marL="0" marR="0" algn="ctr" rtl="0" latinLnBrk="0">
                        <a:spcBef>
                          <a:spcPts val="0"/>
                        </a:spcBef>
                        <a:spcAft>
                          <a:spcPts val="0"/>
                        </a:spcAft>
                      </a:pPr>
                      <a:r>
                        <a:rPr lang="en-US" sz="1100" dirty="0">
                          <a:effectLst/>
                        </a:rPr>
                        <a:t>1</a:t>
                      </a:r>
                    </a:p>
                    <a:p>
                      <a:pPr marL="0" marR="0" algn="ctr" rtl="0" latinLnBrk="0">
                        <a:spcBef>
                          <a:spcPts val="0"/>
                        </a:spcBef>
                        <a:spcAft>
                          <a:spcPts val="0"/>
                        </a:spcAft>
                      </a:pPr>
                      <a:r>
                        <a:rPr lang="en-US" sz="1100" dirty="0">
                          <a:effectLst/>
                        </a:rPr>
                        <a:t>3%</a:t>
                      </a:r>
                    </a:p>
                  </a:txBody>
                  <a:tcPr marL="0" marR="0" marT="0" marB="0" anchor="ctr"/>
                </a:tc>
                <a:tc>
                  <a:txBody>
                    <a:bodyPr/>
                    <a:lstStyle/>
                    <a:p>
                      <a:pPr marL="0" marR="0" algn="ctr" rtl="0" latinLnBrk="0">
                        <a:spcBef>
                          <a:spcPts val="0"/>
                        </a:spcBef>
                        <a:spcAft>
                          <a:spcPts val="0"/>
                        </a:spcAft>
                      </a:pPr>
                      <a:r>
                        <a:rPr lang="en-US" sz="1100" dirty="0" smtClean="0">
                          <a:effectLst/>
                        </a:rPr>
                        <a:t>5</a:t>
                      </a:r>
                      <a:endParaRPr lang="en-US" sz="1100" dirty="0">
                        <a:effectLst/>
                      </a:endParaRPr>
                    </a:p>
                  </a:txBody>
                  <a:tcPr marL="0" marR="0" marT="0" marB="0" anchor="ctr"/>
                </a:tc>
                <a:extLst>
                  <a:ext uri="{0D108BD9-81ED-4DB2-BD59-A6C34878D82A}">
                    <a16:rowId xmlns:a16="http://schemas.microsoft.com/office/drawing/2014/main" val="10004"/>
                  </a:ext>
                </a:extLst>
              </a:tr>
              <a:tr h="266246">
                <a:tc>
                  <a:txBody>
                    <a:bodyPr/>
                    <a:lstStyle/>
                    <a:p>
                      <a:pPr marL="0" marR="0" rtl="0" latinLnBrk="0">
                        <a:spcBef>
                          <a:spcPts val="0"/>
                        </a:spcBef>
                        <a:spcAft>
                          <a:spcPts val="0"/>
                        </a:spcAft>
                      </a:pPr>
                      <a:r>
                        <a:rPr lang="hy-AM" sz="1100">
                          <a:effectLst/>
                        </a:rPr>
                        <a:t>Գիտական կոչում ունեցող ուսուցիչների թիվը և տոկոսը </a:t>
                      </a:r>
                      <a:endParaRPr lang="hy-AM">
                        <a:effectLst/>
                      </a:endParaRPr>
                    </a:p>
                  </a:txBody>
                  <a:tcPr marL="0" marR="0" marT="0" marB="0" anchor="ctr"/>
                </a:tc>
                <a:tc>
                  <a:txBody>
                    <a:bodyPr/>
                    <a:lstStyle/>
                    <a:p>
                      <a:pPr algn="ctr"/>
                      <a:r>
                        <a:rPr lang="en-US" sz="1100"/>
                        <a:t>0</a:t>
                      </a:r>
                      <a:endParaRPr lang="ru-RU" sz="1100"/>
                    </a:p>
                  </a:txBody>
                  <a:tcPr marL="0" marR="0" marT="0" marB="0" anchor="ctr"/>
                </a:tc>
                <a:tc>
                  <a:txBody>
                    <a:bodyPr/>
                    <a:lstStyle/>
                    <a:p>
                      <a:pPr algn="ctr"/>
                      <a:r>
                        <a:rPr lang="en-US" sz="1100" dirty="0"/>
                        <a:t>0</a:t>
                      </a:r>
                      <a:endParaRPr lang="ru-RU" sz="1100" dirty="0"/>
                    </a:p>
                  </a:txBody>
                  <a:tcPr marL="0" marR="0" marT="0" marB="0" anchor="ctr"/>
                </a:tc>
                <a:extLst>
                  <a:ext uri="{0D108BD9-81ED-4DB2-BD59-A6C34878D82A}">
                    <a16:rowId xmlns:a16="http://schemas.microsoft.com/office/drawing/2014/main" val="2180743052"/>
                  </a:ext>
                </a:extLst>
              </a:tr>
              <a:tr h="482220">
                <a:tc>
                  <a:txBody>
                    <a:bodyPr/>
                    <a:lstStyle/>
                    <a:p>
                      <a:pPr marL="0" marR="0" rtl="0" latinLnBrk="0">
                        <a:spcBef>
                          <a:spcPts val="0"/>
                        </a:spcBef>
                        <a:spcAft>
                          <a:spcPts val="0"/>
                        </a:spcAft>
                      </a:pPr>
                      <a:r>
                        <a:rPr lang="hy-AM" sz="1100">
                          <a:effectLst/>
                        </a:rPr>
                        <a:t>Նախարարության կողմից երաշխավորված կամ այլ կազմակերպություններում վերջին 3 տարում վերապատրաստում անցած ուսուցիչների թիվը և տոկոսը </a:t>
                      </a:r>
                      <a:endParaRPr lang="hy-AM">
                        <a:effectLst/>
                      </a:endParaRPr>
                    </a:p>
                  </a:txBody>
                  <a:tcPr marL="0" marR="0" marT="0" marB="0" anchor="ctr"/>
                </a:tc>
                <a:tc>
                  <a:txBody>
                    <a:bodyPr/>
                    <a:lstStyle/>
                    <a:p>
                      <a:pPr algn="ctr"/>
                      <a:endParaRPr lang="ru-RU" sz="1100" dirty="0"/>
                    </a:p>
                  </a:txBody>
                  <a:tcPr marL="0" marR="0" marT="0" marB="0" anchor="ctr"/>
                </a:tc>
                <a:tc>
                  <a:txBody>
                    <a:bodyPr/>
                    <a:lstStyle/>
                    <a:p>
                      <a:pPr algn="ctr"/>
                      <a:r>
                        <a:rPr lang="en-US" sz="1100" dirty="0" smtClean="0"/>
                        <a:t>20</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1215784091"/>
                  </a:ext>
                </a:extLst>
              </a:tr>
              <a:tr h="325413">
                <a:tc>
                  <a:txBody>
                    <a:bodyPr/>
                    <a:lstStyle/>
                    <a:p>
                      <a:pPr marL="0" marR="0" rtl="0" latinLnBrk="0">
                        <a:spcBef>
                          <a:spcPts val="0"/>
                        </a:spcBef>
                        <a:spcAft>
                          <a:spcPts val="0"/>
                        </a:spcAft>
                      </a:pPr>
                      <a:r>
                        <a:rPr lang="hy-AM" sz="1100">
                          <a:effectLst/>
                        </a:rPr>
                        <a:t>Որպես ուսուցիչ </a:t>
                      </a:r>
                      <a:r>
                        <a:rPr lang="hy-AM" sz="1100" err="1">
                          <a:effectLst/>
                        </a:rPr>
                        <a:t>վերապատրաստող</a:t>
                      </a:r>
                      <a:r>
                        <a:rPr lang="hy-AM" sz="1100">
                          <a:effectLst/>
                        </a:rPr>
                        <a:t> (դասախոս) </a:t>
                      </a:r>
                      <a:r>
                        <a:rPr lang="hy-AM" sz="1100" err="1">
                          <a:effectLst/>
                        </a:rPr>
                        <a:t>վերապատրաստված</a:t>
                      </a:r>
                      <a:r>
                        <a:rPr lang="hy-AM" sz="1100">
                          <a:effectLst/>
                        </a:rPr>
                        <a:t> և վերապատրաստման դասընթացներ վարող ուսուցիչների թիվը և տոկոսը </a:t>
                      </a:r>
                      <a:endParaRPr lang="hy-AM">
                        <a:effectLst/>
                      </a:endParaRPr>
                    </a:p>
                  </a:txBody>
                  <a:tcPr marL="0" marR="0" marT="0" marB="0" anchor="ctr"/>
                </a:tc>
                <a:tc>
                  <a:txBody>
                    <a:bodyPr/>
                    <a:lstStyle/>
                    <a:p>
                      <a:pPr algn="ctr"/>
                      <a:endParaRPr lang="ru-RU" sz="1100" dirty="0"/>
                    </a:p>
                  </a:txBody>
                  <a:tcPr marL="0" marR="0" marT="0" marB="0" anchor="ctr"/>
                </a:tc>
                <a:tc>
                  <a:txBody>
                    <a:bodyPr/>
                    <a:lstStyle/>
                    <a:p>
                      <a:pPr algn="ctr"/>
                      <a:r>
                        <a:rPr lang="en-US" sz="1100" dirty="0" smtClean="0"/>
                        <a:t>1</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3306881821"/>
                  </a:ext>
                </a:extLst>
              </a:tr>
              <a:tr h="266246">
                <a:tc>
                  <a:txBody>
                    <a:bodyPr/>
                    <a:lstStyle/>
                    <a:p>
                      <a:pPr marL="0" marR="0" rtl="0" latinLnBrk="0">
                        <a:spcBef>
                          <a:spcPts val="0"/>
                        </a:spcBef>
                        <a:spcAft>
                          <a:spcPts val="0"/>
                        </a:spcAft>
                      </a:pPr>
                      <a:r>
                        <a:rPr lang="hy-AM" sz="1100">
                          <a:effectLst/>
                        </a:rPr>
                        <a:t>Ուսուցիչների միջին տարիքը </a:t>
                      </a:r>
                      <a:endParaRPr lang="hy-AM">
                        <a:effectLst/>
                      </a:endParaRPr>
                    </a:p>
                  </a:txBody>
                  <a:tcPr marL="0" marR="0" marT="0" marB="0" anchor="ctr"/>
                </a:tc>
                <a:tc>
                  <a:txBody>
                    <a:bodyPr/>
                    <a:lstStyle/>
                    <a:p>
                      <a:pPr algn="ctr"/>
                      <a:r>
                        <a:rPr lang="en-US" sz="1100" dirty="0"/>
                        <a:t>55</a:t>
                      </a:r>
                      <a:endParaRPr lang="ru-RU" sz="1100" dirty="0"/>
                    </a:p>
                  </a:txBody>
                  <a:tcPr marL="0" marR="0" marT="0" marB="0" anchor="ctr"/>
                </a:tc>
                <a:tc>
                  <a:txBody>
                    <a:bodyPr/>
                    <a:lstStyle/>
                    <a:p>
                      <a:pPr algn="ctr"/>
                      <a:r>
                        <a:rPr lang="en-US" sz="1100" dirty="0"/>
                        <a:t>55</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3082115871"/>
                  </a:ext>
                </a:extLst>
              </a:tr>
              <a:tr h="541925">
                <a:tc>
                  <a:txBody>
                    <a:bodyPr/>
                    <a:lstStyle/>
                    <a:p>
                      <a:pPr marL="0" marR="0" rtl="0" latinLnBrk="0">
                        <a:spcBef>
                          <a:spcPts val="0"/>
                        </a:spcBef>
                        <a:spcAft>
                          <a:spcPts val="0"/>
                        </a:spcAft>
                      </a:pPr>
                      <a:r>
                        <a:rPr lang="hy-AM" sz="1100">
                          <a:effectLst/>
                        </a:rPr>
                        <a:t>Միջազգային ու հանրապետական </a:t>
                      </a:r>
                      <a:r>
                        <a:rPr lang="hy-AM" sz="1100" err="1">
                          <a:effectLst/>
                        </a:rPr>
                        <a:t>պարբերականներում</a:t>
                      </a:r>
                      <a:r>
                        <a:rPr lang="hy-AM" sz="1100">
                          <a:effectLst/>
                        </a:rPr>
                        <a:t> (ամսագրերում) հոդվածներ, մասնագիտական հրապարակումներ, ինչպես նաև դասագրքեր, մեթոդական ձեռնարկներ, գիտամանկավարժական, հեղինակային և այլ աշխատություններ ունեցող ուսուցիչների թիվը և տոկոսը. </a:t>
                      </a:r>
                      <a:endParaRPr lang="hy-AM">
                        <a:effectLst/>
                      </a:endParaRPr>
                    </a:p>
                  </a:txBody>
                  <a:tcPr marL="0" marR="0" marT="0" marB="0" anchor="ctr"/>
                </a:tc>
                <a:tc>
                  <a:txBody>
                    <a:bodyPr/>
                    <a:lstStyle/>
                    <a:p>
                      <a:pPr algn="ctr"/>
                      <a:endParaRPr lang="ru-RU" sz="1100" dirty="0"/>
                    </a:p>
                  </a:txBody>
                  <a:tcPr marL="0" marR="0" marT="0" marB="0" anchor="ctr"/>
                </a:tc>
                <a:tc>
                  <a:txBody>
                    <a:bodyPr/>
                    <a:lstStyle/>
                    <a:p>
                      <a:pPr algn="ctr"/>
                      <a:r>
                        <a:rPr lang="en-US" sz="1100" dirty="0" smtClean="0"/>
                        <a:t>-</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2828663359"/>
                  </a:ext>
                </a:extLst>
              </a:tr>
              <a:tr h="325413">
                <a:tc>
                  <a:txBody>
                    <a:bodyPr/>
                    <a:lstStyle/>
                    <a:p>
                      <a:pPr marL="0" marR="0" rtl="0" latinLnBrk="0">
                        <a:spcBef>
                          <a:spcPts val="0"/>
                        </a:spcBef>
                        <a:spcAft>
                          <a:spcPts val="0"/>
                        </a:spcAft>
                      </a:pPr>
                      <a:r>
                        <a:rPr lang="hy-AM" sz="1100">
                          <a:effectLst/>
                        </a:rPr>
                        <a:t>Դասավանդման </a:t>
                      </a:r>
                      <a:r>
                        <a:rPr lang="hy-AM" sz="1100" err="1">
                          <a:effectLst/>
                        </a:rPr>
                        <a:t>աշակերտակենտրոն</a:t>
                      </a:r>
                      <a:r>
                        <a:rPr lang="hy-AM" sz="1100">
                          <a:effectLst/>
                        </a:rPr>
                        <a:t>, </a:t>
                      </a:r>
                      <a:r>
                        <a:rPr lang="hy-AM" sz="1100" err="1">
                          <a:effectLst/>
                        </a:rPr>
                        <a:t>մասնակցային</a:t>
                      </a:r>
                      <a:r>
                        <a:rPr lang="hy-AM" sz="1100">
                          <a:effectLst/>
                        </a:rPr>
                        <a:t>, </a:t>
                      </a:r>
                      <a:r>
                        <a:rPr lang="hy-AM" sz="1100" err="1">
                          <a:effectLst/>
                        </a:rPr>
                        <a:t>ինտերակտիվ</a:t>
                      </a:r>
                      <a:r>
                        <a:rPr lang="hy-AM" sz="1100">
                          <a:effectLst/>
                        </a:rPr>
                        <a:t> մեթոդներին տիրապետող և դրանք կիրառող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solidFill>
                      <a:schemeClr val="accent5">
                        <a:lumMod val="20000"/>
                        <a:lumOff val="80000"/>
                      </a:schemeClr>
                    </a:solidFill>
                  </a:tcPr>
                </a:tc>
                <a:extLst>
                  <a:ext uri="{0D108BD9-81ED-4DB2-BD59-A6C34878D82A}">
                    <a16:rowId xmlns:a16="http://schemas.microsoft.com/office/drawing/2014/main" val="3944476747"/>
                  </a:ext>
                </a:extLst>
              </a:tr>
              <a:tr h="430375">
                <a:tc>
                  <a:txBody>
                    <a:bodyPr/>
                    <a:lstStyle/>
                    <a:p>
                      <a:pPr marL="0" marR="0" rtl="0" latinLnBrk="0">
                        <a:spcBef>
                          <a:spcPts val="0"/>
                        </a:spcBef>
                        <a:spcAft>
                          <a:spcPts val="0"/>
                        </a:spcAft>
                      </a:pPr>
                      <a:r>
                        <a:rPr lang="hy-AM" sz="1100">
                          <a:effectLst/>
                        </a:rPr>
                        <a:t>Ուսումնական գործընթացում տեղեկատվական հաղորդակցման տեխնոլոգիաներ, այդ թվում՝ ինտերնետ, կիրառող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3303348848"/>
                  </a:ext>
                </a:extLst>
              </a:tr>
              <a:tr h="325413">
                <a:tc>
                  <a:txBody>
                    <a:bodyPr/>
                    <a:lstStyle/>
                    <a:p>
                      <a:pPr marL="0" marR="0" rtl="0" latinLnBrk="0">
                        <a:spcBef>
                          <a:spcPts val="0"/>
                        </a:spcBef>
                        <a:spcAft>
                          <a:spcPts val="0"/>
                        </a:spcAft>
                      </a:pPr>
                      <a:r>
                        <a:rPr lang="hy-AM" sz="1100">
                          <a:effectLst/>
                        </a:rPr>
                        <a:t>Սովորողներին համակարգիչների կիրառմամբ տնային աշխատանքներ </a:t>
                      </a:r>
                      <a:r>
                        <a:rPr lang="hy-AM" sz="1100" err="1">
                          <a:effectLst/>
                        </a:rPr>
                        <a:t>հանձնարարող</a:t>
                      </a:r>
                      <a:r>
                        <a:rPr lang="hy-AM" sz="1100">
                          <a:effectLst/>
                        </a:rPr>
                        <a:t> ուսուցիչների թիվը </a:t>
                      </a:r>
                      <a:endParaRPr lang="hy-AM">
                        <a:effectLst/>
                      </a:endParaRP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a:t>
                      </a:r>
                    </a:p>
                  </a:txBody>
                  <a:tcPr marL="0" marR="0" marT="0" marB="0" anchor="ctr"/>
                </a:tc>
                <a:extLst>
                  <a:ext uri="{0D108BD9-81ED-4DB2-BD59-A6C34878D82A}">
                    <a16:rowId xmlns:a16="http://schemas.microsoft.com/office/drawing/2014/main" val="1360279293"/>
                  </a:ext>
                </a:extLst>
              </a:tr>
              <a:tr h="266246">
                <a:tc>
                  <a:txBody>
                    <a:bodyPr/>
                    <a:lstStyle/>
                    <a:p>
                      <a:pPr marL="0" marR="0" rtl="0" latinLnBrk="0">
                        <a:spcBef>
                          <a:spcPts val="0"/>
                        </a:spcBef>
                        <a:spcAft>
                          <a:spcPts val="0"/>
                        </a:spcAft>
                      </a:pPr>
                      <a:r>
                        <a:rPr lang="hy-AM" sz="1100">
                          <a:effectLst/>
                        </a:rPr>
                        <a:t>Ուսուցիչների </a:t>
                      </a:r>
                      <a:r>
                        <a:rPr lang="hy-AM" sz="1100" err="1">
                          <a:effectLst/>
                        </a:rPr>
                        <a:t>բացակայությունների</a:t>
                      </a:r>
                      <a:r>
                        <a:rPr lang="hy-AM" sz="1100">
                          <a:effectLst/>
                        </a:rPr>
                        <a:t> ընդհանուր թիվը </a:t>
                      </a:r>
                      <a:endParaRPr lang="hy-AM">
                        <a:effectLst/>
                      </a:endParaRPr>
                    </a:p>
                  </a:txBody>
                  <a:tcPr marL="0" marR="0" marT="0" marB="0" anchor="ctr"/>
                </a:tc>
                <a:tc>
                  <a:txBody>
                    <a:bodyPr/>
                    <a:lstStyle/>
                    <a:p>
                      <a:pPr algn="ctr"/>
                      <a:r>
                        <a:rPr lang="en-US" sz="1100" dirty="0" smtClean="0"/>
                        <a:t>60 </a:t>
                      </a:r>
                      <a:r>
                        <a:rPr lang="en-US" sz="1100" dirty="0" err="1" smtClean="0"/>
                        <a:t>օր</a:t>
                      </a:r>
                      <a:endParaRPr lang="ru-RU" sz="1100" dirty="0"/>
                    </a:p>
                  </a:txBody>
                  <a:tcPr marL="0" marR="0" marT="0" marB="0" anchor="ctr"/>
                </a:tc>
                <a:tc>
                  <a:txBody>
                    <a:bodyPr/>
                    <a:lstStyle/>
                    <a:p>
                      <a:pPr algn="ctr"/>
                      <a:r>
                        <a:rPr lang="en-US" sz="1100" dirty="0" smtClean="0"/>
                        <a:t>50 </a:t>
                      </a:r>
                      <a:r>
                        <a:rPr lang="en-US" sz="1100" dirty="0" err="1" smtClean="0"/>
                        <a:t>օր</a:t>
                      </a:r>
                      <a:endParaRPr lang="ru-RU" sz="1100" dirty="0"/>
                    </a:p>
                  </a:txBody>
                  <a:tcPr marL="0" marR="0" marT="0" marB="0" anchor="ctr"/>
                </a:tc>
                <a:extLst>
                  <a:ext uri="{0D108BD9-81ED-4DB2-BD59-A6C34878D82A}">
                    <a16:rowId xmlns:a16="http://schemas.microsoft.com/office/drawing/2014/main" val="3294972806"/>
                  </a:ext>
                </a:extLst>
              </a:tr>
              <a:tr h="266246">
                <a:tc>
                  <a:txBody>
                    <a:bodyPr/>
                    <a:lstStyle/>
                    <a:p>
                      <a:pPr marL="0" marR="0" rtl="0" latinLnBrk="0">
                        <a:spcBef>
                          <a:spcPts val="0"/>
                        </a:spcBef>
                        <a:spcAft>
                          <a:spcPts val="0"/>
                        </a:spcAft>
                      </a:pPr>
                      <a:r>
                        <a:rPr lang="hy-AM" sz="1100" err="1">
                          <a:effectLst/>
                        </a:rPr>
                        <a:t>ՈՒստարվա</a:t>
                      </a:r>
                      <a:r>
                        <a:rPr lang="hy-AM" sz="1100">
                          <a:effectLst/>
                        </a:rPr>
                        <a:t> ընթացքում հաստատությունում անցկացվող ցուցադրական բաց դասերի թիվը </a:t>
                      </a:r>
                      <a:endParaRPr lang="hy-AM">
                        <a:effectLst/>
                      </a:endParaRPr>
                    </a:p>
                  </a:txBody>
                  <a:tcPr marL="0" marR="0" marT="0" marB="0" anchor="ctr"/>
                </a:tc>
                <a:tc>
                  <a:txBody>
                    <a:bodyPr/>
                    <a:lstStyle/>
                    <a:p>
                      <a:pPr algn="ctr"/>
                      <a:r>
                        <a:rPr lang="en-US" sz="1100" dirty="0" smtClean="0"/>
                        <a:t>54</a:t>
                      </a:r>
                      <a:endParaRPr lang="en-US" sz="1100" dirty="0"/>
                    </a:p>
                  </a:txBody>
                  <a:tcPr marL="0" marR="0" marT="0" marB="0" anchor="ctr"/>
                </a:tc>
                <a:tc>
                  <a:txBody>
                    <a:bodyPr/>
                    <a:lstStyle/>
                    <a:p>
                      <a:pPr algn="ctr"/>
                      <a:r>
                        <a:rPr lang="en-US" sz="1100" dirty="0" smtClean="0"/>
                        <a:t>62</a:t>
                      </a:r>
                      <a:endParaRPr lang="en-US" sz="1100" dirty="0"/>
                    </a:p>
                  </a:txBody>
                  <a:tcPr marL="0" marR="0" marT="0" marB="0" anchor="ctr"/>
                </a:tc>
                <a:extLst>
                  <a:ext uri="{0D108BD9-81ED-4DB2-BD59-A6C34878D82A}">
                    <a16:rowId xmlns:a16="http://schemas.microsoft.com/office/drawing/2014/main" val="2390792467"/>
                  </a:ext>
                </a:extLst>
              </a:tr>
              <a:tr h="266246">
                <a:tc>
                  <a:txBody>
                    <a:bodyPr/>
                    <a:lstStyle/>
                    <a:p>
                      <a:pPr marL="0" marR="0" rtl="0" latinLnBrk="0">
                        <a:spcBef>
                          <a:spcPts val="0"/>
                        </a:spcBef>
                        <a:spcAft>
                          <a:spcPts val="0"/>
                        </a:spcAft>
                      </a:pPr>
                      <a:r>
                        <a:rPr lang="hy-AM" sz="1100" err="1">
                          <a:effectLst/>
                        </a:rPr>
                        <a:t>ՈՒսումնական</a:t>
                      </a:r>
                      <a:r>
                        <a:rPr lang="hy-AM" sz="1100">
                          <a:effectLst/>
                        </a:rPr>
                        <a:t> տարվա ընթացքում ուսուցիչների փոխադարձ </a:t>
                      </a:r>
                      <a:r>
                        <a:rPr lang="hy-AM" sz="1100" err="1">
                          <a:effectLst/>
                        </a:rPr>
                        <a:t>դասալսումների</a:t>
                      </a:r>
                      <a:r>
                        <a:rPr lang="hy-AM" sz="1100">
                          <a:effectLst/>
                        </a:rPr>
                        <a:t> թիվը </a:t>
                      </a:r>
                      <a:endParaRPr lang="hy-AM">
                        <a:effectLst/>
                      </a:endParaRPr>
                    </a:p>
                  </a:txBody>
                  <a:tcPr marL="0" marR="0" marT="0" marB="0" anchor="ctr"/>
                </a:tc>
                <a:tc>
                  <a:txBody>
                    <a:bodyPr/>
                    <a:lstStyle/>
                    <a:p>
                      <a:pPr algn="ctr"/>
                      <a:r>
                        <a:rPr lang="en-US" sz="1100" dirty="0" smtClean="0"/>
                        <a:t>250</a:t>
                      </a:r>
                      <a:endParaRPr lang="ru-RU" sz="1100" dirty="0"/>
                    </a:p>
                  </a:txBody>
                  <a:tcPr marL="0" marR="0" marT="0" marB="0" anchor="ctr"/>
                </a:tc>
                <a:tc>
                  <a:txBody>
                    <a:bodyPr/>
                    <a:lstStyle/>
                    <a:p>
                      <a:pPr algn="ctr"/>
                      <a:r>
                        <a:rPr lang="en-US" sz="1100" dirty="0" smtClean="0"/>
                        <a:t>470</a:t>
                      </a:r>
                      <a:endParaRPr lang="ru-RU" sz="1100" dirty="0"/>
                    </a:p>
                  </a:txBody>
                  <a:tcPr marL="0" marR="0" marT="0" marB="0" anchor="ctr"/>
                </a:tc>
                <a:extLst>
                  <a:ext uri="{0D108BD9-81ED-4DB2-BD59-A6C34878D82A}">
                    <a16:rowId xmlns:a16="http://schemas.microsoft.com/office/drawing/2014/main" val="1189053720"/>
                  </a:ext>
                </a:extLst>
              </a:tr>
              <a:tr h="266246">
                <a:tc>
                  <a:txBody>
                    <a:bodyPr/>
                    <a:lstStyle/>
                    <a:p>
                      <a:pPr marL="0" marR="0" rtl="0" latinLnBrk="0">
                        <a:spcBef>
                          <a:spcPts val="0"/>
                        </a:spcBef>
                        <a:spcAft>
                          <a:spcPts val="0"/>
                        </a:spcAft>
                      </a:pPr>
                      <a:r>
                        <a:rPr lang="hy-AM" sz="1100" err="1">
                          <a:effectLst/>
                        </a:rPr>
                        <a:t>ՈՒսումնական</a:t>
                      </a:r>
                      <a:r>
                        <a:rPr lang="hy-AM" sz="1100">
                          <a:effectLst/>
                        </a:rPr>
                        <a:t> տարվա ընթացքում հաստատությունից դուրս անցկացվող գործնական պարապմունքների թիվը, </a:t>
                      </a:r>
                      <a:endParaRPr lang="hy-AM">
                        <a:effectLst/>
                      </a:endParaRPr>
                    </a:p>
                  </a:txBody>
                  <a:tcPr marL="0" marR="0" marT="0" marB="0" anchor="ctr"/>
                </a:tc>
                <a:tc>
                  <a:txBody>
                    <a:bodyPr/>
                    <a:lstStyle/>
                    <a:p>
                      <a:pPr algn="ctr"/>
                      <a:r>
                        <a:rPr lang="en-US" sz="1100" dirty="0"/>
                        <a:t>50</a:t>
                      </a:r>
                      <a:endParaRPr lang="ru-RU" sz="1100" dirty="0"/>
                    </a:p>
                  </a:txBody>
                  <a:tcPr marL="0" marR="0" marT="0" marB="0" anchor="ctr"/>
                </a:tc>
                <a:tc>
                  <a:txBody>
                    <a:bodyPr/>
                    <a:lstStyle/>
                    <a:p>
                      <a:pPr algn="ctr"/>
                      <a:r>
                        <a:rPr lang="en-US" sz="1100" dirty="0" smtClean="0"/>
                        <a:t>52</a:t>
                      </a:r>
                      <a:endParaRPr lang="ru-RU" sz="1100" dirty="0"/>
                    </a:p>
                  </a:txBody>
                  <a:tcPr marL="0" marR="0" marT="0" marB="0" anchor="ctr"/>
                </a:tc>
                <a:extLst>
                  <a:ext uri="{0D108BD9-81ED-4DB2-BD59-A6C34878D82A}">
                    <a16:rowId xmlns:a16="http://schemas.microsoft.com/office/drawing/2014/main" val="1260213958"/>
                  </a:ext>
                </a:extLst>
              </a:tr>
              <a:tr h="325413">
                <a:tc>
                  <a:txBody>
                    <a:bodyPr/>
                    <a:lstStyle/>
                    <a:p>
                      <a:pPr marL="0" marR="0" rtl="0" latinLnBrk="0">
                        <a:spcBef>
                          <a:spcPts val="0"/>
                        </a:spcBef>
                        <a:spcAft>
                          <a:spcPts val="0"/>
                        </a:spcAft>
                      </a:pPr>
                      <a:r>
                        <a:rPr lang="hy-AM" sz="1100">
                          <a:effectLst/>
                        </a:rPr>
                        <a:t>Նախարարության, ինչպես նաև նախարարության և Մայր Աթոռ Սուրբ Էջմիածնի հետ համատեղ անցկացվող մրցույթներին մասնակցած ուսուցիչների թիվը և տոկոսը: </a:t>
                      </a:r>
                      <a:endParaRPr lang="hy-AM">
                        <a:effectLst/>
                      </a:endParaRPr>
                    </a:p>
                  </a:txBody>
                  <a:tcPr marL="0" marR="0" marT="0" marB="0" anchor="ctr"/>
                </a:tc>
                <a:tc>
                  <a:txBody>
                    <a:bodyPr/>
                    <a:lstStyle/>
                    <a:p>
                      <a:pPr algn="ctr"/>
                      <a:r>
                        <a:rPr lang="en-US" sz="1100" dirty="0"/>
                        <a:t>-</a:t>
                      </a:r>
                      <a:endParaRPr lang="ru-RU" sz="1100" dirty="0"/>
                    </a:p>
                  </a:txBody>
                  <a:tcPr marL="0" marR="0" marT="0" marB="0" anchor="ctr"/>
                </a:tc>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4150847667"/>
                  </a:ext>
                </a:extLst>
              </a:tr>
              <a:tr h="325413">
                <a:tc>
                  <a:txBody>
                    <a:bodyPr/>
                    <a:lstStyle/>
                    <a:p>
                      <a:pPr marL="0" marR="0" rtl="0" latinLnBrk="0">
                        <a:spcBef>
                          <a:spcPts val="0"/>
                        </a:spcBef>
                        <a:spcAft>
                          <a:spcPts val="0"/>
                        </a:spcAft>
                      </a:pPr>
                      <a:r>
                        <a:rPr lang="hy-AM" sz="1100">
                          <a:effectLst/>
                        </a:rPr>
                        <a:t>Նախարարության, ինչպես նաև  նախարարության և Մայր Աթոռ Սուրբ Էջմիածնի հետ համատեղ անցկացվող մրցույթներում մրցանակներ ստացած ուսուցիչների թիվը և տոկոսը </a:t>
                      </a:r>
                      <a:endParaRPr lang="hy-AM">
                        <a:effectLst/>
                      </a:endParaRPr>
                    </a:p>
                  </a:txBody>
                  <a:tcPr marL="0" marR="0" marT="0" marB="0" anchor="ctr"/>
                </a:tc>
                <a:tc>
                  <a:txBody>
                    <a:bodyPr/>
                    <a:lstStyle/>
                    <a:p>
                      <a:pPr algn="ctr"/>
                      <a:r>
                        <a:rPr lang="en-US" sz="1100" dirty="0"/>
                        <a:t>-</a:t>
                      </a:r>
                      <a:endParaRPr lang="ru-RU" sz="1100" dirty="0"/>
                    </a:p>
                  </a:txBody>
                  <a:tcPr marL="0" marR="0" marT="0" marB="0" anchor="ctr"/>
                </a:tc>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841049199"/>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3770898289"/>
              </p:ext>
            </p:extLst>
          </p:nvPr>
        </p:nvGraphicFramePr>
        <p:xfrm>
          <a:off x="10394151" y="409734"/>
          <a:ext cx="1165491" cy="6381683"/>
        </p:xfrm>
        <a:graphic>
          <a:graphicData uri="http://schemas.openxmlformats.org/drawingml/2006/table">
            <a:tbl>
              <a:tblPr>
                <a:tableStyleId>{5940675A-B579-460E-94D1-54222C63F5DA}</a:tableStyleId>
              </a:tblPr>
              <a:tblGrid>
                <a:gridCol w="1165491">
                  <a:extLst>
                    <a:ext uri="{9D8B030D-6E8A-4147-A177-3AD203B41FA5}">
                      <a16:colId xmlns:a16="http://schemas.microsoft.com/office/drawing/2014/main" val="1756087037"/>
                    </a:ext>
                  </a:extLst>
                </a:gridCol>
              </a:tblGrid>
              <a:tr h="318235">
                <a:tc>
                  <a:txBody>
                    <a:bodyPr/>
                    <a:lstStyle/>
                    <a:p>
                      <a:pPr marL="0" marR="0" algn="ctr" rtl="0" latinLnBrk="0">
                        <a:spcBef>
                          <a:spcPts val="0"/>
                        </a:spcBef>
                        <a:spcAft>
                          <a:spcPts val="0"/>
                        </a:spcAft>
                      </a:pPr>
                      <a:r>
                        <a:rPr lang="hy-AM" sz="1100" dirty="0">
                          <a:effectLst/>
                        </a:rPr>
                        <a:t>20</a:t>
                      </a:r>
                      <a:r>
                        <a:rPr lang="en-US" sz="1100" dirty="0" smtClean="0">
                          <a:effectLst/>
                        </a:rPr>
                        <a:t>24</a:t>
                      </a:r>
                      <a:r>
                        <a:rPr lang="hy-AM" sz="1100" dirty="0" smtClean="0">
                          <a:effectLst/>
                        </a:rPr>
                        <a:t>-20</a:t>
                      </a:r>
                      <a:r>
                        <a:rPr lang="en-US" sz="1100" dirty="0" smtClean="0">
                          <a:effectLst/>
                        </a:rPr>
                        <a:t>25</a:t>
                      </a:r>
                      <a:endParaRPr lang="hy-AM" sz="1100" dirty="0">
                        <a:effectLst/>
                      </a:endParaRPr>
                    </a:p>
                    <a:p>
                      <a:pPr marL="0" marR="0" algn="ctr" rtl="0" latinLnBrk="0">
                        <a:spcBef>
                          <a:spcPts val="0"/>
                        </a:spcBef>
                        <a:spcAft>
                          <a:spcPts val="0"/>
                        </a:spcAft>
                      </a:pPr>
                      <a:r>
                        <a:rPr lang="hy-AM" sz="1100" dirty="0">
                          <a:effectLst/>
                        </a:rPr>
                        <a:t>ուստարի </a:t>
                      </a:r>
                    </a:p>
                  </a:txBody>
                  <a:tcPr marL="0" marR="0" marT="0" marB="0" anchor="ctr"/>
                </a:tc>
                <a:extLst>
                  <a:ext uri="{0D108BD9-81ED-4DB2-BD59-A6C34878D82A}">
                    <a16:rowId xmlns:a16="http://schemas.microsoft.com/office/drawing/2014/main" val="3377511558"/>
                  </a:ext>
                </a:extLst>
              </a:tr>
              <a:tr h="3291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smtClean="0">
                          <a:ln>
                            <a:noFill/>
                          </a:ln>
                          <a:solidFill>
                            <a:prstClr val="black"/>
                          </a:solidFill>
                          <a:effectLst/>
                          <a:uLnTx/>
                          <a:uFillTx/>
                          <a:latin typeface="Century Gothic"/>
                          <a:ea typeface="+mn-ea"/>
                          <a:cs typeface="+mn-cs"/>
                        </a:rPr>
                        <a:t>31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smtClean="0">
                          <a:ln>
                            <a:noFill/>
                          </a:ln>
                          <a:solidFill>
                            <a:prstClr val="black"/>
                          </a:solidFill>
                          <a:effectLst/>
                          <a:uLnTx/>
                          <a:uFillTx/>
                          <a:latin typeface="Century Gothic"/>
                          <a:ea typeface="+mn-ea"/>
                          <a:cs typeface="+mn-cs"/>
                        </a:rPr>
                        <a:t>100% </a:t>
                      </a:r>
                      <a:endParaRPr kumimoji="0" lang="en-US" sz="11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extLst>
                  <a:ext uri="{0D108BD9-81ED-4DB2-BD59-A6C34878D82A}">
                    <a16:rowId xmlns:a16="http://schemas.microsoft.com/office/drawing/2014/main" val="600216305"/>
                  </a:ext>
                </a:extLst>
              </a:tr>
              <a:tr h="32030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prstClr val="black"/>
                          </a:solidFill>
                          <a:effectLst/>
                          <a:uLnTx/>
                          <a:uFillTx/>
                          <a:latin typeface="Century Gothic"/>
                          <a:ea typeface="+mn-ea"/>
                          <a:cs typeface="+mn-cs"/>
                        </a:rPr>
                        <a:t>31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prstClr val="black"/>
                          </a:solidFill>
                          <a:effectLst/>
                          <a:uLnTx/>
                          <a:uFillTx/>
                          <a:latin typeface="Century Gothic"/>
                          <a:ea typeface="+mn-ea"/>
                          <a:cs typeface="+mn-cs"/>
                        </a:rPr>
                        <a:t>100% </a:t>
                      </a:r>
                      <a:endParaRPr kumimoji="0" lang="en-US" sz="11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extLst>
                  <a:ext uri="{0D108BD9-81ED-4DB2-BD59-A6C34878D82A}">
                    <a16:rowId xmlns:a16="http://schemas.microsoft.com/office/drawing/2014/main" val="3123140169"/>
                  </a:ext>
                </a:extLst>
              </a:tr>
              <a:tr h="325413">
                <a:tc>
                  <a:txBody>
                    <a:bodyPr/>
                    <a:lstStyle/>
                    <a:p>
                      <a:pPr marL="0" marR="0" algn="ctr" rtl="0" latinLnBrk="0">
                        <a:spcBef>
                          <a:spcPts val="0"/>
                        </a:spcBef>
                        <a:spcAft>
                          <a:spcPts val="0"/>
                        </a:spcAft>
                      </a:pPr>
                      <a:r>
                        <a:rPr lang="en-US" sz="1100" dirty="0" smtClean="0">
                          <a:effectLst/>
                        </a:rPr>
                        <a:t>2</a:t>
                      </a:r>
                      <a:endParaRPr lang="en-US" sz="1100" dirty="0">
                        <a:effectLst/>
                      </a:endParaRPr>
                    </a:p>
                  </a:txBody>
                  <a:tcPr marL="0" marR="0" marT="0" marB="0" anchor="ctr"/>
                </a:tc>
                <a:extLst>
                  <a:ext uri="{0D108BD9-81ED-4DB2-BD59-A6C34878D82A}">
                    <a16:rowId xmlns:a16="http://schemas.microsoft.com/office/drawing/2014/main" val="2832630066"/>
                  </a:ext>
                </a:extLst>
              </a:tr>
              <a:tr h="345265">
                <a:tc>
                  <a:txBody>
                    <a:bodyPr/>
                    <a:lstStyle/>
                    <a:p>
                      <a:pPr marL="0" marR="0" algn="ctr" rtl="0" latinLnBrk="0">
                        <a:spcBef>
                          <a:spcPts val="0"/>
                        </a:spcBef>
                        <a:spcAft>
                          <a:spcPts val="0"/>
                        </a:spcAft>
                      </a:pPr>
                      <a:r>
                        <a:rPr lang="en-US" sz="1100" dirty="0" smtClean="0">
                          <a:effectLst/>
                        </a:rPr>
                        <a:t>5</a:t>
                      </a:r>
                      <a:endParaRPr lang="en-US" sz="1100" dirty="0">
                        <a:effectLst/>
                      </a:endParaRPr>
                    </a:p>
                  </a:txBody>
                  <a:tcPr marL="0" marR="0" marT="0" marB="0" anchor="ctr"/>
                </a:tc>
                <a:extLst>
                  <a:ext uri="{0D108BD9-81ED-4DB2-BD59-A6C34878D82A}">
                    <a16:rowId xmlns:a16="http://schemas.microsoft.com/office/drawing/2014/main" val="780972236"/>
                  </a:ext>
                </a:extLst>
              </a:tr>
              <a:tr h="266246">
                <a:tc>
                  <a:txBody>
                    <a:bodyPr/>
                    <a:lstStyle/>
                    <a:p>
                      <a:pPr algn="ctr"/>
                      <a:r>
                        <a:rPr lang="en-US" sz="1100" dirty="0"/>
                        <a:t>0</a:t>
                      </a:r>
                      <a:endParaRPr lang="ru-RU" sz="1100" dirty="0"/>
                    </a:p>
                  </a:txBody>
                  <a:tcPr marL="0" marR="0" marT="0" marB="0" anchor="ctr"/>
                </a:tc>
                <a:extLst>
                  <a:ext uri="{0D108BD9-81ED-4DB2-BD59-A6C34878D82A}">
                    <a16:rowId xmlns:a16="http://schemas.microsoft.com/office/drawing/2014/main" val="4133159023"/>
                  </a:ext>
                </a:extLst>
              </a:tr>
              <a:tr h="479479">
                <a:tc>
                  <a:txBody>
                    <a:bodyPr/>
                    <a:lstStyle/>
                    <a:p>
                      <a:pPr algn="ctr"/>
                      <a:r>
                        <a:rPr lang="en-US" sz="1100" dirty="0" smtClean="0"/>
                        <a:t>30</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736777469"/>
                  </a:ext>
                </a:extLst>
              </a:tr>
              <a:tr h="334610">
                <a:tc>
                  <a:txBody>
                    <a:bodyPr/>
                    <a:lstStyle/>
                    <a:p>
                      <a:pPr algn="ctr"/>
                      <a:r>
                        <a:rPr lang="en-US" sz="1100" dirty="0" smtClean="0"/>
                        <a:t>1</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4060537796"/>
                  </a:ext>
                </a:extLst>
              </a:tr>
              <a:tr h="266246">
                <a:tc>
                  <a:txBody>
                    <a:bodyPr/>
                    <a:lstStyle/>
                    <a:p>
                      <a:pPr algn="ctr"/>
                      <a:r>
                        <a:rPr lang="en-US" sz="1100" dirty="0"/>
                        <a:t>55</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565135310"/>
                  </a:ext>
                </a:extLst>
              </a:tr>
              <a:tr h="541925">
                <a:tc>
                  <a:txBody>
                    <a:bodyPr/>
                    <a:lstStyle/>
                    <a:p>
                      <a:pPr algn="ctr"/>
                      <a:r>
                        <a:rPr lang="en-US" sz="1100" dirty="0" smtClean="0"/>
                        <a:t>-</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3611857080"/>
                  </a:ext>
                </a:extLst>
              </a:tr>
              <a:tr h="325413">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solidFill>
                      <a:schemeClr val="accent5">
                        <a:lumMod val="20000"/>
                        <a:lumOff val="80000"/>
                      </a:schemeClr>
                    </a:solidFill>
                  </a:tcPr>
                </a:tc>
                <a:extLst>
                  <a:ext uri="{0D108BD9-81ED-4DB2-BD59-A6C34878D82A}">
                    <a16:rowId xmlns:a16="http://schemas.microsoft.com/office/drawing/2014/main" val="329019256"/>
                  </a:ext>
                </a:extLst>
              </a:tr>
              <a:tr h="430375">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545216987"/>
                  </a:ext>
                </a:extLst>
              </a:tr>
              <a:tr h="325413">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a:t>
                      </a:r>
                    </a:p>
                  </a:txBody>
                  <a:tcPr marL="0" marR="0" marT="0" marB="0" anchor="ctr"/>
                </a:tc>
                <a:extLst>
                  <a:ext uri="{0D108BD9-81ED-4DB2-BD59-A6C34878D82A}">
                    <a16:rowId xmlns:a16="http://schemas.microsoft.com/office/drawing/2014/main" val="2097734787"/>
                  </a:ext>
                </a:extLst>
              </a:tr>
              <a:tr h="266246">
                <a:tc>
                  <a:txBody>
                    <a:bodyPr/>
                    <a:lstStyle/>
                    <a:p>
                      <a:pPr algn="ctr"/>
                      <a:r>
                        <a:rPr lang="en-US" sz="1100" dirty="0" smtClean="0"/>
                        <a:t>46 </a:t>
                      </a:r>
                      <a:r>
                        <a:rPr lang="en-US" sz="1100" dirty="0" err="1" smtClean="0"/>
                        <a:t>օր</a:t>
                      </a:r>
                      <a:endParaRPr lang="ru-RU" sz="1100" dirty="0"/>
                    </a:p>
                  </a:txBody>
                  <a:tcPr marL="0" marR="0" marT="0" marB="0" anchor="ctr"/>
                </a:tc>
                <a:extLst>
                  <a:ext uri="{0D108BD9-81ED-4DB2-BD59-A6C34878D82A}">
                    <a16:rowId xmlns:a16="http://schemas.microsoft.com/office/drawing/2014/main" val="1555018877"/>
                  </a:ext>
                </a:extLst>
              </a:tr>
              <a:tr h="266246">
                <a:tc>
                  <a:txBody>
                    <a:bodyPr/>
                    <a:lstStyle/>
                    <a:p>
                      <a:pPr algn="ctr"/>
                      <a:r>
                        <a:rPr lang="en-US" sz="1100" dirty="0" smtClean="0"/>
                        <a:t>70</a:t>
                      </a:r>
                      <a:endParaRPr lang="en-US" sz="1100" dirty="0"/>
                    </a:p>
                  </a:txBody>
                  <a:tcPr marL="0" marR="0" marT="0" marB="0" anchor="ctr"/>
                </a:tc>
                <a:extLst>
                  <a:ext uri="{0D108BD9-81ED-4DB2-BD59-A6C34878D82A}">
                    <a16:rowId xmlns:a16="http://schemas.microsoft.com/office/drawing/2014/main" val="4060078815"/>
                  </a:ext>
                </a:extLst>
              </a:tr>
              <a:tr h="266246">
                <a:tc>
                  <a:txBody>
                    <a:bodyPr/>
                    <a:lstStyle/>
                    <a:p>
                      <a:pPr algn="ctr"/>
                      <a:r>
                        <a:rPr lang="en-US" sz="1100" dirty="0" smtClean="0"/>
                        <a:t>450</a:t>
                      </a:r>
                      <a:endParaRPr lang="ru-RU" sz="1100" dirty="0"/>
                    </a:p>
                  </a:txBody>
                  <a:tcPr marL="0" marR="0" marT="0" marB="0" anchor="ctr"/>
                </a:tc>
                <a:extLst>
                  <a:ext uri="{0D108BD9-81ED-4DB2-BD59-A6C34878D82A}">
                    <a16:rowId xmlns:a16="http://schemas.microsoft.com/office/drawing/2014/main" val="1747420626"/>
                  </a:ext>
                </a:extLst>
              </a:tr>
              <a:tr h="266246">
                <a:tc>
                  <a:txBody>
                    <a:bodyPr/>
                    <a:lstStyle/>
                    <a:p>
                      <a:pPr algn="ctr"/>
                      <a:r>
                        <a:rPr lang="en-US" sz="1100" dirty="0" smtClean="0"/>
                        <a:t>60</a:t>
                      </a:r>
                      <a:endParaRPr lang="ru-RU" sz="1100" dirty="0"/>
                    </a:p>
                  </a:txBody>
                  <a:tcPr marL="0" marR="0" marT="0" marB="0" anchor="ctr"/>
                </a:tc>
                <a:extLst>
                  <a:ext uri="{0D108BD9-81ED-4DB2-BD59-A6C34878D82A}">
                    <a16:rowId xmlns:a16="http://schemas.microsoft.com/office/drawing/2014/main" val="2088255363"/>
                  </a:ext>
                </a:extLst>
              </a:tr>
              <a:tr h="325413">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708168407"/>
                  </a:ext>
                </a:extLst>
              </a:tr>
              <a:tr h="325327">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114567240"/>
                  </a:ext>
                </a:extLst>
              </a:tr>
            </a:tbl>
          </a:graphicData>
        </a:graphic>
      </p:graphicFrame>
    </p:spTree>
    <p:extLst>
      <p:ext uri="{BB962C8B-B14F-4D97-AF65-F5344CB8AC3E}">
        <p14:creationId xmlns:p14="http://schemas.microsoft.com/office/powerpoint/2010/main" val="14263661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20092" y="338328"/>
            <a:ext cx="9088525" cy="102276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3875141218"/>
              </p:ext>
            </p:extLst>
          </p:nvPr>
        </p:nvGraphicFramePr>
        <p:xfrm>
          <a:off x="1016338" y="1464639"/>
          <a:ext cx="10084009" cy="4958676"/>
        </p:xfrm>
        <a:graphic>
          <a:graphicData uri="http://schemas.openxmlformats.org/drawingml/2006/table">
            <a:tbl>
              <a:tblPr>
                <a:tableStyleId>{5940675A-B579-460E-94D1-54222C63F5DA}</a:tableStyleId>
              </a:tblPr>
              <a:tblGrid>
                <a:gridCol w="8896978">
                  <a:extLst>
                    <a:ext uri="{9D8B030D-6E8A-4147-A177-3AD203B41FA5}">
                      <a16:colId xmlns:a16="http://schemas.microsoft.com/office/drawing/2014/main" val="3429926241"/>
                    </a:ext>
                  </a:extLst>
                </a:gridCol>
                <a:gridCol w="1187031">
                  <a:extLst>
                    <a:ext uri="{9D8B030D-6E8A-4147-A177-3AD203B41FA5}">
                      <a16:colId xmlns:a16="http://schemas.microsoft.com/office/drawing/2014/main" val="908867265"/>
                    </a:ext>
                  </a:extLst>
                </a:gridCol>
              </a:tblGrid>
              <a:tr h="345954">
                <a:tc>
                  <a:txBody>
                    <a:bodyPr/>
                    <a:lstStyle/>
                    <a:p>
                      <a:pPr marL="0" marR="0" algn="ctr" rtl="0" eaLnBrk="1" latinLnBrk="0" hangingPunct="1">
                        <a:lnSpc>
                          <a:spcPct val="150000"/>
                        </a:lnSpc>
                        <a:spcBef>
                          <a:spcPts val="0"/>
                        </a:spcBef>
                        <a:spcAft>
                          <a:spcPts val="0"/>
                        </a:spcAft>
                      </a:pPr>
                      <a:r>
                        <a:rPr lang="hy-AM" sz="1400" dirty="0">
                          <a:effectLst/>
                        </a:rPr>
                        <a:t>Ցուցանիշ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Տվյալներ </a:t>
                      </a:r>
                      <a:endParaRPr lang="hy-AM">
                        <a:effectLst/>
                      </a:endParaRPr>
                    </a:p>
                  </a:txBody>
                  <a:tcPr marL="0" marR="0" marT="0" marB="0" anchor="ctr"/>
                </a:tc>
                <a:extLst>
                  <a:ext uri="{0D108BD9-81ED-4DB2-BD59-A6C34878D82A}">
                    <a16:rowId xmlns:a16="http://schemas.microsoft.com/office/drawing/2014/main" val="117519292"/>
                  </a:ext>
                </a:extLst>
              </a:tr>
              <a:tr h="357486">
                <a:tc>
                  <a:txBody>
                    <a:bodyPr/>
                    <a:lstStyle/>
                    <a:p>
                      <a:pPr marL="0" marR="0" algn="just" rtl="0" eaLnBrk="1" latinLnBrk="0" hangingPunct="1">
                        <a:lnSpc>
                          <a:spcPct val="150000"/>
                        </a:lnSpc>
                        <a:spcBef>
                          <a:spcPts val="0"/>
                        </a:spcBef>
                        <a:spcAft>
                          <a:spcPts val="0"/>
                        </a:spcAft>
                      </a:pPr>
                      <a:r>
                        <a:rPr lang="hy-AM" sz="1400">
                          <a:effectLst/>
                        </a:rPr>
                        <a:t>Գրադարանի տարածքը քմ-ով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76</a:t>
                      </a:r>
                      <a:endParaRPr lang="en-US" dirty="0">
                        <a:effectLst/>
                      </a:endParaRPr>
                    </a:p>
                  </a:txBody>
                  <a:tcPr marL="0" marR="0" marT="0" marB="0" anchor="ctr"/>
                </a:tc>
                <a:extLst>
                  <a:ext uri="{0D108BD9-81ED-4DB2-BD59-A6C34878D82A}">
                    <a16:rowId xmlns:a16="http://schemas.microsoft.com/office/drawing/2014/main" val="645570491"/>
                  </a:ext>
                </a:extLst>
              </a:tr>
              <a:tr h="345954">
                <a:tc>
                  <a:txBody>
                    <a:bodyPr/>
                    <a:lstStyle/>
                    <a:p>
                      <a:pPr marL="0" marR="0" algn="just" rtl="0" eaLnBrk="1" latinLnBrk="0" hangingPunct="1">
                        <a:lnSpc>
                          <a:spcPct val="150000"/>
                        </a:lnSpc>
                        <a:spcBef>
                          <a:spcPts val="0"/>
                        </a:spcBef>
                        <a:spcAft>
                          <a:spcPts val="0"/>
                        </a:spcAft>
                      </a:pPr>
                      <a:r>
                        <a:rPr lang="hy-AM" sz="1400">
                          <a:effectLst/>
                        </a:rPr>
                        <a:t>Գրադարանում համակարգիչների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1 </a:t>
                      </a:r>
                      <a:endParaRPr lang="en-US">
                        <a:effectLst/>
                      </a:endParaRPr>
                    </a:p>
                  </a:txBody>
                  <a:tcPr marL="0" marR="0" marT="0" marB="0" anchor="ctr"/>
                </a:tc>
                <a:extLst>
                  <a:ext uri="{0D108BD9-81ED-4DB2-BD59-A6C34878D82A}">
                    <a16:rowId xmlns:a16="http://schemas.microsoft.com/office/drawing/2014/main" val="3088246301"/>
                  </a:ext>
                </a:extLst>
              </a:tr>
              <a:tr h="357486">
                <a:tc>
                  <a:txBody>
                    <a:bodyPr/>
                    <a:lstStyle/>
                    <a:p>
                      <a:pPr marL="0" marR="0" algn="just" rtl="0" eaLnBrk="1" latinLnBrk="0" hangingPunct="1">
                        <a:lnSpc>
                          <a:spcPct val="150000"/>
                        </a:lnSpc>
                        <a:spcBef>
                          <a:spcPts val="0"/>
                        </a:spcBef>
                        <a:spcAft>
                          <a:spcPts val="0"/>
                        </a:spcAft>
                      </a:pPr>
                      <a:r>
                        <a:rPr lang="hy-AM" sz="1400">
                          <a:effectLst/>
                        </a:rPr>
                        <a:t>Գրադարանում </a:t>
                      </a:r>
                      <a:r>
                        <a:rPr lang="hy-AM" sz="1400" err="1">
                          <a:effectLst/>
                        </a:rPr>
                        <a:t>ինտերնետին</a:t>
                      </a:r>
                      <a:r>
                        <a:rPr lang="hy-AM" sz="1400">
                          <a:effectLst/>
                        </a:rPr>
                        <a:t> միացված </a:t>
                      </a:r>
                      <a:r>
                        <a:rPr lang="hy-AM" sz="1400" err="1">
                          <a:effectLst/>
                        </a:rPr>
                        <a:t>համակարգչների</a:t>
                      </a:r>
                      <a:r>
                        <a:rPr lang="hy-AM" sz="1400">
                          <a:effectLst/>
                        </a:rPr>
                        <a:t> թիվը </a:t>
                      </a:r>
                      <a:endParaRPr lang="hy-AM">
                        <a:effectLst/>
                      </a:endParaRPr>
                    </a:p>
                  </a:txBody>
                  <a:tcPr marL="0" marR="0" marT="0" marB="0" anchor="ctr"/>
                </a:tc>
                <a:tc>
                  <a:txBody>
                    <a:bodyPr/>
                    <a:lstStyle/>
                    <a:p>
                      <a:pPr marL="0" lvl="0">
                        <a:spcBef>
                          <a:spcPts val="0"/>
                        </a:spcBef>
                        <a:spcAft>
                          <a:spcPts val="0"/>
                        </a:spcAft>
                        <a:buNone/>
                      </a:pPr>
                      <a:r>
                        <a:rPr lang="en-US" sz="1400">
                          <a:effectLst/>
                          <a:latin typeface="Constantia"/>
                        </a:rPr>
                        <a:t>           1</a:t>
                      </a:r>
                    </a:p>
                  </a:txBody>
                  <a:tcPr marL="0" marR="0" marT="0" marB="0" anchor="ctr"/>
                </a:tc>
                <a:extLst>
                  <a:ext uri="{0D108BD9-81ED-4DB2-BD59-A6C34878D82A}">
                    <a16:rowId xmlns:a16="http://schemas.microsoft.com/office/drawing/2014/main" val="1697395749"/>
                  </a:ext>
                </a:extLst>
              </a:tr>
              <a:tr h="345954">
                <a:tc>
                  <a:txBody>
                    <a:bodyPr/>
                    <a:lstStyle/>
                    <a:p>
                      <a:pPr marL="0" marR="0" algn="just" rtl="0" eaLnBrk="1" latinLnBrk="0" hangingPunct="1">
                        <a:lnSpc>
                          <a:spcPct val="150000"/>
                        </a:lnSpc>
                        <a:spcBef>
                          <a:spcPts val="0"/>
                        </a:spcBef>
                        <a:spcAft>
                          <a:spcPts val="0"/>
                        </a:spcAft>
                      </a:pPr>
                      <a:r>
                        <a:rPr lang="hy-AM" sz="1400" err="1">
                          <a:effectLst/>
                        </a:rPr>
                        <a:t>Գրադարարանում</a:t>
                      </a:r>
                      <a:r>
                        <a:rPr lang="hy-AM" sz="1400">
                          <a:effectLst/>
                        </a:rPr>
                        <a:t> կամ ընթերցասրահում նստատեղերի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5</a:t>
                      </a:r>
                      <a:endParaRPr lang="en-US" dirty="0">
                        <a:effectLst/>
                      </a:endParaRPr>
                    </a:p>
                  </a:txBody>
                  <a:tcPr marL="0" marR="0" marT="0" marB="0" anchor="ctr"/>
                </a:tc>
                <a:extLst>
                  <a:ext uri="{0D108BD9-81ED-4DB2-BD59-A6C34878D82A}">
                    <a16:rowId xmlns:a16="http://schemas.microsoft.com/office/drawing/2014/main" val="382933784"/>
                  </a:ext>
                </a:extLst>
              </a:tr>
              <a:tr h="738036">
                <a:tc>
                  <a:txBody>
                    <a:bodyPr/>
                    <a:lstStyle/>
                    <a:p>
                      <a:pPr marL="0" marR="0" algn="just" rtl="0" eaLnBrk="1" latinLnBrk="0" hangingPunct="1">
                        <a:lnSpc>
                          <a:spcPct val="150000"/>
                        </a:lnSpc>
                        <a:spcBef>
                          <a:spcPts val="0"/>
                        </a:spcBef>
                        <a:spcAft>
                          <a:spcPts val="0"/>
                        </a:spcAft>
                      </a:pPr>
                      <a:r>
                        <a:rPr lang="hy-AM" sz="1400">
                          <a:effectLst/>
                        </a:rPr>
                        <a:t>Գրադարանային ֆոնդում առկա գրքերի (բացառությամբ ՀՀ ԿԳ նախարարության կողմից երաշխավորված հիմնական դասագրքերի) ընդհանուր թիվը, այդ թվում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2311</a:t>
                      </a:r>
                      <a:endParaRPr lang="en-US" dirty="0">
                        <a:effectLst/>
                      </a:endParaRPr>
                    </a:p>
                  </a:txBody>
                  <a:tcPr marL="0" marR="0" marT="0" marB="0" anchor="ctr"/>
                </a:tc>
                <a:extLst>
                  <a:ext uri="{0D108BD9-81ED-4DB2-BD59-A6C34878D82A}">
                    <a16:rowId xmlns:a16="http://schemas.microsoft.com/office/drawing/2014/main" val="1013710622"/>
                  </a:ext>
                </a:extLst>
              </a:tr>
              <a:tr h="345954">
                <a:tc>
                  <a:txBody>
                    <a:bodyPr/>
                    <a:lstStyle/>
                    <a:p>
                      <a:pPr marL="0" marR="0" algn="just" rtl="0" eaLnBrk="1" latinLnBrk="0" hangingPunct="1">
                        <a:lnSpc>
                          <a:spcPct val="150000"/>
                        </a:lnSpc>
                        <a:spcBef>
                          <a:spcPts val="0"/>
                        </a:spcBef>
                        <a:spcAft>
                          <a:spcPts val="0"/>
                        </a:spcAft>
                      </a:pPr>
                      <a:r>
                        <a:rPr lang="hy-AM" sz="1400">
                          <a:effectLst/>
                        </a:rPr>
                        <a:t>-գեղարվեստական գրքերի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2311</a:t>
                      </a:r>
                      <a:endParaRPr lang="en-US" dirty="0">
                        <a:effectLst/>
                      </a:endParaRPr>
                    </a:p>
                  </a:txBody>
                  <a:tcPr marL="0" marR="0" marT="0" marB="0" anchor="ctr"/>
                </a:tc>
                <a:extLst>
                  <a:ext uri="{0D108BD9-81ED-4DB2-BD59-A6C34878D82A}">
                    <a16:rowId xmlns:a16="http://schemas.microsoft.com/office/drawing/2014/main" val="147214414"/>
                  </a:ext>
                </a:extLst>
              </a:tr>
              <a:tr h="357486">
                <a:tc>
                  <a:txBody>
                    <a:bodyPr/>
                    <a:lstStyle/>
                    <a:p>
                      <a:pPr marL="0" marR="0" algn="just" rtl="0" eaLnBrk="1" latinLnBrk="0" hangingPunct="1">
                        <a:lnSpc>
                          <a:spcPct val="150000"/>
                        </a:lnSpc>
                        <a:spcBef>
                          <a:spcPts val="0"/>
                        </a:spcBef>
                        <a:spcAft>
                          <a:spcPts val="0"/>
                        </a:spcAft>
                      </a:pPr>
                      <a:r>
                        <a:rPr lang="hy-AM" sz="1400">
                          <a:effectLst/>
                        </a:rPr>
                        <a:t>-տեղեկատվական գրքերի թիվը (բառարաններ, հանրագիտարաններ, </a:t>
                      </a:r>
                      <a:r>
                        <a:rPr lang="hy-AM" sz="1400" err="1">
                          <a:effectLst/>
                        </a:rPr>
                        <a:t>ատլասներ</a:t>
                      </a:r>
                      <a:r>
                        <a:rPr lang="hy-AM" sz="1400">
                          <a:effectLst/>
                        </a:rPr>
                        <a:t> և այլն)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200</a:t>
                      </a:r>
                      <a:endParaRPr lang="en-US" dirty="0">
                        <a:effectLst/>
                      </a:endParaRPr>
                    </a:p>
                  </a:txBody>
                  <a:tcPr marL="0" marR="0" marT="0" marB="0" anchor="ctr"/>
                </a:tc>
                <a:extLst>
                  <a:ext uri="{0D108BD9-81ED-4DB2-BD59-A6C34878D82A}">
                    <a16:rowId xmlns:a16="http://schemas.microsoft.com/office/drawing/2014/main" val="3589317125"/>
                  </a:ext>
                </a:extLst>
              </a:tr>
              <a:tr h="345954">
                <a:tc>
                  <a:txBody>
                    <a:bodyPr/>
                    <a:lstStyle/>
                    <a:p>
                      <a:pPr marL="0" marR="0" algn="just" rtl="0" eaLnBrk="1" latinLnBrk="0" hangingPunct="1">
                        <a:lnSpc>
                          <a:spcPct val="150000"/>
                        </a:lnSpc>
                        <a:spcBef>
                          <a:spcPts val="0"/>
                        </a:spcBef>
                        <a:spcAft>
                          <a:spcPts val="0"/>
                        </a:spcAft>
                      </a:pPr>
                      <a:r>
                        <a:rPr lang="hy-AM" sz="1400">
                          <a:effectLst/>
                        </a:rPr>
                        <a:t>-ուսումնամեթոդական գրքերի թիվը </a:t>
                      </a:r>
                      <a:endParaRPr lang="hy-AM">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Century Gothic"/>
                          <a:ea typeface="+mn-ea"/>
                          <a:cs typeface="+mn-cs"/>
                        </a:rPr>
                        <a:t>100</a:t>
                      </a: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extLst>
                  <a:ext uri="{0D108BD9-81ED-4DB2-BD59-A6C34878D82A}">
                    <a16:rowId xmlns:a16="http://schemas.microsoft.com/office/drawing/2014/main" val="2534149242"/>
                  </a:ext>
                </a:extLst>
              </a:tr>
              <a:tr h="357486">
                <a:tc>
                  <a:txBody>
                    <a:bodyPr/>
                    <a:lstStyle/>
                    <a:p>
                      <a:pPr marL="0" marR="0" algn="just" rtl="0" eaLnBrk="1" latinLnBrk="0" hangingPunct="1">
                        <a:lnSpc>
                          <a:spcPct val="150000"/>
                        </a:lnSpc>
                        <a:spcBef>
                          <a:spcPts val="0"/>
                        </a:spcBef>
                        <a:spcAft>
                          <a:spcPts val="0"/>
                        </a:spcAft>
                      </a:pPr>
                      <a:r>
                        <a:rPr lang="hy-AM" sz="1400">
                          <a:effectLst/>
                        </a:rPr>
                        <a:t>-</a:t>
                      </a:r>
                      <a:r>
                        <a:rPr lang="hy-AM" sz="1400" err="1">
                          <a:effectLst/>
                        </a:rPr>
                        <a:t>ամսագերի</a:t>
                      </a:r>
                      <a:r>
                        <a:rPr lang="hy-AM" sz="1400">
                          <a:effectLst/>
                        </a:rPr>
                        <a:t> թիվը </a:t>
                      </a:r>
                      <a:endParaRPr lang="hy-AM">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Century Gothic"/>
                          <a:ea typeface="+mn-ea"/>
                          <a:cs typeface="+mn-cs"/>
                        </a:rPr>
                        <a:t>20</a:t>
                      </a: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extLst>
                  <a:ext uri="{0D108BD9-81ED-4DB2-BD59-A6C34878D82A}">
                    <a16:rowId xmlns:a16="http://schemas.microsoft.com/office/drawing/2014/main" val="2052159701"/>
                  </a:ext>
                </a:extLst>
              </a:tr>
              <a:tr h="345954">
                <a:tc>
                  <a:txBody>
                    <a:bodyPr/>
                    <a:lstStyle/>
                    <a:p>
                      <a:pPr marL="0" marR="0" rtl="0" latinLnBrk="0">
                        <a:lnSpc>
                          <a:spcPct val="150000"/>
                        </a:lnSpc>
                        <a:spcBef>
                          <a:spcPts val="0"/>
                        </a:spcBef>
                        <a:spcAft>
                          <a:spcPts val="0"/>
                        </a:spcAft>
                      </a:pPr>
                      <a:r>
                        <a:rPr lang="hy-AM" sz="1400">
                          <a:effectLst/>
                        </a:rPr>
                        <a:t>-այլ </a:t>
                      </a:r>
                      <a:endParaRPr lang="hy-AM">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Century Gothic"/>
                          <a:ea typeface="+mn-ea"/>
                          <a:cs typeface="+mn-cs"/>
                        </a:rPr>
                        <a:t>30</a:t>
                      </a: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extLst>
                  <a:ext uri="{0D108BD9-81ED-4DB2-BD59-A6C34878D82A}">
                    <a16:rowId xmlns:a16="http://schemas.microsoft.com/office/drawing/2014/main" val="3958970298"/>
                  </a:ext>
                </a:extLst>
              </a:tr>
              <a:tr h="357486">
                <a:tc>
                  <a:txBody>
                    <a:bodyPr/>
                    <a:lstStyle/>
                    <a:p>
                      <a:pPr marL="0" marR="0" rtl="0" latinLnBrk="0">
                        <a:lnSpc>
                          <a:spcPct val="150000"/>
                        </a:lnSpc>
                        <a:spcBef>
                          <a:spcPts val="0"/>
                        </a:spcBef>
                        <a:spcAft>
                          <a:spcPts val="0"/>
                        </a:spcAft>
                      </a:pPr>
                      <a:r>
                        <a:rPr lang="hy-AM" sz="1400">
                          <a:effectLst/>
                        </a:rPr>
                        <a:t>Վերջին անգամ </a:t>
                      </a:r>
                      <a:r>
                        <a:rPr lang="hy-AM" sz="1400" err="1">
                          <a:effectLst/>
                        </a:rPr>
                        <a:t>գարդարանային</a:t>
                      </a:r>
                      <a:r>
                        <a:rPr lang="hy-AM" sz="1400">
                          <a:effectLst/>
                        </a:rPr>
                        <a:t> ֆոնդի նոր գրականությամբ համալրվելու տարեթիվը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25</a:t>
                      </a:r>
                      <a:endParaRPr lang="en-US" dirty="0">
                        <a:effectLst/>
                      </a:endParaRPr>
                    </a:p>
                  </a:txBody>
                  <a:tcPr marL="0" marR="0" marT="0" marB="0" anchor="ctr"/>
                </a:tc>
                <a:extLst>
                  <a:ext uri="{0D108BD9-81ED-4DB2-BD59-A6C34878D82A}">
                    <a16:rowId xmlns:a16="http://schemas.microsoft.com/office/drawing/2014/main" val="2399085157"/>
                  </a:ext>
                </a:extLst>
              </a:tr>
              <a:tr h="357486">
                <a:tc>
                  <a:txBody>
                    <a:bodyPr/>
                    <a:lstStyle/>
                    <a:p>
                      <a:pPr marL="0" marR="0" rtl="0" latinLnBrk="0">
                        <a:lnSpc>
                          <a:spcPct val="150000"/>
                        </a:lnSpc>
                        <a:spcBef>
                          <a:spcPts val="0"/>
                        </a:spcBef>
                        <a:spcAft>
                          <a:spcPts val="0"/>
                        </a:spcAft>
                      </a:pPr>
                      <a:r>
                        <a:rPr lang="hy-AM" sz="1400">
                          <a:effectLst/>
                        </a:rPr>
                        <a:t>Գրադարանից </a:t>
                      </a:r>
                      <a:r>
                        <a:rPr lang="hy-AM" sz="1400" err="1">
                          <a:effectLst/>
                        </a:rPr>
                        <a:t>միջինում</a:t>
                      </a:r>
                      <a:r>
                        <a:rPr lang="hy-AM" sz="1400">
                          <a:effectLst/>
                        </a:rPr>
                        <a:t> ամսեկան </a:t>
                      </a:r>
                      <a:r>
                        <a:rPr lang="hy-AM" sz="1400" err="1">
                          <a:effectLst/>
                        </a:rPr>
                        <a:t>օգտվողների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120</a:t>
                      </a:r>
                      <a:endParaRPr lang="en-US" sz="1400" dirty="0">
                        <a:effectLst/>
                      </a:endParaRPr>
                    </a:p>
                  </a:txBody>
                  <a:tcPr marL="0" marR="0" marT="0" marB="0" anchor="ctr"/>
                </a:tc>
                <a:extLst>
                  <a:ext uri="{0D108BD9-81ED-4DB2-BD59-A6C34878D82A}">
                    <a16:rowId xmlns:a16="http://schemas.microsoft.com/office/drawing/2014/main" val="2298743913"/>
                  </a:ext>
                </a:extLst>
              </a:tr>
            </a:tbl>
          </a:graphicData>
        </a:graphic>
      </p:graphicFrame>
    </p:spTree>
    <p:extLst>
      <p:ext uri="{BB962C8B-B14F-4D97-AF65-F5344CB8AC3E}">
        <p14:creationId xmlns:p14="http://schemas.microsoft.com/office/powerpoint/2010/main" val="31389134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42550" y="214579"/>
            <a:ext cx="9088525" cy="102276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497517723"/>
              </p:ext>
            </p:extLst>
          </p:nvPr>
        </p:nvGraphicFramePr>
        <p:xfrm>
          <a:off x="1330656" y="1353402"/>
          <a:ext cx="10171667" cy="5242682"/>
        </p:xfrm>
        <a:graphic>
          <a:graphicData uri="http://schemas.openxmlformats.org/drawingml/2006/table">
            <a:tbl>
              <a:tblPr>
                <a:tableStyleId>{5940675A-B579-460E-94D1-54222C63F5DA}</a:tableStyleId>
              </a:tblPr>
              <a:tblGrid>
                <a:gridCol w="9193578">
                  <a:extLst>
                    <a:ext uri="{9D8B030D-6E8A-4147-A177-3AD203B41FA5}">
                      <a16:colId xmlns:a16="http://schemas.microsoft.com/office/drawing/2014/main" val="3304582476"/>
                    </a:ext>
                  </a:extLst>
                </a:gridCol>
                <a:gridCol w="978089">
                  <a:extLst>
                    <a:ext uri="{9D8B030D-6E8A-4147-A177-3AD203B41FA5}">
                      <a16:colId xmlns:a16="http://schemas.microsoft.com/office/drawing/2014/main" val="596915630"/>
                    </a:ext>
                  </a:extLst>
                </a:gridCol>
              </a:tblGrid>
              <a:tr h="413978">
                <a:tc>
                  <a:txBody>
                    <a:bodyPr/>
                    <a:lstStyle/>
                    <a:p>
                      <a:pPr marL="0" marR="0" algn="ctr" rtl="0" eaLnBrk="1" latinLnBrk="0" hangingPunct="1">
                        <a:lnSpc>
                          <a:spcPct val="150000"/>
                        </a:lnSpc>
                        <a:spcBef>
                          <a:spcPts val="0"/>
                        </a:spcBef>
                        <a:spcAft>
                          <a:spcPts val="0"/>
                        </a:spcAft>
                      </a:pPr>
                      <a:r>
                        <a:rPr lang="hy-AM" sz="1400">
                          <a:effectLst/>
                        </a:rPr>
                        <a:t>Ցուցանիշ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Տվյալներ </a:t>
                      </a:r>
                      <a:endParaRPr lang="hy-AM">
                        <a:effectLst/>
                      </a:endParaRPr>
                    </a:p>
                  </a:txBody>
                  <a:tcPr marL="0" marR="0" marT="0" marB="0" anchor="ctr"/>
                </a:tc>
                <a:extLst>
                  <a:ext uri="{0D108BD9-81ED-4DB2-BD59-A6C34878D82A}">
                    <a16:rowId xmlns:a16="http://schemas.microsoft.com/office/drawing/2014/main" val="1890049798"/>
                  </a:ext>
                </a:extLst>
              </a:tr>
              <a:tr h="297216">
                <a:tc gridSpan="2">
                  <a:txBody>
                    <a:bodyPr/>
                    <a:lstStyle/>
                    <a:p>
                      <a:pPr marL="0" marR="0" rtl="0" latinLnBrk="0">
                        <a:lnSpc>
                          <a:spcPct val="150000"/>
                        </a:lnSpc>
                        <a:spcBef>
                          <a:spcPts val="0"/>
                        </a:spcBef>
                        <a:spcAft>
                          <a:spcPts val="0"/>
                        </a:spcAft>
                      </a:pPr>
                      <a:r>
                        <a:rPr lang="hy-AM" sz="1400">
                          <a:effectLst/>
                        </a:rPr>
                        <a:t>Պատասխանել այո կամ ոչ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119388011"/>
                  </a:ext>
                </a:extLst>
              </a:tr>
              <a:tr h="297216">
                <a:tc>
                  <a:txBody>
                    <a:bodyPr/>
                    <a:lstStyle/>
                    <a:p>
                      <a:pPr marL="0" marR="0" rtl="0" latinLnBrk="0">
                        <a:lnSpc>
                          <a:spcPct val="150000"/>
                        </a:lnSpc>
                        <a:spcBef>
                          <a:spcPts val="0"/>
                        </a:spcBef>
                        <a:spcAft>
                          <a:spcPts val="0"/>
                        </a:spcAft>
                      </a:pPr>
                      <a:r>
                        <a:rPr lang="hy-AM" sz="1400">
                          <a:effectLst/>
                        </a:rPr>
                        <a:t>Վերանորոգվա՞ծ է արդյոք գրադարանը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2827673801"/>
                  </a:ext>
                </a:extLst>
              </a:tr>
              <a:tr h="488282">
                <a:tc>
                  <a:txBody>
                    <a:bodyPr/>
                    <a:lstStyle/>
                    <a:p>
                      <a:pPr marL="0" marR="0" rtl="0" latinLnBrk="0">
                        <a:lnSpc>
                          <a:spcPct val="150000"/>
                        </a:lnSpc>
                        <a:spcBef>
                          <a:spcPts val="0"/>
                        </a:spcBef>
                        <a:spcAft>
                          <a:spcPts val="0"/>
                        </a:spcAft>
                      </a:pPr>
                      <a:r>
                        <a:rPr lang="hy-AM" sz="1400">
                          <a:effectLst/>
                        </a:rPr>
                        <a:t>Անցկացվո՞ւմ են գրադարանում դասեր և ուսումնական պարապմունքներ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Այո </a:t>
                      </a:r>
                      <a:endParaRPr lang="hy-AM" dirty="0">
                        <a:effectLst/>
                      </a:endParaRPr>
                    </a:p>
                  </a:txBody>
                  <a:tcPr marL="0" marR="0" marT="0" marB="0" anchor="ctr"/>
                </a:tc>
                <a:extLst>
                  <a:ext uri="{0D108BD9-81ED-4DB2-BD59-A6C34878D82A}">
                    <a16:rowId xmlns:a16="http://schemas.microsoft.com/office/drawing/2014/main" val="4088871582"/>
                  </a:ext>
                </a:extLst>
              </a:tr>
              <a:tr h="297216">
                <a:tc>
                  <a:txBody>
                    <a:bodyPr/>
                    <a:lstStyle/>
                    <a:p>
                      <a:pPr marL="0" marR="0" rtl="0" latinLnBrk="0">
                        <a:lnSpc>
                          <a:spcPct val="150000"/>
                        </a:lnSpc>
                        <a:spcBef>
                          <a:spcPts val="0"/>
                        </a:spcBef>
                        <a:spcAft>
                          <a:spcPts val="0"/>
                        </a:spcAft>
                      </a:pPr>
                      <a:r>
                        <a:rPr lang="hy-AM" sz="1400">
                          <a:effectLst/>
                        </a:rPr>
                        <a:t>Գրադարանավարն ունի՞ համապատասխան բարձրագույն կրթություն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smtClean="0">
                          <a:effectLst/>
                        </a:rPr>
                        <a:t>Այո</a:t>
                      </a:r>
                      <a:endParaRPr lang="hy-AM" dirty="0">
                        <a:effectLst/>
                      </a:endParaRPr>
                    </a:p>
                  </a:txBody>
                  <a:tcPr marL="0" marR="0" marT="0" marB="0" anchor="ctr"/>
                </a:tc>
                <a:extLst>
                  <a:ext uri="{0D108BD9-81ED-4DB2-BD59-A6C34878D82A}">
                    <a16:rowId xmlns:a16="http://schemas.microsoft.com/office/drawing/2014/main" val="1646392052"/>
                  </a:ext>
                </a:extLst>
              </a:tr>
              <a:tr h="594431">
                <a:tc>
                  <a:txBody>
                    <a:bodyPr/>
                    <a:lstStyle/>
                    <a:p>
                      <a:pPr marL="0" marR="0" rtl="0" latinLnBrk="0">
                        <a:lnSpc>
                          <a:spcPct val="150000"/>
                        </a:lnSpc>
                        <a:spcBef>
                          <a:spcPts val="0"/>
                        </a:spcBef>
                        <a:spcAft>
                          <a:spcPts val="0"/>
                        </a:spcAft>
                      </a:pPr>
                      <a:r>
                        <a:rPr lang="hy-AM" sz="1400">
                          <a:effectLst/>
                        </a:rPr>
                        <a:t>Վերջին 3 տարվա ընթացքում գրադարանվարն անցե՞լ է վերապատրաստում գրադարանային աշխատանքի ուղղությամբ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err="1" smtClean="0">
                          <a:effectLst/>
                        </a:rPr>
                        <a:t>Այո</a:t>
                      </a:r>
                      <a:endParaRPr lang="hy-AM" dirty="0">
                        <a:effectLst/>
                      </a:endParaRPr>
                    </a:p>
                  </a:txBody>
                  <a:tcPr marL="0" marR="0" marT="0" marB="0" anchor="ctr"/>
                </a:tc>
                <a:extLst>
                  <a:ext uri="{0D108BD9-81ED-4DB2-BD59-A6C34878D82A}">
                    <a16:rowId xmlns:a16="http://schemas.microsoft.com/office/drawing/2014/main" val="2403887263"/>
                  </a:ext>
                </a:extLst>
              </a:tr>
              <a:tr h="721809">
                <a:tc>
                  <a:txBody>
                    <a:bodyPr/>
                    <a:lstStyle/>
                    <a:p>
                      <a:pPr marL="0" marR="0" rtl="0" latinLnBrk="0">
                        <a:lnSpc>
                          <a:spcPct val="150000"/>
                        </a:lnSpc>
                        <a:spcBef>
                          <a:spcPts val="0"/>
                        </a:spcBef>
                        <a:spcAft>
                          <a:spcPts val="0"/>
                        </a:spcAft>
                      </a:pPr>
                      <a:r>
                        <a:rPr lang="hy-AM" sz="1400">
                          <a:effectLst/>
                        </a:rPr>
                        <a:t>Գրադարանը հանդիսանու՞մ է հանրապետության, այլ երկրների կամ կազմակերպությունների գրադարանների բաժանորդ և օգտվում է արդյոք նրանց ռեսուսներից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3775063836"/>
                  </a:ext>
                </a:extLst>
              </a:tr>
              <a:tr h="297216">
                <a:tc>
                  <a:txBody>
                    <a:bodyPr/>
                    <a:lstStyle/>
                    <a:p>
                      <a:pPr marL="0" marR="0" rtl="0" latinLnBrk="0">
                        <a:lnSpc>
                          <a:spcPct val="150000"/>
                        </a:lnSpc>
                        <a:spcBef>
                          <a:spcPts val="0"/>
                        </a:spcBef>
                        <a:spcAft>
                          <a:spcPts val="0"/>
                        </a:spcAft>
                      </a:pPr>
                      <a:r>
                        <a:rPr lang="hy-AM" sz="1400">
                          <a:effectLst/>
                        </a:rPr>
                        <a:t>Գարդարանն ունի՞ էլեկտրոնային ռեսուսներ, որքան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Ոչ </a:t>
                      </a:r>
                      <a:endParaRPr lang="hy-AM" dirty="0">
                        <a:effectLst/>
                      </a:endParaRPr>
                    </a:p>
                  </a:txBody>
                  <a:tcPr marL="0" marR="0" marT="0" marB="0" anchor="ctr"/>
                </a:tc>
                <a:extLst>
                  <a:ext uri="{0D108BD9-81ED-4DB2-BD59-A6C34878D82A}">
                    <a16:rowId xmlns:a16="http://schemas.microsoft.com/office/drawing/2014/main" val="3287319315"/>
                  </a:ext>
                </a:extLst>
              </a:tr>
              <a:tr h="721809">
                <a:tc>
                  <a:txBody>
                    <a:bodyPr/>
                    <a:lstStyle/>
                    <a:p>
                      <a:pPr marL="0" marR="0" rtl="0" latinLnBrk="0">
                        <a:lnSpc>
                          <a:spcPct val="150000"/>
                        </a:lnSpc>
                        <a:spcBef>
                          <a:spcPts val="0"/>
                        </a:spcBef>
                        <a:spcAft>
                          <a:spcPts val="0"/>
                        </a:spcAft>
                      </a:pPr>
                      <a:r>
                        <a:rPr lang="hy-AM" sz="1400">
                          <a:effectLst/>
                        </a:rPr>
                        <a:t>Սովորողները կարո՞ղ են ինքնուրույն ու ազատ մոտենալ գրադրանի գրադարակներին և պահարաններին, ընտրել իրենց անհրաժեշտ գրականությունը և վերցնել այն ընթերցասրահում աշխատելու ժամանակ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1435266040"/>
                  </a:ext>
                </a:extLst>
              </a:tr>
              <a:tr h="488282">
                <a:tc>
                  <a:txBody>
                    <a:bodyPr/>
                    <a:lstStyle/>
                    <a:p>
                      <a:pPr marL="0" marR="0" rtl="0" latinLnBrk="0">
                        <a:lnSpc>
                          <a:spcPct val="150000"/>
                        </a:lnSpc>
                        <a:spcBef>
                          <a:spcPts val="0"/>
                        </a:spcBef>
                        <a:spcAft>
                          <a:spcPts val="0"/>
                        </a:spcAft>
                      </a:pPr>
                      <a:r>
                        <a:rPr lang="hy-AM" sz="1400">
                          <a:effectLst/>
                        </a:rPr>
                        <a:t>Գրադրանն ունի՞ գրադարանավարության հատուկ համակարգչային ծրագիր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smtClean="0">
                          <a:effectLst/>
                        </a:rPr>
                        <a:t>Ոչ </a:t>
                      </a:r>
                      <a:endParaRPr lang="hy-AM" sz="1400" dirty="0">
                        <a:effectLst/>
                      </a:endParaRPr>
                    </a:p>
                  </a:txBody>
                  <a:tcPr marL="0" marR="0" marT="0" marB="0" anchor="ctr"/>
                </a:tc>
                <a:extLst>
                  <a:ext uri="{0D108BD9-81ED-4DB2-BD59-A6C34878D82A}">
                    <a16:rowId xmlns:a16="http://schemas.microsoft.com/office/drawing/2014/main" val="1043654442"/>
                  </a:ext>
                </a:extLst>
              </a:tr>
              <a:tr h="488282">
                <a:tc>
                  <a:txBody>
                    <a:bodyPr/>
                    <a:lstStyle/>
                    <a:p>
                      <a:pPr marL="0" marR="0" rtl="0" latinLnBrk="0">
                        <a:lnSpc>
                          <a:spcPct val="150000"/>
                        </a:lnSpc>
                        <a:spcBef>
                          <a:spcPts val="0"/>
                        </a:spcBef>
                        <a:spcAft>
                          <a:spcPts val="0"/>
                        </a:spcAft>
                      </a:pPr>
                      <a:r>
                        <a:rPr lang="hy-AM" sz="1400">
                          <a:effectLst/>
                        </a:rPr>
                        <a:t>Գրադանավարը կարողանո՞ւմ է օգտվել գրադարանավարության հատուկ համակարգչային ծրագրից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Այո </a:t>
                      </a:r>
                      <a:endParaRPr lang="hy-AM" dirty="0">
                        <a:effectLst/>
                      </a:endParaRPr>
                    </a:p>
                  </a:txBody>
                  <a:tcPr marL="0" marR="0" marT="0" marB="0" anchor="ctr"/>
                </a:tc>
                <a:extLst>
                  <a:ext uri="{0D108BD9-81ED-4DB2-BD59-A6C34878D82A}">
                    <a16:rowId xmlns:a16="http://schemas.microsoft.com/office/drawing/2014/main" val="105713222"/>
                  </a:ext>
                </a:extLst>
              </a:tr>
            </a:tbl>
          </a:graphicData>
        </a:graphic>
      </p:graphicFrame>
    </p:spTree>
    <p:extLst>
      <p:ext uri="{BB962C8B-B14F-4D97-AF65-F5344CB8AC3E}">
        <p14:creationId xmlns:p14="http://schemas.microsoft.com/office/powerpoint/2010/main" val="7710408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lIns="91440" tIns="45720" rIns="91440" bIns="45720" rtlCol="0" anchor="t">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3276637579"/>
              </p:ext>
            </p:extLst>
          </p:nvPr>
        </p:nvGraphicFramePr>
        <p:xfrm>
          <a:off x="1696496" y="720996"/>
          <a:ext cx="10020296" cy="5790434"/>
        </p:xfrm>
        <a:graphic>
          <a:graphicData uri="http://schemas.openxmlformats.org/drawingml/2006/table">
            <a:tbl>
              <a:tblPr>
                <a:tableStyleId>{5940675A-B579-460E-94D1-54222C63F5DA}</a:tableStyleId>
              </a:tblPr>
              <a:tblGrid>
                <a:gridCol w="1105647">
                  <a:extLst>
                    <a:ext uri="{9D8B030D-6E8A-4147-A177-3AD203B41FA5}">
                      <a16:colId xmlns:a16="http://schemas.microsoft.com/office/drawing/2014/main" val="2009179954"/>
                    </a:ext>
                  </a:extLst>
                </a:gridCol>
                <a:gridCol w="777723">
                  <a:extLst>
                    <a:ext uri="{9D8B030D-6E8A-4147-A177-3AD203B41FA5}">
                      <a16:colId xmlns:a16="http://schemas.microsoft.com/office/drawing/2014/main" val="3868618922"/>
                    </a:ext>
                  </a:extLst>
                </a:gridCol>
                <a:gridCol w="905161">
                  <a:extLst>
                    <a:ext uri="{9D8B030D-6E8A-4147-A177-3AD203B41FA5}">
                      <a16:colId xmlns:a16="http://schemas.microsoft.com/office/drawing/2014/main" val="4000367931"/>
                    </a:ext>
                  </a:extLst>
                </a:gridCol>
                <a:gridCol w="4382889">
                  <a:extLst>
                    <a:ext uri="{9D8B030D-6E8A-4147-A177-3AD203B41FA5}">
                      <a16:colId xmlns:a16="http://schemas.microsoft.com/office/drawing/2014/main" val="2228529144"/>
                    </a:ext>
                  </a:extLst>
                </a:gridCol>
                <a:gridCol w="1400618">
                  <a:extLst>
                    <a:ext uri="{9D8B030D-6E8A-4147-A177-3AD203B41FA5}">
                      <a16:colId xmlns:a16="http://schemas.microsoft.com/office/drawing/2014/main" val="2301488503"/>
                    </a:ext>
                  </a:extLst>
                </a:gridCol>
                <a:gridCol w="1448258">
                  <a:extLst>
                    <a:ext uri="{9D8B030D-6E8A-4147-A177-3AD203B41FA5}">
                      <a16:colId xmlns:a16="http://schemas.microsoft.com/office/drawing/2014/main" val="474598051"/>
                    </a:ext>
                  </a:extLst>
                </a:gridCol>
              </a:tblGrid>
              <a:tr h="1240807">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4549627">
                <a:tc>
                  <a:txBody>
                    <a:bodyPr/>
                    <a:lstStyle/>
                    <a:p>
                      <a:pPr marL="0" marR="0" algn="ctr" rtl="0" latinLnBrk="0">
                        <a:lnSpc>
                          <a:spcPct val="150000"/>
                        </a:lnSpc>
                        <a:spcBef>
                          <a:spcPts val="0"/>
                        </a:spcBef>
                        <a:spcAft>
                          <a:spcPts val="0"/>
                        </a:spcAft>
                      </a:pPr>
                      <a:r>
                        <a:rPr lang="hy-AM" sz="1200" dirty="0">
                          <a:effectLst/>
                        </a:rPr>
                        <a:t>Ֆիզիկայի լաբորատորիա, կաբինետ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40</a:t>
                      </a:r>
                    </a:p>
                  </a:txBody>
                  <a:tcPr marL="0" marR="0" marT="0" marB="0" anchor="ctr"/>
                </a:tc>
                <a:tc>
                  <a:txBody>
                    <a:bodyPr/>
                    <a:lstStyle/>
                    <a:p>
                      <a:pPr marL="0" marR="0" algn="ctr" rtl="0" latinLnBrk="0">
                        <a:lnSpc>
                          <a:spcPct val="150000"/>
                        </a:lnSpc>
                        <a:spcBef>
                          <a:spcPts val="0"/>
                        </a:spcBef>
                        <a:spcAft>
                          <a:spcPts val="0"/>
                        </a:spcAft>
                      </a:pPr>
                      <a:r>
                        <a:rPr lang="hy-AM" sz="1200" dirty="0">
                          <a:effectLst/>
                        </a:rPr>
                        <a:t>այո </a:t>
                      </a:r>
                      <a:endParaRPr lang="hy-AM" dirty="0">
                        <a:effectLst/>
                      </a:endParaRPr>
                    </a:p>
                  </a:txBody>
                  <a:tcPr marL="0" marR="0" marT="0" marB="0" anchor="ctr"/>
                </a:tc>
                <a:tc>
                  <a:txBody>
                    <a:bodyPr/>
                    <a:lstStyle/>
                    <a:p>
                      <a:r>
                        <a:rPr lang="en-US" sz="1200" kern="1200" dirty="0" err="1">
                          <a:solidFill>
                            <a:schemeClr val="tx1"/>
                          </a:solidFill>
                          <a:latin typeface="+mn-lt"/>
                          <a:ea typeface="+mn-ea"/>
                          <a:cs typeface="+mn-cs"/>
                        </a:rPr>
                        <a:t>Լծակավոր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կշեռք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Ներքին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այրման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շարժիչի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մոդել</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Հիդրավլիկ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մամլիչ</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Նյուտոնի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խողովակ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Վակուումային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կամ</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ճնշումային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պոմպ</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Ամպերմետր</a:t>
                      </a:r>
                      <a:r>
                        <a:rPr lang="en-US" sz="1200" kern="1200" dirty="0">
                          <a:solidFill>
                            <a:schemeClr val="tx1"/>
                          </a:solidFill>
                          <a:latin typeface="+mn-lt"/>
                          <a:ea typeface="+mn-ea"/>
                          <a:cs typeface="+mn-cs"/>
                        </a:rPr>
                        <a:t> 4, </a:t>
                      </a:r>
                      <a:r>
                        <a:rPr lang="en-US" sz="1200" kern="1200" dirty="0" err="1">
                          <a:solidFill>
                            <a:schemeClr val="tx1"/>
                          </a:solidFill>
                          <a:latin typeface="+mn-lt"/>
                          <a:ea typeface="+mn-ea"/>
                          <a:cs typeface="+mn-cs"/>
                        </a:rPr>
                        <a:t>Վոլտմետր</a:t>
                      </a:r>
                      <a:r>
                        <a:rPr lang="en-US" sz="1200" kern="1200" dirty="0">
                          <a:solidFill>
                            <a:schemeClr val="tx1"/>
                          </a:solidFill>
                          <a:latin typeface="+mn-lt"/>
                          <a:ea typeface="+mn-ea"/>
                          <a:cs typeface="+mn-cs"/>
                        </a:rPr>
                        <a:t> 4, </a:t>
                      </a:r>
                      <a:r>
                        <a:rPr lang="en-US" sz="1200" kern="1200" dirty="0" err="1">
                          <a:solidFill>
                            <a:schemeClr val="tx1"/>
                          </a:solidFill>
                          <a:latin typeface="+mn-lt"/>
                          <a:ea typeface="+mn-ea"/>
                          <a:cs typeface="+mn-cs"/>
                        </a:rPr>
                        <a:t>Զսպանակավոր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դինամոմետր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Կալորիամետր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Օպտիկական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էֆֆեկտների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դիտասարք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Կենտրոնախույզ</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ուժի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դիտման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մեքենա</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Մանրադիտակ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Պտտման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Թեքահարթակ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Օդուղի</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Օդի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հոսքի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գեներատոր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Ֆոտոչափումների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2, </a:t>
                      </a:r>
                      <a:r>
                        <a:rPr lang="en-US" sz="1200" kern="1200" dirty="0" err="1">
                          <a:solidFill>
                            <a:schemeClr val="tx1"/>
                          </a:solidFill>
                          <a:latin typeface="+mn-lt"/>
                          <a:ea typeface="+mn-ea"/>
                          <a:cs typeface="+mn-cs"/>
                        </a:rPr>
                        <a:t>Հաստատուն</a:t>
                      </a:r>
                      <a:r>
                        <a:rPr lang="en-US" sz="1200" kern="1200" dirty="0">
                          <a:solidFill>
                            <a:schemeClr val="tx1"/>
                          </a:solidFill>
                          <a:latin typeface="+mn-lt"/>
                          <a:ea typeface="+mn-ea"/>
                          <a:cs typeface="+mn-cs"/>
                        </a:rPr>
                        <a:t> և </a:t>
                      </a:r>
                      <a:r>
                        <a:rPr lang="en-US" sz="1200" kern="1200" dirty="0" err="1">
                          <a:solidFill>
                            <a:schemeClr val="tx1"/>
                          </a:solidFill>
                          <a:latin typeface="+mn-lt"/>
                          <a:ea typeface="+mn-ea"/>
                          <a:cs typeface="+mn-cs"/>
                        </a:rPr>
                        <a:t>փոփոխական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լարման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էլեկտրասնուցիչ</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Դիմադրության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չափման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Էլեկտրաստատիկ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սարքավորումների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Էլեկտրաէներգիայի</a:t>
                      </a:r>
                      <a:r>
                        <a:rPr lang="en-US" sz="1200" kern="1200" dirty="0">
                          <a:solidFill>
                            <a:schemeClr val="tx1"/>
                          </a:solidFill>
                          <a:latin typeface="+mn-lt"/>
                          <a:ea typeface="+mn-ea"/>
                          <a:cs typeface="+mn-cs"/>
                        </a:rPr>
                        <a:t> և </a:t>
                      </a:r>
                      <a:r>
                        <a:rPr lang="en-US" sz="1200" kern="1200" dirty="0" err="1">
                          <a:solidFill>
                            <a:schemeClr val="tx1"/>
                          </a:solidFill>
                          <a:latin typeface="+mn-lt"/>
                          <a:ea typeface="+mn-ea"/>
                          <a:cs typeface="+mn-cs"/>
                        </a:rPr>
                        <a:t>մագնիսականության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Սնուցման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բլոկ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համար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Էլեկտրափորձարկումների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Թվային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մուլտիմետր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Հիմնական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օպտիկական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Բևեռացման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Միջամտող</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Վիմշուրստի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Կունդտի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խողովակ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Կոնդենսատոր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Սոլենոիդներ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միջուկներով</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Պայտաձև</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մագնիս</a:t>
                      </a:r>
                      <a:r>
                        <a:rPr lang="en-US" sz="1200" kern="1200" dirty="0">
                          <a:solidFill>
                            <a:schemeClr val="tx1"/>
                          </a:solidFill>
                          <a:latin typeface="+mn-lt"/>
                          <a:ea typeface="+mn-ea"/>
                          <a:cs typeface="+mn-cs"/>
                        </a:rPr>
                        <a:t> 2, </a:t>
                      </a:r>
                      <a:r>
                        <a:rPr lang="en-US" sz="1200" kern="1200" dirty="0" err="1">
                          <a:solidFill>
                            <a:schemeClr val="tx1"/>
                          </a:solidFill>
                          <a:latin typeface="+mn-lt"/>
                          <a:ea typeface="+mn-ea"/>
                          <a:cs typeface="+mn-cs"/>
                        </a:rPr>
                        <a:t>Ձողակարկին</a:t>
                      </a:r>
                      <a:r>
                        <a:rPr lang="en-US" sz="1200" kern="1200" dirty="0">
                          <a:solidFill>
                            <a:schemeClr val="tx1"/>
                          </a:solidFill>
                          <a:latin typeface="+mn-lt"/>
                          <a:ea typeface="+mn-ea"/>
                          <a:cs typeface="+mn-cs"/>
                        </a:rPr>
                        <a:t> 5, </a:t>
                      </a:r>
                      <a:r>
                        <a:rPr lang="en-US" sz="1200" kern="1200" dirty="0" err="1">
                          <a:solidFill>
                            <a:schemeClr val="tx1"/>
                          </a:solidFill>
                          <a:latin typeface="+mn-lt"/>
                          <a:ea typeface="+mn-ea"/>
                          <a:cs typeface="+mn-cs"/>
                        </a:rPr>
                        <a:t>Ուռուցիկ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ոսպնյակներ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Կողմնացույց</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Ռեոստատ</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Դինամոմետր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Թվային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կշեռք</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Կիսահաղորդիչներ</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Էլեկտրոսկոպ</a:t>
                      </a:r>
                      <a:r>
                        <a:rPr lang="en-US" sz="1200" kern="1200" dirty="0">
                          <a:solidFill>
                            <a:schemeClr val="tx1"/>
                          </a:solidFill>
                          <a:latin typeface="+mn-lt"/>
                          <a:ea typeface="+mn-ea"/>
                          <a:cs typeface="+mn-cs"/>
                        </a:rPr>
                        <a:t> 2, </a:t>
                      </a:r>
                      <a:r>
                        <a:rPr lang="en-US" sz="1200" kern="1200" dirty="0" err="1">
                          <a:solidFill>
                            <a:schemeClr val="tx1"/>
                          </a:solidFill>
                          <a:latin typeface="+mn-lt"/>
                          <a:ea typeface="+mn-ea"/>
                          <a:cs typeface="+mn-cs"/>
                        </a:rPr>
                        <a:t>Էլեկտրական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ջեռուցիչ</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Բարձր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լարման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էլեկտրական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զարկերակային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գեներատոր</a:t>
                      </a:r>
                      <a:r>
                        <a:rPr lang="en-US" sz="1200" kern="1200" dirty="0">
                          <a:solidFill>
                            <a:schemeClr val="tx1"/>
                          </a:solidFill>
                          <a:latin typeface="+mn-lt"/>
                          <a:ea typeface="+mn-ea"/>
                          <a:cs typeface="+mn-cs"/>
                        </a:rPr>
                        <a:t> 1:</a:t>
                      </a: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4080509919"/>
                  </a:ext>
                </a:extLst>
              </a:tr>
            </a:tbl>
          </a:graphicData>
        </a:graphic>
      </p:graphicFrame>
    </p:spTree>
    <p:extLst>
      <p:ext uri="{BB962C8B-B14F-4D97-AF65-F5344CB8AC3E}">
        <p14:creationId xmlns:p14="http://schemas.microsoft.com/office/powerpoint/2010/main" val="31678594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522027929"/>
              </p:ext>
            </p:extLst>
          </p:nvPr>
        </p:nvGraphicFramePr>
        <p:xfrm>
          <a:off x="1696496" y="706618"/>
          <a:ext cx="9896236" cy="6041925"/>
        </p:xfrm>
        <a:graphic>
          <a:graphicData uri="http://schemas.openxmlformats.org/drawingml/2006/table">
            <a:tbl>
              <a:tblPr>
                <a:tableStyleId>{5940675A-B579-460E-94D1-54222C63F5DA}</a:tableStyleId>
              </a:tblPr>
              <a:tblGrid>
                <a:gridCol w="1232716">
                  <a:extLst>
                    <a:ext uri="{9D8B030D-6E8A-4147-A177-3AD203B41FA5}">
                      <a16:colId xmlns:a16="http://schemas.microsoft.com/office/drawing/2014/main" val="2009179954"/>
                    </a:ext>
                  </a:extLst>
                </a:gridCol>
                <a:gridCol w="627336">
                  <a:extLst>
                    <a:ext uri="{9D8B030D-6E8A-4147-A177-3AD203B41FA5}">
                      <a16:colId xmlns:a16="http://schemas.microsoft.com/office/drawing/2014/main" val="3868618922"/>
                    </a:ext>
                  </a:extLst>
                </a:gridCol>
                <a:gridCol w="893955">
                  <a:extLst>
                    <a:ext uri="{9D8B030D-6E8A-4147-A177-3AD203B41FA5}">
                      <a16:colId xmlns:a16="http://schemas.microsoft.com/office/drawing/2014/main" val="4000367931"/>
                    </a:ext>
                  </a:extLst>
                </a:gridCol>
                <a:gridCol w="4328623">
                  <a:extLst>
                    <a:ext uri="{9D8B030D-6E8A-4147-A177-3AD203B41FA5}">
                      <a16:colId xmlns:a16="http://schemas.microsoft.com/office/drawing/2014/main" val="2228529144"/>
                    </a:ext>
                  </a:extLst>
                </a:gridCol>
                <a:gridCol w="1383278">
                  <a:extLst>
                    <a:ext uri="{9D8B030D-6E8A-4147-A177-3AD203B41FA5}">
                      <a16:colId xmlns:a16="http://schemas.microsoft.com/office/drawing/2014/main" val="2301488503"/>
                    </a:ext>
                  </a:extLst>
                </a:gridCol>
                <a:gridCol w="1430328">
                  <a:extLst>
                    <a:ext uri="{9D8B030D-6E8A-4147-A177-3AD203B41FA5}">
                      <a16:colId xmlns:a16="http://schemas.microsoft.com/office/drawing/2014/main" val="474598051"/>
                    </a:ext>
                  </a:extLst>
                </a:gridCol>
              </a:tblGrid>
              <a:tr h="1348005">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4268684">
                <a:tc>
                  <a:txBody>
                    <a:bodyPr/>
                    <a:lstStyle/>
                    <a:p>
                      <a:pPr marL="0" marR="0" algn="ctr" rtl="0" latinLnBrk="0">
                        <a:lnSpc>
                          <a:spcPct val="150000"/>
                        </a:lnSpc>
                        <a:spcBef>
                          <a:spcPts val="0"/>
                        </a:spcBef>
                        <a:spcAft>
                          <a:spcPts val="0"/>
                        </a:spcAft>
                      </a:pPr>
                      <a:r>
                        <a:rPr lang="hy-AM" sz="1200" dirty="0">
                          <a:effectLst/>
                        </a:rPr>
                        <a:t>Քիմիայի լաբորատորիա, կաբինետ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50</a:t>
                      </a:r>
                    </a:p>
                  </a:txBody>
                  <a:tcPr marL="0" marR="0" marT="0" marB="0" anchor="ctr"/>
                </a:tc>
                <a:tc>
                  <a:txBody>
                    <a:bodyPr/>
                    <a:lstStyle/>
                    <a:p>
                      <a:pPr marL="0" marR="0" algn="ctr" rtl="0" latinLnBrk="0">
                        <a:lnSpc>
                          <a:spcPct val="150000"/>
                        </a:lnSpc>
                        <a:spcBef>
                          <a:spcPts val="0"/>
                        </a:spcBef>
                        <a:spcAft>
                          <a:spcPts val="0"/>
                        </a:spcAft>
                      </a:pPr>
                      <a:r>
                        <a:rPr lang="hy-AM" sz="1200" dirty="0">
                          <a:effectLst/>
                        </a:rPr>
                        <a:t>այո </a:t>
                      </a:r>
                      <a:endParaRPr lang="hy-AM" dirty="0">
                        <a:effectLst/>
                      </a:endParaRPr>
                    </a:p>
                  </a:txBody>
                  <a:tcPr marL="0" marR="0" marT="0" marB="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kern="1200" dirty="0" err="1">
                          <a:solidFill>
                            <a:schemeClr val="tx1"/>
                          </a:solidFill>
                          <a:latin typeface="+mn-lt"/>
                          <a:ea typeface="+mn-ea"/>
                          <a:cs typeface="+mn-cs"/>
                        </a:rPr>
                        <a:t>Ֆիլտրի</a:t>
                      </a:r>
                      <a:r>
                        <a:rPr lang="ru-RU" sz="1400" kern="1200" dirty="0">
                          <a:solidFill>
                            <a:schemeClr val="tx1"/>
                          </a:solidFill>
                          <a:latin typeface="+mn-lt"/>
                          <a:ea typeface="+mn-ea"/>
                          <a:cs typeface="+mn-cs"/>
                        </a:rPr>
                        <a:t> </a:t>
                      </a:r>
                      <a:r>
                        <a:rPr lang="ru-RU" sz="1400" kern="1200" dirty="0" err="1">
                          <a:solidFill>
                            <a:schemeClr val="tx1"/>
                          </a:solidFill>
                          <a:latin typeface="+mn-lt"/>
                          <a:ea typeface="+mn-ea"/>
                          <a:cs typeface="+mn-cs"/>
                        </a:rPr>
                        <a:t>թուղթ</a:t>
                      </a:r>
                      <a:r>
                        <a:rPr lang="ru-RU" sz="1400" kern="1200" dirty="0">
                          <a:solidFill>
                            <a:schemeClr val="tx1"/>
                          </a:solidFill>
                          <a:latin typeface="+mn-lt"/>
                          <a:ea typeface="+mn-ea"/>
                          <a:cs typeface="+mn-cs"/>
                        </a:rPr>
                        <a:t> 50</a:t>
                      </a:r>
                      <a:r>
                        <a:rPr lang="en-US" sz="1400" kern="1200" dirty="0">
                          <a:solidFill>
                            <a:schemeClr val="tx1"/>
                          </a:solidFill>
                          <a:latin typeface="+mn-lt"/>
                          <a:ea typeface="+mn-ea"/>
                          <a:cs typeface="+mn-cs"/>
                        </a:rPr>
                        <a:t>, թ</a:t>
                      </a:r>
                      <a:r>
                        <a:rPr lang="ru-RU" sz="1400" kern="1200" dirty="0" err="1">
                          <a:solidFill>
                            <a:schemeClr val="tx1"/>
                          </a:solidFill>
                          <a:latin typeface="+mn-lt"/>
                          <a:ea typeface="+mn-ea"/>
                          <a:cs typeface="+mn-cs"/>
                        </a:rPr>
                        <a:t>վային</a:t>
                      </a:r>
                      <a:r>
                        <a:rPr lang="ru-RU" sz="1400" kern="1200" dirty="0">
                          <a:solidFill>
                            <a:schemeClr val="tx1"/>
                          </a:solidFill>
                          <a:latin typeface="+mn-lt"/>
                          <a:ea typeface="+mn-ea"/>
                          <a:cs typeface="+mn-cs"/>
                        </a:rPr>
                        <a:t> </a:t>
                      </a:r>
                      <a:r>
                        <a:rPr lang="ru-RU" sz="1400" kern="1200" dirty="0" err="1">
                          <a:solidFill>
                            <a:schemeClr val="tx1"/>
                          </a:solidFill>
                          <a:latin typeface="+mn-lt"/>
                          <a:ea typeface="+mn-ea"/>
                          <a:cs typeface="+mn-cs"/>
                        </a:rPr>
                        <a:t>ջերմաչափ</a:t>
                      </a:r>
                      <a:r>
                        <a:rPr lang="en-US" sz="1400" kern="1200" dirty="0">
                          <a:solidFill>
                            <a:schemeClr val="tx1"/>
                          </a:solidFill>
                          <a:latin typeface="+mn-lt"/>
                          <a:ea typeface="+mn-ea"/>
                          <a:cs typeface="+mn-cs"/>
                        </a:rPr>
                        <a:t> 1,ջ</a:t>
                      </a:r>
                      <a:r>
                        <a:rPr lang="ru-RU" sz="1400" kern="1200" dirty="0" err="1">
                          <a:solidFill>
                            <a:schemeClr val="tx1"/>
                          </a:solidFill>
                          <a:latin typeface="+mn-lt"/>
                          <a:ea typeface="+mn-ea"/>
                          <a:cs typeface="+mn-cs"/>
                        </a:rPr>
                        <a:t>երմաչափ</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գդալ</a:t>
                      </a:r>
                      <a:r>
                        <a:rPr lang="en-US" sz="1400" kern="1200" dirty="0">
                          <a:solidFill>
                            <a:schemeClr val="tx1"/>
                          </a:solidFill>
                          <a:latin typeface="+mn-lt"/>
                          <a:ea typeface="+mn-ea"/>
                          <a:cs typeface="+mn-cs"/>
                        </a:rPr>
                        <a:t> 4, </a:t>
                      </a:r>
                      <a:r>
                        <a:rPr lang="en-US" sz="1400" kern="1200" dirty="0" err="1">
                          <a:solidFill>
                            <a:schemeClr val="tx1"/>
                          </a:solidFill>
                          <a:latin typeface="+mn-lt"/>
                          <a:ea typeface="+mn-ea"/>
                          <a:cs typeface="+mn-cs"/>
                        </a:rPr>
                        <a:t>շպատել</a:t>
                      </a:r>
                      <a:r>
                        <a:rPr lang="en-US" sz="1400" kern="1200" baseline="0" dirty="0">
                          <a:solidFill>
                            <a:schemeClr val="tx1"/>
                          </a:solidFill>
                          <a:latin typeface="+mn-lt"/>
                          <a:ea typeface="+mn-ea"/>
                          <a:cs typeface="+mn-cs"/>
                        </a:rPr>
                        <a:t> 8, </a:t>
                      </a:r>
                      <a:r>
                        <a:rPr lang="en-US" sz="1400" kern="1200" baseline="0" dirty="0" err="1">
                          <a:solidFill>
                            <a:schemeClr val="tx1"/>
                          </a:solidFill>
                          <a:latin typeface="+mn-lt"/>
                          <a:ea typeface="+mn-ea"/>
                          <a:cs typeface="+mn-cs"/>
                        </a:rPr>
                        <a:t>ռ</a:t>
                      </a:r>
                      <a:r>
                        <a:rPr lang="en-US" sz="1400" kern="1200" dirty="0" err="1">
                          <a:solidFill>
                            <a:schemeClr val="tx1"/>
                          </a:solidFill>
                          <a:latin typeface="+mn-lt"/>
                          <a:ea typeface="+mn-ea"/>
                          <a:cs typeface="+mn-cs"/>
                        </a:rPr>
                        <a:t>ետինե</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խողովակ</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Ակնոցներ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ալկոհոլային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նմանակման</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Ունիվերսալ</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լակմուսային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թուղթ</a:t>
                      </a:r>
                      <a:r>
                        <a:rPr lang="en-US" sz="1400" kern="1200" dirty="0">
                          <a:solidFill>
                            <a:schemeClr val="tx1"/>
                          </a:solidFill>
                          <a:latin typeface="+mn-lt"/>
                          <a:ea typeface="+mn-ea"/>
                          <a:cs typeface="+mn-cs"/>
                        </a:rPr>
                        <a:t> 1, </a:t>
                      </a:r>
                      <a:r>
                        <a:rPr lang="en-US" sz="1400" kern="1200" dirty="0" err="1">
                          <a:solidFill>
                            <a:schemeClr val="tx1"/>
                          </a:solidFill>
                          <a:latin typeface="+mn-lt"/>
                          <a:ea typeface="+mn-ea"/>
                          <a:cs typeface="+mn-cs"/>
                        </a:rPr>
                        <a:t>Ֆիլտրման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նախատեսված</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ստենդ</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հարմարանք</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Օղակ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լաբորատոր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կալանին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ամրացնելու</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Կալան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լաբորատոր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սկուտեղ</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կողային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խողովակային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միացումով</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Դյուարի</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անոթ</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կաթոցիկներ</a:t>
                      </a:r>
                      <a:r>
                        <a:rPr lang="en-US" sz="1400" kern="1200" dirty="0">
                          <a:solidFill>
                            <a:schemeClr val="tx1"/>
                          </a:solidFill>
                          <a:latin typeface="+mn-lt"/>
                          <a:ea typeface="+mn-ea"/>
                          <a:cs typeface="+mn-cs"/>
                        </a:rPr>
                        <a:t> 4, </a:t>
                      </a:r>
                      <a:r>
                        <a:rPr lang="en-US" sz="1400" kern="1200" dirty="0" err="1">
                          <a:solidFill>
                            <a:schemeClr val="tx1"/>
                          </a:solidFill>
                          <a:latin typeface="+mn-lt"/>
                          <a:ea typeface="+mn-ea"/>
                          <a:cs typeface="+mn-cs"/>
                        </a:rPr>
                        <a:t>կլոր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4, </a:t>
                      </a:r>
                      <a:r>
                        <a:rPr lang="en-US" sz="1400" kern="1200" dirty="0" err="1">
                          <a:solidFill>
                            <a:schemeClr val="tx1"/>
                          </a:solidFill>
                          <a:latin typeface="+mn-lt"/>
                          <a:ea typeface="+mn-ea"/>
                          <a:cs typeface="+mn-cs"/>
                        </a:rPr>
                        <a:t>կլորահատակ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8, </a:t>
                      </a:r>
                      <a:r>
                        <a:rPr lang="en-US" sz="1400" kern="1200" dirty="0" err="1">
                          <a:solidFill>
                            <a:schemeClr val="tx1"/>
                          </a:solidFill>
                          <a:latin typeface="+mn-lt"/>
                          <a:ea typeface="+mn-ea"/>
                          <a:cs typeface="+mn-cs"/>
                        </a:rPr>
                        <a:t>Էլեռմեյեռի</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8, </a:t>
                      </a:r>
                      <a:r>
                        <a:rPr lang="en-US" sz="1400" kern="1200" dirty="0" err="1">
                          <a:solidFill>
                            <a:schemeClr val="tx1"/>
                          </a:solidFill>
                          <a:latin typeface="+mn-lt"/>
                          <a:ea typeface="+mn-ea"/>
                          <a:cs typeface="+mn-cs"/>
                        </a:rPr>
                        <a:t>չափիչ</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չափասրվակ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մենզուրկա</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երկգլխարկավոր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1, </a:t>
                      </a:r>
                      <a:r>
                        <a:rPr lang="en-US" sz="1400" kern="1200" dirty="0" err="1">
                          <a:solidFill>
                            <a:schemeClr val="tx1"/>
                          </a:solidFill>
                          <a:latin typeface="+mn-lt"/>
                          <a:ea typeface="+mn-ea"/>
                          <a:cs typeface="+mn-cs"/>
                        </a:rPr>
                        <a:t>կլոր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1, </a:t>
                      </a:r>
                      <a:r>
                        <a:rPr lang="hy-AM" sz="1400" kern="1200" dirty="0" smtClean="0">
                          <a:solidFill>
                            <a:schemeClr val="tx1"/>
                          </a:solidFill>
                          <a:latin typeface="+mn-lt"/>
                          <a:ea typeface="+mn-ea"/>
                          <a:cs typeface="+mn-cs"/>
                        </a:rPr>
                        <a:t>կլոր թորձանոթ 2</a:t>
                      </a:r>
                      <a:r>
                        <a:rPr lang="hy-AM" sz="1400" kern="1200" baseline="0" dirty="0" smtClean="0">
                          <a:solidFill>
                            <a:schemeClr val="tx1"/>
                          </a:solidFill>
                          <a:latin typeface="+mn-lt"/>
                          <a:ea typeface="+mn-ea"/>
                          <a:cs typeface="+mn-cs"/>
                        </a:rPr>
                        <a:t> հատ, </a:t>
                      </a:r>
                      <a:r>
                        <a:rPr lang="en-US" sz="1400" kern="1200" dirty="0" err="1" smtClean="0">
                          <a:solidFill>
                            <a:schemeClr val="tx1"/>
                          </a:solidFill>
                          <a:latin typeface="+mn-lt"/>
                          <a:ea typeface="+mn-ea"/>
                          <a:cs typeface="+mn-cs"/>
                        </a:rPr>
                        <a:t>սեղմակ</a:t>
                      </a:r>
                      <a:r>
                        <a:rPr lang="en-US" sz="1400" kern="1200" dirty="0" smtClean="0">
                          <a:solidFill>
                            <a:schemeClr val="tx1"/>
                          </a:solidFill>
                          <a:latin typeface="+mn-lt"/>
                          <a:ea typeface="+mn-ea"/>
                          <a:cs typeface="+mn-cs"/>
                        </a:rPr>
                        <a:t> </a:t>
                      </a:r>
                      <a:r>
                        <a:rPr lang="en-US" sz="1400" kern="1200" dirty="0">
                          <a:solidFill>
                            <a:schemeClr val="tx1"/>
                          </a:solidFill>
                          <a:latin typeface="+mn-lt"/>
                          <a:ea typeface="+mn-ea"/>
                          <a:cs typeface="+mn-cs"/>
                        </a:rPr>
                        <a:t>5, </a:t>
                      </a:r>
                      <a:r>
                        <a:rPr lang="en-US" sz="1400" kern="1200" dirty="0" err="1">
                          <a:solidFill>
                            <a:schemeClr val="tx1"/>
                          </a:solidFill>
                          <a:latin typeface="+mn-lt"/>
                          <a:ea typeface="+mn-ea"/>
                          <a:cs typeface="+mn-cs"/>
                        </a:rPr>
                        <a:t>թորման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կամուրջ</a:t>
                      </a:r>
                      <a:r>
                        <a:rPr lang="en-US" sz="1400" kern="1200" dirty="0">
                          <a:solidFill>
                            <a:schemeClr val="tx1"/>
                          </a:solidFill>
                          <a:latin typeface="+mn-lt"/>
                          <a:ea typeface="+mn-ea"/>
                          <a:cs typeface="+mn-cs"/>
                        </a:rPr>
                        <a:t> 1, </a:t>
                      </a:r>
                      <a:r>
                        <a:rPr lang="en-US" sz="1400" kern="1200" dirty="0" err="1">
                          <a:solidFill>
                            <a:schemeClr val="tx1"/>
                          </a:solidFill>
                          <a:latin typeface="+mn-lt"/>
                          <a:ea typeface="+mn-ea"/>
                          <a:cs typeface="+mn-cs"/>
                        </a:rPr>
                        <a:t>տաքացուցիչ</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տեղադրելու</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թաթ</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կալանի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համար</a:t>
                      </a:r>
                      <a:r>
                        <a:rPr lang="en-US" sz="1400" kern="1200" baseline="0" dirty="0">
                          <a:solidFill>
                            <a:schemeClr val="tx1"/>
                          </a:solidFill>
                          <a:latin typeface="+mn-lt"/>
                          <a:ea typeface="+mn-ea"/>
                          <a:cs typeface="+mn-cs"/>
                        </a:rPr>
                        <a:t> </a:t>
                      </a:r>
                      <a:r>
                        <a:rPr lang="en-US" sz="1400" kern="1200" dirty="0">
                          <a:solidFill>
                            <a:schemeClr val="tx1"/>
                          </a:solidFill>
                          <a:latin typeface="+mn-lt"/>
                          <a:ea typeface="+mn-ea"/>
                          <a:cs typeface="+mn-cs"/>
                        </a:rPr>
                        <a:t>5, </a:t>
                      </a:r>
                      <a:r>
                        <a:rPr lang="en-US" sz="1400" kern="1200" dirty="0" err="1">
                          <a:solidFill>
                            <a:schemeClr val="tx1"/>
                          </a:solidFill>
                          <a:latin typeface="+mn-lt"/>
                          <a:ea typeface="+mn-ea"/>
                          <a:cs typeface="+mn-cs"/>
                        </a:rPr>
                        <a:t>բռնակով</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սեղմակ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կալանի</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համար</a:t>
                      </a:r>
                      <a:r>
                        <a:rPr lang="en-US" sz="1400" kern="1200" dirty="0">
                          <a:solidFill>
                            <a:schemeClr val="tx1"/>
                          </a:solidFill>
                          <a:latin typeface="+mn-lt"/>
                          <a:ea typeface="+mn-ea"/>
                          <a:cs typeface="+mn-cs"/>
                        </a:rPr>
                        <a:t> 7, </a:t>
                      </a:r>
                      <a:r>
                        <a:rPr lang="en-US" sz="1400" kern="1200" dirty="0" err="1">
                          <a:solidFill>
                            <a:schemeClr val="tx1"/>
                          </a:solidFill>
                          <a:latin typeface="+mn-lt"/>
                          <a:ea typeface="+mn-ea"/>
                          <a:cs typeface="+mn-cs"/>
                        </a:rPr>
                        <a:t>չափիչ</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գլան</a:t>
                      </a:r>
                      <a:r>
                        <a:rPr lang="en-US" sz="1400" kern="1200" baseline="0" dirty="0">
                          <a:solidFill>
                            <a:schemeClr val="tx1"/>
                          </a:solidFill>
                          <a:latin typeface="+mn-lt"/>
                          <a:ea typeface="+mn-ea"/>
                          <a:cs typeface="+mn-cs"/>
                        </a:rPr>
                        <a:t> 5, </a:t>
                      </a:r>
                      <a:r>
                        <a:rPr lang="en-US" sz="1400" kern="1200" baseline="0" dirty="0" err="1">
                          <a:solidFill>
                            <a:schemeClr val="tx1"/>
                          </a:solidFill>
                          <a:latin typeface="+mn-lt"/>
                          <a:ea typeface="+mn-ea"/>
                          <a:cs typeface="+mn-cs"/>
                        </a:rPr>
                        <a:t>փորձանոթի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խոզանակ</a:t>
                      </a:r>
                      <a:r>
                        <a:rPr lang="en-US" sz="1400" kern="1200" baseline="0" dirty="0">
                          <a:solidFill>
                            <a:schemeClr val="tx1"/>
                          </a:solidFill>
                          <a:latin typeface="+mn-lt"/>
                          <a:ea typeface="+mn-ea"/>
                          <a:cs typeface="+mn-cs"/>
                        </a:rPr>
                        <a:t> 3, </a:t>
                      </a:r>
                      <a:r>
                        <a:rPr lang="hy-AM" sz="1400" kern="1200" baseline="0" dirty="0">
                          <a:solidFill>
                            <a:schemeClr val="tx1"/>
                          </a:solidFill>
                          <a:latin typeface="+mn-lt"/>
                          <a:ea typeface="+mn-ea"/>
                          <a:cs typeface="+mn-cs"/>
                        </a:rPr>
                        <a:t>NS </a:t>
                      </a:r>
                      <a:r>
                        <a:rPr lang="en-US" sz="1400" kern="1200" baseline="0" dirty="0" err="1">
                          <a:solidFill>
                            <a:schemeClr val="tx1"/>
                          </a:solidFill>
                          <a:latin typeface="+mn-lt"/>
                          <a:ea typeface="+mn-ea"/>
                          <a:cs typeface="+mn-cs"/>
                        </a:rPr>
                        <a:t>կոնաձև</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խցափակիչ</a:t>
                      </a:r>
                      <a:r>
                        <a:rPr lang="en-US" sz="1400" kern="1200" baseline="0" dirty="0">
                          <a:solidFill>
                            <a:schemeClr val="tx1"/>
                          </a:solidFill>
                          <a:latin typeface="+mn-lt"/>
                          <a:ea typeface="+mn-ea"/>
                          <a:cs typeface="+mn-cs"/>
                        </a:rPr>
                        <a:t>, </a:t>
                      </a:r>
                      <a:r>
                        <a:rPr lang="hy-AM" sz="1400" kern="1200" baseline="0" dirty="0" smtClean="0">
                          <a:solidFill>
                            <a:schemeClr val="tx1"/>
                          </a:solidFill>
                          <a:latin typeface="+mn-lt"/>
                          <a:ea typeface="+mn-ea"/>
                          <a:cs typeface="+mn-cs"/>
                        </a:rPr>
                        <a:t>5 </a:t>
                      </a:r>
                      <a:r>
                        <a:rPr lang="en-US" sz="1400" kern="1200" baseline="0" dirty="0" err="1" smtClean="0">
                          <a:solidFill>
                            <a:schemeClr val="tx1"/>
                          </a:solidFill>
                          <a:latin typeface="+mn-lt"/>
                          <a:ea typeface="+mn-ea"/>
                          <a:cs typeface="+mn-cs"/>
                        </a:rPr>
                        <a:t>փորձանոթ</a:t>
                      </a:r>
                      <a:r>
                        <a:rPr lang="en-US" sz="1400" kern="1200" baseline="0" dirty="0" smtClean="0">
                          <a:solidFill>
                            <a:schemeClr val="tx1"/>
                          </a:solidFill>
                          <a:latin typeface="+mn-lt"/>
                          <a:ea typeface="+mn-ea"/>
                          <a:cs typeface="+mn-cs"/>
                        </a:rPr>
                        <a:t> </a:t>
                      </a:r>
                      <a:r>
                        <a:rPr lang="en-US" sz="1400" kern="1200" baseline="0" dirty="0">
                          <a:solidFill>
                            <a:schemeClr val="tx1"/>
                          </a:solidFill>
                          <a:latin typeface="+mn-lt"/>
                          <a:ea typeface="+mn-ea"/>
                          <a:cs typeface="+mn-cs"/>
                        </a:rPr>
                        <a:t>2, </a:t>
                      </a:r>
                      <a:r>
                        <a:rPr lang="en-US" sz="1400" kern="1200" baseline="0" dirty="0" err="1">
                          <a:solidFill>
                            <a:schemeClr val="tx1"/>
                          </a:solidFill>
                          <a:latin typeface="+mn-lt"/>
                          <a:ea typeface="+mn-ea"/>
                          <a:cs typeface="+mn-cs"/>
                        </a:rPr>
                        <a:t>փորձանոթ</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կողային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գազատար</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խողովակով</a:t>
                      </a:r>
                      <a:r>
                        <a:rPr lang="en-US" sz="1400" kern="1200" baseline="0" dirty="0">
                          <a:solidFill>
                            <a:schemeClr val="tx1"/>
                          </a:solidFill>
                          <a:latin typeface="+mn-lt"/>
                          <a:ea typeface="+mn-ea"/>
                          <a:cs typeface="+mn-cs"/>
                        </a:rPr>
                        <a:t> 15, </a:t>
                      </a:r>
                      <a:r>
                        <a:rPr lang="en-US" sz="1400" kern="1200" baseline="0" dirty="0" err="1">
                          <a:solidFill>
                            <a:schemeClr val="tx1"/>
                          </a:solidFill>
                          <a:latin typeface="+mn-lt"/>
                          <a:ea typeface="+mn-ea"/>
                          <a:cs typeface="+mn-cs"/>
                        </a:rPr>
                        <a:t>բաժանիչ</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ձագար</a:t>
                      </a:r>
                      <a:r>
                        <a:rPr lang="en-US" sz="1400" kern="1200" baseline="0" dirty="0">
                          <a:solidFill>
                            <a:schemeClr val="tx1"/>
                          </a:solidFill>
                          <a:latin typeface="+mn-lt"/>
                          <a:ea typeface="+mn-ea"/>
                          <a:cs typeface="+mn-cs"/>
                        </a:rPr>
                        <a:t> 3, </a:t>
                      </a:r>
                      <a:r>
                        <a:rPr lang="en-US" sz="1400" kern="1200" baseline="0" dirty="0" err="1">
                          <a:solidFill>
                            <a:schemeClr val="tx1"/>
                          </a:solidFill>
                          <a:latin typeface="+mn-lt"/>
                          <a:ea typeface="+mn-ea"/>
                          <a:cs typeface="+mn-cs"/>
                        </a:rPr>
                        <a:t>գոլորշիացման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թաս</a:t>
                      </a:r>
                      <a:r>
                        <a:rPr lang="en-US" sz="1400" kern="1200" baseline="0" dirty="0">
                          <a:solidFill>
                            <a:schemeClr val="tx1"/>
                          </a:solidFill>
                          <a:latin typeface="+mn-lt"/>
                          <a:ea typeface="+mn-ea"/>
                          <a:cs typeface="+mn-cs"/>
                        </a:rPr>
                        <a:t> 5,  </a:t>
                      </a:r>
                      <a:r>
                        <a:rPr lang="en-US" sz="1400" kern="1200" baseline="0" dirty="0" err="1">
                          <a:solidFill>
                            <a:schemeClr val="tx1"/>
                          </a:solidFill>
                          <a:latin typeface="+mn-lt"/>
                          <a:ea typeface="+mn-ea"/>
                          <a:cs typeface="+mn-cs"/>
                        </a:rPr>
                        <a:t>մագնիսական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խառնիչ</a:t>
                      </a:r>
                      <a:r>
                        <a:rPr lang="en-US" sz="1400" kern="1200" baseline="0" dirty="0">
                          <a:solidFill>
                            <a:schemeClr val="tx1"/>
                          </a:solidFill>
                          <a:latin typeface="+mn-lt"/>
                          <a:ea typeface="+mn-ea"/>
                          <a:cs typeface="+mn-cs"/>
                        </a:rPr>
                        <a:t> 1, </a:t>
                      </a:r>
                      <a:r>
                        <a:rPr lang="en-US" sz="1400" kern="1200" baseline="0" dirty="0" err="1">
                          <a:solidFill>
                            <a:schemeClr val="tx1"/>
                          </a:solidFill>
                          <a:latin typeface="+mn-lt"/>
                          <a:ea typeface="+mn-ea"/>
                          <a:cs typeface="+mn-cs"/>
                        </a:rPr>
                        <a:t>մոլեկուլների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կոնստրուկցիաներ</a:t>
                      </a:r>
                      <a:r>
                        <a:rPr lang="en-US" sz="1400" kern="1200" baseline="0" dirty="0">
                          <a:solidFill>
                            <a:schemeClr val="tx1"/>
                          </a:solidFill>
                          <a:latin typeface="+mn-lt"/>
                          <a:ea typeface="+mn-ea"/>
                          <a:cs typeface="+mn-cs"/>
                        </a:rPr>
                        <a:t> 1, </a:t>
                      </a:r>
                      <a:r>
                        <a:rPr lang="en-US" sz="1400" kern="1200" baseline="0" dirty="0" err="1">
                          <a:solidFill>
                            <a:schemeClr val="tx1"/>
                          </a:solidFill>
                          <a:latin typeface="+mn-lt"/>
                          <a:ea typeface="+mn-ea"/>
                          <a:cs typeface="+mn-cs"/>
                        </a:rPr>
                        <a:t>փորձ</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անելու</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ձագար</a:t>
                      </a:r>
                      <a:r>
                        <a:rPr lang="en-US" sz="1400" kern="1200" baseline="0" dirty="0">
                          <a:solidFill>
                            <a:schemeClr val="tx1"/>
                          </a:solidFill>
                          <a:latin typeface="+mn-lt"/>
                          <a:ea typeface="+mn-ea"/>
                          <a:cs typeface="+mn-cs"/>
                        </a:rPr>
                        <a:t> 2, </a:t>
                      </a:r>
                      <a:r>
                        <a:rPr lang="en-US" sz="1400" kern="1200" baseline="0" dirty="0" err="1">
                          <a:solidFill>
                            <a:schemeClr val="tx1"/>
                          </a:solidFill>
                          <a:latin typeface="+mn-lt"/>
                          <a:ea typeface="+mn-ea"/>
                          <a:cs typeface="+mn-cs"/>
                        </a:rPr>
                        <a:t>թվային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կշեռք</a:t>
                      </a:r>
                      <a:r>
                        <a:rPr lang="en-US" sz="1400" kern="1200" baseline="0" dirty="0">
                          <a:solidFill>
                            <a:schemeClr val="tx1"/>
                          </a:solidFill>
                          <a:latin typeface="+mn-lt"/>
                          <a:ea typeface="+mn-ea"/>
                          <a:cs typeface="+mn-cs"/>
                        </a:rPr>
                        <a:t> 2, </a:t>
                      </a:r>
                      <a:r>
                        <a:rPr lang="en-US" sz="1400" kern="1200" baseline="0" dirty="0" err="1">
                          <a:solidFill>
                            <a:schemeClr val="tx1"/>
                          </a:solidFill>
                          <a:latin typeface="+mn-lt"/>
                          <a:ea typeface="+mn-ea"/>
                          <a:cs typeface="+mn-cs"/>
                        </a:rPr>
                        <a:t>ավտոմատ</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ջրի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թորման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սարք</a:t>
                      </a:r>
                      <a:r>
                        <a:rPr lang="en-US" sz="1400" kern="1200" baseline="0" dirty="0">
                          <a:solidFill>
                            <a:schemeClr val="tx1"/>
                          </a:solidFill>
                          <a:latin typeface="+mn-lt"/>
                          <a:ea typeface="+mn-ea"/>
                          <a:cs typeface="+mn-cs"/>
                        </a:rPr>
                        <a:t>  1,  </a:t>
                      </a:r>
                      <a:r>
                        <a:rPr lang="en-US" sz="1400" kern="1200" baseline="0" dirty="0" err="1">
                          <a:solidFill>
                            <a:schemeClr val="tx1"/>
                          </a:solidFill>
                          <a:latin typeface="+mn-lt"/>
                          <a:ea typeface="+mn-ea"/>
                          <a:cs typeface="+mn-cs"/>
                        </a:rPr>
                        <a:t>Բունսենի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այրիչ</a:t>
                      </a:r>
                      <a:r>
                        <a:rPr lang="en-US" sz="1400" kern="1200" baseline="0" dirty="0">
                          <a:solidFill>
                            <a:schemeClr val="tx1"/>
                          </a:solidFill>
                          <a:latin typeface="+mn-lt"/>
                          <a:ea typeface="+mn-ea"/>
                          <a:cs typeface="+mn-cs"/>
                        </a:rPr>
                        <a:t> 10, </a:t>
                      </a:r>
                      <a:endParaRPr lang="en-US" sz="1400" kern="1200" dirty="0">
                        <a:solidFill>
                          <a:schemeClr val="tx1"/>
                        </a:solidFill>
                        <a:latin typeface="+mn-lt"/>
                        <a:ea typeface="+mn-ea"/>
                        <a:cs typeface="+mn-cs"/>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1658187833"/>
                  </a:ext>
                </a:extLst>
              </a:tr>
            </a:tbl>
          </a:graphicData>
        </a:graphic>
      </p:graphicFrame>
    </p:spTree>
    <p:extLst>
      <p:ext uri="{BB962C8B-B14F-4D97-AF65-F5344CB8AC3E}">
        <p14:creationId xmlns:p14="http://schemas.microsoft.com/office/powerpoint/2010/main" val="3167859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267507012"/>
              </p:ext>
            </p:extLst>
          </p:nvPr>
        </p:nvGraphicFramePr>
        <p:xfrm>
          <a:off x="1696496" y="706619"/>
          <a:ext cx="10020300" cy="5257800"/>
        </p:xfrm>
        <a:graphic>
          <a:graphicData uri="http://schemas.openxmlformats.org/drawingml/2006/table">
            <a:tbl>
              <a:tblPr>
                <a:tableStyleId>{5940675A-B579-460E-94D1-54222C63F5DA}</a:tableStyleId>
              </a:tblPr>
              <a:tblGrid>
                <a:gridCol w="1248170">
                  <a:extLst>
                    <a:ext uri="{9D8B030D-6E8A-4147-A177-3AD203B41FA5}">
                      <a16:colId xmlns:a16="http://schemas.microsoft.com/office/drawing/2014/main" val="2009179954"/>
                    </a:ext>
                  </a:extLst>
                </a:gridCol>
                <a:gridCol w="635201">
                  <a:extLst>
                    <a:ext uri="{9D8B030D-6E8A-4147-A177-3AD203B41FA5}">
                      <a16:colId xmlns:a16="http://schemas.microsoft.com/office/drawing/2014/main" val="3868618922"/>
                    </a:ext>
                  </a:extLst>
                </a:gridCol>
                <a:gridCol w="905162">
                  <a:extLst>
                    <a:ext uri="{9D8B030D-6E8A-4147-A177-3AD203B41FA5}">
                      <a16:colId xmlns:a16="http://schemas.microsoft.com/office/drawing/2014/main" val="4000367931"/>
                    </a:ext>
                  </a:extLst>
                </a:gridCol>
                <a:gridCol w="4382889">
                  <a:extLst>
                    <a:ext uri="{9D8B030D-6E8A-4147-A177-3AD203B41FA5}">
                      <a16:colId xmlns:a16="http://schemas.microsoft.com/office/drawing/2014/main" val="2228529144"/>
                    </a:ext>
                  </a:extLst>
                </a:gridCol>
                <a:gridCol w="1400619">
                  <a:extLst>
                    <a:ext uri="{9D8B030D-6E8A-4147-A177-3AD203B41FA5}">
                      <a16:colId xmlns:a16="http://schemas.microsoft.com/office/drawing/2014/main" val="2301488503"/>
                    </a:ext>
                  </a:extLst>
                </a:gridCol>
                <a:gridCol w="1448259">
                  <a:extLst>
                    <a:ext uri="{9D8B030D-6E8A-4147-A177-3AD203B41FA5}">
                      <a16:colId xmlns:a16="http://schemas.microsoft.com/office/drawing/2014/main" val="474598051"/>
                    </a:ext>
                  </a:extLst>
                </a:gridCol>
              </a:tblGrid>
              <a:tr h="432308">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144145">
                <a:tc>
                  <a:txBody>
                    <a:bodyPr/>
                    <a:lstStyle/>
                    <a:p>
                      <a:pPr marL="0" marR="0" rtl="0" latinLnBrk="0">
                        <a:lnSpc>
                          <a:spcPct val="150000"/>
                        </a:lnSpc>
                        <a:spcBef>
                          <a:spcPts val="0"/>
                        </a:spcBef>
                        <a:spcAft>
                          <a:spcPts val="0"/>
                        </a:spcAft>
                      </a:pPr>
                      <a:endParaRPr lang="hy-AM" sz="1400">
                        <a:effectLst/>
                      </a:endParaRPr>
                    </a:p>
                  </a:txBody>
                  <a:tcPr marL="0" marR="0" marT="0" marB="0" anchor="ctr"/>
                </a:tc>
                <a:tc>
                  <a:txBody>
                    <a:bodyPr/>
                    <a:lstStyle/>
                    <a:p>
                      <a:pPr marL="0" marR="0" algn="ctr" rtl="0" latinLnBrk="0">
                        <a:lnSpc>
                          <a:spcPct val="150000"/>
                        </a:lnSpc>
                        <a:spcBef>
                          <a:spcPts val="0"/>
                        </a:spcBef>
                        <a:spcAft>
                          <a:spcPts val="0"/>
                        </a:spcAft>
                      </a:pPr>
                      <a:r>
                        <a:rPr lang="en-US" sz="1400" dirty="0">
                          <a:effectLst/>
                          <a:latin typeface="Sylfaen" panose="010A0502050306030303" pitchFamily="18" charset="0"/>
                        </a:rPr>
                        <a:t>30</a:t>
                      </a:r>
                    </a:p>
                  </a:txBody>
                  <a:tcPr marL="0" marR="0" marT="0" marB="0" anchor="ctr"/>
                </a:tc>
                <a:tc>
                  <a:txBody>
                    <a:bodyPr/>
                    <a:lstStyle/>
                    <a:p>
                      <a:pPr marL="0" marR="0" algn="ctr" rtl="0" latinLnBrk="0">
                        <a:lnSpc>
                          <a:spcPct val="150000"/>
                        </a:lnSpc>
                        <a:spcBef>
                          <a:spcPts val="0"/>
                        </a:spcBef>
                        <a:spcAft>
                          <a:spcPts val="0"/>
                        </a:spcAft>
                      </a:pPr>
                      <a:r>
                        <a:rPr lang="hy-AM" sz="1400" dirty="0">
                          <a:effectLst/>
                        </a:rPr>
                        <a:t>այո </a:t>
                      </a:r>
                    </a:p>
                  </a:txBody>
                  <a:tcPr marL="0" marR="0" marT="0" marB="0" anchor="ctr"/>
                </a:tc>
                <a:tc>
                  <a:txBody>
                    <a:bodyPr/>
                    <a:lstStyle/>
                    <a:p>
                      <a:pPr marL="0" marR="0" rtl="0" latinLnBrk="0">
                        <a:lnSpc>
                          <a:spcPct val="150000"/>
                        </a:lnSpc>
                        <a:spcBef>
                          <a:spcPts val="0"/>
                        </a:spcBef>
                        <a:spcAft>
                          <a:spcPts val="0"/>
                        </a:spcAft>
                      </a:pPr>
                      <a:r>
                        <a:rPr lang="en-US" sz="1400" err="1">
                          <a:effectLst/>
                          <a:latin typeface="Sylfaen" panose="010A0502050306030303" pitchFamily="18" charset="0"/>
                        </a:rPr>
                        <a:t>Բինօկուլյար</a:t>
                      </a:r>
                      <a:r>
                        <a:rPr lang="en-US" sz="1400">
                          <a:effectLst/>
                          <a:latin typeface="Sylfaen" panose="010A0502050306030303" pitchFamily="18" charset="0"/>
                        </a:rPr>
                        <a:t> </a:t>
                      </a:r>
                      <a:r>
                        <a:rPr lang="en-US" sz="1400" err="1">
                          <a:effectLst/>
                          <a:latin typeface="Sylfaen" panose="010A0502050306030303" pitchFamily="18" charset="0"/>
                        </a:rPr>
                        <a:t>մանրադիտակ</a:t>
                      </a:r>
                      <a:r>
                        <a:rPr lang="en-US" sz="1400">
                          <a:effectLst/>
                          <a:latin typeface="Sylfaen" panose="010A0502050306030303" pitchFamily="18" charset="0"/>
                        </a:rPr>
                        <a:t> 10, </a:t>
                      </a:r>
                      <a:r>
                        <a:rPr lang="en-US" sz="1400" err="1">
                          <a:effectLst/>
                          <a:latin typeface="Sylfaen" panose="010A0502050306030303" pitchFamily="18" charset="0"/>
                        </a:rPr>
                        <a:t>ստերեո</a:t>
                      </a:r>
                      <a:r>
                        <a:rPr lang="en-US" sz="1400">
                          <a:effectLst/>
                          <a:latin typeface="Sylfaen" panose="010A0502050306030303" pitchFamily="18" charset="0"/>
                        </a:rPr>
                        <a:t> </a:t>
                      </a:r>
                      <a:r>
                        <a:rPr lang="en-US" sz="1400" err="1">
                          <a:effectLst/>
                          <a:latin typeface="Sylfaen" panose="010A0502050306030303" pitchFamily="18" charset="0"/>
                        </a:rPr>
                        <a:t>մանրադիտակ</a:t>
                      </a:r>
                      <a:r>
                        <a:rPr lang="en-US" sz="1400">
                          <a:effectLst/>
                          <a:latin typeface="Sylfaen" panose="010A0502050306030303" pitchFamily="18" charset="0"/>
                        </a:rPr>
                        <a:t> 5, </a:t>
                      </a:r>
                      <a:r>
                        <a:rPr lang="en-US" sz="1400" err="1">
                          <a:effectLst/>
                          <a:latin typeface="Sylfaen" panose="010A0502050306030303" pitchFamily="18" charset="0"/>
                        </a:rPr>
                        <a:t>ակնապակու</a:t>
                      </a:r>
                      <a:r>
                        <a:rPr lang="en-US" sz="1400">
                          <a:effectLst/>
                          <a:latin typeface="Sylfaen" panose="010A0502050306030303" pitchFamily="18" charset="0"/>
                        </a:rPr>
                        <a:t> </a:t>
                      </a:r>
                      <a:r>
                        <a:rPr lang="en-US" sz="1400" err="1">
                          <a:effectLst/>
                          <a:latin typeface="Sylfaen" panose="010A0502050306030303" pitchFamily="18" charset="0"/>
                        </a:rPr>
                        <a:t>ցանց</a:t>
                      </a:r>
                      <a:r>
                        <a:rPr lang="en-US" sz="1400">
                          <a:effectLst/>
                          <a:latin typeface="Sylfaen" panose="010A0502050306030303" pitchFamily="18" charset="0"/>
                        </a:rPr>
                        <a:t> 10, </a:t>
                      </a:r>
                      <a:r>
                        <a:rPr lang="en-US" sz="1400" err="1">
                          <a:effectLst/>
                          <a:latin typeface="Sylfaen" panose="010A0502050306030303" pitchFamily="18" charset="0"/>
                        </a:rPr>
                        <a:t>առարկայակիր</a:t>
                      </a:r>
                      <a:r>
                        <a:rPr lang="en-US" sz="1400">
                          <a:effectLst/>
                          <a:latin typeface="Sylfaen" panose="010A0502050306030303" pitchFamily="18" charset="0"/>
                        </a:rPr>
                        <a:t> </a:t>
                      </a:r>
                      <a:r>
                        <a:rPr lang="en-US" sz="1400" err="1">
                          <a:effectLst/>
                          <a:latin typeface="Sylfaen" panose="010A0502050306030303" pitchFamily="18" charset="0"/>
                        </a:rPr>
                        <a:t>ապակի</a:t>
                      </a:r>
                      <a:r>
                        <a:rPr lang="en-US" sz="1400">
                          <a:effectLst/>
                          <a:latin typeface="Sylfaen" panose="010A0502050306030303" pitchFamily="18" charset="0"/>
                        </a:rPr>
                        <a:t> 3, </a:t>
                      </a:r>
                      <a:r>
                        <a:rPr lang="en-US" sz="1400" err="1">
                          <a:effectLst/>
                          <a:latin typeface="Sylfaen" panose="010A0502050306030303" pitchFamily="18" charset="0"/>
                        </a:rPr>
                        <a:t>ծածկապակի</a:t>
                      </a:r>
                      <a:r>
                        <a:rPr lang="en-US" sz="1400">
                          <a:effectLst/>
                          <a:latin typeface="Sylfaen" panose="010A0502050306030303" pitchFamily="18" charset="0"/>
                        </a:rPr>
                        <a:t> 5, </a:t>
                      </a:r>
                      <a:r>
                        <a:rPr lang="en-US" sz="1400" err="1">
                          <a:effectLst/>
                          <a:latin typeface="Sylfaen" panose="010A0502050306030303" pitchFamily="18" charset="0"/>
                        </a:rPr>
                        <a:t>Պաստյորի</a:t>
                      </a:r>
                      <a:r>
                        <a:rPr lang="en-US" sz="1400">
                          <a:effectLst/>
                          <a:latin typeface="Sylfaen" panose="010A0502050306030303" pitchFamily="18" charset="0"/>
                        </a:rPr>
                        <a:t> </a:t>
                      </a:r>
                      <a:r>
                        <a:rPr lang="en-US" sz="1400" err="1">
                          <a:effectLst/>
                          <a:latin typeface="Sylfaen" panose="010A0502050306030303" pitchFamily="18" charset="0"/>
                        </a:rPr>
                        <a:t>պիպենտ</a:t>
                      </a:r>
                      <a:r>
                        <a:rPr lang="en-US" sz="1400">
                          <a:effectLst/>
                          <a:latin typeface="Sylfaen" panose="010A0502050306030303" pitchFamily="18" charset="0"/>
                        </a:rPr>
                        <a:t> 200, </a:t>
                      </a:r>
                      <a:r>
                        <a:rPr lang="en-US" sz="1400" err="1">
                          <a:effectLst/>
                          <a:latin typeface="Sylfaen" panose="010A0502050306030303" pitchFamily="18" charset="0"/>
                        </a:rPr>
                        <a:t>ջրի</a:t>
                      </a:r>
                      <a:r>
                        <a:rPr lang="en-US" sz="1400">
                          <a:effectLst/>
                          <a:latin typeface="Sylfaen" panose="010A0502050306030303" pitchFamily="18" charset="0"/>
                        </a:rPr>
                        <a:t> </a:t>
                      </a:r>
                      <a:r>
                        <a:rPr lang="en-US" sz="1400" err="1">
                          <a:effectLst/>
                          <a:latin typeface="Sylfaen" panose="010A0502050306030303" pitchFamily="18" charset="0"/>
                        </a:rPr>
                        <a:t>թորիչ</a:t>
                      </a:r>
                      <a:r>
                        <a:rPr lang="en-US" sz="1400">
                          <a:effectLst/>
                          <a:latin typeface="Sylfaen" panose="010A0502050306030303" pitchFamily="18" charset="0"/>
                        </a:rPr>
                        <a:t> 1,  </a:t>
                      </a:r>
                      <a:r>
                        <a:rPr lang="en-US" sz="1400" err="1">
                          <a:effectLst/>
                          <a:latin typeface="Sylfaen" panose="010A0502050306030303" pitchFamily="18" charset="0"/>
                        </a:rPr>
                        <a:t>սպիրտայրոց</a:t>
                      </a:r>
                      <a:r>
                        <a:rPr lang="en-US" sz="1400">
                          <a:effectLst/>
                          <a:latin typeface="Sylfaen" panose="010A0502050306030303" pitchFamily="18" charset="0"/>
                        </a:rPr>
                        <a:t> 10,  </a:t>
                      </a:r>
                      <a:r>
                        <a:rPr lang="en-US" sz="1400" err="1">
                          <a:effectLst/>
                          <a:latin typeface="Sylfaen" panose="010A0502050306030303" pitchFamily="18" charset="0"/>
                        </a:rPr>
                        <a:t>մանրէաբանական</a:t>
                      </a:r>
                      <a:r>
                        <a:rPr lang="en-US" sz="1400" baseline="0">
                          <a:effectLst/>
                          <a:latin typeface="Sylfaen" panose="010A0502050306030303" pitchFamily="18" charset="0"/>
                        </a:rPr>
                        <a:t> </a:t>
                      </a:r>
                      <a:r>
                        <a:rPr lang="en-US" sz="1400" baseline="0" err="1">
                          <a:effectLst/>
                          <a:latin typeface="Sylfaen" panose="010A0502050306030303" pitchFamily="18" charset="0"/>
                        </a:rPr>
                        <a:t>ասեղ</a:t>
                      </a:r>
                      <a:r>
                        <a:rPr lang="en-US" sz="1400" baseline="0">
                          <a:effectLst/>
                          <a:latin typeface="Sylfaen" panose="010A0502050306030303" pitchFamily="18" charset="0"/>
                        </a:rPr>
                        <a:t> 40, </a:t>
                      </a:r>
                      <a:r>
                        <a:rPr lang="en-US" sz="1400" baseline="0" err="1">
                          <a:effectLst/>
                          <a:latin typeface="Sylfaen" panose="010A0502050306030303" pitchFamily="18" charset="0"/>
                        </a:rPr>
                        <a:t>Պետրիի</a:t>
                      </a:r>
                      <a:r>
                        <a:rPr lang="en-US" sz="1400" baseline="0">
                          <a:effectLst/>
                          <a:latin typeface="Sylfaen" panose="010A0502050306030303" pitchFamily="18" charset="0"/>
                        </a:rPr>
                        <a:t> </a:t>
                      </a:r>
                      <a:r>
                        <a:rPr lang="en-US" sz="1400" baseline="0" err="1">
                          <a:effectLst/>
                          <a:latin typeface="Sylfaen" panose="010A0502050306030303" pitchFamily="18" charset="0"/>
                        </a:rPr>
                        <a:t>թասիկներ</a:t>
                      </a:r>
                      <a:r>
                        <a:rPr lang="en-US" sz="1400" baseline="0">
                          <a:effectLst/>
                          <a:latin typeface="Sylfaen" panose="010A0502050306030303" pitchFamily="18" charset="0"/>
                        </a:rPr>
                        <a:t> 120, </a:t>
                      </a:r>
                      <a:r>
                        <a:rPr lang="en-US" sz="1400" baseline="0" err="1">
                          <a:effectLst/>
                          <a:latin typeface="Sylfaen" panose="010A0502050306030303" pitchFamily="18" charset="0"/>
                        </a:rPr>
                        <a:t>Բունսենի</a:t>
                      </a:r>
                      <a:r>
                        <a:rPr lang="en-US" sz="1400" baseline="0">
                          <a:effectLst/>
                          <a:latin typeface="Sylfaen" panose="010A0502050306030303" pitchFamily="18" charset="0"/>
                        </a:rPr>
                        <a:t> </a:t>
                      </a:r>
                      <a:r>
                        <a:rPr lang="en-US" sz="1400" baseline="0" err="1">
                          <a:effectLst/>
                          <a:latin typeface="Sylfaen" panose="010A0502050306030303" pitchFamily="18" charset="0"/>
                        </a:rPr>
                        <a:t>այրիչ</a:t>
                      </a:r>
                      <a:r>
                        <a:rPr lang="en-US" sz="1400" baseline="0">
                          <a:effectLst/>
                          <a:latin typeface="Sylfaen" panose="010A0502050306030303" pitchFamily="18" charset="0"/>
                        </a:rPr>
                        <a:t> 10, </a:t>
                      </a:r>
                      <a:r>
                        <a:rPr lang="en-US" sz="1400" baseline="0" err="1">
                          <a:effectLst/>
                          <a:latin typeface="Sylfaen" panose="010A0502050306030303" pitchFamily="18" charset="0"/>
                        </a:rPr>
                        <a:t>եռոտանի</a:t>
                      </a:r>
                      <a:r>
                        <a:rPr lang="en-US" sz="1400" baseline="0">
                          <a:effectLst/>
                          <a:latin typeface="Sylfaen" panose="010A0502050306030303" pitchFamily="18" charset="0"/>
                        </a:rPr>
                        <a:t> </a:t>
                      </a:r>
                      <a:r>
                        <a:rPr lang="en-US" sz="1400" baseline="0" err="1">
                          <a:effectLst/>
                          <a:latin typeface="Sylfaen" panose="010A0502050306030303" pitchFamily="18" charset="0"/>
                        </a:rPr>
                        <a:t>մետաղալարե</a:t>
                      </a:r>
                      <a:r>
                        <a:rPr lang="en-US" sz="1400" baseline="0">
                          <a:effectLst/>
                          <a:latin typeface="Sylfaen" panose="010A0502050306030303" pitchFamily="18" charset="0"/>
                        </a:rPr>
                        <a:t> </a:t>
                      </a:r>
                      <a:r>
                        <a:rPr lang="en-US" sz="1400" baseline="0" err="1">
                          <a:effectLst/>
                          <a:latin typeface="Sylfaen" panose="010A0502050306030303" pitchFamily="18" charset="0"/>
                        </a:rPr>
                        <a:t>ցանց</a:t>
                      </a:r>
                      <a:r>
                        <a:rPr lang="en-US" sz="1400" baseline="0">
                          <a:effectLst/>
                          <a:latin typeface="Sylfaen" panose="010A0502050306030303" pitchFamily="18" charset="0"/>
                        </a:rPr>
                        <a:t> 10,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հրակայուն</a:t>
                      </a:r>
                      <a:r>
                        <a:rPr lang="en-US" sz="1400" baseline="0">
                          <a:effectLst/>
                          <a:latin typeface="Sylfaen" panose="010A0502050306030303" pitchFamily="18" charset="0"/>
                        </a:rPr>
                        <a:t> </a:t>
                      </a:r>
                      <a:r>
                        <a:rPr lang="en-US" sz="1400" baseline="0" err="1">
                          <a:effectLst/>
                          <a:latin typeface="Sylfaen" panose="010A0502050306030303" pitchFamily="18" charset="0"/>
                        </a:rPr>
                        <a:t>բաժակ</a:t>
                      </a:r>
                      <a:r>
                        <a:rPr lang="en-US" sz="1400" baseline="0">
                          <a:effectLst/>
                          <a:latin typeface="Sylfaen" panose="010A0502050306030303" pitchFamily="18" charset="0"/>
                        </a:rPr>
                        <a:t> 60, </a:t>
                      </a:r>
                      <a:r>
                        <a:rPr lang="en-US" sz="1400" baseline="0" err="1">
                          <a:effectLst/>
                          <a:latin typeface="Sylfaen" panose="010A0502050306030303" pitchFamily="18" charset="0"/>
                        </a:rPr>
                        <a:t>փորձանոթ</a:t>
                      </a:r>
                      <a:r>
                        <a:rPr lang="en-US" sz="1400" baseline="0">
                          <a:effectLst/>
                          <a:latin typeface="Sylfaen" panose="010A0502050306030303" pitchFamily="18" charset="0"/>
                        </a:rPr>
                        <a:t>  500, </a:t>
                      </a:r>
                      <a:r>
                        <a:rPr lang="en-US" sz="1400" baseline="0" err="1">
                          <a:effectLst/>
                          <a:latin typeface="Sylfaen" panose="010A0502050306030303" pitchFamily="18" charset="0"/>
                        </a:rPr>
                        <a:t>հավանգ</a:t>
                      </a:r>
                      <a:r>
                        <a:rPr lang="en-US" sz="1400" baseline="0">
                          <a:effectLst/>
                          <a:latin typeface="Sylfaen" panose="010A0502050306030303" pitchFamily="18" charset="0"/>
                        </a:rPr>
                        <a:t> և </a:t>
                      </a:r>
                      <a:r>
                        <a:rPr lang="en-US" sz="1400" baseline="0" err="1">
                          <a:effectLst/>
                          <a:latin typeface="Sylfaen" panose="010A0502050306030303" pitchFamily="18" charset="0"/>
                        </a:rPr>
                        <a:t>ծեծիչ</a:t>
                      </a:r>
                      <a:r>
                        <a:rPr lang="en-US" sz="1400" baseline="0">
                          <a:effectLst/>
                          <a:latin typeface="Sylfaen" panose="010A0502050306030303" pitchFamily="18" charset="0"/>
                        </a:rPr>
                        <a:t> 15,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պիպետ</a:t>
                      </a:r>
                      <a:r>
                        <a:rPr lang="en-US" sz="1400" baseline="0">
                          <a:effectLst/>
                          <a:latin typeface="Sylfaen" panose="010A0502050306030303" pitchFamily="18" charset="0"/>
                        </a:rPr>
                        <a:t> 150, </a:t>
                      </a:r>
                      <a:r>
                        <a:rPr lang="en-US" sz="1400" baseline="0" err="1">
                          <a:effectLst/>
                          <a:latin typeface="Sylfaen" panose="010A0502050306030303" pitchFamily="18" charset="0"/>
                        </a:rPr>
                        <a:t>տանձիկ</a:t>
                      </a:r>
                      <a:r>
                        <a:rPr lang="en-US" sz="1400" baseline="0">
                          <a:effectLst/>
                          <a:latin typeface="Sylfaen" panose="010A0502050306030303" pitchFamily="18" charset="0"/>
                        </a:rPr>
                        <a:t> 40, PH </a:t>
                      </a:r>
                      <a:r>
                        <a:rPr lang="hy-AM" sz="1400" baseline="0">
                          <a:effectLst/>
                          <a:latin typeface="Sylfaen" panose="010A0502050306030303" pitchFamily="18" charset="0"/>
                        </a:rPr>
                        <a:t>շերտիկ 2, ջերմաչափեր 10, խոշորացույց ոսպնյակ 20, հերձման գործիքների ժողովածու 10, հերձման թաս 10, մանրադւտակային պատրաստուկ 18</a:t>
                      </a:r>
                      <a:r>
                        <a:rPr lang="en-US" sz="1400" baseline="0">
                          <a:effectLst/>
                          <a:latin typeface="Sylfaen" panose="010A0502050306030303" pitchFamily="18" charset="0"/>
                        </a:rPr>
                        <a:t>x10, </a:t>
                      </a:r>
                      <a:r>
                        <a:rPr lang="en-US" sz="1400" baseline="0" err="1">
                          <a:effectLst/>
                          <a:latin typeface="Sylfaen" panose="010A0502050306030303" pitchFamily="18" charset="0"/>
                        </a:rPr>
                        <a:t>թվային</a:t>
                      </a:r>
                      <a:r>
                        <a:rPr lang="en-US" sz="1400" baseline="0">
                          <a:effectLst/>
                          <a:latin typeface="Sylfaen" panose="010A0502050306030303" pitchFamily="18" charset="0"/>
                        </a:rPr>
                        <a:t> </a:t>
                      </a:r>
                      <a:r>
                        <a:rPr lang="en-US" sz="1400" baseline="0" err="1">
                          <a:effectLst/>
                          <a:latin typeface="Sylfaen" panose="010A0502050306030303" pitchFamily="18" charset="0"/>
                        </a:rPr>
                        <a:t>կշեռք</a:t>
                      </a:r>
                      <a:r>
                        <a:rPr lang="en-US" sz="1400" baseline="0">
                          <a:effectLst/>
                          <a:latin typeface="Sylfaen" panose="010A0502050306030303" pitchFamily="18" charset="0"/>
                        </a:rPr>
                        <a:t> 10, </a:t>
                      </a:r>
                      <a:r>
                        <a:rPr lang="en-US" sz="1400" baseline="0" err="1">
                          <a:effectLst/>
                          <a:latin typeface="Sylfaen" panose="010A0502050306030303" pitchFamily="18" charset="0"/>
                        </a:rPr>
                        <a:t>էպենդորֆի</a:t>
                      </a:r>
                      <a:r>
                        <a:rPr lang="en-US" sz="1400" baseline="0">
                          <a:effectLst/>
                          <a:latin typeface="Sylfaen" panose="010A0502050306030303" pitchFamily="18" charset="0"/>
                        </a:rPr>
                        <a:t> </a:t>
                      </a:r>
                      <a:r>
                        <a:rPr lang="en-US" sz="1400" baseline="0" err="1">
                          <a:effectLst/>
                          <a:latin typeface="Sylfaen" panose="010A0502050306030303" pitchFamily="18" charset="0"/>
                        </a:rPr>
                        <a:t>փորձանոթներ</a:t>
                      </a:r>
                      <a:r>
                        <a:rPr lang="en-US" sz="1400" baseline="0">
                          <a:effectLst/>
                          <a:latin typeface="Sylfaen" panose="010A0502050306030303" pitchFamily="18" charset="0"/>
                        </a:rPr>
                        <a:t> 1,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անոթ</a:t>
                      </a:r>
                      <a:r>
                        <a:rPr lang="en-US" sz="1400" baseline="0">
                          <a:effectLst/>
                          <a:latin typeface="Sylfaen" panose="010A0502050306030303" pitchFamily="18" charset="0"/>
                        </a:rPr>
                        <a:t>  3</a:t>
                      </a:r>
                      <a:endParaRPr lang="en-US" sz="14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1643780876"/>
                  </a:ext>
                </a:extLst>
              </a:tr>
            </a:tbl>
          </a:graphicData>
        </a:graphic>
      </p:graphicFrame>
    </p:spTree>
    <p:extLst>
      <p:ext uri="{BB962C8B-B14F-4D97-AF65-F5344CB8AC3E}">
        <p14:creationId xmlns:p14="http://schemas.microsoft.com/office/powerpoint/2010/main" val="3167859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550" y="95250"/>
            <a:ext cx="954292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1870637494"/>
              </p:ext>
            </p:extLst>
          </p:nvPr>
        </p:nvGraphicFramePr>
        <p:xfrm>
          <a:off x="1918051" y="847067"/>
          <a:ext cx="10020300" cy="5760720"/>
        </p:xfrm>
        <a:graphic>
          <a:graphicData uri="http://schemas.openxmlformats.org/drawingml/2006/table">
            <a:tbl>
              <a:tblPr>
                <a:tableStyleId>{5940675A-B579-460E-94D1-54222C63F5DA}</a:tableStyleId>
              </a:tblPr>
              <a:tblGrid>
                <a:gridCol w="1247775">
                  <a:extLst>
                    <a:ext uri="{9D8B030D-6E8A-4147-A177-3AD203B41FA5}">
                      <a16:colId xmlns:a16="http://schemas.microsoft.com/office/drawing/2014/main" val="1811050010"/>
                    </a:ext>
                  </a:extLst>
                </a:gridCol>
                <a:gridCol w="666750">
                  <a:extLst>
                    <a:ext uri="{9D8B030D-6E8A-4147-A177-3AD203B41FA5}">
                      <a16:colId xmlns:a16="http://schemas.microsoft.com/office/drawing/2014/main" val="460227745"/>
                    </a:ext>
                  </a:extLst>
                </a:gridCol>
                <a:gridCol w="828675">
                  <a:extLst>
                    <a:ext uri="{9D8B030D-6E8A-4147-A177-3AD203B41FA5}">
                      <a16:colId xmlns:a16="http://schemas.microsoft.com/office/drawing/2014/main" val="2657695227"/>
                    </a:ext>
                  </a:extLst>
                </a:gridCol>
                <a:gridCol w="4429125">
                  <a:extLst>
                    <a:ext uri="{9D8B030D-6E8A-4147-A177-3AD203B41FA5}">
                      <a16:colId xmlns:a16="http://schemas.microsoft.com/office/drawing/2014/main" val="1666743184"/>
                    </a:ext>
                  </a:extLst>
                </a:gridCol>
                <a:gridCol w="1400175">
                  <a:extLst>
                    <a:ext uri="{9D8B030D-6E8A-4147-A177-3AD203B41FA5}">
                      <a16:colId xmlns:a16="http://schemas.microsoft.com/office/drawing/2014/main" val="2067207677"/>
                    </a:ext>
                  </a:extLst>
                </a:gridCol>
                <a:gridCol w="1447800">
                  <a:extLst>
                    <a:ext uri="{9D8B030D-6E8A-4147-A177-3AD203B41FA5}">
                      <a16:colId xmlns:a16="http://schemas.microsoft.com/office/drawing/2014/main" val="3403590710"/>
                    </a:ext>
                  </a:extLst>
                </a:gridCol>
              </a:tblGrid>
              <a:tr h="432308">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Առկա գույքը, լաբորատոր սարքավորումները,պարագաները (թվարկել հիմնականը և նշել քանակները)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3702772679"/>
                  </a:ext>
                </a:extLst>
              </a:tr>
              <a:tr h="1008634">
                <a:tc>
                  <a:txBody>
                    <a:bodyPr/>
                    <a:lstStyle/>
                    <a:p>
                      <a:pPr marL="0" marR="0" algn="ctr" rtl="0" latinLnBrk="0">
                        <a:lnSpc>
                          <a:spcPct val="150000"/>
                        </a:lnSpc>
                        <a:spcBef>
                          <a:spcPts val="0"/>
                        </a:spcBef>
                        <a:spcAft>
                          <a:spcPts val="0"/>
                        </a:spcAft>
                      </a:pPr>
                      <a:r>
                        <a:rPr lang="hy-AM" sz="1200" dirty="0">
                          <a:effectLst/>
                        </a:rPr>
                        <a:t>Ռազմագիտության </a:t>
                      </a:r>
                      <a:endParaRPr lang="hy-AM" dirty="0">
                        <a:effectLst/>
                      </a:endParaRPr>
                    </a:p>
                    <a:p>
                      <a:pPr marL="0" marR="0" algn="ctr" rtl="0" latinLnBrk="0">
                        <a:lnSpc>
                          <a:spcPct val="150000"/>
                        </a:lnSpc>
                        <a:spcBef>
                          <a:spcPts val="0"/>
                        </a:spcBef>
                        <a:spcAft>
                          <a:spcPts val="0"/>
                        </a:spcAft>
                      </a:pPr>
                      <a:r>
                        <a:rPr lang="hy-AM" sz="1200" dirty="0">
                          <a:effectLst/>
                        </a:rPr>
                        <a:t>կաբինետ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52.8</a:t>
                      </a:r>
                    </a:p>
                  </a:txBody>
                  <a:tcPr marL="0" marR="0" marT="0" marB="0" anchor="ctr"/>
                </a:tc>
                <a:tc>
                  <a:txBody>
                    <a:bodyPr/>
                    <a:lstStyle/>
                    <a:p>
                      <a:pPr marL="0" marR="0" algn="ctr" rtl="0" latinLnBrk="0">
                        <a:lnSpc>
                          <a:spcPct val="150000"/>
                        </a:lnSpc>
                        <a:spcBef>
                          <a:spcPts val="0"/>
                        </a:spcBef>
                        <a:spcAft>
                          <a:spcPts val="0"/>
                        </a:spcAft>
                      </a:pPr>
                      <a:r>
                        <a:rPr lang="en-US" sz="1200" err="1">
                          <a:effectLst/>
                        </a:rPr>
                        <a:t>ոչ</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7,62 ինքնաձիգ 1, Ձեռքի հակատանկային նռնակներ 1, Օդամղիչ հրացան /3+1/ 1, 7,62 մմ ինքնաձիգի փամփշտակալ 6, 7,62 մմ –անոց ուսումնական փամփուշտներ 31, Հրամանատարական արկղ 1, Ինքնաձիքի ուղղիչ սարք 4, Քիմիական սարք 1, Հեռուստացույց 1, </a:t>
                      </a:r>
                      <a:endParaRPr lang="hy-AM">
                        <a:effectLst/>
                      </a:endParaRPr>
                    </a:p>
                    <a:p>
                      <a:pPr marL="0" marR="0" rtl="0" latinLnBrk="0">
                        <a:lnSpc>
                          <a:spcPct val="150000"/>
                        </a:lnSpc>
                        <a:spcBef>
                          <a:spcPts val="0"/>
                        </a:spcBef>
                        <a:spcAft>
                          <a:spcPts val="0"/>
                        </a:spcAft>
                      </a:pPr>
                      <a:r>
                        <a:rPr lang="hy-AM" sz="1200">
                          <a:effectLst/>
                        </a:rPr>
                        <a:t>Դիվիդի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239691819"/>
                  </a:ext>
                </a:extLst>
              </a:tr>
              <a:tr h="384175">
                <a:tc rowSpan="2">
                  <a:txBody>
                    <a:bodyPr/>
                    <a:lstStyle/>
                    <a:p>
                      <a:pPr marL="0" marR="0" algn="ctr" rtl="0" latinLnBrk="0">
                        <a:lnSpc>
                          <a:spcPct val="150000"/>
                        </a:lnSpc>
                        <a:spcBef>
                          <a:spcPts val="0"/>
                        </a:spcBef>
                        <a:spcAft>
                          <a:spcPts val="0"/>
                        </a:spcAft>
                      </a:pPr>
                      <a:r>
                        <a:rPr lang="hy-AM" sz="1200">
                          <a:effectLst/>
                        </a:rPr>
                        <a:t>Համակարգչային լաբորատորիա, կաբինետ </a:t>
                      </a:r>
                      <a:endParaRPr lang="hy-AM">
                        <a:effectLst/>
                      </a:endParaRPr>
                    </a:p>
                  </a:txBody>
                  <a:tcPr marL="0" marR="0" marT="0" marB="0" anchor="ctr"/>
                </a:tc>
                <a:tc rowSpan="2">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60</a:t>
                      </a:r>
                    </a:p>
                  </a:txBody>
                  <a:tcPr marL="0" marR="0" marT="0" marB="0" anchor="ctr"/>
                </a:tc>
                <a:tc rowSpan="2">
                  <a:txBody>
                    <a:bodyPr/>
                    <a:lstStyle/>
                    <a:p>
                      <a:pPr marL="0" marR="0" algn="ctr" rtl="0" latinLnBrk="0">
                        <a:lnSpc>
                          <a:spcPct val="150000"/>
                        </a:lnSpc>
                        <a:spcBef>
                          <a:spcPts val="0"/>
                        </a:spcBef>
                        <a:spcAft>
                          <a:spcPts val="0"/>
                        </a:spcAft>
                      </a:pPr>
                      <a:r>
                        <a:rPr lang="en-US" sz="1200" dirty="0" err="1">
                          <a:effectLst/>
                        </a:rPr>
                        <a:t>ոչ</a:t>
                      </a:r>
                      <a:endParaRPr lang="hy-AM" dirty="0">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Էլեկտրոնային գրատախտակ 1, Համակարգիչ 16/ կոմպլեկտ/, </a:t>
                      </a:r>
                      <a:endParaRPr lang="hy-AM">
                        <a:effectLst/>
                      </a:endParaRPr>
                    </a:p>
                    <a:p>
                      <a:pPr marL="0" marR="0" rtl="0" latinLnBrk="0">
                        <a:lnSpc>
                          <a:spcPct val="150000"/>
                        </a:lnSpc>
                        <a:spcBef>
                          <a:spcPts val="0"/>
                        </a:spcBef>
                        <a:spcAft>
                          <a:spcPts val="0"/>
                        </a:spcAft>
                      </a:pPr>
                      <a:r>
                        <a:rPr lang="hy-AM" sz="1200">
                          <a:effectLst/>
                        </a:rPr>
                        <a:t>Բազմաֆունկցիոնալ տպիչ 1, Դիվիդի 1,Պրոեկտոր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764162567"/>
                  </a:ext>
                </a:extLst>
              </a:tr>
              <a:tr h="384175">
                <a:tc vMerge="1">
                  <a:txBody>
                    <a:bodyPr/>
                    <a:lstStyle/>
                    <a:p>
                      <a:pPr marL="0" marR="0" rtl="0" latinLnBrk="0">
                        <a:lnSpc>
                          <a:spcPct val="150000"/>
                        </a:lnSpc>
                        <a:spcBef>
                          <a:spcPts val="0"/>
                        </a:spcBef>
                        <a:spcAft>
                          <a:spcPts val="0"/>
                        </a:spcAft>
                      </a:pPr>
                      <a:endParaRPr lang="hy-AM">
                        <a:effectLst/>
                      </a:endParaRPr>
                    </a:p>
                  </a:txBody>
                  <a:tcPr marL="0" marR="0" marT="0" marB="0" anchor="ctr"/>
                </a:tc>
                <a:tc vMerge="1">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vMerge="1">
                  <a:txBody>
                    <a:bodyPr/>
                    <a:lstStyle/>
                    <a:p>
                      <a:pPr marL="0" marR="0" rtl="0" latinLnBrk="0">
                        <a:lnSpc>
                          <a:spcPct val="150000"/>
                        </a:lnSpc>
                        <a:spcBef>
                          <a:spcPts val="0"/>
                        </a:spcBef>
                        <a:spcAft>
                          <a:spcPts val="0"/>
                        </a:spcAft>
                      </a:pP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Նոթբուք 22 հատ, Նոթբուքի երկաթյա պահարան 2, </a:t>
                      </a:r>
                      <a:endParaRPr lang="hy-AM">
                        <a:effectLst/>
                      </a:endParaRPr>
                    </a:p>
                    <a:p>
                      <a:pPr marL="0" marR="0" rtl="0" latinLnBrk="0">
                        <a:lnSpc>
                          <a:spcPct val="150000"/>
                        </a:lnSpc>
                        <a:spcBef>
                          <a:spcPts val="0"/>
                        </a:spcBef>
                        <a:spcAft>
                          <a:spcPts val="0"/>
                        </a:spcAft>
                      </a:pPr>
                      <a:r>
                        <a:rPr lang="hy-AM" sz="1200">
                          <a:effectLst/>
                        </a:rPr>
                        <a:t>Էլեկտրոնային գրատախտակ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74009544"/>
                  </a:ext>
                </a:extLst>
              </a:tr>
              <a:tr h="144145">
                <a:tc>
                  <a:txBody>
                    <a:bodyPr/>
                    <a:lstStyle/>
                    <a:p>
                      <a:pPr marL="0" marR="0" algn="ctr" rtl="0" latinLnBrk="0">
                        <a:lnSpc>
                          <a:spcPct val="150000"/>
                        </a:lnSpc>
                        <a:spcBef>
                          <a:spcPts val="0"/>
                        </a:spcBef>
                        <a:spcAft>
                          <a:spcPts val="0"/>
                        </a:spcAft>
                      </a:pPr>
                      <a:r>
                        <a:rPr lang="hy-AM" sz="1200">
                          <a:effectLst/>
                        </a:rPr>
                        <a:t>Արհեստանոց (նշել ինչպիսի) </a:t>
                      </a:r>
                      <a:endParaRPr lang="hy-AM">
                        <a:effectLst/>
                      </a:endParaRPr>
                    </a:p>
                  </a:txBody>
                  <a:tcPr marL="0" marR="0" marT="0" marB="0" anchor="ctr"/>
                </a:tc>
                <a:tc>
                  <a:txBody>
                    <a:bodyPr/>
                    <a:lstStyle/>
                    <a:p>
                      <a:pPr marL="0" marR="0" algn="ctr"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/արհեստագործական/ այո </a:t>
                      </a:r>
                      <a:endParaRPr lang="hy-AM"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405149522"/>
                  </a:ext>
                </a:extLst>
              </a:tr>
              <a:tr h="96012">
                <a:tc>
                  <a:txBody>
                    <a:bodyPr/>
                    <a:lstStyle/>
                    <a:p>
                      <a:pPr marL="0" marR="0" algn="ctr" rtl="0" latinLnBrk="0">
                        <a:lnSpc>
                          <a:spcPct val="150000"/>
                        </a:lnSpc>
                        <a:spcBef>
                          <a:spcPts val="0"/>
                        </a:spcBef>
                        <a:spcAft>
                          <a:spcPts val="0"/>
                        </a:spcAft>
                      </a:pPr>
                      <a:r>
                        <a:rPr lang="hy-AM" sz="1200">
                          <a:effectLst/>
                        </a:rPr>
                        <a:t>Միջոցառումների դահլիճ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en-US" sz="1200">
                          <a:effectLst/>
                          <a:latin typeface="Sylfaen" panose="010A0502050306030303" pitchFamily="18" charset="0"/>
                        </a:rPr>
                        <a:t>100</a:t>
                      </a:r>
                    </a:p>
                  </a:txBody>
                  <a:tcPr marL="0" marR="0" marT="0" marB="0" anchor="ctr"/>
                </a:tc>
                <a:tc>
                  <a:txBody>
                    <a:bodyPr/>
                    <a:lstStyle/>
                    <a:p>
                      <a:pPr marL="0" marR="0" algn="ctr" rtl="0" latinLnBrk="0">
                        <a:lnSpc>
                          <a:spcPct val="150000"/>
                        </a:lnSpc>
                        <a:spcBef>
                          <a:spcPts val="0"/>
                        </a:spcBef>
                        <a:spcAft>
                          <a:spcPts val="0"/>
                        </a:spcAft>
                      </a:pPr>
                      <a:r>
                        <a:rPr lang="en-US" sz="1200" dirty="0" err="1">
                          <a:effectLst/>
                        </a:rPr>
                        <a:t>ոչ</a:t>
                      </a:r>
                      <a:endParaRPr lang="hy-AM"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395410733"/>
                  </a:ext>
                </a:extLst>
              </a:tr>
              <a:tr h="48006">
                <a:tc>
                  <a:txBody>
                    <a:bodyPr/>
                    <a:lstStyle/>
                    <a:p>
                      <a:pPr marL="0" marR="0" algn="ctr" rtl="0" latinLnBrk="0">
                        <a:lnSpc>
                          <a:spcPct val="150000"/>
                        </a:lnSpc>
                        <a:spcBef>
                          <a:spcPts val="0"/>
                        </a:spcBef>
                        <a:spcAft>
                          <a:spcPts val="0"/>
                        </a:spcAft>
                      </a:pPr>
                      <a:r>
                        <a:rPr lang="hy-AM" sz="1200">
                          <a:effectLst/>
                        </a:rPr>
                        <a:t>Մարզադահլիճ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en-US" sz="1200">
                          <a:effectLst/>
                          <a:latin typeface="Sylfaen" panose="010A0502050306030303" pitchFamily="18" charset="0"/>
                        </a:rPr>
                        <a:t>300</a:t>
                      </a:r>
                    </a:p>
                  </a:txBody>
                  <a:tcPr marL="0" marR="0" marT="0" marB="0" anchor="ctr"/>
                </a:tc>
                <a:tc>
                  <a:txBody>
                    <a:bodyPr/>
                    <a:lstStyle/>
                    <a:p>
                      <a:pPr marL="0" marR="0" algn="ctr" rtl="0" latinLnBrk="0">
                        <a:lnSpc>
                          <a:spcPct val="150000"/>
                        </a:lnSpc>
                        <a:spcBef>
                          <a:spcPts val="0"/>
                        </a:spcBef>
                        <a:spcAft>
                          <a:spcPts val="0"/>
                        </a:spcAft>
                      </a:pPr>
                      <a:r>
                        <a:rPr lang="hy-AM" sz="1200" dirty="0">
                          <a:effectLst/>
                        </a:rPr>
                        <a:t>այո </a:t>
                      </a:r>
                      <a:endParaRPr lang="hy-AM" dirty="0">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Շախմատ 10, վայրկենաչափ 1, ուժաչափ 1, մարմնազական նստարան 2, կամրջակ 1, այծիկ 1</a:t>
                      </a: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2105379201"/>
                  </a:ext>
                </a:extLst>
              </a:tr>
            </a:tbl>
          </a:graphicData>
        </a:graphic>
      </p:graphicFrame>
    </p:spTree>
    <p:extLst>
      <p:ext uri="{BB962C8B-B14F-4D97-AF65-F5344CB8AC3E}">
        <p14:creationId xmlns:p14="http://schemas.microsoft.com/office/powerpoint/2010/main" val="9617080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1001" y="428246"/>
            <a:ext cx="9292767" cy="2000548"/>
          </a:xfrm>
          <a:prstGeom prst="rect">
            <a:avLst/>
          </a:prstGeom>
        </p:spPr>
        <p:txBody>
          <a:bodyPr lIns="91440" tIns="45720" rIns="91440" bIns="45720" rtlCol="0" anchor="t">
            <a:spAutoFit/>
          </a:bodyPr>
          <a:lstStyle/>
          <a:p>
            <a:pPr marL="171450" indent="-171450" algn="just">
              <a:buFont typeface="Arial" panose="020B0604020202020204" pitchFamily="34" charset="0"/>
              <a:buChar char="•"/>
            </a:pPr>
            <a:r>
              <a:rPr lang="hy-AM" i="1">
                <a:latin typeface="Sylfaen"/>
              </a:rPr>
              <a:t> Ուսումնական նյութերով ու անհրաժեշտ պարագաներով հագեցված են ֆիզիկայի, քիմիայի , կենսաբանության  </a:t>
            </a:r>
            <a:r>
              <a:rPr lang="hy-AM" i="1" err="1">
                <a:latin typeface="Sylfaen"/>
              </a:rPr>
              <a:t>աշխարհագրության,ինֆորմատիկայի</a:t>
            </a:r>
            <a:r>
              <a:rPr lang="hy-AM" i="1">
                <a:latin typeface="Sylfaen"/>
              </a:rPr>
              <a:t>  </a:t>
            </a:r>
            <a:r>
              <a:rPr lang="hy-AM" i="1" err="1">
                <a:latin typeface="Sylfaen"/>
              </a:rPr>
              <a:t>կաբինետները</a:t>
            </a:r>
            <a:r>
              <a:rPr lang="hy-AM" i="1">
                <a:latin typeface="Sylfaen"/>
              </a:rPr>
              <a:t>: </a:t>
            </a:r>
            <a:endParaRPr lang="en-US" sz="1600" i="1">
              <a:latin typeface="Sylfaen"/>
            </a:endParaRPr>
          </a:p>
          <a:p>
            <a:pPr marL="171450" indent="-171450" algn="just">
              <a:buFont typeface="Arial" panose="020B0604020202020204" pitchFamily="34" charset="0"/>
              <a:buChar char="•"/>
            </a:pPr>
            <a:r>
              <a:rPr lang="hy-AM" i="1">
                <a:latin typeface="Sylfaen"/>
              </a:rPr>
              <a:t>Մնացած առարկաների համար չկան հատկացված, կահավորված կաբինետներ:</a:t>
            </a:r>
          </a:p>
          <a:p>
            <a:pPr marL="171450" indent="-171450" algn="just">
              <a:buFont typeface="Arial" panose="020B0604020202020204" pitchFamily="34" charset="0"/>
              <a:buChar char="•"/>
            </a:pPr>
            <a:r>
              <a:rPr lang="hy-AM" i="1">
                <a:latin typeface="Sylfaen"/>
              </a:rPr>
              <a:t>Մարզադահլիճը, արհեստանոցներն ունեն ինչպես վերանորոգման, այնպես էլ կահավորման կար</a:t>
            </a:r>
          </a:p>
          <a:p>
            <a:pPr marL="285750" indent="-285750" algn="just">
              <a:buFont typeface="Arial" panose="020B0604020202020204" pitchFamily="34" charset="0"/>
              <a:buChar char="•"/>
            </a:pPr>
            <a:r>
              <a:rPr lang="en-US" sz="1600" i="1" err="1">
                <a:latin typeface="Sylfaen"/>
              </a:rPr>
              <a:t>Մարզադահլիճը</a:t>
            </a:r>
            <a:r>
              <a:rPr lang="en-US" sz="1600" i="1">
                <a:latin typeface="Sylfaen"/>
              </a:rPr>
              <a:t> </a:t>
            </a:r>
            <a:r>
              <a:rPr lang="en-US" sz="1600" i="1" err="1">
                <a:latin typeface="Sylfaen"/>
              </a:rPr>
              <a:t>հիմնանորոգման</a:t>
            </a:r>
            <a:r>
              <a:rPr lang="en-US" sz="1600" i="1">
                <a:latin typeface="Sylfaen"/>
              </a:rPr>
              <a:t> </a:t>
            </a:r>
            <a:r>
              <a:rPr lang="en-US" sz="1600" i="1" err="1">
                <a:latin typeface="Sylfaen"/>
              </a:rPr>
              <a:t>կարիք</a:t>
            </a:r>
            <a:r>
              <a:rPr lang="en-US" sz="1600" i="1">
                <a:latin typeface="Sylfaen"/>
              </a:rPr>
              <a:t> </a:t>
            </a:r>
            <a:r>
              <a:rPr lang="en-US" sz="1600" i="1" err="1">
                <a:latin typeface="Sylfaen"/>
              </a:rPr>
              <a:t>ունի</a:t>
            </a:r>
            <a:r>
              <a:rPr lang="en-US" sz="1600" i="1">
                <a:latin typeface="Sylfaen"/>
              </a:rPr>
              <a:t>:</a:t>
            </a:r>
            <a:endParaRPr lang="hy-AM" sz="1600" i="1">
              <a:latin typeface="Sylfaen"/>
            </a:endParaRPr>
          </a:p>
          <a:p>
            <a:endParaRPr lang="hy-AM" i="1">
              <a:latin typeface="Sylfaen"/>
            </a:endParaRPr>
          </a:p>
        </p:txBody>
      </p:sp>
      <p:sp>
        <p:nvSpPr>
          <p:cNvPr id="3" name="TextBox 2"/>
          <p:cNvSpPr txBox="1"/>
          <p:nvPr/>
        </p:nvSpPr>
        <p:spPr>
          <a:xfrm>
            <a:off x="1641001" y="3754945"/>
            <a:ext cx="9619942" cy="369332"/>
          </a:xfrm>
          <a:prstGeom prst="rect">
            <a:avLst/>
          </a:prstGeom>
        </p:spPr>
        <p:txBody>
          <a:bodyPr lIns="91440" tIns="45720" rIns="91440" bIns="45720" rtlCol="0" anchor="t">
            <a:spAutoFit/>
          </a:bodyPr>
          <a:lstStyle/>
          <a:p>
            <a:pPr algn="just"/>
            <a:r>
              <a:rPr lang="hy-AM" b="1" i="1">
                <a:latin typeface="Sylfaen"/>
              </a:rPr>
              <a:t>  </a:t>
            </a:r>
          </a:p>
        </p:txBody>
      </p:sp>
    </p:spTree>
    <p:extLst>
      <p:ext uri="{BB962C8B-B14F-4D97-AF65-F5344CB8AC3E}">
        <p14:creationId xmlns:p14="http://schemas.microsoft.com/office/powerpoint/2010/main" val="33991992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1925" y="84138"/>
            <a:ext cx="9534592" cy="646331"/>
          </a:xfrm>
          <a:prstGeom prst="rect">
            <a:avLst/>
          </a:prstGeom>
        </p:spPr>
        <p:txBody>
          <a:bodyPr rtlCol="0">
            <a:spAutoFit/>
          </a:bodyPr>
          <a:lstStyle/>
          <a:p>
            <a:r>
              <a:rPr lang="hy-AM" b="1" i="1">
                <a:latin typeface="Sylfaen"/>
              </a:rPr>
              <a:t>Աղյուսակ 26. Ուսումնական  հաստատության ներքին արդյունավետության </a:t>
            </a:r>
            <a:endParaRPr lang="hy-AM" b="1" i="1">
              <a:solidFill>
                <a:srgbClr val="000000"/>
              </a:solidFill>
              <a:latin typeface="Sylfaen"/>
            </a:endParaRPr>
          </a:p>
          <a:p>
            <a:r>
              <a:rPr lang="hy-AM" b="1" i="1">
                <a:latin typeface="Sylfaen"/>
              </a:rPr>
              <a:t>                       հիմնական ցուցանիշները՝ ընթացիկ և նախորդ 2 ուստարիների համար</a:t>
            </a:r>
            <a:endParaRPr lang="en-US" b="1" i="1">
              <a:latin typeface="Sylfaen"/>
            </a:endParaRPr>
          </a:p>
        </p:txBody>
      </p:sp>
      <p:graphicFrame>
        <p:nvGraphicFramePr>
          <p:cNvPr id="5" name="Table 4"/>
          <p:cNvGraphicFramePr/>
          <p:nvPr>
            <p:extLst>
              <p:ext uri="{D42A27DB-BD31-4B8C-83A1-F6EECF244321}">
                <p14:modId xmlns:p14="http://schemas.microsoft.com/office/powerpoint/2010/main" val="122839360"/>
              </p:ext>
            </p:extLst>
          </p:nvPr>
        </p:nvGraphicFramePr>
        <p:xfrm>
          <a:off x="1638794" y="893115"/>
          <a:ext cx="8384094" cy="5617210"/>
        </p:xfrm>
        <a:graphic>
          <a:graphicData uri="http://schemas.openxmlformats.org/drawingml/2006/table">
            <a:tbl>
              <a:tblPr>
                <a:tableStyleId>{5940675A-B579-460E-94D1-54222C63F5DA}</a:tableStyleId>
              </a:tblPr>
              <a:tblGrid>
                <a:gridCol w="3134626">
                  <a:extLst>
                    <a:ext uri="{9D8B030D-6E8A-4147-A177-3AD203B41FA5}">
                      <a16:colId xmlns:a16="http://schemas.microsoft.com/office/drawing/2014/main" val="295264156"/>
                    </a:ext>
                  </a:extLst>
                </a:gridCol>
                <a:gridCol w="1163506">
                  <a:extLst>
                    <a:ext uri="{9D8B030D-6E8A-4147-A177-3AD203B41FA5}">
                      <a16:colId xmlns:a16="http://schemas.microsoft.com/office/drawing/2014/main" val="3601937763"/>
                    </a:ext>
                  </a:extLst>
                </a:gridCol>
                <a:gridCol w="1067688">
                  <a:extLst>
                    <a:ext uri="{9D8B030D-6E8A-4147-A177-3AD203B41FA5}">
                      <a16:colId xmlns:a16="http://schemas.microsoft.com/office/drawing/2014/main" val="1458253018"/>
                    </a:ext>
                  </a:extLst>
                </a:gridCol>
                <a:gridCol w="1278252">
                  <a:extLst>
                    <a:ext uri="{9D8B030D-6E8A-4147-A177-3AD203B41FA5}">
                      <a16:colId xmlns:a16="http://schemas.microsoft.com/office/drawing/2014/main" val="3335512755"/>
                    </a:ext>
                  </a:extLst>
                </a:gridCol>
                <a:gridCol w="1740022">
                  <a:extLst>
                    <a:ext uri="{9D8B030D-6E8A-4147-A177-3AD203B41FA5}">
                      <a16:colId xmlns:a16="http://schemas.microsoft.com/office/drawing/2014/main" val="4020118610"/>
                    </a:ext>
                  </a:extLst>
                </a:gridCol>
              </a:tblGrid>
              <a:tr h="948564">
                <a:tc>
                  <a:txBody>
                    <a:bodyPr/>
                    <a:lstStyle/>
                    <a:p>
                      <a:pPr marL="0" marR="0" rtl="0" latinLnBrk="0">
                        <a:lnSpc>
                          <a:spcPct val="150000"/>
                        </a:lnSpc>
                        <a:spcBef>
                          <a:spcPts val="0"/>
                        </a:spcBef>
                        <a:spcAft>
                          <a:spcPts val="0"/>
                        </a:spcAft>
                      </a:pPr>
                      <a:r>
                        <a:rPr lang="hy-AM" sz="1400">
                          <a:effectLst/>
                        </a:rPr>
                        <a:t>Ցուցանիշներ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20</a:t>
                      </a:r>
                      <a:r>
                        <a:rPr lang="ru-RU" sz="1400" dirty="0">
                          <a:effectLst/>
                        </a:rPr>
                        <a:t>2</a:t>
                      </a:r>
                      <a:r>
                        <a:rPr lang="en-US" sz="1400" dirty="0">
                          <a:effectLst/>
                        </a:rPr>
                        <a:t>2</a:t>
                      </a:r>
                      <a:r>
                        <a:rPr lang="hy-AM" sz="1400" dirty="0">
                          <a:effectLst/>
                        </a:rPr>
                        <a:t>-202</a:t>
                      </a:r>
                      <a:r>
                        <a:rPr lang="en-GB" sz="1400" dirty="0">
                          <a:effectLst/>
                        </a:rPr>
                        <a:t>3</a:t>
                      </a:r>
                      <a:endParaRPr lang="hy-AM" dirty="0">
                        <a:effectLst/>
                      </a:endParaRPr>
                    </a:p>
                    <a:p>
                      <a:pPr marL="0" marR="0" lvl="0">
                        <a:lnSpc>
                          <a:spcPct val="150000"/>
                        </a:lnSpc>
                        <a:spcBef>
                          <a:spcPts val="0"/>
                        </a:spcBef>
                        <a:spcAft>
                          <a:spcPts val="0"/>
                        </a:spcAft>
                        <a:buNone/>
                      </a:pPr>
                      <a:r>
                        <a:rPr lang="hy-AM" sz="1400" dirty="0">
                          <a:effectLst/>
                        </a:rPr>
                        <a:t> ուստարի </a:t>
                      </a:r>
                      <a:endParaRPr lang="hy-AM" dirty="0">
                        <a:effectLst/>
                      </a:endParaRPr>
                    </a:p>
                  </a:txBody>
                  <a:tcPr marL="0" marR="0" marT="0" marB="0" anchor="ctr"/>
                </a:tc>
                <a:tc>
                  <a:txBody>
                    <a:bodyPr/>
                    <a:lstStyle/>
                    <a:p>
                      <a:r>
                        <a:rPr lang="hy-AM" sz="1600" dirty="0" smtClean="0"/>
                        <a:t>2023-2024</a:t>
                      </a:r>
                    </a:p>
                    <a:p>
                      <a:r>
                        <a:rPr lang="hy-AM" sz="1600" dirty="0" smtClean="0"/>
                        <a:t>ուստարի</a:t>
                      </a:r>
                      <a:endParaRPr lang="ru-RU" sz="1600" dirty="0"/>
                    </a:p>
                  </a:txBody>
                  <a:tcPr marL="0" marR="0" marT="0" marB="0" anchor="ctr"/>
                </a:tc>
                <a:tc>
                  <a:txBody>
                    <a:bodyPr/>
                    <a:lstStyle/>
                    <a:p>
                      <a:pPr algn="ctr"/>
                      <a:r>
                        <a:rPr lang="hy-AM" sz="1600" dirty="0" smtClean="0"/>
                        <a:t>202</a:t>
                      </a:r>
                      <a:r>
                        <a:rPr lang="en-US" sz="1600" dirty="0" smtClean="0"/>
                        <a:t>4</a:t>
                      </a:r>
                      <a:r>
                        <a:rPr lang="hy-AM" sz="1600" dirty="0" smtClean="0"/>
                        <a:t>-202</a:t>
                      </a:r>
                      <a:r>
                        <a:rPr lang="en-US" sz="1600" dirty="0" smtClean="0"/>
                        <a:t>5</a:t>
                      </a:r>
                      <a:endParaRPr lang="hy-AM" sz="1600" dirty="0" smtClean="0"/>
                    </a:p>
                    <a:p>
                      <a:pPr algn="ctr"/>
                      <a:r>
                        <a:rPr lang="hy-AM" sz="1600" dirty="0" smtClean="0"/>
                        <a:t>ուստարի</a:t>
                      </a:r>
                      <a:endParaRPr lang="ru-RU" sz="1600" dirty="0"/>
                    </a:p>
                  </a:txBody>
                  <a:tcPr marL="0" marR="0" marT="0" marB="0" anchor="ctr"/>
                </a:tc>
                <a:tc>
                  <a:txBody>
                    <a:bodyPr/>
                    <a:lstStyle/>
                    <a:p>
                      <a:pPr marL="0" marR="0" rtl="0" latinLnBrk="0">
                        <a:lnSpc>
                          <a:spcPct val="150000"/>
                        </a:lnSpc>
                        <a:spcBef>
                          <a:spcPts val="0"/>
                        </a:spcBef>
                        <a:spcAft>
                          <a:spcPts val="0"/>
                        </a:spcAft>
                      </a:pPr>
                      <a:r>
                        <a:rPr lang="hy-AM" sz="1400" dirty="0">
                          <a:effectLst/>
                        </a:rPr>
                        <a:t>Փոփոխությունների դինամիկան (աճ կամ նվազում) </a:t>
                      </a:r>
                      <a:endParaRPr lang="hy-AM" dirty="0">
                        <a:effectLst/>
                      </a:endParaRPr>
                    </a:p>
                  </a:txBody>
                  <a:tcPr marL="0" marR="0" marT="0" marB="0" anchor="ctr"/>
                </a:tc>
                <a:extLst>
                  <a:ext uri="{0D108BD9-81ED-4DB2-BD59-A6C34878D82A}">
                    <a16:rowId xmlns:a16="http://schemas.microsoft.com/office/drawing/2014/main" val="3800319012"/>
                  </a:ext>
                </a:extLst>
              </a:tr>
              <a:tr h="568325">
                <a:tc>
                  <a:txBody>
                    <a:bodyPr/>
                    <a:lstStyle/>
                    <a:p>
                      <a:pPr marL="0" marR="0" rtl="0" latinLnBrk="0">
                        <a:lnSpc>
                          <a:spcPct val="150000"/>
                        </a:lnSpc>
                        <a:spcBef>
                          <a:spcPts val="0"/>
                        </a:spcBef>
                        <a:spcAft>
                          <a:spcPts val="0"/>
                        </a:spcAft>
                      </a:pPr>
                      <a:r>
                        <a:rPr lang="hy-AM" sz="1400">
                          <a:effectLst/>
                        </a:rPr>
                        <a:t>Սովորող/ուսուցիչ հարաբերությունը </a:t>
                      </a:r>
                      <a:endParaRPr lang="hy-AM">
                        <a:effectLst/>
                      </a:endParaRPr>
                    </a:p>
                  </a:txBody>
                  <a:tcPr marL="0" marR="0" marT="0" marB="0" anchor="ctr"/>
                </a:tc>
                <a:tc>
                  <a:txBody>
                    <a:bodyPr/>
                    <a:lstStyle/>
                    <a:p>
                      <a:pPr algn="ctr" rtl="0" fontAlgn="base"/>
                      <a:r>
                        <a:rPr lang="en-US" sz="1400" b="0" i="0" dirty="0">
                          <a:solidFill>
                            <a:srgbClr val="000000"/>
                          </a:solidFill>
                          <a:effectLst/>
                        </a:rPr>
                        <a:t>7․7</a:t>
                      </a:r>
                    </a:p>
                  </a:txBody>
                  <a:tcPr anchor="ctr"/>
                </a:tc>
                <a:tc>
                  <a:txBody>
                    <a:bodyPr/>
                    <a:lstStyle/>
                    <a:p>
                      <a:pPr algn="ctr"/>
                      <a:r>
                        <a:rPr lang="hy-AM" sz="1400" dirty="0" smtClean="0"/>
                        <a:t>14,9</a:t>
                      </a:r>
                      <a:endParaRPr lang="ru-RU" sz="1400" dirty="0"/>
                    </a:p>
                  </a:txBody>
                  <a:tcPr anchor="ctr"/>
                </a:tc>
                <a:tc>
                  <a:txBody>
                    <a:bodyPr/>
                    <a:lstStyle/>
                    <a:p>
                      <a:pPr algn="ctr"/>
                      <a:r>
                        <a:rPr lang="en-US" sz="1400" dirty="0" smtClean="0"/>
                        <a:t>15,85</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dirty="0" err="1">
                          <a:effectLst/>
                          <a:latin typeface="Trebuchet MS"/>
                        </a:rPr>
                        <a:t>աճ</a:t>
                      </a:r>
                      <a:endParaRPr lang="en-US" dirty="0"/>
                    </a:p>
                  </a:txBody>
                  <a:tcPr marL="0" marR="0" marT="0" marB="0" anchor="ctr"/>
                </a:tc>
                <a:extLst>
                  <a:ext uri="{0D108BD9-81ED-4DB2-BD59-A6C34878D82A}">
                    <a16:rowId xmlns:a16="http://schemas.microsoft.com/office/drawing/2014/main" val="483489381"/>
                  </a:ext>
                </a:extLst>
              </a:tr>
              <a:tr h="568325">
                <a:tc>
                  <a:txBody>
                    <a:bodyPr/>
                    <a:lstStyle/>
                    <a:p>
                      <a:pPr marL="0" marR="0" rtl="0" latinLnBrk="0">
                        <a:lnSpc>
                          <a:spcPct val="150000"/>
                        </a:lnSpc>
                        <a:spcBef>
                          <a:spcPts val="0"/>
                        </a:spcBef>
                        <a:spcAft>
                          <a:spcPts val="0"/>
                        </a:spcAft>
                      </a:pPr>
                      <a:r>
                        <a:rPr lang="hy-AM" sz="1400">
                          <a:effectLst/>
                        </a:rPr>
                        <a:t>Սովորող/ սպասարկող անձնակազմ հարաբերությունը </a:t>
                      </a:r>
                      <a:endParaRPr lang="hy-AM">
                        <a:effectLst/>
                      </a:endParaRPr>
                    </a:p>
                  </a:txBody>
                  <a:tcPr marL="0" marR="0" marT="0" marB="0" anchor="ctr"/>
                </a:tc>
                <a:tc>
                  <a:txBody>
                    <a:bodyPr/>
                    <a:lstStyle/>
                    <a:p>
                      <a:pPr algn="ctr" rtl="0" fontAlgn="base"/>
                      <a:r>
                        <a:rPr lang="en-US" sz="1400" b="0" i="0" dirty="0">
                          <a:solidFill>
                            <a:srgbClr val="000000"/>
                          </a:solidFill>
                          <a:effectLst/>
                        </a:rPr>
                        <a:t>0,7</a:t>
                      </a:r>
                    </a:p>
                  </a:txBody>
                  <a:tcPr anchor="ctr"/>
                </a:tc>
                <a:tc>
                  <a:txBody>
                    <a:bodyPr/>
                    <a:lstStyle/>
                    <a:p>
                      <a:pPr algn="ctr"/>
                      <a:r>
                        <a:rPr lang="hy-AM" sz="1400" dirty="0" smtClean="0"/>
                        <a:t>28,8</a:t>
                      </a:r>
                      <a:endParaRPr lang="ru-RU" sz="1400" dirty="0"/>
                    </a:p>
                  </a:txBody>
                  <a:tcPr anchor="ctr"/>
                </a:tc>
                <a:tc>
                  <a:txBody>
                    <a:bodyPr/>
                    <a:lstStyle/>
                    <a:p>
                      <a:pPr algn="ctr"/>
                      <a:r>
                        <a:rPr lang="en-US" sz="1400" dirty="0" smtClean="0"/>
                        <a:t>35,6</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dirty="0" err="1">
                          <a:effectLst/>
                          <a:latin typeface="Trebuchet MS"/>
                        </a:rPr>
                        <a:t>աճ</a:t>
                      </a:r>
                      <a:endParaRPr lang="en-US" dirty="0"/>
                    </a:p>
                  </a:txBody>
                  <a:tcPr marL="0" marR="0" marT="0" marB="0" anchor="ctr"/>
                </a:tc>
                <a:extLst>
                  <a:ext uri="{0D108BD9-81ED-4DB2-BD59-A6C34878D82A}">
                    <a16:rowId xmlns:a16="http://schemas.microsoft.com/office/drawing/2014/main" val="698380955"/>
                  </a:ext>
                </a:extLst>
              </a:tr>
              <a:tr h="568325">
                <a:tc>
                  <a:txBody>
                    <a:bodyPr/>
                    <a:lstStyle/>
                    <a:p>
                      <a:pPr marL="0" marR="0" rtl="0" latinLnBrk="0">
                        <a:lnSpc>
                          <a:spcPct val="150000"/>
                        </a:lnSpc>
                        <a:spcBef>
                          <a:spcPts val="0"/>
                        </a:spcBef>
                        <a:spcAft>
                          <a:spcPts val="0"/>
                        </a:spcAft>
                      </a:pPr>
                      <a:r>
                        <a:rPr lang="hy-AM" sz="1400">
                          <a:effectLst/>
                        </a:rPr>
                        <a:t>Դասարանների միջին խտությունը </a:t>
                      </a:r>
                      <a:endParaRPr lang="hy-AM">
                        <a:effectLst/>
                      </a:endParaRPr>
                    </a:p>
                  </a:txBody>
                  <a:tcPr marL="0" marR="0" marT="0" marB="0" anchor="ctr"/>
                </a:tc>
                <a:tc>
                  <a:txBody>
                    <a:bodyPr/>
                    <a:lstStyle/>
                    <a:p>
                      <a:pPr algn="ctr" rtl="0" fontAlgn="base"/>
                      <a:r>
                        <a:rPr lang="en-US" sz="1400" b="0" i="0" dirty="0">
                          <a:solidFill>
                            <a:srgbClr val="000000"/>
                          </a:solidFill>
                          <a:effectLst/>
                        </a:rPr>
                        <a:t>20</a:t>
                      </a:r>
                    </a:p>
                  </a:txBody>
                  <a:tcPr anchor="ctr"/>
                </a:tc>
                <a:tc>
                  <a:txBody>
                    <a:bodyPr/>
                    <a:lstStyle/>
                    <a:p>
                      <a:pPr algn="ctr"/>
                      <a:r>
                        <a:rPr lang="hy-AM" sz="1400" dirty="0" smtClean="0"/>
                        <a:t>22,4</a:t>
                      </a:r>
                      <a:endParaRPr lang="ru-RU" sz="1400" dirty="0"/>
                    </a:p>
                  </a:txBody>
                  <a:tcPr anchor="ctr"/>
                </a:tc>
                <a:tc>
                  <a:txBody>
                    <a:bodyPr/>
                    <a:lstStyle/>
                    <a:p>
                      <a:pPr algn="ctr"/>
                      <a:r>
                        <a:rPr lang="en-US" sz="1400" dirty="0" smtClean="0"/>
                        <a:t>88,3</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dirty="0" err="1">
                          <a:effectLst/>
                          <a:latin typeface="Trebuchet MS"/>
                        </a:rPr>
                        <a:t>աճ</a:t>
                      </a:r>
                      <a:endParaRPr lang="en-US" dirty="0"/>
                    </a:p>
                  </a:txBody>
                  <a:tcPr marL="0" marR="0" marT="0" marB="0" anchor="ctr"/>
                </a:tc>
                <a:extLst>
                  <a:ext uri="{0D108BD9-81ED-4DB2-BD59-A6C34878D82A}">
                    <a16:rowId xmlns:a16="http://schemas.microsoft.com/office/drawing/2014/main" val="2096212608"/>
                  </a:ext>
                </a:extLst>
              </a:tr>
              <a:tr h="852424">
                <a:tc>
                  <a:txBody>
                    <a:bodyPr/>
                    <a:lstStyle/>
                    <a:p>
                      <a:pPr marL="0" marR="0" rtl="0" latinLnBrk="0">
                        <a:lnSpc>
                          <a:spcPct val="150000"/>
                        </a:lnSpc>
                        <a:spcBef>
                          <a:spcPts val="0"/>
                        </a:spcBef>
                        <a:spcAft>
                          <a:spcPts val="0"/>
                        </a:spcAft>
                      </a:pPr>
                      <a:r>
                        <a:rPr lang="hy-AM" sz="1400">
                          <a:effectLst/>
                        </a:rPr>
                        <a:t>Մեկ սովորողի հաշվով հաստատության տարեկան նախահաշիվը </a:t>
                      </a:r>
                      <a:endParaRPr lang="hy-AM">
                        <a:effectLst/>
                      </a:endParaRPr>
                    </a:p>
                  </a:txBody>
                  <a:tcPr marL="0" marR="0" marT="0" marB="0" anchor="ctr"/>
                </a:tc>
                <a:tc>
                  <a:txBody>
                    <a:bodyPr/>
                    <a:lstStyle/>
                    <a:p>
                      <a:pPr algn="ctr" rtl="0" fontAlgn="base"/>
                      <a:r>
                        <a:rPr lang="en-US" sz="1400" b="0" i="0" dirty="0">
                          <a:solidFill>
                            <a:srgbClr val="000000"/>
                          </a:solidFill>
                          <a:effectLst/>
                        </a:rPr>
                        <a:t>526.5</a:t>
                      </a:r>
                    </a:p>
                  </a:txBody>
                  <a:tcPr anchor="ctr"/>
                </a:tc>
                <a:tc>
                  <a:txBody>
                    <a:bodyPr/>
                    <a:lstStyle/>
                    <a:p>
                      <a:pPr algn="ctr"/>
                      <a:r>
                        <a:rPr lang="hy-AM" sz="1400" dirty="0" smtClean="0"/>
                        <a:t>290,9</a:t>
                      </a:r>
                      <a:endParaRPr lang="ru-RU" sz="1400" dirty="0"/>
                    </a:p>
                  </a:txBody>
                  <a:tcPr anchor="ctr"/>
                </a:tc>
                <a:tc>
                  <a:txBody>
                    <a:bodyPr/>
                    <a:lstStyle/>
                    <a:p>
                      <a:pPr algn="ctr"/>
                      <a:r>
                        <a:rPr lang="en-US" sz="1400" dirty="0" smtClean="0"/>
                        <a:t>272,6</a:t>
                      </a:r>
                      <a:endParaRPr lang="ru-RU" sz="1400" dirty="0"/>
                    </a:p>
                  </a:txBody>
                  <a:tcPr anchor="ctr"/>
                </a:tc>
                <a:tc>
                  <a:txBody>
                    <a:bodyPr/>
                    <a:lstStyle/>
                    <a:p>
                      <a:pPr marL="0" marR="0" algn="ctr" rtl="0" latinLnBrk="0">
                        <a:lnSpc>
                          <a:spcPct val="150000"/>
                        </a:lnSpc>
                        <a:spcBef>
                          <a:spcPts val="0"/>
                        </a:spcBef>
                        <a:spcAft>
                          <a:spcPts val="0"/>
                        </a:spcAft>
                      </a:pPr>
                      <a:r>
                        <a:rPr lang="en-US" sz="1400" dirty="0" err="1" smtClean="0">
                          <a:effectLst/>
                          <a:latin typeface="Sylfaen"/>
                        </a:rPr>
                        <a:t>նվազում</a:t>
                      </a:r>
                      <a:endParaRPr lang="en-US" sz="1400" dirty="0">
                        <a:effectLst/>
                        <a:latin typeface="Sylfaen"/>
                      </a:endParaRPr>
                    </a:p>
                  </a:txBody>
                  <a:tcPr marL="0" marR="0" marT="0" marB="0" anchor="ctr"/>
                </a:tc>
                <a:extLst>
                  <a:ext uri="{0D108BD9-81ED-4DB2-BD59-A6C34878D82A}">
                    <a16:rowId xmlns:a16="http://schemas.microsoft.com/office/drawing/2014/main" val="172319668"/>
                  </a:ext>
                </a:extLst>
              </a:tr>
              <a:tr h="568325">
                <a:tc>
                  <a:txBody>
                    <a:bodyPr/>
                    <a:lstStyle/>
                    <a:p>
                      <a:pPr marL="0" marR="0" rtl="0" latinLnBrk="0">
                        <a:lnSpc>
                          <a:spcPct val="150000"/>
                        </a:lnSpc>
                        <a:spcBef>
                          <a:spcPts val="0"/>
                        </a:spcBef>
                        <a:spcAft>
                          <a:spcPts val="0"/>
                        </a:spcAft>
                      </a:pPr>
                      <a:r>
                        <a:rPr lang="hy-AM" sz="1400">
                          <a:effectLst/>
                        </a:rPr>
                        <a:t>Սպասարկող անձնակազմի միջին աշխատավարձը/հազ. դր./ </a:t>
                      </a:r>
                      <a:endParaRPr lang="hy-AM">
                        <a:effectLst/>
                      </a:endParaRPr>
                    </a:p>
                  </a:txBody>
                  <a:tcPr marL="0" marR="0" marT="0" marB="0" anchor="ctr"/>
                </a:tc>
                <a:tc>
                  <a:txBody>
                    <a:bodyPr/>
                    <a:lstStyle/>
                    <a:p>
                      <a:pPr algn="ctr" rtl="0" fontAlgn="base"/>
                      <a:r>
                        <a:rPr lang="en-US" sz="1400" b="0" i="0" dirty="0">
                          <a:solidFill>
                            <a:srgbClr val="000000"/>
                          </a:solidFill>
                          <a:effectLst/>
                        </a:rPr>
                        <a:t>1592․0</a:t>
                      </a:r>
                      <a:endParaRPr lang="en-US" dirty="0"/>
                    </a:p>
                  </a:txBody>
                  <a:tcPr anchor="ctr"/>
                </a:tc>
                <a:tc>
                  <a:txBody>
                    <a:bodyPr/>
                    <a:lstStyle/>
                    <a:p>
                      <a:pPr algn="ctr"/>
                      <a:r>
                        <a:rPr lang="hy-AM" sz="1400" dirty="0" smtClean="0"/>
                        <a:t>127</a:t>
                      </a:r>
                      <a:endParaRPr lang="ru-RU" sz="1400" dirty="0"/>
                    </a:p>
                  </a:txBody>
                  <a:tcPr anchor="ctr"/>
                </a:tc>
                <a:tc>
                  <a:txBody>
                    <a:bodyPr/>
                    <a:lstStyle/>
                    <a:p>
                      <a:pPr algn="ctr"/>
                      <a:r>
                        <a:rPr lang="en-US" sz="1400" dirty="0" smtClean="0"/>
                        <a:t>139,2</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dirty="0" err="1" smtClean="0">
                          <a:effectLst/>
                          <a:latin typeface="Trebuchet MS"/>
                        </a:rPr>
                        <a:t>աճ</a:t>
                      </a:r>
                      <a:endParaRPr lang="en-US" sz="1400" dirty="0"/>
                    </a:p>
                  </a:txBody>
                  <a:tcPr marL="0" marR="0" marT="0" marB="0" anchor="ctr"/>
                </a:tc>
                <a:extLst>
                  <a:ext uri="{0D108BD9-81ED-4DB2-BD59-A6C34878D82A}">
                    <a16:rowId xmlns:a16="http://schemas.microsoft.com/office/drawing/2014/main" val="3410526481"/>
                  </a:ext>
                </a:extLst>
              </a:tr>
              <a:tr h="568325">
                <a:tc>
                  <a:txBody>
                    <a:bodyPr/>
                    <a:lstStyle/>
                    <a:p>
                      <a:pPr marL="0" marR="0" rtl="0" latinLnBrk="0">
                        <a:lnSpc>
                          <a:spcPct val="150000"/>
                        </a:lnSpc>
                        <a:spcBef>
                          <a:spcPts val="0"/>
                        </a:spcBef>
                        <a:spcAft>
                          <a:spcPts val="0"/>
                        </a:spcAft>
                      </a:pPr>
                      <a:r>
                        <a:rPr lang="hy-AM" sz="1400" err="1">
                          <a:effectLst/>
                        </a:rPr>
                        <a:t>Ուսուցչների</a:t>
                      </a:r>
                      <a:r>
                        <a:rPr lang="hy-AM" sz="1400">
                          <a:effectLst/>
                        </a:rPr>
                        <a:t> միջին աշխատավարձը /հազ. դր./</a:t>
                      </a:r>
                      <a:endParaRPr lang="hy-AM">
                        <a:effectLst/>
                      </a:endParaRPr>
                    </a:p>
                  </a:txBody>
                  <a:tcPr marL="0" marR="0" marT="0" marB="0" anchor="ctr"/>
                </a:tc>
                <a:tc>
                  <a:txBody>
                    <a:bodyPr/>
                    <a:lstStyle/>
                    <a:p>
                      <a:pPr algn="ctr" rtl="0" fontAlgn="base"/>
                      <a:r>
                        <a:rPr lang="en-US" sz="1400" b="0" i="0" dirty="0">
                          <a:solidFill>
                            <a:srgbClr val="000000"/>
                          </a:solidFill>
                          <a:effectLst/>
                        </a:rPr>
                        <a:t>3530․0</a:t>
                      </a:r>
                    </a:p>
                  </a:txBody>
                  <a:tcPr anchor="ctr"/>
                </a:tc>
                <a:tc>
                  <a:txBody>
                    <a:bodyPr/>
                    <a:lstStyle/>
                    <a:p>
                      <a:pPr algn="ctr"/>
                      <a:r>
                        <a:rPr lang="hy-AM" sz="1400" dirty="0" smtClean="0"/>
                        <a:t>190,0</a:t>
                      </a:r>
                      <a:endParaRPr lang="ru-RU" sz="1400" dirty="0"/>
                    </a:p>
                  </a:txBody>
                  <a:tcPr anchor="ctr"/>
                </a:tc>
                <a:tc>
                  <a:txBody>
                    <a:bodyPr/>
                    <a:lstStyle/>
                    <a:p>
                      <a:pPr algn="ctr"/>
                      <a:r>
                        <a:rPr lang="en-US" sz="1400" dirty="0" smtClean="0"/>
                        <a:t>180,5</a:t>
                      </a:r>
                      <a:endParaRPr lang="ru-RU" sz="1400" dirty="0"/>
                    </a:p>
                  </a:txBody>
                  <a:tcPr anchor="ctr"/>
                </a:tc>
                <a:tc>
                  <a:txBody>
                    <a:bodyPr/>
                    <a:lstStyle/>
                    <a:p>
                      <a:pPr marL="0" marR="0" algn="ctr" rtl="0" latinLnBrk="0">
                        <a:lnSpc>
                          <a:spcPct val="150000"/>
                        </a:lnSpc>
                        <a:spcBef>
                          <a:spcPts val="0"/>
                        </a:spcBef>
                        <a:spcAft>
                          <a:spcPts val="0"/>
                        </a:spcAft>
                      </a:pPr>
                      <a:r>
                        <a:rPr lang="en-US" sz="1400" dirty="0" err="1" smtClean="0">
                          <a:effectLst/>
                        </a:rPr>
                        <a:t>նվազում</a:t>
                      </a:r>
                      <a:endParaRPr lang="hy-AM" sz="1400" dirty="0">
                        <a:effectLst/>
                      </a:endParaRPr>
                    </a:p>
                  </a:txBody>
                  <a:tcPr marL="0" marR="0" marT="0" marB="0" anchor="ctr"/>
                </a:tc>
                <a:extLst>
                  <a:ext uri="{0D108BD9-81ED-4DB2-BD59-A6C34878D82A}">
                    <a16:rowId xmlns:a16="http://schemas.microsoft.com/office/drawing/2014/main" val="1596143821"/>
                  </a:ext>
                </a:extLst>
              </a:tr>
              <a:tr h="568325">
                <a:tc>
                  <a:txBody>
                    <a:bodyPr/>
                    <a:lstStyle/>
                    <a:p>
                      <a:pPr marL="0" marR="0" rtl="0" latinLnBrk="0">
                        <a:lnSpc>
                          <a:spcPct val="150000"/>
                        </a:lnSpc>
                        <a:spcBef>
                          <a:spcPts val="0"/>
                        </a:spcBef>
                        <a:spcAft>
                          <a:spcPts val="0"/>
                        </a:spcAft>
                      </a:pPr>
                      <a:r>
                        <a:rPr lang="hy-AM" sz="1400">
                          <a:effectLst/>
                        </a:rPr>
                        <a:t>Վարչական աշխատողների միջին </a:t>
                      </a:r>
                      <a:r>
                        <a:rPr lang="hy-AM" sz="1400" err="1">
                          <a:effectLst/>
                        </a:rPr>
                        <a:t>աշախատավարձը</a:t>
                      </a:r>
                      <a:r>
                        <a:rPr lang="hy-AM" sz="1400">
                          <a:effectLst/>
                        </a:rPr>
                        <a:t>/հազ. դր./ </a:t>
                      </a:r>
                      <a:endParaRPr lang="hy-AM">
                        <a:effectLst/>
                      </a:endParaRPr>
                    </a:p>
                  </a:txBody>
                  <a:tcPr marL="0" marR="0" marT="0" marB="0" anchor="ctr"/>
                </a:tc>
                <a:tc>
                  <a:txBody>
                    <a:bodyPr/>
                    <a:lstStyle/>
                    <a:p>
                      <a:pPr algn="ctr" rtl="0" fontAlgn="base"/>
                      <a:r>
                        <a:rPr lang="en-US" sz="1400" b="0" i="0" dirty="0">
                          <a:solidFill>
                            <a:srgbClr val="000000"/>
                          </a:solidFill>
                          <a:effectLst/>
                        </a:rPr>
                        <a:t>796․0</a:t>
                      </a:r>
                    </a:p>
                  </a:txBody>
                  <a:tcPr anchor="ctr"/>
                </a:tc>
                <a:tc>
                  <a:txBody>
                    <a:bodyPr/>
                    <a:lstStyle/>
                    <a:p>
                      <a:pPr algn="ctr"/>
                      <a:r>
                        <a:rPr lang="hy-AM" sz="1400" dirty="0" smtClean="0"/>
                        <a:t>210,0</a:t>
                      </a:r>
                      <a:endParaRPr lang="ru-RU" sz="1400" dirty="0"/>
                    </a:p>
                  </a:txBody>
                  <a:tcPr anchor="ctr"/>
                </a:tc>
                <a:tc>
                  <a:txBody>
                    <a:bodyPr/>
                    <a:lstStyle/>
                    <a:p>
                      <a:pPr algn="ctr"/>
                      <a:r>
                        <a:rPr lang="en-US" sz="1400" dirty="0" smtClean="0"/>
                        <a:t>295,9</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dirty="0" err="1" smtClean="0">
                          <a:effectLst/>
                          <a:latin typeface="Trebuchet MS"/>
                        </a:rPr>
                        <a:t>աճ</a:t>
                      </a:r>
                      <a:endParaRPr lang="en-US" sz="1400" dirty="0"/>
                    </a:p>
                  </a:txBody>
                  <a:tcPr marL="0" marR="0" marT="0" marB="0" anchor="ctr"/>
                </a:tc>
                <a:extLst>
                  <a:ext uri="{0D108BD9-81ED-4DB2-BD59-A6C34878D82A}">
                    <a16:rowId xmlns:a16="http://schemas.microsoft.com/office/drawing/2014/main" val="2917413202"/>
                  </a:ext>
                </a:extLst>
              </a:tr>
            </a:tbl>
          </a:graphicData>
        </a:graphic>
      </p:graphicFrame>
    </p:spTree>
    <p:extLst>
      <p:ext uri="{BB962C8B-B14F-4D97-AF65-F5344CB8AC3E}">
        <p14:creationId xmlns:p14="http://schemas.microsoft.com/office/powerpoint/2010/main" val="5564198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12713"/>
            <a:ext cx="9164742" cy="369332"/>
          </a:xfrm>
          <a:prstGeom prst="rect">
            <a:avLst/>
          </a:prstGeom>
        </p:spPr>
        <p:txBody>
          <a:bodyPr rtlCol="0">
            <a:spAutoFit/>
          </a:bodyPr>
          <a:lstStyle/>
          <a:p>
            <a:pPr algn="just"/>
            <a:r>
              <a:rPr lang="hy-AM" b="1" i="1">
                <a:latin typeface="Sylfaen"/>
              </a:rPr>
              <a:t>Աղյուսակ 27. Տվյալներ հաստատության բյուջետային միջոցների վերաբերյալ </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3313967019"/>
              </p:ext>
            </p:extLst>
          </p:nvPr>
        </p:nvGraphicFramePr>
        <p:xfrm>
          <a:off x="1706872" y="941035"/>
          <a:ext cx="8265642" cy="5266481"/>
        </p:xfrm>
        <a:graphic>
          <a:graphicData uri="http://schemas.openxmlformats.org/drawingml/2006/table">
            <a:tbl>
              <a:tblPr>
                <a:tableStyleId>{5940675A-B579-460E-94D1-54222C63F5DA}</a:tableStyleId>
              </a:tblPr>
              <a:tblGrid>
                <a:gridCol w="4512235">
                  <a:extLst>
                    <a:ext uri="{9D8B030D-6E8A-4147-A177-3AD203B41FA5}">
                      <a16:colId xmlns:a16="http://schemas.microsoft.com/office/drawing/2014/main" val="2944514879"/>
                    </a:ext>
                  </a:extLst>
                </a:gridCol>
                <a:gridCol w="1167285">
                  <a:extLst>
                    <a:ext uri="{9D8B030D-6E8A-4147-A177-3AD203B41FA5}">
                      <a16:colId xmlns:a16="http://schemas.microsoft.com/office/drawing/2014/main" val="1981825068"/>
                    </a:ext>
                  </a:extLst>
                </a:gridCol>
                <a:gridCol w="1293061">
                  <a:extLst>
                    <a:ext uri="{9D8B030D-6E8A-4147-A177-3AD203B41FA5}">
                      <a16:colId xmlns:a16="http://schemas.microsoft.com/office/drawing/2014/main" val="26504704"/>
                    </a:ext>
                  </a:extLst>
                </a:gridCol>
                <a:gridCol w="1293061">
                  <a:extLst>
                    <a:ext uri="{9D8B030D-6E8A-4147-A177-3AD203B41FA5}">
                      <a16:colId xmlns:a16="http://schemas.microsoft.com/office/drawing/2014/main" val="4252618010"/>
                    </a:ext>
                  </a:extLst>
                </a:gridCol>
              </a:tblGrid>
              <a:tr h="337226">
                <a:tc>
                  <a:txBody>
                    <a:bodyPr/>
                    <a:lstStyle/>
                    <a:p>
                      <a:pPr marL="0" marR="0" algn="just" rtl="0" eaLnBrk="1" latinLnBrk="0" hangingPunct="1">
                        <a:lnSpc>
                          <a:spcPct val="150000"/>
                        </a:lnSpc>
                        <a:spcBef>
                          <a:spcPts val="0"/>
                        </a:spcBef>
                        <a:spcAft>
                          <a:spcPts val="0"/>
                        </a:spcAft>
                      </a:pPr>
                      <a:endParaRPr lang="en-US" sz="1400">
                        <a:effectLst/>
                        <a:latin typeface="Calibri" panose="020F0502020204030204" pitchFamily="34" charset="0"/>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a:effectLst/>
                        </a:rPr>
                        <a:t>2</a:t>
                      </a:r>
                      <a:r>
                        <a:rPr lang="en-US" sz="1400" dirty="0">
                          <a:effectLst/>
                        </a:rPr>
                        <a:t>2</a:t>
                      </a:r>
                      <a:r>
                        <a:rPr lang="hy-AM" sz="1400" dirty="0">
                          <a:effectLst/>
                        </a:rPr>
                        <a:t>թ. </a:t>
                      </a:r>
                      <a:endParaRPr lang="hy-AM" dirty="0">
                        <a:effectLst/>
                      </a:endParaRPr>
                    </a:p>
                  </a:txBody>
                  <a:tcPr marL="0" marR="0" marT="0" marB="0" anchor="ctr"/>
                </a:tc>
                <a:tc>
                  <a:txBody>
                    <a:bodyPr/>
                    <a:lstStyle/>
                    <a:p>
                      <a:pPr marL="0" lvl="0" algn="ctr">
                        <a:lnSpc>
                          <a:spcPct val="150000"/>
                        </a:lnSpc>
                        <a:spcBef>
                          <a:spcPts val="0"/>
                        </a:spcBef>
                        <a:spcAft>
                          <a:spcPts val="0"/>
                        </a:spcAft>
                        <a:buNone/>
                      </a:pPr>
                      <a:r>
                        <a:rPr lang="hy-AM" sz="1400" dirty="0">
                          <a:effectLst/>
                        </a:rPr>
                        <a:t>2023թ․</a:t>
                      </a:r>
                    </a:p>
                  </a:txBody>
                  <a:tcPr marL="0" marR="0" marT="0" marB="0" anchor="ctr"/>
                </a:tc>
                <a:tc>
                  <a:txBody>
                    <a:bodyPr/>
                    <a:lstStyle/>
                    <a:p>
                      <a:pPr algn="ctr"/>
                      <a:r>
                        <a:rPr lang="hy-AM" sz="1400" dirty="0" smtClean="0"/>
                        <a:t>2024 թ.</a:t>
                      </a:r>
                      <a:endParaRPr lang="ru-RU" sz="1400" dirty="0"/>
                    </a:p>
                  </a:txBody>
                  <a:tcPr marL="0" marR="0" marT="0" marB="0" anchor="ctr"/>
                </a:tc>
                <a:extLst>
                  <a:ext uri="{0D108BD9-81ED-4DB2-BD59-A6C34878D82A}">
                    <a16:rowId xmlns:a16="http://schemas.microsoft.com/office/drawing/2014/main" val="738682686"/>
                  </a:ext>
                </a:extLst>
              </a:tr>
              <a:tr h="826204">
                <a:tc>
                  <a:txBody>
                    <a:bodyPr/>
                    <a:lstStyle/>
                    <a:p>
                      <a:pPr marL="0" marR="0" rtl="0" latinLnBrk="0">
                        <a:lnSpc>
                          <a:spcPct val="150000"/>
                        </a:lnSpc>
                        <a:spcBef>
                          <a:spcPts val="0"/>
                        </a:spcBef>
                        <a:spcAft>
                          <a:spcPts val="0"/>
                        </a:spcAft>
                      </a:pPr>
                      <a:r>
                        <a:rPr lang="hy-AM" sz="1400">
                          <a:effectLst/>
                        </a:rPr>
                        <a:t>Հաստատության տարեկան </a:t>
                      </a:r>
                      <a:r>
                        <a:rPr lang="hy-AM" sz="1400" err="1">
                          <a:effectLst/>
                        </a:rPr>
                        <a:t>նախահաշվում</a:t>
                      </a:r>
                      <a:r>
                        <a:rPr lang="hy-AM" sz="1400">
                          <a:effectLst/>
                        </a:rPr>
                        <a:t> արտաբյուջետային միջոցների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a:t>
                      </a:r>
                    </a:p>
                  </a:txBody>
                  <a:tcPr anchor="ctr"/>
                </a:tc>
                <a:tc>
                  <a:txBody>
                    <a:bodyPr/>
                    <a:lstStyle/>
                    <a:p>
                      <a:pPr lvl="0" algn="ctr">
                        <a:buNone/>
                      </a:pPr>
                      <a:r>
                        <a:rPr lang="en-US" sz="1400" b="0" i="0" dirty="0">
                          <a:solidFill>
                            <a:srgbClr val="000000"/>
                          </a:solidFill>
                          <a:effectLst/>
                        </a:rPr>
                        <a:t>42.6%</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1800" b="0" i="0" dirty="0" smtClean="0">
                          <a:solidFill>
                            <a:srgbClr val="000000"/>
                          </a:solidFill>
                          <a:effectLst/>
                          <a:latin typeface="Trebuchet MS"/>
                        </a:rPr>
                        <a:t>-</a:t>
                      </a:r>
                    </a:p>
                    <a:p>
                      <a:endParaRPr lang="ru-RU" dirty="0"/>
                    </a:p>
                  </a:txBody>
                  <a:tcPr anchor="ctr"/>
                </a:tc>
                <a:extLst>
                  <a:ext uri="{0D108BD9-81ED-4DB2-BD59-A6C34878D82A}">
                    <a16:rowId xmlns:a16="http://schemas.microsoft.com/office/drawing/2014/main" val="2304941808"/>
                  </a:ext>
                </a:extLst>
              </a:tr>
              <a:tr h="674452">
                <a:tc>
                  <a:txBody>
                    <a:bodyPr/>
                    <a:lstStyle/>
                    <a:p>
                      <a:pPr marL="0" marR="0" rtl="0" latinLnBrk="0">
                        <a:lnSpc>
                          <a:spcPct val="150000"/>
                        </a:lnSpc>
                        <a:spcBef>
                          <a:spcPts val="0"/>
                        </a:spcBef>
                        <a:spcAft>
                          <a:spcPts val="0"/>
                        </a:spcAft>
                      </a:pPr>
                      <a:r>
                        <a:rPr lang="hy-AM" sz="1400">
                          <a:effectLst/>
                        </a:rPr>
                        <a:t>Ծնողների կողմից դրամական ներդրումների տարեկան չափը /հազ. դր./</a:t>
                      </a:r>
                      <a:endParaRPr lang="hy-AM">
                        <a:effectLst/>
                      </a:endParaRPr>
                    </a:p>
                  </a:txBody>
                  <a:tcPr marL="0" marR="0" marT="0" marB="0" anchor="ctr"/>
                </a:tc>
                <a:tc>
                  <a:txBody>
                    <a:bodyPr/>
                    <a:lstStyle/>
                    <a:p>
                      <a:pPr algn="ctr" rtl="0" fontAlgn="auto"/>
                      <a:r>
                        <a:rPr lang="ru-RU" sz="1400" b="0" i="0" dirty="0">
                          <a:solidFill>
                            <a:srgbClr val="000000"/>
                          </a:solidFill>
                          <a:effectLst/>
                          <a:latin typeface="Trebuchet MS"/>
                        </a:rPr>
                        <a:t>-</a:t>
                      </a:r>
                      <a:endParaRPr lang="ru-RU" sz="1400" b="0" i="0" dirty="0">
                        <a:solidFill>
                          <a:srgbClr val="000000"/>
                        </a:solidFill>
                        <a:effectLst/>
                        <a:latin typeface="Trebuchet MS" panose="020B0603020202020204" pitchFamily="34" charset="0"/>
                      </a:endParaRPr>
                    </a:p>
                  </a:txBody>
                  <a:tcPr anchor="ctr"/>
                </a:tc>
                <a:tc>
                  <a:txBody>
                    <a:bodyPr/>
                    <a:lstStyle/>
                    <a:p>
                      <a:pPr lvl="0" algn="ctr">
                        <a:buNone/>
                      </a:pPr>
                      <a:r>
                        <a:rPr lang="ru-RU" sz="1400" b="0" i="0" dirty="0">
                          <a:solidFill>
                            <a:srgbClr val="000000"/>
                          </a:solidFill>
                          <a:effectLst/>
                          <a:latin typeface="Trebuchet MS"/>
                        </a:rPr>
                        <a: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1800" b="0" i="0" dirty="0" smtClean="0">
                          <a:solidFill>
                            <a:srgbClr val="000000"/>
                          </a:solidFill>
                          <a:effectLst/>
                          <a:latin typeface="Trebuchet MS"/>
                        </a:rPr>
                        <a:t>-</a:t>
                      </a:r>
                    </a:p>
                    <a:p>
                      <a:endParaRPr lang="ru-RU" dirty="0"/>
                    </a:p>
                  </a:txBody>
                  <a:tcPr anchor="ctr"/>
                </a:tc>
                <a:extLst>
                  <a:ext uri="{0D108BD9-81ED-4DB2-BD59-A6C34878D82A}">
                    <a16:rowId xmlns:a16="http://schemas.microsoft.com/office/drawing/2014/main" val="1040063677"/>
                  </a:ext>
                </a:extLst>
              </a:tr>
              <a:tr h="674452">
                <a:tc>
                  <a:txBody>
                    <a:bodyPr/>
                    <a:lstStyle/>
                    <a:p>
                      <a:pPr marL="0" marR="0" rtl="0" latinLnBrk="0">
                        <a:lnSpc>
                          <a:spcPct val="150000"/>
                        </a:lnSpc>
                        <a:spcBef>
                          <a:spcPts val="0"/>
                        </a:spcBef>
                        <a:spcAft>
                          <a:spcPts val="0"/>
                        </a:spcAft>
                      </a:pPr>
                      <a:r>
                        <a:rPr lang="hy-AM" sz="1400">
                          <a:effectLst/>
                        </a:rPr>
                        <a:t>Հովանավորչական և դրամաշնորհային միջոցների տարեկան չափը /հազ. դր/</a:t>
                      </a:r>
                      <a:endParaRPr lang="hy-AM">
                        <a:effectLst/>
                      </a:endParaRPr>
                    </a:p>
                  </a:txBody>
                  <a:tcPr marL="0" marR="0" marT="0" marB="0" anchor="ctr"/>
                </a:tc>
                <a:tc>
                  <a:txBody>
                    <a:bodyPr/>
                    <a:lstStyle/>
                    <a:p>
                      <a:pPr algn="ctr" rtl="0" fontAlgn="base"/>
                      <a:r>
                        <a:rPr lang="en-US" sz="1400" b="0" i="0" dirty="0">
                          <a:solidFill>
                            <a:srgbClr val="000000"/>
                          </a:solidFill>
                          <a:effectLst/>
                        </a:rPr>
                        <a:t>180.0</a:t>
                      </a:r>
                    </a:p>
                  </a:txBody>
                  <a:tcPr anchor="ctr"/>
                </a:tc>
                <a:tc>
                  <a:txBody>
                    <a:bodyPr/>
                    <a:lstStyle/>
                    <a:p>
                      <a:pPr lvl="0" algn="ctr">
                        <a:buNone/>
                      </a:pPr>
                      <a:r>
                        <a:rPr lang="en-US" sz="1400" b="0" i="0" dirty="0">
                          <a:solidFill>
                            <a:srgbClr val="000000"/>
                          </a:solidFill>
                          <a:effectLst/>
                        </a:rPr>
                        <a:t>1.96%</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400" dirty="0" smtClean="0"/>
                        <a:t>4,6</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214173507"/>
                  </a:ext>
                </a:extLst>
              </a:tr>
              <a:tr h="826204">
                <a:tc>
                  <a:txBody>
                    <a:bodyPr/>
                    <a:lstStyle/>
                    <a:p>
                      <a:pPr marL="0" marR="0" rtl="0" latinLnBrk="0">
                        <a:lnSpc>
                          <a:spcPct val="150000"/>
                        </a:lnSpc>
                        <a:spcBef>
                          <a:spcPts val="0"/>
                        </a:spcBef>
                        <a:spcAft>
                          <a:spcPts val="0"/>
                        </a:spcAft>
                      </a:pPr>
                      <a:r>
                        <a:rPr lang="hy-AM" sz="1400">
                          <a:effectLst/>
                        </a:rPr>
                        <a:t>Աշխատավարձերի վճարման գծով հաստատության տարեկան ծախսերի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84.2</a:t>
                      </a:r>
                    </a:p>
                  </a:txBody>
                  <a:tcPr anchor="ctr"/>
                </a:tc>
                <a:tc>
                  <a:txBody>
                    <a:bodyPr/>
                    <a:lstStyle/>
                    <a:p>
                      <a:pPr lvl="0" algn="ctr">
                        <a:buNone/>
                      </a:pPr>
                      <a:r>
                        <a:rPr lang="en-US" sz="1400" b="0" i="0" dirty="0">
                          <a:solidFill>
                            <a:srgbClr val="000000"/>
                          </a:solidFill>
                          <a:effectLst/>
                        </a:rPr>
                        <a:t>47.3%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400" dirty="0" smtClean="0"/>
                        <a:t>76,2</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4221592913"/>
                  </a:ext>
                </a:extLst>
              </a:tr>
              <a:tr h="826204">
                <a:tc>
                  <a:txBody>
                    <a:bodyPr/>
                    <a:lstStyle/>
                    <a:p>
                      <a:pPr marL="0" marR="0" rtl="0" latinLnBrk="0">
                        <a:lnSpc>
                          <a:spcPct val="150000"/>
                        </a:lnSpc>
                        <a:spcBef>
                          <a:spcPts val="0"/>
                        </a:spcBef>
                        <a:spcAft>
                          <a:spcPts val="0"/>
                        </a:spcAft>
                      </a:pPr>
                      <a:r>
                        <a:rPr lang="hy-AM" sz="1400">
                          <a:effectLst/>
                        </a:rPr>
                        <a:t>Կոմունալ վճարների գծով հաստատության տարեկան ծախսերի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2.9</a:t>
                      </a:r>
                    </a:p>
                  </a:txBody>
                  <a:tcPr anchor="ctr"/>
                </a:tc>
                <a:tc>
                  <a:txBody>
                    <a:bodyPr/>
                    <a:lstStyle/>
                    <a:p>
                      <a:pPr lvl="0" algn="ctr">
                        <a:buNone/>
                      </a:pPr>
                      <a:r>
                        <a:rPr lang="en-US" sz="1400" b="0" i="0" dirty="0">
                          <a:solidFill>
                            <a:srgbClr val="000000"/>
                          </a:solidFill>
                          <a:effectLst/>
                        </a:rPr>
                        <a:t>1.73%</a:t>
                      </a:r>
                    </a:p>
                  </a:txBody>
                  <a:tcPr anchor="ctr"/>
                </a:tc>
                <a:tc>
                  <a:txBody>
                    <a:bodyPr/>
                    <a:lstStyle/>
                    <a:p>
                      <a:pPr lvl="0" algn="ctr">
                        <a:buNone/>
                      </a:pPr>
                      <a:r>
                        <a:rPr lang="hy-AM" sz="1400" dirty="0" smtClean="0"/>
                        <a:t>2</a:t>
                      </a:r>
                      <a:r>
                        <a:rPr lang="en-US" sz="1400" b="0" i="0" dirty="0" smtClean="0">
                          <a:solidFill>
                            <a:srgbClr val="000000"/>
                          </a:solidFill>
                          <a:effectLst/>
                        </a:rPr>
                        <a:t>%</a:t>
                      </a:r>
                      <a:endParaRPr lang="en-US" sz="1400" b="0" i="0" dirty="0">
                        <a:solidFill>
                          <a:srgbClr val="000000"/>
                        </a:solidFill>
                        <a:effectLst/>
                      </a:endParaRPr>
                    </a:p>
                  </a:txBody>
                  <a:tcPr anchor="ctr"/>
                </a:tc>
                <a:extLst>
                  <a:ext uri="{0D108BD9-81ED-4DB2-BD59-A6C34878D82A}">
                    <a16:rowId xmlns:a16="http://schemas.microsoft.com/office/drawing/2014/main" val="1677082724"/>
                  </a:ext>
                </a:extLst>
              </a:tr>
              <a:tr h="1101739">
                <a:tc>
                  <a:txBody>
                    <a:bodyPr/>
                    <a:lstStyle/>
                    <a:p>
                      <a:pPr marL="0" marR="0" rtl="0" latinLnBrk="0">
                        <a:lnSpc>
                          <a:spcPct val="150000"/>
                        </a:lnSpc>
                        <a:spcBef>
                          <a:spcPts val="0"/>
                        </a:spcBef>
                        <a:spcAft>
                          <a:spcPts val="0"/>
                        </a:spcAft>
                      </a:pPr>
                      <a:r>
                        <a:rPr lang="hy-AM" sz="1400">
                          <a:effectLst/>
                        </a:rPr>
                        <a:t>Նոր գույքի, այդ թվում՝ սարքավորումների </a:t>
                      </a:r>
                      <a:r>
                        <a:rPr lang="hy-AM" sz="1400" err="1">
                          <a:effectLst/>
                        </a:rPr>
                        <a:t>ձեռբերման</a:t>
                      </a:r>
                      <a:r>
                        <a:rPr lang="hy-AM" sz="1400">
                          <a:effectLst/>
                        </a:rPr>
                        <a:t> գծով հաստատության տարեկան ծախսերի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3.5</a:t>
                      </a:r>
                    </a:p>
                  </a:txBody>
                  <a:tcPr anchor="ctr"/>
                </a:tc>
                <a:tc>
                  <a:txBody>
                    <a:bodyPr/>
                    <a:lstStyle/>
                    <a:p>
                      <a:pPr lvl="0" algn="ctr">
                        <a:buNone/>
                      </a:pPr>
                      <a:r>
                        <a:rPr lang="en-US" sz="1400" b="0" i="0" dirty="0">
                          <a:solidFill>
                            <a:srgbClr val="000000"/>
                          </a:solidFill>
                          <a:effectLst/>
                        </a:rPr>
                        <a:t>1,5%</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400" dirty="0" smtClean="0"/>
                        <a:t>31,1</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3419821964"/>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506612271"/>
              </p:ext>
            </p:extLst>
          </p:nvPr>
        </p:nvGraphicFramePr>
        <p:xfrm>
          <a:off x="9972514" y="941035"/>
          <a:ext cx="1293061" cy="5266481"/>
        </p:xfrm>
        <a:graphic>
          <a:graphicData uri="http://schemas.openxmlformats.org/drawingml/2006/table">
            <a:tbl>
              <a:tblPr>
                <a:tableStyleId>{5940675A-B579-460E-94D1-54222C63F5DA}</a:tableStyleId>
              </a:tblPr>
              <a:tblGrid>
                <a:gridCol w="1293061">
                  <a:extLst>
                    <a:ext uri="{9D8B030D-6E8A-4147-A177-3AD203B41FA5}">
                      <a16:colId xmlns:a16="http://schemas.microsoft.com/office/drawing/2014/main" val="173458889"/>
                    </a:ext>
                  </a:extLst>
                </a:gridCol>
              </a:tblGrid>
              <a:tr h="337226">
                <a:tc>
                  <a:txBody>
                    <a:bodyPr/>
                    <a:lstStyle/>
                    <a:p>
                      <a:pPr algn="ctr"/>
                      <a:r>
                        <a:rPr lang="hy-AM" sz="1400" dirty="0" smtClean="0"/>
                        <a:t>202</a:t>
                      </a:r>
                      <a:r>
                        <a:rPr lang="en-US" sz="1400" dirty="0" smtClean="0"/>
                        <a:t>5</a:t>
                      </a:r>
                      <a:r>
                        <a:rPr lang="hy-AM" sz="1400" dirty="0" smtClean="0"/>
                        <a:t> թ.</a:t>
                      </a:r>
                      <a:endParaRPr lang="ru-RU" sz="1400" dirty="0"/>
                    </a:p>
                  </a:txBody>
                  <a:tcPr marL="0" marR="0" marT="0" marB="0" anchor="ctr"/>
                </a:tc>
                <a:extLst>
                  <a:ext uri="{0D108BD9-81ED-4DB2-BD59-A6C34878D82A}">
                    <a16:rowId xmlns:a16="http://schemas.microsoft.com/office/drawing/2014/main" val="3558426277"/>
                  </a:ext>
                </a:extLst>
              </a:tr>
              <a:tr h="82620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1800" b="0" i="0" dirty="0" smtClean="0">
                          <a:solidFill>
                            <a:srgbClr val="000000"/>
                          </a:solidFill>
                          <a:effectLst/>
                          <a:latin typeface="Trebuchet MS"/>
                        </a:rPr>
                        <a:t>-</a:t>
                      </a:r>
                    </a:p>
                    <a:p>
                      <a:endParaRPr lang="ru-RU" dirty="0"/>
                    </a:p>
                  </a:txBody>
                  <a:tcPr anchor="ctr"/>
                </a:tc>
                <a:extLst>
                  <a:ext uri="{0D108BD9-81ED-4DB2-BD59-A6C34878D82A}">
                    <a16:rowId xmlns:a16="http://schemas.microsoft.com/office/drawing/2014/main" val="283446887"/>
                  </a:ext>
                </a:extLst>
              </a:tr>
              <a:tr h="67445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1800" b="0" i="0" dirty="0" smtClean="0">
                          <a:solidFill>
                            <a:srgbClr val="000000"/>
                          </a:solidFill>
                          <a:effectLst/>
                          <a:latin typeface="Trebuchet MS"/>
                        </a:rPr>
                        <a:t>-</a:t>
                      </a:r>
                    </a:p>
                    <a:p>
                      <a:endParaRPr lang="ru-RU" dirty="0"/>
                    </a:p>
                  </a:txBody>
                  <a:tcPr anchor="ctr"/>
                </a:tc>
                <a:extLst>
                  <a:ext uri="{0D108BD9-81ED-4DB2-BD59-A6C34878D82A}">
                    <a16:rowId xmlns:a16="http://schemas.microsoft.com/office/drawing/2014/main" val="3820104862"/>
                  </a:ext>
                </a:extLst>
              </a:tr>
              <a:tr h="67445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smtClean="0"/>
                        <a:t>10,5</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2791597396"/>
                  </a:ext>
                </a:extLst>
              </a:tr>
              <a:tr h="82620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smtClean="0"/>
                        <a:t>93,5</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552277612"/>
                  </a:ext>
                </a:extLst>
              </a:tr>
              <a:tr h="826204">
                <a:tc>
                  <a:txBody>
                    <a:bodyPr/>
                    <a:lstStyle/>
                    <a:p>
                      <a:pPr lvl="0" algn="ctr">
                        <a:buNone/>
                      </a:pPr>
                      <a:r>
                        <a:rPr lang="hy-AM" sz="1400" dirty="0" smtClean="0"/>
                        <a:t>2</a:t>
                      </a:r>
                      <a:r>
                        <a:rPr lang="en-US" sz="1400" b="0" i="0" dirty="0" smtClean="0">
                          <a:solidFill>
                            <a:srgbClr val="000000"/>
                          </a:solidFill>
                          <a:effectLst/>
                        </a:rPr>
                        <a:t>%</a:t>
                      </a:r>
                      <a:endParaRPr lang="en-US" sz="1400" b="0" i="0" dirty="0">
                        <a:solidFill>
                          <a:srgbClr val="000000"/>
                        </a:solidFill>
                        <a:effectLst/>
                      </a:endParaRPr>
                    </a:p>
                  </a:txBody>
                  <a:tcPr anchor="ctr"/>
                </a:tc>
                <a:extLst>
                  <a:ext uri="{0D108BD9-81ED-4DB2-BD59-A6C34878D82A}">
                    <a16:rowId xmlns:a16="http://schemas.microsoft.com/office/drawing/2014/main" val="2024700290"/>
                  </a:ext>
                </a:extLst>
              </a:tr>
              <a:tr h="110173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0" i="0" dirty="0" smtClean="0">
                          <a:solidFill>
                            <a:schemeClr val="tx1"/>
                          </a:solidFill>
                          <a:effectLst/>
                        </a:rPr>
                        <a:t>0,39</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2433670593"/>
                  </a:ext>
                </a:extLst>
              </a:tr>
            </a:tbl>
          </a:graphicData>
        </a:graphic>
      </p:graphicFrame>
    </p:spTree>
    <p:extLst>
      <p:ext uri="{BB962C8B-B14F-4D97-AF65-F5344CB8AC3E}">
        <p14:creationId xmlns:p14="http://schemas.microsoft.com/office/powerpoint/2010/main" val="1434013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73774" y="1344918"/>
            <a:ext cx="9238444" cy="1754326"/>
          </a:xfrm>
          <a:prstGeom prst="rect">
            <a:avLst/>
          </a:prstGeom>
        </p:spPr>
        <p:txBody>
          <a:bodyPr wrap="square" lIns="91440" tIns="45720" rIns="91440" bIns="45720" anchor="t">
            <a:spAutoFit/>
          </a:bodyPr>
          <a:lstStyle/>
          <a:p>
            <a:pPr>
              <a:lnSpc>
                <a:spcPct val="150000"/>
              </a:lnSpc>
            </a:pPr>
            <a:r>
              <a:rPr lang="hy-AM"/>
              <a:t>Մեկ սովորողի հաշվով հաստատության տարեկան </a:t>
            </a:r>
            <a:r>
              <a:rPr lang="hy-AM" err="1"/>
              <a:t>նախահաշ</a:t>
            </a:r>
            <a:r>
              <a:rPr lang="en-US" err="1"/>
              <a:t>վի</a:t>
            </a:r>
            <a:r>
              <a:rPr lang="en-US"/>
              <a:t> </a:t>
            </a:r>
            <a:r>
              <a:rPr lang="en-US" err="1"/>
              <a:t>նվազումը</a:t>
            </a:r>
            <a:r>
              <a:rPr lang="en-US"/>
              <a:t> </a:t>
            </a:r>
            <a:r>
              <a:rPr lang="en-US" err="1"/>
              <a:t>պայմանավորված</a:t>
            </a:r>
            <a:r>
              <a:rPr lang="en-US"/>
              <a:t> է 2022 </a:t>
            </a:r>
            <a:r>
              <a:rPr lang="en-US" err="1"/>
              <a:t>թվականի</a:t>
            </a:r>
            <a:r>
              <a:rPr lang="en-US"/>
              <a:t> </a:t>
            </a:r>
            <a:r>
              <a:rPr lang="en-US" err="1"/>
              <a:t>ֆինանսավորման</a:t>
            </a:r>
            <a:r>
              <a:rPr lang="en-US"/>
              <a:t> </a:t>
            </a:r>
            <a:r>
              <a:rPr lang="en-US" err="1"/>
              <a:t>նվազմամբ</a:t>
            </a:r>
            <a:r>
              <a:rPr lang="en-US"/>
              <a:t>, </a:t>
            </a:r>
            <a:r>
              <a:rPr lang="en-US" err="1"/>
              <a:t>որի</a:t>
            </a:r>
            <a:r>
              <a:rPr lang="en-US"/>
              <a:t> </a:t>
            </a:r>
            <a:r>
              <a:rPr lang="en-US" err="1"/>
              <a:t>արդյունքում</a:t>
            </a:r>
            <a:r>
              <a:rPr lang="en-US"/>
              <a:t> </a:t>
            </a:r>
            <a:r>
              <a:rPr lang="en-US" err="1"/>
              <a:t>ծախսը</a:t>
            </a:r>
            <a:r>
              <a:rPr lang="en-US"/>
              <a:t> </a:t>
            </a:r>
            <a:r>
              <a:rPr lang="en-US" err="1"/>
              <a:t>գերազանցել</a:t>
            </a:r>
            <a:r>
              <a:rPr lang="en-US"/>
              <a:t> է </a:t>
            </a:r>
            <a:r>
              <a:rPr lang="en-US" err="1"/>
              <a:t>հատկացված</a:t>
            </a:r>
            <a:r>
              <a:rPr lang="en-US"/>
              <a:t> </a:t>
            </a:r>
            <a:r>
              <a:rPr lang="en-US" err="1"/>
              <a:t>ֆինանսական</a:t>
            </a:r>
            <a:r>
              <a:rPr lang="en-US"/>
              <a:t> </a:t>
            </a:r>
            <a:r>
              <a:rPr lang="en-US" err="1"/>
              <a:t>միջոցներին</a:t>
            </a:r>
            <a:r>
              <a:rPr lang="en-US"/>
              <a:t>: </a:t>
            </a:r>
            <a:r>
              <a:rPr lang="en-US" err="1"/>
              <a:t>Առաջացած</a:t>
            </a:r>
            <a:r>
              <a:rPr lang="en-US"/>
              <a:t> </a:t>
            </a:r>
            <a:r>
              <a:rPr lang="en-US" err="1"/>
              <a:t>ճեղքվածքը</a:t>
            </a:r>
            <a:r>
              <a:rPr lang="en-US"/>
              <a:t> </a:t>
            </a:r>
            <a:r>
              <a:rPr lang="en-US" err="1"/>
              <a:t>փակվել</a:t>
            </a:r>
            <a:r>
              <a:rPr lang="en-US"/>
              <a:t> է </a:t>
            </a:r>
            <a:r>
              <a:rPr lang="en-US" err="1"/>
              <a:t>տարվա</a:t>
            </a:r>
            <a:r>
              <a:rPr lang="en-US"/>
              <a:t> </a:t>
            </a:r>
            <a:r>
              <a:rPr lang="en-US" err="1"/>
              <a:t>սկզբնական</a:t>
            </a:r>
            <a:r>
              <a:rPr lang="en-US"/>
              <a:t> </a:t>
            </a:r>
            <a:r>
              <a:rPr lang="en-US" err="1"/>
              <a:t>մնացորդի</a:t>
            </a:r>
            <a:r>
              <a:rPr lang="en-US"/>
              <a:t> </a:t>
            </a:r>
            <a:r>
              <a:rPr lang="en-US" err="1"/>
              <a:t>հաշվին</a:t>
            </a:r>
            <a:r>
              <a:rPr lang="en-US"/>
              <a:t>:</a:t>
            </a:r>
            <a:r>
              <a:rPr lang="hy-AM"/>
              <a:t> </a:t>
            </a:r>
          </a:p>
        </p:txBody>
      </p:sp>
    </p:spTree>
    <p:extLst>
      <p:ext uri="{BB962C8B-B14F-4D97-AF65-F5344CB8AC3E}">
        <p14:creationId xmlns:p14="http://schemas.microsoft.com/office/powerpoint/2010/main" val="42713015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19264" t="28859" r="18398" b="3356"/>
          <a:stretch/>
        </p:blipFill>
        <p:spPr>
          <a:xfrm>
            <a:off x="4365347" y="1500272"/>
            <a:ext cx="3276233" cy="1146976"/>
          </a:xfrm>
          <a:prstGeom prst="rect">
            <a:avLst/>
          </a:prstGeom>
        </p:spPr>
      </p:pic>
      <p:pic>
        <p:nvPicPr>
          <p:cNvPr id="3" name="Picture 2"/>
          <p:cNvPicPr>
            <a:picLocks noChangeAspect="1"/>
          </p:cNvPicPr>
          <p:nvPr/>
        </p:nvPicPr>
        <p:blipFill>
          <a:blip r:embed="rId4" cstate="print"/>
          <a:stretch>
            <a:fillRect/>
          </a:stretch>
        </p:blipFill>
        <p:spPr>
          <a:xfrm>
            <a:off x="2384977" y="3390344"/>
            <a:ext cx="7916448" cy="1752560"/>
          </a:xfrm>
          <a:prstGeom prst="rect">
            <a:avLst/>
          </a:prstGeom>
          <a:ln>
            <a:noFill/>
          </a:ln>
          <a:effectLst>
            <a:softEdge rad="112500"/>
          </a:effectLst>
        </p:spPr>
      </p:pic>
    </p:spTree>
    <p:extLst>
      <p:ext uri="{BB962C8B-B14F-4D97-AF65-F5344CB8AC3E}">
        <p14:creationId xmlns:p14="http://schemas.microsoft.com/office/powerpoint/2010/main" val="21775254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5609" y="1668767"/>
            <a:ext cx="9306992" cy="3108543"/>
          </a:xfrm>
          <a:prstGeom prst="rect">
            <a:avLst/>
          </a:prstGeom>
        </p:spPr>
        <p:txBody>
          <a:bodyPr rtlCol="0">
            <a:spAutoFit/>
          </a:bodyPr>
          <a:lstStyle/>
          <a:p>
            <a:pPr algn="just"/>
            <a:r>
              <a:rPr lang="en-US" sz="2800" b="1" err="1">
                <a:latin typeface="Sylfaen"/>
              </a:rPr>
              <a:t>Ուսումնական</a:t>
            </a:r>
            <a:r>
              <a:rPr lang="en-US" sz="2800" b="1">
                <a:latin typeface="Sylfaen"/>
              </a:rPr>
              <a:t> </a:t>
            </a:r>
            <a:r>
              <a:rPr lang="en-US" sz="2800" b="1" err="1">
                <a:latin typeface="Sylfaen"/>
              </a:rPr>
              <a:t>հաստատության</a:t>
            </a:r>
            <a:r>
              <a:rPr lang="en-US" sz="2800" b="1">
                <a:latin typeface="Sylfaen"/>
              </a:rPr>
              <a:t> </a:t>
            </a:r>
            <a:r>
              <a:rPr lang="en-US" sz="2800" b="1" err="1">
                <a:latin typeface="Sylfaen"/>
              </a:rPr>
              <a:t>շենքը</a:t>
            </a:r>
            <a:r>
              <a:rPr lang="en-US" sz="2800" b="1">
                <a:latin typeface="Sylfaen"/>
              </a:rPr>
              <a:t> </a:t>
            </a:r>
            <a:r>
              <a:rPr lang="en-US" sz="2800" b="1" err="1">
                <a:latin typeface="Sylfaen"/>
              </a:rPr>
              <a:t>հարմարեցված</a:t>
            </a:r>
            <a:r>
              <a:rPr lang="en-US" sz="2800" b="1">
                <a:latin typeface="Sylfaen"/>
              </a:rPr>
              <a:t> է </a:t>
            </a:r>
            <a:r>
              <a:rPr lang="en-US" sz="2800" b="1" err="1">
                <a:latin typeface="Sylfaen"/>
              </a:rPr>
              <a:t>կրթության</a:t>
            </a:r>
            <a:r>
              <a:rPr lang="en-US" sz="2800" b="1">
                <a:latin typeface="Sylfaen"/>
              </a:rPr>
              <a:t> </a:t>
            </a:r>
            <a:r>
              <a:rPr lang="en-US" sz="2800" b="1" err="1">
                <a:latin typeface="Sylfaen"/>
              </a:rPr>
              <a:t>առանձնահատուկ</a:t>
            </a:r>
            <a:r>
              <a:rPr lang="en-US" sz="2800" b="1">
                <a:latin typeface="Sylfaen"/>
              </a:rPr>
              <a:t> </a:t>
            </a:r>
            <a:r>
              <a:rPr lang="en-US" sz="2800" b="1" err="1">
                <a:latin typeface="Sylfaen"/>
              </a:rPr>
              <a:t>պայմանների</a:t>
            </a:r>
            <a:r>
              <a:rPr lang="en-US" sz="2800" b="1">
                <a:latin typeface="Sylfaen"/>
              </a:rPr>
              <a:t> </a:t>
            </a:r>
            <a:r>
              <a:rPr lang="en-US" sz="2800" b="1" err="1">
                <a:latin typeface="Sylfaen"/>
              </a:rPr>
              <a:t>կարիք</a:t>
            </a:r>
            <a:r>
              <a:rPr lang="en-US" sz="2800" b="1">
                <a:latin typeface="Sylfaen"/>
              </a:rPr>
              <a:t> </a:t>
            </a:r>
            <a:r>
              <a:rPr lang="en-US" sz="2800" b="1" err="1">
                <a:latin typeface="Sylfaen"/>
              </a:rPr>
              <a:t>ունեցող</a:t>
            </a:r>
            <a:r>
              <a:rPr lang="en-US" sz="2800" b="1">
                <a:latin typeface="Sylfaen"/>
              </a:rPr>
              <a:t> (</a:t>
            </a:r>
            <a:r>
              <a:rPr lang="en-US" sz="2800" b="1" err="1">
                <a:latin typeface="Sylfaen"/>
              </a:rPr>
              <a:t>այսուհետ</a:t>
            </a:r>
            <a:r>
              <a:rPr lang="en-US" sz="2800" b="1">
                <a:latin typeface="Sylfaen"/>
              </a:rPr>
              <a:t>` ԿԱՊԿՈՒ) </a:t>
            </a:r>
            <a:r>
              <a:rPr lang="en-US" sz="2800" b="1" err="1">
                <a:latin typeface="Sylfaen"/>
              </a:rPr>
              <a:t>սովորողների</a:t>
            </a:r>
            <a:r>
              <a:rPr lang="en-US" sz="2800" b="1">
                <a:latin typeface="Sylfaen"/>
              </a:rPr>
              <a:t> </a:t>
            </a:r>
            <a:r>
              <a:rPr lang="en-US" sz="2800" b="1" err="1">
                <a:latin typeface="Sylfaen"/>
              </a:rPr>
              <a:t>անվտանգ</a:t>
            </a:r>
            <a:r>
              <a:rPr lang="en-US" sz="2800" b="1">
                <a:latin typeface="Sylfaen"/>
              </a:rPr>
              <a:t> </a:t>
            </a:r>
            <a:r>
              <a:rPr lang="en-US" sz="2800" b="1" err="1">
                <a:latin typeface="Sylfaen"/>
              </a:rPr>
              <a:t>տեղաշարժ</a:t>
            </a:r>
            <a:r>
              <a:rPr lang="en-US" sz="2800" b="1">
                <a:latin typeface="Sylfaen"/>
              </a:rPr>
              <a:t> </a:t>
            </a:r>
            <a:r>
              <a:rPr lang="en-US" sz="2800" b="1" err="1">
                <a:latin typeface="Sylfaen"/>
              </a:rPr>
              <a:t>ու</a:t>
            </a:r>
            <a:r>
              <a:rPr lang="en-US" sz="2800" b="1">
                <a:latin typeface="Sylfaen"/>
              </a:rPr>
              <a:t> </a:t>
            </a:r>
            <a:r>
              <a:rPr lang="en-US" sz="2800" b="1" err="1">
                <a:latin typeface="Sylfaen"/>
              </a:rPr>
              <a:t>ուսուցում</a:t>
            </a:r>
            <a:r>
              <a:rPr lang="en-US" sz="2800" b="1">
                <a:latin typeface="Sylfaen"/>
              </a:rPr>
              <a:t> </a:t>
            </a:r>
            <a:r>
              <a:rPr lang="en-US" sz="2800" b="1" err="1">
                <a:latin typeface="Sylfaen"/>
              </a:rPr>
              <a:t>ապահովող</a:t>
            </a:r>
            <a:r>
              <a:rPr lang="en-US" sz="2800" b="1">
                <a:latin typeface="Sylfaen"/>
              </a:rPr>
              <a:t> </a:t>
            </a:r>
            <a:r>
              <a:rPr lang="en-US" sz="2800" b="1" err="1">
                <a:latin typeface="Sylfaen"/>
              </a:rPr>
              <a:t>պայմաններին</a:t>
            </a:r>
            <a:r>
              <a:rPr lang="en-US" sz="2800" b="1">
                <a:latin typeface="Sylfaen"/>
              </a:rPr>
              <a:t> (</a:t>
            </a:r>
            <a:r>
              <a:rPr lang="en-US" sz="2800" b="1" err="1">
                <a:latin typeface="Sylfaen"/>
              </a:rPr>
              <a:t>թեք</a:t>
            </a:r>
            <a:r>
              <a:rPr lang="en-US" sz="2800" b="1">
                <a:latin typeface="Sylfaen"/>
              </a:rPr>
              <a:t> </a:t>
            </a:r>
            <a:r>
              <a:rPr lang="en-US" sz="2800" b="1" err="1">
                <a:latin typeface="Sylfaen"/>
              </a:rPr>
              <a:t>հարթակներ</a:t>
            </a:r>
            <a:r>
              <a:rPr lang="en-US" sz="2800" b="1">
                <a:latin typeface="Sylfaen"/>
              </a:rPr>
              <a:t>, </a:t>
            </a:r>
            <a:r>
              <a:rPr lang="en-US" sz="2800" b="1" err="1">
                <a:latin typeface="Sylfaen"/>
              </a:rPr>
              <a:t>լայն</a:t>
            </a:r>
            <a:r>
              <a:rPr lang="en-US" sz="2800" b="1">
                <a:latin typeface="Sylfaen"/>
              </a:rPr>
              <a:t> </a:t>
            </a:r>
            <a:r>
              <a:rPr lang="en-US" sz="2800" b="1" err="1">
                <a:latin typeface="Sylfaen"/>
              </a:rPr>
              <a:t>դռներ</a:t>
            </a:r>
            <a:r>
              <a:rPr lang="en-US" sz="2800" b="1">
                <a:latin typeface="Sylfaen"/>
              </a:rPr>
              <a:t> և </a:t>
            </a:r>
            <a:r>
              <a:rPr lang="en-US" sz="2800" b="1" err="1">
                <a:latin typeface="Sylfaen"/>
              </a:rPr>
              <a:t>այլն</a:t>
            </a:r>
            <a:r>
              <a:rPr lang="en-US" sz="2800" b="1">
                <a:latin typeface="Sylfaen"/>
              </a:rPr>
              <a:t>) :</a:t>
            </a:r>
          </a:p>
          <a:p>
            <a:pPr algn="just"/>
            <a:endParaRPr lang="en-US" sz="2800" b="1">
              <a:solidFill>
                <a:srgbClr val="000000"/>
              </a:solidFill>
              <a:latin typeface="Sylfaen"/>
            </a:endParaRPr>
          </a:p>
          <a:p>
            <a:pPr algn="just"/>
            <a:r>
              <a:rPr lang="en-US" sz="2800" b="1" err="1">
                <a:solidFill>
                  <a:srgbClr val="000000"/>
                </a:solidFill>
                <a:latin typeface="Sylfaen"/>
              </a:rPr>
              <a:t>Կա</a:t>
            </a:r>
            <a:r>
              <a:rPr lang="en-US" sz="2800" b="1">
                <a:solidFill>
                  <a:srgbClr val="000000"/>
                </a:solidFill>
                <a:latin typeface="Sylfaen"/>
              </a:rPr>
              <a:t> </a:t>
            </a:r>
            <a:r>
              <a:rPr lang="en-US" sz="2800" b="1" err="1">
                <a:solidFill>
                  <a:srgbClr val="000000"/>
                </a:solidFill>
                <a:latin typeface="Sylfaen"/>
              </a:rPr>
              <a:t>մեկ</a:t>
            </a:r>
            <a:r>
              <a:rPr lang="en-US" sz="2800" b="1">
                <a:solidFill>
                  <a:srgbClr val="000000"/>
                </a:solidFill>
                <a:latin typeface="Sylfaen"/>
              </a:rPr>
              <a:t> ԿԱՊԿ </a:t>
            </a:r>
            <a:r>
              <a:rPr lang="en-US" sz="2800" b="1" err="1">
                <a:solidFill>
                  <a:srgbClr val="000000"/>
                </a:solidFill>
                <a:latin typeface="Sylfaen"/>
              </a:rPr>
              <a:t>ունեցող</a:t>
            </a:r>
            <a:r>
              <a:rPr lang="en-US" sz="2800" b="1">
                <a:solidFill>
                  <a:srgbClr val="000000"/>
                </a:solidFill>
                <a:latin typeface="Sylfaen"/>
              </a:rPr>
              <a:t> </a:t>
            </a:r>
            <a:r>
              <a:rPr lang="en-US" sz="2800" b="1" err="1">
                <a:solidFill>
                  <a:srgbClr val="000000"/>
                </a:solidFill>
                <a:latin typeface="Sylfaen"/>
              </a:rPr>
              <a:t>սովորող</a:t>
            </a:r>
            <a:r>
              <a:rPr lang="en-US" sz="2800" b="1">
                <a:solidFill>
                  <a:srgbClr val="000000"/>
                </a:solidFill>
                <a:latin typeface="Sylfaen"/>
              </a:rPr>
              <a:t>:</a:t>
            </a:r>
          </a:p>
        </p:txBody>
      </p:sp>
    </p:spTree>
    <p:extLst>
      <p:ext uri="{BB962C8B-B14F-4D97-AF65-F5344CB8AC3E}">
        <p14:creationId xmlns:p14="http://schemas.microsoft.com/office/powerpoint/2010/main" val="2124805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y-AM" sz="1100" b="1" i="1" u="none" strike="noStrike" cap="none" normalizeH="0" baseline="0">
                <a:ln>
                  <a:noFill/>
                </a:ln>
                <a:solidFill>
                  <a:schemeClr val="tx1"/>
                </a:solidFill>
                <a:effectLst/>
                <a:latin typeface="Sylfaen" pitchFamily="18" charset="0"/>
                <a:ea typeface="Times New Roman" pitchFamily="18" charset="0"/>
                <a:cs typeface="Times New Roman" pitchFamily="18" charset="0"/>
              </a:rPr>
              <a:t>Աղյուսակ 28. Հաստատությունում ներառական կրթության իրականացմանը վերաբերվող չափանիշներ</a:t>
            </a:r>
            <a:endParaRPr kumimoji="0" lang="hy-AM"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17208091"/>
              </p:ext>
            </p:extLst>
          </p:nvPr>
        </p:nvGraphicFramePr>
        <p:xfrm>
          <a:off x="264695" y="394814"/>
          <a:ext cx="11020925" cy="6309360"/>
        </p:xfrm>
        <a:graphic>
          <a:graphicData uri="http://schemas.openxmlformats.org/drawingml/2006/table">
            <a:tbl>
              <a:tblPr/>
              <a:tblGrid>
                <a:gridCol w="4266595">
                  <a:extLst>
                    <a:ext uri="{9D8B030D-6E8A-4147-A177-3AD203B41FA5}">
                      <a16:colId xmlns:a16="http://schemas.microsoft.com/office/drawing/2014/main" val="20000"/>
                    </a:ext>
                  </a:extLst>
                </a:gridCol>
                <a:gridCol w="631965">
                  <a:extLst>
                    <a:ext uri="{9D8B030D-6E8A-4147-A177-3AD203B41FA5}">
                      <a16:colId xmlns:a16="http://schemas.microsoft.com/office/drawing/2014/main" val="20001"/>
                    </a:ext>
                  </a:extLst>
                </a:gridCol>
                <a:gridCol w="473695">
                  <a:extLst>
                    <a:ext uri="{9D8B030D-6E8A-4147-A177-3AD203B41FA5}">
                      <a16:colId xmlns:a16="http://schemas.microsoft.com/office/drawing/2014/main" val="20002"/>
                    </a:ext>
                  </a:extLst>
                </a:gridCol>
                <a:gridCol w="5648670">
                  <a:extLst>
                    <a:ext uri="{9D8B030D-6E8A-4147-A177-3AD203B41FA5}">
                      <a16:colId xmlns:a16="http://schemas.microsoft.com/office/drawing/2014/main" val="20003"/>
                    </a:ext>
                  </a:extLst>
                </a:gridCol>
              </a:tblGrid>
              <a:tr h="87539">
                <a:tc>
                  <a:txBody>
                    <a:bodyPr/>
                    <a:lstStyle/>
                    <a:p>
                      <a:pPr marL="0" marR="0" indent="0" algn="just">
                        <a:lnSpc>
                          <a:spcPct val="115000"/>
                        </a:lnSpc>
                        <a:spcBef>
                          <a:spcPts val="0"/>
                        </a:spcBef>
                        <a:spcAft>
                          <a:spcPts val="0"/>
                        </a:spcAft>
                      </a:pPr>
                      <a:r>
                        <a:rPr lang="hy-AM" sz="1000">
                          <a:latin typeface="Sylfaen"/>
                          <a:ea typeface="Calibri"/>
                          <a:cs typeface="Times New Roman"/>
                        </a:rPr>
                        <a:t>Չափանիշ</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Այո</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Sylfaen"/>
                        </a:rPr>
                        <a:t>Ոչ</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Sylfaen"/>
                        </a:rPr>
                        <a:t>Մենաբանություն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2616">
                <a:tc>
                  <a:txBody>
                    <a:bodyPr/>
                    <a:lstStyle/>
                    <a:p>
                      <a:pPr marL="0" marR="0" indent="0" algn="just">
                        <a:lnSpc>
                          <a:spcPct val="115000"/>
                        </a:lnSpc>
                      </a:pPr>
                      <a:r>
                        <a:rPr lang="hy-AM" sz="1000">
                          <a:latin typeface="Calibri"/>
                          <a:ea typeface="Times New Roman"/>
                          <a:cs typeface="Times New Roman"/>
                        </a:rPr>
                        <a:t>Ներառական կրթության զարգացումը որպես նպատակ ամրագրված է </a:t>
                      </a:r>
                      <a:r>
                        <a:rPr lang="ru-RU" sz="1000">
                          <a:latin typeface="Calibri"/>
                          <a:ea typeface="Times New Roman"/>
                          <a:cs typeface="Times New Roman"/>
                        </a:rPr>
                        <a:t>դպրոցի</a:t>
                      </a:r>
                      <a:r>
                        <a:rPr lang="hy-AM" sz="1000">
                          <a:latin typeface="Calibri"/>
                          <a:ea typeface="Times New Roman"/>
                          <a:cs typeface="Times New Roman"/>
                        </a:rPr>
                        <a:t> զարգացման ծրագրում</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5234">
                <a:tc>
                  <a:txBody>
                    <a:bodyPr/>
                    <a:lstStyle/>
                    <a:p>
                      <a:pPr marL="0" marR="0" indent="0" algn="just">
                        <a:lnSpc>
                          <a:spcPct val="115000"/>
                        </a:lnSpc>
                      </a:pPr>
                      <a:r>
                        <a:rPr lang="hy-AM" sz="1000">
                          <a:latin typeface="Calibri"/>
                          <a:ea typeface="Times New Roman"/>
                          <a:cs typeface="Times New Roman"/>
                        </a:rPr>
                        <a:t>Ուսումնական հաստատության զարգաց</a:t>
                      </a:r>
                      <a:r>
                        <a:rPr lang="ru-RU" sz="1000">
                          <a:latin typeface="Calibri"/>
                          <a:ea typeface="Times New Roman"/>
                          <a:cs typeface="Times New Roman"/>
                        </a:rPr>
                        <a:t>­</a:t>
                      </a:r>
                      <a:r>
                        <a:rPr lang="hy-AM" sz="1000">
                          <a:latin typeface="Calibri"/>
                          <a:ea typeface="Times New Roman"/>
                          <a:cs typeface="Times New Roman"/>
                        </a:rPr>
                        <a:t>ման ծրագրում պլանավորված են ներա</a:t>
                      </a:r>
                      <a:r>
                        <a:rPr lang="ru-RU" sz="1000">
                          <a:latin typeface="Calibri"/>
                          <a:ea typeface="Times New Roman"/>
                          <a:cs typeface="Times New Roman"/>
                        </a:rPr>
                        <a:t>­</a:t>
                      </a:r>
                      <a:r>
                        <a:rPr lang="hy-AM" sz="1000">
                          <a:latin typeface="Calibri"/>
                          <a:ea typeface="Times New Roman"/>
                          <a:cs typeface="Times New Roman"/>
                        </a:rPr>
                        <a:t>ռա</a:t>
                      </a:r>
                      <a:r>
                        <a:rPr lang="ru-RU" sz="1000">
                          <a:latin typeface="Calibri"/>
                          <a:ea typeface="Times New Roman"/>
                          <a:cs typeface="Times New Roman"/>
                        </a:rPr>
                        <a:t>­</a:t>
                      </a:r>
                      <a:r>
                        <a:rPr lang="hy-AM" sz="1000">
                          <a:latin typeface="Calibri"/>
                          <a:ea typeface="Times New Roman"/>
                          <a:cs typeface="Times New Roman"/>
                        </a:rPr>
                        <a:t>կան կրթ</a:t>
                      </a:r>
                      <a:r>
                        <a:rPr lang="ru-RU" sz="1000">
                          <a:latin typeface="Calibri"/>
                          <a:ea typeface="Times New Roman"/>
                          <a:cs typeface="Times New Roman"/>
                        </a:rPr>
                        <a:t>.</a:t>
                      </a:r>
                      <a:r>
                        <a:rPr lang="hy-AM" sz="1000">
                          <a:latin typeface="Calibri"/>
                          <a:ea typeface="Times New Roman"/>
                          <a:cs typeface="Times New Roman"/>
                        </a:rPr>
                        <a:t> ապահովմանն ուղղված համապատասխան միջոցառում</a:t>
                      </a:r>
                      <a:r>
                        <a:rPr lang="ru-RU" sz="1000">
                          <a:latin typeface="Calibri"/>
                          <a:ea typeface="Times New Roman"/>
                          <a:cs typeface="Times New Roman"/>
                        </a:rPr>
                        <a:t>­</a:t>
                      </a:r>
                      <a:r>
                        <a:rPr lang="hy-AM" sz="1000">
                          <a:latin typeface="Calibri"/>
                          <a:ea typeface="Times New Roman"/>
                          <a:cs typeface="Times New Roman"/>
                        </a:rPr>
                        <a:t>ներ, այդ թվում՝ ուսուցիչների վերապատրաստումներ</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0156">
                <a:tc>
                  <a:txBody>
                    <a:bodyPr/>
                    <a:lstStyle/>
                    <a:p>
                      <a:pPr marL="0" marR="0" indent="0" algn="just">
                        <a:lnSpc>
                          <a:spcPct val="115000"/>
                        </a:lnSpc>
                      </a:pPr>
                      <a:r>
                        <a:rPr lang="hy-AM" sz="1000">
                          <a:latin typeface="Calibri"/>
                          <a:ea typeface="Times New Roman"/>
                          <a:cs typeface="Times New Roman"/>
                        </a:rPr>
                        <a:t>Ուսումնական հաստատության տնօրենն ունի ներառական կրթության գործընթացի համակարգման լիազորություններով օժտված տեղակալ </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0156">
                <a:tc>
                  <a:txBody>
                    <a:bodyPr/>
                    <a:lstStyle/>
                    <a:p>
                      <a:pPr marL="0" marR="0" indent="0" algn="just">
                        <a:lnSpc>
                          <a:spcPct val="115000"/>
                        </a:lnSpc>
                        <a:spcBef>
                          <a:spcPts val="0"/>
                        </a:spcBef>
                        <a:spcAft>
                          <a:spcPts val="0"/>
                        </a:spcAft>
                      </a:pPr>
                      <a:r>
                        <a:rPr lang="hy-AM" sz="1000">
                          <a:latin typeface="Sylfaen"/>
                          <a:ea typeface="Calibri"/>
                          <a:cs typeface="Times New Roman"/>
                        </a:rPr>
                        <a:t>Ուսումնական </a:t>
                      </a:r>
                      <a:r>
                        <a:rPr lang="hy-AM" sz="1000">
                          <a:latin typeface="Sylfaen"/>
                          <a:ea typeface="Calibri"/>
                          <a:cs typeface="Sylfaen"/>
                        </a:rPr>
                        <a:t>հաստատության վեբ կայքում գործում է ներառական կրթության բաժին` ընտանիքի և համայնքիհետ հետադարձ կապի հնարավորությամբ</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7695">
                <a:tc>
                  <a:txBody>
                    <a:bodyPr/>
                    <a:lstStyle/>
                    <a:p>
                      <a:pPr marL="0" marR="0" indent="0" algn="l">
                        <a:lnSpc>
                          <a:spcPct val="115000"/>
                        </a:lnSpc>
                      </a:pPr>
                      <a:r>
                        <a:rPr lang="hy-AM" sz="1000">
                          <a:latin typeface="Calibri"/>
                          <a:ea typeface="Times New Roman"/>
                          <a:cs typeface="Times New Roman"/>
                        </a:rPr>
                        <a:t>Ուսումնական հաստատությունն իրականացնում է երեխաների հավասար իրավունքներին, հանդուրժողականությանը նվիրված և նման այլ ուս</a:t>
                      </a:r>
                      <a:r>
                        <a:rPr lang="ru-RU" sz="1000">
                          <a:latin typeface="Calibri"/>
                          <a:ea typeface="Times New Roman"/>
                          <a:cs typeface="Times New Roman"/>
                        </a:rPr>
                        <a:t>. </a:t>
                      </a:r>
                      <a:r>
                        <a:rPr lang="hy-AM" sz="1000">
                          <a:latin typeface="Calibri"/>
                          <a:ea typeface="Times New Roman"/>
                          <a:cs typeface="Times New Roman"/>
                        </a:rPr>
                        <a:t> ծրագրեր: </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i="0">
                          <a:latin typeface="Sylfaen"/>
                          <a:ea typeface="Times New Roman"/>
                          <a:cs typeface="Times New Roma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tabLst>
                          <a:tab pos="501015" algn="l"/>
                        </a:tabLst>
                      </a:pPr>
                      <a:r>
                        <a:rPr lang="en-US" sz="1000" dirty="0" err="1">
                          <a:latin typeface="Sylfaen"/>
                          <a:ea typeface="Calibri"/>
                          <a:cs typeface="Sylfaen"/>
                        </a:rPr>
                        <a:t>Հայկական</a:t>
                      </a:r>
                      <a:r>
                        <a:rPr lang="en-US" sz="1000" dirty="0">
                          <a:latin typeface="Sylfaen"/>
                          <a:ea typeface="Calibri"/>
                          <a:cs typeface="Sylfaen"/>
                        </a:rPr>
                        <a:t> </a:t>
                      </a:r>
                      <a:r>
                        <a:rPr lang="en-US" sz="1000" dirty="0" err="1">
                          <a:latin typeface="Sylfaen"/>
                          <a:ea typeface="Calibri"/>
                          <a:cs typeface="Sylfaen"/>
                        </a:rPr>
                        <a:t>Կարմիր</a:t>
                      </a:r>
                      <a:r>
                        <a:rPr lang="en-US" sz="1000" dirty="0">
                          <a:latin typeface="Sylfaen"/>
                          <a:ea typeface="Calibri"/>
                          <a:cs typeface="Sylfaen"/>
                        </a:rPr>
                        <a:t> </a:t>
                      </a:r>
                      <a:r>
                        <a:rPr lang="en-US" sz="1000" dirty="0" err="1">
                          <a:latin typeface="Sylfaen"/>
                          <a:ea typeface="Calibri"/>
                          <a:cs typeface="Sylfaen"/>
                        </a:rPr>
                        <a:t>խաչի</a:t>
                      </a:r>
                      <a:r>
                        <a:rPr lang="en-US" sz="1000" dirty="0">
                          <a:latin typeface="Sylfaen"/>
                          <a:ea typeface="Calibri"/>
                          <a:cs typeface="Sylfaen"/>
                        </a:rPr>
                        <a:t> </a:t>
                      </a:r>
                      <a:r>
                        <a:rPr lang="en-US" sz="1000" dirty="0" err="1">
                          <a:latin typeface="Sylfaen"/>
                          <a:ea typeface="Calibri"/>
                          <a:cs typeface="Sylfaen"/>
                        </a:rPr>
                        <a:t>ընկերության</a:t>
                      </a:r>
                      <a:r>
                        <a:rPr lang="en-US" sz="1000" dirty="0">
                          <a:latin typeface="Sylfaen"/>
                          <a:ea typeface="Calibri"/>
                          <a:cs typeface="Sylfaen"/>
                        </a:rPr>
                        <a:t> </a:t>
                      </a:r>
                      <a:r>
                        <a:rPr lang="en-US" sz="1000" dirty="0" err="1">
                          <a:latin typeface="Sylfaen"/>
                          <a:ea typeface="Calibri"/>
                          <a:cs typeface="Sylfaen"/>
                        </a:rPr>
                        <a:t>կողմից</a:t>
                      </a:r>
                      <a:r>
                        <a:rPr lang="en-US" sz="1000" dirty="0">
                          <a:latin typeface="Sylfaen"/>
                          <a:ea typeface="Calibri"/>
                          <a:cs typeface="Sylfaen"/>
                        </a:rPr>
                        <a:t> </a:t>
                      </a:r>
                      <a:r>
                        <a:rPr lang="en-US" sz="1000" dirty="0" err="1">
                          <a:latin typeface="Sylfaen"/>
                          <a:ea typeface="Calibri"/>
                          <a:cs typeface="Sylfaen"/>
                        </a:rPr>
                        <a:t>կազմակերպված</a:t>
                      </a:r>
                      <a:r>
                        <a:rPr lang="en-US" sz="1000" dirty="0">
                          <a:latin typeface="Sylfaen"/>
                          <a:ea typeface="Calibri"/>
                          <a:cs typeface="Sylfaen"/>
                        </a:rPr>
                        <a:t> </a:t>
                      </a:r>
                      <a:r>
                        <a:rPr lang="en-US" sz="1000" dirty="0" err="1">
                          <a:latin typeface="Sylfaen"/>
                          <a:ea typeface="Calibri"/>
                          <a:cs typeface="Sylfaen"/>
                        </a:rPr>
                        <a:t>համատեղ</a:t>
                      </a:r>
                      <a:r>
                        <a:rPr lang="en-US" sz="1000" dirty="0">
                          <a:latin typeface="Sylfaen"/>
                          <a:ea typeface="Calibri"/>
                          <a:cs typeface="Sylfaen"/>
                        </a:rPr>
                        <a:t> </a:t>
                      </a:r>
                      <a:r>
                        <a:rPr lang="en-US" sz="1000" dirty="0" err="1">
                          <a:latin typeface="Sylfaen"/>
                          <a:ea typeface="Calibri"/>
                          <a:cs typeface="Sylfaen"/>
                        </a:rPr>
                        <a:t>կրթական</a:t>
                      </a:r>
                      <a:r>
                        <a:rPr lang="en-US" sz="1000" dirty="0">
                          <a:latin typeface="Sylfaen"/>
                          <a:ea typeface="Calibri"/>
                          <a:cs typeface="Sylfaen"/>
                        </a:rPr>
                        <a:t> </a:t>
                      </a:r>
                      <a:r>
                        <a:rPr lang="en-US" sz="1000" dirty="0" err="1">
                          <a:latin typeface="Sylfaen"/>
                          <a:ea typeface="Calibri"/>
                          <a:cs typeface="Sylfaen"/>
                        </a:rPr>
                        <a:t>ծրագիր</a:t>
                      </a:r>
                      <a:r>
                        <a:rPr lang="ru-RU" sz="1000" dirty="0">
                          <a:latin typeface="Sylfaen"/>
                          <a:ea typeface="Calibri"/>
                          <a:cs typeface="Sylfaen"/>
                        </a:rPr>
                        <a:t>` </a:t>
                      </a:r>
                      <a:r>
                        <a:rPr lang="en-US" sz="1000" dirty="0" err="1">
                          <a:latin typeface="Sylfaen"/>
                          <a:ea typeface="Calibri"/>
                          <a:cs typeface="Sylfaen"/>
                        </a:rPr>
                        <a:t>նվիրված</a:t>
                      </a:r>
                      <a:r>
                        <a:rPr lang="en-US" sz="1000" dirty="0">
                          <a:latin typeface="Sylfaen"/>
                          <a:ea typeface="Calibri"/>
                          <a:cs typeface="Sylfaen"/>
                        </a:rPr>
                        <a:t> </a:t>
                      </a:r>
                      <a:r>
                        <a:rPr lang="en-US" sz="1000" dirty="0" err="1">
                          <a:latin typeface="Sylfaen"/>
                          <a:ea typeface="Calibri"/>
                          <a:cs typeface="Sylfaen"/>
                        </a:rPr>
                        <a:t>հանդուրժողականությանը</a:t>
                      </a:r>
                      <a:r>
                        <a:rPr lang="ru-RU" sz="1000" dirty="0">
                          <a:latin typeface="Sylfaen"/>
                          <a:ea typeface="Calibri"/>
                          <a:cs typeface="Sylfaen"/>
                        </a:rPr>
                        <a:t> &lt;&lt;</a:t>
                      </a:r>
                      <a:r>
                        <a:rPr lang="en-US" sz="1000" dirty="0" err="1">
                          <a:latin typeface="Sylfaen"/>
                          <a:ea typeface="Calibri"/>
                          <a:cs typeface="Sylfaen"/>
                        </a:rPr>
                        <a:t>Հոգեբանական</a:t>
                      </a:r>
                      <a:r>
                        <a:rPr lang="en-US" sz="1000" dirty="0">
                          <a:latin typeface="Sylfaen"/>
                          <a:ea typeface="Calibri"/>
                          <a:cs typeface="Sylfaen"/>
                        </a:rPr>
                        <a:t> </a:t>
                      </a:r>
                      <a:r>
                        <a:rPr lang="en-US" sz="1000" dirty="0" err="1">
                          <a:latin typeface="Sylfaen"/>
                          <a:ea typeface="Calibri"/>
                          <a:cs typeface="Sylfaen"/>
                        </a:rPr>
                        <a:t>առաջին</a:t>
                      </a:r>
                      <a:r>
                        <a:rPr lang="en-US" sz="1000" dirty="0">
                          <a:latin typeface="Sylfaen"/>
                          <a:ea typeface="Calibri"/>
                          <a:cs typeface="Sylfaen"/>
                        </a:rPr>
                        <a:t> </a:t>
                      </a:r>
                      <a:r>
                        <a:rPr lang="en-US" sz="1000" dirty="0" err="1">
                          <a:latin typeface="Sylfaen"/>
                          <a:ea typeface="Calibri"/>
                          <a:cs typeface="Sylfaen"/>
                        </a:rPr>
                        <a:t>օգնություն</a:t>
                      </a:r>
                      <a:r>
                        <a:rPr lang="ru-RU" sz="1000" dirty="0">
                          <a:latin typeface="Sylfaen"/>
                          <a:ea typeface="Calibri"/>
                          <a:cs typeface="Sylfaen"/>
                        </a:rPr>
                        <a:t>&gt;&gt;  </a:t>
                      </a:r>
                      <a:r>
                        <a:rPr lang="en-US" sz="1000" dirty="0" err="1" smtClean="0">
                          <a:latin typeface="Sylfaen"/>
                          <a:ea typeface="Calibri"/>
                          <a:cs typeface="Sylfaen"/>
                        </a:rPr>
                        <a:t>թեմայով</a:t>
                      </a:r>
                      <a:r>
                        <a:rPr lang="en-US" sz="1000" dirty="0" smtClean="0">
                          <a:latin typeface="Sylfaen"/>
                          <a:ea typeface="Calibri"/>
                          <a:cs typeface="Sylfaen"/>
                        </a:rPr>
                        <a:t>,</a:t>
                      </a:r>
                      <a:r>
                        <a:rPr lang="ru-RU" sz="1000" dirty="0" smtClean="0">
                          <a:latin typeface="Sylfaen"/>
                          <a:ea typeface="Calibri"/>
                          <a:cs typeface="Sylfaen"/>
                        </a:rPr>
                        <a:t> </a:t>
                      </a:r>
                      <a:r>
                        <a:rPr lang="en-US" sz="1000" dirty="0" smtClean="0">
                          <a:latin typeface="Sylfaen"/>
                          <a:ea typeface="Calibri"/>
                          <a:cs typeface="Sylfaen"/>
                        </a:rPr>
                        <a:t>«</a:t>
                      </a:r>
                      <a:r>
                        <a:rPr lang="en-US" sz="1000" dirty="0" err="1" smtClean="0">
                          <a:latin typeface="Sylfaen"/>
                          <a:ea typeface="Calibri"/>
                          <a:cs typeface="Sylfaen"/>
                        </a:rPr>
                        <a:t>Հանդուրժողականության</a:t>
                      </a:r>
                      <a:r>
                        <a:rPr lang="en-US" sz="1000" baseline="0" dirty="0" smtClean="0">
                          <a:latin typeface="Sylfaen"/>
                          <a:ea typeface="Calibri"/>
                          <a:cs typeface="Sylfaen"/>
                        </a:rPr>
                        <a:t>» </a:t>
                      </a:r>
                      <a:r>
                        <a:rPr lang="en-US" sz="1000" baseline="0" dirty="0" err="1" smtClean="0">
                          <a:latin typeface="Sylfaen"/>
                          <a:ea typeface="Calibri"/>
                          <a:cs typeface="Sylfaen"/>
                        </a:rPr>
                        <a:t>թեմայով</a:t>
                      </a:r>
                      <a:r>
                        <a:rPr lang="en-US" sz="1000" baseline="0" dirty="0" smtClean="0">
                          <a:latin typeface="Sylfaen"/>
                          <a:ea typeface="Calibri"/>
                          <a:cs typeface="Sylfaen"/>
                        </a:rPr>
                        <a:t> </a:t>
                      </a:r>
                      <a:r>
                        <a:rPr lang="en-US" sz="1000" baseline="0" dirty="0" err="1" smtClean="0">
                          <a:latin typeface="Sylfaen"/>
                          <a:ea typeface="Calibri"/>
                          <a:cs typeface="Sylfaen"/>
                        </a:rPr>
                        <a:t>սեմինար-քննարկումներ</a:t>
                      </a:r>
                      <a:r>
                        <a:rPr lang="en-US" sz="1000" baseline="0" dirty="0" smtClean="0">
                          <a:latin typeface="Sylfaen"/>
                          <a:ea typeface="Calibri"/>
                          <a:cs typeface="Sylfaen"/>
                        </a:rPr>
                        <a:t>:</a:t>
                      </a:r>
                      <a:endParaRPr lang="en-US" sz="1000" dirty="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50156">
                <a:tc>
                  <a:txBody>
                    <a:bodyPr/>
                    <a:lstStyle/>
                    <a:p>
                      <a:pPr marL="0" marR="0" indent="0" algn="l">
                        <a:lnSpc>
                          <a:spcPct val="115000"/>
                        </a:lnSpc>
                      </a:pPr>
                      <a:r>
                        <a:rPr lang="hy-AM" sz="1000">
                          <a:latin typeface="Calibri"/>
                          <a:ea typeface="Times New Roman"/>
                          <a:cs typeface="Times New Roman"/>
                        </a:rPr>
                        <a:t>Վերջին 5 տարում տնօրինությունը մասնակցել է ներառական հաստատությունների կառավարման թեմայով վերապրաստման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2773">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հաստատությունն ունի ներառական կրթության թեմաներով վերապատրաստված և վերապատրաստող ուսուցիչներ: Վերջին 5 տարում ներառական կրթության թեմաներով վերապատրաստում անցած ուսուցիչների թիվը:</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50156">
                <a:tc>
                  <a:txBody>
                    <a:bodyPr/>
                    <a:lstStyle/>
                    <a:p>
                      <a:pPr marL="0" marR="0" indent="0" algn="l">
                        <a:lnSpc>
                          <a:spcPct val="115000"/>
                        </a:lnSpc>
                      </a:pPr>
                      <a:r>
                        <a:rPr lang="hy-AM" sz="1000">
                          <a:latin typeface="Calibri"/>
                          <a:ea typeface="Times New Roman"/>
                          <a:cs typeface="Times New Roman"/>
                        </a:rPr>
                        <a:t>Ուսումնական հաստատությունում ամենուրեք տեղաշարժման տարբեր խնդիրներ ունեցող անձնաց համար ապահովված է ֆիզիկական մատչելիություն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r>
                        <a:rPr lang="en-US" sz="1000" err="1">
                          <a:latin typeface="Calibri"/>
                          <a:ea typeface="Times New Roman"/>
                          <a:cs typeface="Times New Roman"/>
                        </a:rPr>
                        <a:t>Հարմարեցված</a:t>
                      </a:r>
                      <a:r>
                        <a:rPr lang="en-US" sz="1000" baseline="0">
                          <a:latin typeface="Calibri"/>
                          <a:ea typeface="Times New Roman"/>
                          <a:cs typeface="Times New Roman"/>
                        </a:rPr>
                        <a:t> է </a:t>
                      </a:r>
                      <a:r>
                        <a:rPr lang="en-US" sz="1000" baseline="0" err="1">
                          <a:latin typeface="Calibri"/>
                          <a:ea typeface="Times New Roman"/>
                          <a:cs typeface="Times New Roman"/>
                        </a:rPr>
                        <a:t>միայն</a:t>
                      </a:r>
                      <a:r>
                        <a:rPr lang="en-US" sz="1000" baseline="0">
                          <a:latin typeface="Calibri"/>
                          <a:ea typeface="Times New Roman"/>
                          <a:cs typeface="Times New Roman"/>
                        </a:rPr>
                        <a:t> </a:t>
                      </a:r>
                      <a:r>
                        <a:rPr lang="en-US" sz="1000" baseline="0" err="1">
                          <a:latin typeface="Calibri"/>
                          <a:ea typeface="Times New Roman"/>
                          <a:cs typeface="Times New Roman"/>
                        </a:rPr>
                        <a:t>առաջին</a:t>
                      </a:r>
                      <a:r>
                        <a:rPr lang="en-US" sz="1000" baseline="0">
                          <a:latin typeface="Calibri"/>
                          <a:ea typeface="Times New Roman"/>
                          <a:cs typeface="Times New Roman"/>
                        </a:rPr>
                        <a:t> </a:t>
                      </a:r>
                      <a:r>
                        <a:rPr lang="en-US" sz="1000" baseline="0" err="1">
                          <a:latin typeface="Calibri"/>
                          <a:ea typeface="Times New Roman"/>
                          <a:cs typeface="Times New Roman"/>
                        </a:rPr>
                        <a:t>հարկը</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21751">
                <a:tc>
                  <a:txBody>
                    <a:bodyPr/>
                    <a:lstStyle/>
                    <a:p>
                      <a:pPr marL="0" marR="0" indent="0" algn="l">
                        <a:lnSpc>
                          <a:spcPct val="115000"/>
                        </a:lnSpc>
                      </a:pPr>
                      <a:r>
                        <a:rPr lang="hy-AM" sz="1000">
                          <a:latin typeface="Calibri"/>
                          <a:ea typeface="Times New Roman"/>
                          <a:cs typeface="Times New Roman"/>
                        </a:rPr>
                        <a:t>Հաստատությունն ունի ԿԱՊԿ ունեցող սովորողների հոգեբանաման-կավարժական աջակցության թիմ</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50156">
                <a:tc>
                  <a:txBody>
                    <a:bodyPr/>
                    <a:lstStyle/>
                    <a:p>
                      <a:pPr marL="0" marR="0" indent="0" algn="l">
                        <a:lnSpc>
                          <a:spcPct val="115000"/>
                        </a:lnSpc>
                        <a:spcBef>
                          <a:spcPts val="0"/>
                        </a:spcBef>
                        <a:spcAft>
                          <a:spcPts val="0"/>
                        </a:spcAft>
                      </a:pPr>
                      <a:r>
                        <a:rPr lang="hy-AM" sz="1000">
                          <a:latin typeface="Sylfaen"/>
                          <a:ea typeface="Calibri"/>
                          <a:cs typeface="Times New Roman"/>
                        </a:rPr>
                        <a:t>ԿԱՊԿ ունեցող սովորողներն ապահովված են դասագրքերով, գրենական պիտույքներով, հարմարանքներով, այլ պարագաներով</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en-US" sz="1000">
                          <a:latin typeface="Sylfaen"/>
                          <a:ea typeface="Times New Roman"/>
                          <a:cs typeface="Times New Roman"/>
                        </a:rPr>
                        <a:t>+</a:t>
                      </a: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525234">
                <a:tc>
                  <a:txBody>
                    <a:bodyPr/>
                    <a:lstStyle/>
                    <a:p>
                      <a:pPr marL="0" marR="0" indent="0" algn="l">
                        <a:lnSpc>
                          <a:spcPct val="115000"/>
                        </a:lnSpc>
                        <a:spcBef>
                          <a:spcPts val="0"/>
                        </a:spcBef>
                        <a:spcAft>
                          <a:spcPts val="0"/>
                        </a:spcAft>
                      </a:pPr>
                      <a:r>
                        <a:rPr lang="hy-AM" sz="1000">
                          <a:latin typeface="Sylfaen"/>
                          <a:ea typeface="Calibri"/>
                          <a:cs typeface="Times New Roman"/>
                        </a:rPr>
                        <a:t>Հաստատությունում առկա են ուսումնամեթոդական նութեր և սարքավորումներ՝ լսողության և տեսողության գործառույթի բացակայություն կամ սահմանափակում ունեցող աշակերտների համար</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37695">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հաստատության դասասենյակների դասավորվածությունն այնպիսին է, որ </a:t>
                      </a:r>
                      <a:r>
                        <a:rPr lang="hy-AM" sz="1000">
                          <a:latin typeface="Sylfaen"/>
                          <a:ea typeface="Calibri"/>
                          <a:cs typeface="Sylfaen"/>
                        </a:rPr>
                        <a:t>ԿԱՊԿ</a:t>
                      </a:r>
                      <a:r>
                        <a:rPr lang="hy-AM" sz="1000">
                          <a:latin typeface="Sylfaen"/>
                          <a:ea typeface="Calibri"/>
                          <a:cs typeface="Times New Roman"/>
                        </a:rPr>
                        <a:t>ունեցող սովորողները մեկուսացված չեն</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en-US" sz="1000">
                          <a:latin typeface="Sylfaen"/>
                          <a:ea typeface="Times New Roman"/>
                          <a:cs typeface="Times New Roman"/>
                        </a:rPr>
                        <a:t>+</a:t>
                      </a: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i="1">
                        <a:latin typeface="Sylfaen"/>
                        <a:ea typeface="Times New Roman"/>
                        <a:cs typeface="Times New Roman"/>
                      </a:endParaRPr>
                    </a:p>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62616">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հաստատությունն ունի ռեսուրս-սենյակ՝ </a:t>
                      </a:r>
                      <a:r>
                        <a:rPr lang="hy-AM" sz="1000">
                          <a:latin typeface="Sylfaen"/>
                          <a:ea typeface="Calibri"/>
                          <a:cs typeface="Sylfaen"/>
                        </a:rPr>
                        <a:t>ԿԱՊԿ </a:t>
                      </a:r>
                      <a:r>
                        <a:rPr lang="hy-AM" sz="1000">
                          <a:latin typeface="Sylfaen"/>
                          <a:ea typeface="Calibri"/>
                          <a:cs typeface="Times New Roman"/>
                        </a:rPr>
                        <a:t>ունեցող սովորողների համար</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dirty="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
            </a: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7" name="Rectangle 3"/>
          <p:cNvSpPr>
            <a:spLocks noChangeArrowheads="1"/>
          </p:cNvSpPr>
          <p:nvPr/>
        </p:nvSpPr>
        <p:spPr bwMode="auto">
          <a:xfrm>
            <a:off x="0" y="0"/>
            <a:ext cx="4022725" cy="7938"/>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a:hlinkClick r:id="" action="ppaction://noaction"/>
          </p:cNvPr>
          <p:cNvSpPr>
            <a:spLocks noChangeArrowheads="1"/>
          </p:cNvSpPr>
          <p:nvPr/>
        </p:nvSpPr>
        <p:spPr bwMode="auto">
          <a:xfrm>
            <a:off x="0" y="7938"/>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
          <p:cNvSpPr>
            <a:spLocks noChangeArrowheads="1"/>
          </p:cNvSpPr>
          <p:nvPr/>
        </p:nvSpPr>
        <p:spPr bwMode="auto">
          <a:xfrm>
            <a:off x="168737" y="74711"/>
            <a:ext cx="11854527" cy="30777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y-AM" sz="1400" b="1" i="1" u="none" strike="noStrike" cap="none" normalizeH="0" baseline="0">
                <a:ln>
                  <a:noFill/>
                </a:ln>
                <a:solidFill>
                  <a:schemeClr val="tx1"/>
                </a:solidFill>
                <a:effectLst/>
                <a:latin typeface="Sylfaen" pitchFamily="18" charset="0"/>
                <a:ea typeface="Times New Roman" pitchFamily="18" charset="0"/>
                <a:cs typeface="Arial" pitchFamily="34" charset="0"/>
              </a:rPr>
              <a:t>Աղյուսակ 29. Տվյալներ հաստատությունում ներառական կրթության իրականացման և հավասարության ապահովման խնդիրների վերաբերյալ</a:t>
            </a:r>
            <a:endParaRPr kumimoji="0" lang="hy-AM" sz="14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899090425"/>
              </p:ext>
            </p:extLst>
          </p:nvPr>
        </p:nvGraphicFramePr>
        <p:xfrm>
          <a:off x="926432" y="733926"/>
          <a:ext cx="10623885" cy="5728155"/>
        </p:xfrm>
        <a:graphic>
          <a:graphicData uri="http://schemas.openxmlformats.org/drawingml/2006/table">
            <a:tbl>
              <a:tblPr/>
              <a:tblGrid>
                <a:gridCol w="6582719">
                  <a:extLst>
                    <a:ext uri="{9D8B030D-6E8A-4147-A177-3AD203B41FA5}">
                      <a16:colId xmlns:a16="http://schemas.microsoft.com/office/drawing/2014/main" val="20000"/>
                    </a:ext>
                  </a:extLst>
                </a:gridCol>
                <a:gridCol w="1360896">
                  <a:extLst>
                    <a:ext uri="{9D8B030D-6E8A-4147-A177-3AD203B41FA5}">
                      <a16:colId xmlns:a16="http://schemas.microsoft.com/office/drawing/2014/main" val="20001"/>
                    </a:ext>
                  </a:extLst>
                </a:gridCol>
                <a:gridCol w="1223184">
                  <a:extLst>
                    <a:ext uri="{9D8B030D-6E8A-4147-A177-3AD203B41FA5}">
                      <a16:colId xmlns:a16="http://schemas.microsoft.com/office/drawing/2014/main" val="20002"/>
                    </a:ext>
                  </a:extLst>
                </a:gridCol>
                <a:gridCol w="1457086">
                  <a:extLst>
                    <a:ext uri="{9D8B030D-6E8A-4147-A177-3AD203B41FA5}">
                      <a16:colId xmlns:a16="http://schemas.microsoft.com/office/drawing/2014/main" val="20003"/>
                    </a:ext>
                  </a:extLst>
                </a:gridCol>
              </a:tblGrid>
              <a:tr h="593597">
                <a:tc>
                  <a:txBody>
                    <a:bodyPr/>
                    <a:lstStyle/>
                    <a:p>
                      <a:pPr algn="just">
                        <a:spcAft>
                          <a:spcPts val="0"/>
                        </a:spcAft>
                      </a:pPr>
                      <a:r>
                        <a:rPr lang="ru-RU" sz="1200" b="1">
                          <a:latin typeface="Sylfaen"/>
                          <a:ea typeface="Times New Roman"/>
                          <a:cs typeface="Times New Roman"/>
                        </a:rPr>
                        <a:t>Ցուցանիշ</a:t>
                      </a:r>
                      <a:endParaRPr lang="en-US" sz="1200" b="1">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dirty="0" smtClean="0">
                          <a:latin typeface="Sylfaen"/>
                          <a:ea typeface="Calibri"/>
                          <a:cs typeface="Times New Roman"/>
                        </a:rPr>
                        <a:t>202</a:t>
                      </a:r>
                      <a:r>
                        <a:rPr lang="en-US" sz="1200" b="1" dirty="0" smtClean="0">
                          <a:latin typeface="Sylfaen"/>
                          <a:ea typeface="Calibri"/>
                          <a:cs typeface="Times New Roman"/>
                        </a:rPr>
                        <a:t>2</a:t>
                      </a:r>
                      <a:r>
                        <a:rPr lang="ru-RU" sz="1200" b="1" dirty="0" smtClean="0">
                          <a:latin typeface="Sylfaen"/>
                          <a:ea typeface="Calibri"/>
                          <a:cs typeface="Times New Roman"/>
                        </a:rPr>
                        <a:t>-202</a:t>
                      </a:r>
                      <a:r>
                        <a:rPr lang="en-US" sz="1200" b="1" dirty="0" smtClean="0">
                          <a:latin typeface="Sylfaen"/>
                          <a:ea typeface="Calibri"/>
                          <a:cs typeface="Times New Roman"/>
                        </a:rPr>
                        <a:t>3</a:t>
                      </a:r>
                      <a:r>
                        <a:rPr lang="ru-RU" sz="1200" b="1" dirty="0" smtClean="0">
                          <a:latin typeface="Sylfaen"/>
                          <a:ea typeface="Calibri"/>
                          <a:cs typeface="Times New Roman"/>
                        </a:rPr>
                        <a:t> </a:t>
                      </a:r>
                      <a:r>
                        <a:rPr lang="ru-RU" sz="1200" b="1" dirty="0" err="1" smtClean="0">
                          <a:latin typeface="Sylfaen"/>
                          <a:ea typeface="Calibri"/>
                          <a:cs typeface="Times New Roman"/>
                        </a:rPr>
                        <a:t>ուստարի</a:t>
                      </a:r>
                      <a:endParaRPr lang="en-US" sz="1200" b="1" dirty="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dirty="0" smtClean="0">
                          <a:latin typeface="Sylfaen"/>
                          <a:ea typeface="Calibri"/>
                          <a:cs typeface="Times New Roman"/>
                        </a:rPr>
                        <a:t>202</a:t>
                      </a:r>
                      <a:r>
                        <a:rPr lang="en-US" sz="1200" b="1" dirty="0" smtClean="0">
                          <a:latin typeface="Sylfaen"/>
                          <a:ea typeface="Calibri"/>
                          <a:cs typeface="Times New Roman"/>
                        </a:rPr>
                        <a:t>3</a:t>
                      </a:r>
                      <a:r>
                        <a:rPr lang="ru-RU" sz="1200" b="1" dirty="0" smtClean="0">
                          <a:latin typeface="Sylfaen"/>
                          <a:ea typeface="Calibri"/>
                          <a:cs typeface="Times New Roman"/>
                        </a:rPr>
                        <a:t>-202</a:t>
                      </a:r>
                      <a:r>
                        <a:rPr lang="en-US" sz="1200" b="1" dirty="0" smtClean="0">
                          <a:latin typeface="Sylfaen"/>
                          <a:ea typeface="Calibri"/>
                          <a:cs typeface="Times New Roman"/>
                        </a:rPr>
                        <a:t>4</a:t>
                      </a:r>
                      <a:r>
                        <a:rPr lang="ru-RU" sz="1200" b="1" dirty="0" smtClean="0">
                          <a:latin typeface="Sylfaen"/>
                          <a:ea typeface="Calibri"/>
                          <a:cs typeface="Times New Roman"/>
                        </a:rPr>
                        <a:t> </a:t>
                      </a:r>
                      <a:r>
                        <a:rPr lang="ru-RU" sz="1200" b="1" dirty="0" err="1">
                          <a:latin typeface="Sylfaen"/>
                          <a:ea typeface="Calibri"/>
                          <a:cs typeface="Times New Roman"/>
                        </a:rPr>
                        <a:t>ուստարի</a:t>
                      </a:r>
                      <a:endParaRPr lang="en-US" sz="1200" b="1" dirty="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b="1" dirty="0" smtClean="0">
                          <a:latin typeface="Sylfaen"/>
                          <a:ea typeface="Calibri"/>
                          <a:cs typeface="Times New Roman"/>
                        </a:rPr>
                        <a:t>202</a:t>
                      </a:r>
                      <a:r>
                        <a:rPr lang="en-US" sz="1200" b="1" dirty="0" smtClean="0">
                          <a:latin typeface="Sylfaen"/>
                          <a:ea typeface="Calibri"/>
                          <a:cs typeface="Times New Roman"/>
                        </a:rPr>
                        <a:t>4</a:t>
                      </a:r>
                      <a:r>
                        <a:rPr lang="ru-RU" sz="1200" b="1" dirty="0" smtClean="0">
                          <a:latin typeface="Sylfaen"/>
                          <a:ea typeface="Calibri"/>
                          <a:cs typeface="Times New Roman"/>
                        </a:rPr>
                        <a:t>-202</a:t>
                      </a:r>
                      <a:r>
                        <a:rPr lang="en-US" sz="1200" b="1" dirty="0" smtClean="0">
                          <a:latin typeface="Sylfaen"/>
                          <a:ea typeface="Calibri"/>
                          <a:cs typeface="Times New Roman"/>
                        </a:rPr>
                        <a:t>5</a:t>
                      </a:r>
                      <a:r>
                        <a:rPr lang="ru-RU" sz="1200" b="1" dirty="0" smtClean="0">
                          <a:latin typeface="Sylfaen"/>
                          <a:ea typeface="Calibri"/>
                          <a:cs typeface="Times New Roman"/>
                        </a:rPr>
                        <a:t> </a:t>
                      </a:r>
                      <a:r>
                        <a:rPr lang="ru-RU" sz="1200" b="1" dirty="0" err="1">
                          <a:latin typeface="Sylfaen"/>
                          <a:ea typeface="Calibri"/>
                          <a:cs typeface="Times New Roman"/>
                        </a:rPr>
                        <a:t>ուստարի</a:t>
                      </a:r>
                      <a:endParaRPr lang="en-US" sz="1200" b="1" dirty="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Սեռերի</a:t>
                      </a:r>
                      <a:r>
                        <a:rPr lang="ru-RU" sz="1200">
                          <a:latin typeface="Sylfaen"/>
                          <a:ea typeface="Calibri"/>
                          <a:cs typeface="Times New Roman"/>
                        </a:rPr>
                        <a:t> </a:t>
                      </a:r>
                      <a:r>
                        <a:rPr lang="ru-RU" sz="1200" err="1">
                          <a:latin typeface="Sylfaen"/>
                          <a:ea typeface="Calibri"/>
                          <a:cs typeface="Times New Roman"/>
                        </a:rPr>
                        <a:t>հավասարության</a:t>
                      </a:r>
                      <a:r>
                        <a:rPr lang="ru-RU" sz="1200">
                          <a:latin typeface="Sylfaen"/>
                          <a:ea typeface="Calibri"/>
                          <a:cs typeface="Times New Roman"/>
                        </a:rPr>
                        <a:t> </a:t>
                      </a:r>
                      <a:r>
                        <a:rPr lang="ru-RU" sz="1200" err="1">
                          <a:latin typeface="Sylfaen"/>
                          <a:ea typeface="Calibri"/>
                          <a:cs typeface="Times New Roman"/>
                        </a:rPr>
                        <a:t>գործակիցը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6019">
                <a:tc>
                  <a:txBody>
                    <a:bodyPr/>
                    <a:lstStyle/>
                    <a:p>
                      <a:pPr marL="0" marR="0" algn="just">
                        <a:lnSpc>
                          <a:spcPct val="115000"/>
                        </a:lnSpc>
                        <a:spcBef>
                          <a:spcPts val="0"/>
                        </a:spcBef>
                        <a:spcAft>
                          <a:spcPts val="0"/>
                        </a:spcAft>
                      </a:pPr>
                      <a:r>
                        <a:rPr lang="ru-RU" sz="1200" err="1">
                          <a:latin typeface="Sylfaen"/>
                          <a:ea typeface="Calibri"/>
                          <a:cs typeface="Times New Roman"/>
                        </a:rPr>
                        <a:t>Աշակերտական</a:t>
                      </a:r>
                      <a:r>
                        <a:rPr lang="ru-RU" sz="1200">
                          <a:latin typeface="Sylfaen"/>
                          <a:ea typeface="Calibri"/>
                          <a:cs typeface="Times New Roman"/>
                        </a:rPr>
                        <a:t> </a:t>
                      </a:r>
                      <a:r>
                        <a:rPr lang="ru-RU" sz="1200" err="1">
                          <a:latin typeface="Sylfaen"/>
                          <a:ea typeface="Calibri"/>
                          <a:cs typeface="Times New Roman"/>
                        </a:rPr>
                        <a:t>խորհրդում</a:t>
                      </a:r>
                      <a:r>
                        <a:rPr lang="ru-RU" sz="1200">
                          <a:latin typeface="Sylfaen"/>
                          <a:ea typeface="Calibri"/>
                          <a:cs typeface="Times New Roman"/>
                        </a:rPr>
                        <a:t> </a:t>
                      </a:r>
                      <a:r>
                        <a:rPr lang="ru-RU" sz="1200" err="1">
                          <a:latin typeface="Sylfaen"/>
                          <a:ea typeface="Calibri"/>
                          <a:cs typeface="Times New Roman"/>
                        </a:rPr>
                        <a:t>սեռերի</a:t>
                      </a:r>
                      <a:r>
                        <a:rPr lang="ru-RU" sz="1200">
                          <a:latin typeface="Sylfaen"/>
                          <a:ea typeface="Calibri"/>
                          <a:cs typeface="Times New Roman"/>
                        </a:rPr>
                        <a:t> </a:t>
                      </a:r>
                      <a:r>
                        <a:rPr lang="ru-RU" sz="1200" err="1">
                          <a:latin typeface="Sylfaen"/>
                          <a:ea typeface="Calibri"/>
                          <a:cs typeface="Times New Roman"/>
                        </a:rPr>
                        <a:t>հավասարության</a:t>
                      </a:r>
                      <a:r>
                        <a:rPr lang="ru-RU" sz="1200">
                          <a:latin typeface="Sylfaen"/>
                          <a:ea typeface="Calibri"/>
                          <a:cs typeface="Times New Roman"/>
                        </a:rPr>
                        <a:t> </a:t>
                      </a:r>
                      <a:r>
                        <a:rPr lang="ru-RU" sz="1200" err="1">
                          <a:latin typeface="Sylfaen"/>
                          <a:ea typeface="Calibri"/>
                          <a:cs typeface="Times New Roman"/>
                        </a:rPr>
                        <a:t>գործակիցը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0.5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9028">
                <a:tc>
                  <a:txBody>
                    <a:bodyPr/>
                    <a:lstStyle/>
                    <a:p>
                      <a:pPr marL="0" marR="0">
                        <a:lnSpc>
                          <a:spcPct val="115000"/>
                        </a:lnSpc>
                        <a:spcBef>
                          <a:spcPts val="0"/>
                        </a:spcBef>
                        <a:spcAft>
                          <a:spcPts val="0"/>
                        </a:spcAft>
                      </a:pPr>
                      <a:r>
                        <a:rPr lang="ru-RU" sz="1200">
                          <a:latin typeface="Sylfaen"/>
                          <a:ea typeface="Calibri"/>
                          <a:cs typeface="Times New Roman"/>
                        </a:rPr>
                        <a:t>Գերազանց տարեկան առաջադիմություն ունեցող տղաների թվի հարաբերությունը գերազանց տարեկան առաջադիմություն ունեցող աղջիկների թվին</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9028">
                <a:tc>
                  <a:txBody>
                    <a:bodyPr/>
                    <a:lstStyle/>
                    <a:p>
                      <a:pPr marL="0" marR="0">
                        <a:lnSpc>
                          <a:spcPct val="115000"/>
                        </a:lnSpc>
                        <a:spcBef>
                          <a:spcPts val="0"/>
                        </a:spcBef>
                        <a:spcAft>
                          <a:spcPts val="0"/>
                        </a:spcAft>
                      </a:pP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անբավարար</a:t>
                      </a:r>
                      <a:r>
                        <a:rPr lang="ru-RU" sz="1200">
                          <a:latin typeface="Sylfaen"/>
                          <a:ea typeface="Calibri"/>
                          <a:cs typeface="Times New Roman"/>
                        </a:rPr>
                        <a:t> </a:t>
                      </a:r>
                      <a:r>
                        <a:rPr lang="ru-RU" sz="1200" err="1">
                          <a:latin typeface="Sylfaen"/>
                          <a:ea typeface="Calibri"/>
                          <a:cs typeface="Times New Roman"/>
                        </a:rPr>
                        <a:t>գնահատական</a:t>
                      </a:r>
                      <a:r>
                        <a:rPr lang="ru-RU" sz="1200">
                          <a:latin typeface="Sylfaen"/>
                          <a:ea typeface="Calibri"/>
                          <a:cs typeface="Times New Roman"/>
                        </a:rPr>
                        <a:t> </a:t>
                      </a:r>
                      <a:r>
                        <a:rPr lang="ru-RU" sz="1200" err="1">
                          <a:latin typeface="Sylfaen"/>
                          <a:ea typeface="Calibri"/>
                          <a:cs typeface="Times New Roman"/>
                        </a:rPr>
                        <a:t>ունեցող</a:t>
                      </a:r>
                      <a:r>
                        <a:rPr lang="ru-RU" sz="1200">
                          <a:latin typeface="Sylfaen"/>
                          <a:ea typeface="Calibri"/>
                          <a:cs typeface="Times New Roman"/>
                        </a:rPr>
                        <a:t> </a:t>
                      </a:r>
                      <a:r>
                        <a:rPr lang="ru-RU" sz="1200" err="1">
                          <a:latin typeface="Sylfaen"/>
                          <a:ea typeface="Calibri"/>
                          <a:cs typeface="Times New Roman"/>
                        </a:rPr>
                        <a:t>տղաների</a:t>
                      </a:r>
                      <a:r>
                        <a:rPr lang="ru-RU" sz="1200">
                          <a:latin typeface="Sylfaen"/>
                          <a:ea typeface="Calibri"/>
                          <a:cs typeface="Times New Roman"/>
                        </a:rPr>
                        <a:t> </a:t>
                      </a:r>
                      <a:r>
                        <a:rPr lang="ru-RU" sz="1200" err="1">
                          <a:latin typeface="Sylfaen"/>
                          <a:ea typeface="Calibri"/>
                          <a:cs typeface="Times New Roman"/>
                        </a:rPr>
                        <a:t>թվի</a:t>
                      </a:r>
                      <a:r>
                        <a:rPr lang="ru-RU" sz="1200">
                          <a:latin typeface="Sylfaen"/>
                          <a:ea typeface="Calibri"/>
                          <a:cs typeface="Times New Roman"/>
                        </a:rPr>
                        <a:t> </a:t>
                      </a:r>
                      <a:r>
                        <a:rPr lang="ru-RU" sz="1200" err="1">
                          <a:latin typeface="Sylfaen"/>
                          <a:ea typeface="Calibri"/>
                          <a:cs typeface="Times New Roman"/>
                        </a:rPr>
                        <a:t>հարաբերությունը</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անբավարար</a:t>
                      </a:r>
                      <a:r>
                        <a:rPr lang="ru-RU" sz="1200">
                          <a:latin typeface="Sylfaen"/>
                          <a:ea typeface="Calibri"/>
                          <a:cs typeface="Times New Roman"/>
                        </a:rPr>
                        <a:t> </a:t>
                      </a:r>
                      <a:r>
                        <a:rPr lang="ru-RU" sz="1200" err="1">
                          <a:latin typeface="Sylfaen"/>
                          <a:ea typeface="Calibri"/>
                          <a:cs typeface="Times New Roman"/>
                        </a:rPr>
                        <a:t>գնահատական</a:t>
                      </a:r>
                      <a:r>
                        <a:rPr lang="ru-RU" sz="1200">
                          <a:latin typeface="Sylfaen"/>
                          <a:ea typeface="Calibri"/>
                          <a:cs typeface="Times New Roman"/>
                        </a:rPr>
                        <a:t> </a:t>
                      </a:r>
                      <a:r>
                        <a:rPr lang="ru-RU" sz="1200" err="1">
                          <a:latin typeface="Sylfaen"/>
                          <a:ea typeface="Calibri"/>
                          <a:cs typeface="Times New Roman"/>
                        </a:rPr>
                        <a:t>ունեցող</a:t>
                      </a:r>
                      <a:r>
                        <a:rPr lang="ru-RU" sz="1200">
                          <a:latin typeface="Sylfaen"/>
                          <a:ea typeface="Calibri"/>
                          <a:cs typeface="Times New Roman"/>
                        </a:rPr>
                        <a:t>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թվին</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9028">
                <a:tc>
                  <a:txBody>
                    <a:bodyPr/>
                    <a:lstStyle/>
                    <a:p>
                      <a:pPr marL="0" marR="0">
                        <a:lnSpc>
                          <a:spcPct val="115000"/>
                        </a:lnSpc>
                        <a:spcBef>
                          <a:spcPts val="0"/>
                        </a:spcBef>
                        <a:spcAft>
                          <a:spcPts val="1000"/>
                        </a:spcAft>
                      </a:pPr>
                      <a:r>
                        <a:rPr lang="ru-RU" sz="1200" err="1">
                          <a:latin typeface="Sylfaen"/>
                          <a:ea typeface="Calibri"/>
                          <a:cs typeface="Times New Roman"/>
                        </a:rPr>
                        <a:t>Տղաների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բացակայությունների</a:t>
                      </a:r>
                      <a:r>
                        <a:rPr lang="ru-RU" sz="1200">
                          <a:latin typeface="Sylfaen"/>
                          <a:ea typeface="Calibri"/>
                          <a:cs typeface="Times New Roman"/>
                        </a:rPr>
                        <a:t> </a:t>
                      </a:r>
                      <a:r>
                        <a:rPr lang="ru-RU" sz="1200" err="1">
                          <a:latin typeface="Sylfaen"/>
                          <a:ea typeface="Calibri"/>
                          <a:cs typeface="Times New Roman"/>
                        </a:rPr>
                        <a:t>թվի</a:t>
                      </a:r>
                      <a:r>
                        <a:rPr lang="ru-RU" sz="1200">
                          <a:latin typeface="Sylfaen"/>
                          <a:ea typeface="Calibri"/>
                          <a:cs typeface="Times New Roman"/>
                        </a:rPr>
                        <a:t> </a:t>
                      </a:r>
                      <a:r>
                        <a:rPr lang="ru-RU" sz="1200" err="1">
                          <a:latin typeface="Sylfaen"/>
                          <a:ea typeface="Calibri"/>
                          <a:cs typeface="Times New Roman"/>
                        </a:rPr>
                        <a:t>հարաբերությունը</a:t>
                      </a:r>
                      <a:r>
                        <a:rPr lang="ru-RU" sz="1200">
                          <a:latin typeface="Sylfaen"/>
                          <a:ea typeface="Calibri"/>
                          <a:cs typeface="Times New Roman"/>
                        </a:rPr>
                        <a:t>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բացակայությունների</a:t>
                      </a:r>
                      <a:r>
                        <a:rPr lang="ru-RU" sz="1200">
                          <a:latin typeface="Sylfaen"/>
                          <a:ea typeface="Calibri"/>
                          <a:cs typeface="Times New Roman"/>
                        </a:rPr>
                        <a:t> </a:t>
                      </a:r>
                      <a:r>
                        <a:rPr lang="ru-RU" sz="1200" err="1">
                          <a:latin typeface="Sylfaen"/>
                          <a:ea typeface="Calibri"/>
                          <a:cs typeface="Times New Roman"/>
                        </a:rPr>
                        <a:t>թվին</a:t>
                      </a:r>
                      <a:r>
                        <a:rPr lang="ru-RU" sz="1200">
                          <a:latin typeface="Sylfaen"/>
                          <a:ea typeface="Calibri"/>
                          <a:cs typeface="Times New Roman"/>
                        </a:rPr>
                        <a:t> (</a:t>
                      </a:r>
                      <a:r>
                        <a:rPr lang="ru-RU" sz="1200" err="1">
                          <a:latin typeface="Sylfaen"/>
                          <a:ea typeface="Calibri"/>
                          <a:cs typeface="Times New Roman"/>
                        </a:rPr>
                        <a:t>ժամերով</a:t>
                      </a:r>
                      <a:r>
                        <a:rPr lang="ru-RU" sz="1200">
                          <a:latin typeface="Sylfaen"/>
                          <a:ea typeface="Calibri"/>
                          <a:cs typeface="Times New Roman"/>
                        </a:rPr>
                        <a:t>)</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1.3</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1․4</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smtClean="0">
                          <a:latin typeface="Sylfaen"/>
                          <a:ea typeface="Times New Roman"/>
                          <a:cs typeface="Sylfaen"/>
                        </a:rPr>
                        <a:t>1.8</a:t>
                      </a: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9028">
                <a:tc>
                  <a:txBody>
                    <a:bodyPr/>
                    <a:lstStyle/>
                    <a:p>
                      <a:pPr marL="0" marR="0">
                        <a:lnSpc>
                          <a:spcPct val="115000"/>
                        </a:lnSpc>
                        <a:spcBef>
                          <a:spcPts val="0"/>
                        </a:spcBef>
                        <a:spcAft>
                          <a:spcPts val="0"/>
                        </a:spcAft>
                      </a:pPr>
                      <a:r>
                        <a:rPr lang="ru-RU" sz="1200">
                          <a:latin typeface="Sylfaen"/>
                          <a:ea typeface="Calibri"/>
                          <a:cs typeface="Times New Roman"/>
                        </a:rPr>
                        <a:t>«</a:t>
                      </a:r>
                      <a:r>
                        <a:rPr lang="ru-RU" sz="1200" err="1">
                          <a:latin typeface="Sylfaen"/>
                          <a:ea typeface="Calibri"/>
                          <a:cs typeface="Times New Roman"/>
                        </a:rPr>
                        <a:t>Մաթեմատիկա</a:t>
                      </a:r>
                      <a:r>
                        <a:rPr lang="ru-RU" sz="1200">
                          <a:latin typeface="Sylfaen"/>
                          <a:ea typeface="Calibri"/>
                          <a:cs typeface="Times New Roman"/>
                        </a:rPr>
                        <a:t>», «</a:t>
                      </a:r>
                      <a:r>
                        <a:rPr lang="ru-RU" sz="1200" err="1">
                          <a:latin typeface="Sylfaen"/>
                          <a:ea typeface="Calibri"/>
                          <a:cs typeface="Times New Roman"/>
                        </a:rPr>
                        <a:t>Ֆիզիկա</a:t>
                      </a:r>
                      <a:r>
                        <a:rPr lang="ru-RU" sz="1200">
                          <a:latin typeface="Sylfaen"/>
                          <a:ea typeface="Calibri"/>
                          <a:cs typeface="Times New Roman"/>
                        </a:rPr>
                        <a:t>», «</a:t>
                      </a:r>
                      <a:r>
                        <a:rPr lang="ru-RU" sz="1200" err="1">
                          <a:latin typeface="Sylfaen"/>
                          <a:ea typeface="Calibri"/>
                          <a:cs typeface="Times New Roman"/>
                        </a:rPr>
                        <a:t>Քիմիա»և«Կենսաբանություն»առարկաներից</a:t>
                      </a:r>
                      <a:r>
                        <a:rPr lang="ru-RU" sz="1200">
                          <a:latin typeface="Sylfaen"/>
                          <a:ea typeface="Calibri"/>
                          <a:cs typeface="Times New Roman"/>
                        </a:rPr>
                        <a:t> </a:t>
                      </a:r>
                      <a:r>
                        <a:rPr lang="ru-RU" sz="1200" err="1">
                          <a:latin typeface="Sylfaen"/>
                          <a:ea typeface="Calibri"/>
                          <a:cs typeface="Times New Roman"/>
                        </a:rPr>
                        <a:t>տղաների</a:t>
                      </a:r>
                      <a:r>
                        <a:rPr lang="ru-RU" sz="1200">
                          <a:latin typeface="Sylfaen"/>
                          <a:ea typeface="Calibri"/>
                          <a:cs typeface="Times New Roman"/>
                        </a:rPr>
                        <a:t> և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առաջադիմությունը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smtClean="0">
                          <a:latin typeface="Sylfaen"/>
                          <a:ea typeface="Times New Roman"/>
                          <a:cs typeface="Sylfaen"/>
                        </a:rPr>
                        <a:t>1.5</a:t>
                      </a: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6019">
                <a:tc>
                  <a:txBody>
                    <a:bodyPr/>
                    <a:lstStyle/>
                    <a:p>
                      <a:pPr marL="0" marR="0">
                        <a:lnSpc>
                          <a:spcPct val="115000"/>
                        </a:lnSpc>
                        <a:spcBef>
                          <a:spcPts val="0"/>
                        </a:spcBef>
                        <a:spcAft>
                          <a:spcPts val="0"/>
                        </a:spcAft>
                      </a:pPr>
                      <a:r>
                        <a:rPr lang="ru-RU" sz="1200" err="1">
                          <a:latin typeface="Sylfaen"/>
                          <a:ea typeface="Calibri"/>
                          <a:cs typeface="Times New Roman"/>
                        </a:rPr>
                        <a:t>Հաստատությունում</a:t>
                      </a:r>
                      <a:r>
                        <a:rPr lang="ru-RU" sz="1200">
                          <a:latin typeface="Sylfaen"/>
                          <a:ea typeface="Calibri"/>
                          <a:cs typeface="Times New Roman"/>
                        </a:rPr>
                        <a:t> </a:t>
                      </a:r>
                      <a:r>
                        <a:rPr lang="ru-RU" sz="1200" err="1">
                          <a:latin typeface="Sylfaen"/>
                          <a:ea typeface="Calibri"/>
                          <a:cs typeface="Times New Roman"/>
                        </a:rPr>
                        <a:t>սովորող</a:t>
                      </a:r>
                      <a:r>
                        <a:rPr lang="ru-RU" sz="1200">
                          <a:latin typeface="Sylfaen"/>
                          <a:ea typeface="Calibri"/>
                          <a:cs typeface="Times New Roman"/>
                        </a:rPr>
                        <a:t> </a:t>
                      </a:r>
                      <a:r>
                        <a:rPr lang="ru-RU" sz="1200" err="1">
                          <a:latin typeface="Sylfaen"/>
                          <a:ea typeface="Calibri"/>
                          <a:cs typeface="Times New Roman"/>
                        </a:rPr>
                        <a:t>ազգային</a:t>
                      </a:r>
                      <a:r>
                        <a:rPr lang="ru-RU" sz="1200">
                          <a:latin typeface="Sylfaen"/>
                          <a:ea typeface="Calibri"/>
                          <a:cs typeface="Times New Roman"/>
                        </a:rPr>
                        <a:t> </a:t>
                      </a:r>
                      <a:r>
                        <a:rPr lang="ru-RU" sz="1200" err="1">
                          <a:latin typeface="Sylfaen"/>
                          <a:ea typeface="Calibri"/>
                          <a:cs typeface="Times New Roman"/>
                        </a:rPr>
                        <a:t>փոքրամասնությունների</a:t>
                      </a:r>
                      <a:r>
                        <a:rPr lang="ru-RU" sz="1200">
                          <a:latin typeface="Sylfaen"/>
                          <a:ea typeface="Calibri"/>
                          <a:cs typeface="Times New Roman"/>
                        </a:rPr>
                        <a:t> </a:t>
                      </a:r>
                      <a:r>
                        <a:rPr lang="ru-RU" sz="1200" err="1">
                          <a:latin typeface="Sylfaen"/>
                          <a:ea typeface="Calibri"/>
                          <a:cs typeface="Times New Roman"/>
                        </a:rPr>
                        <a:t>երեխաների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200" dirty="0">
                          <a:latin typeface="Sylfaen"/>
                          <a:ea typeface="Times New Roman"/>
                          <a:cs typeface="Times New Roman"/>
                        </a:rPr>
                        <a:t>5.7</a:t>
                      </a:r>
                      <a:r>
                        <a:rPr lang="ru-RU" sz="1200" dirty="0">
                          <a:latin typeface="Sylfaen"/>
                          <a:ea typeface="Times New Roman"/>
                          <a:cs typeface="Times New Roman"/>
                        </a:rPr>
                        <a:t>%</a:t>
                      </a:r>
                      <a:endParaRPr lang="en-US" sz="1200" dirty="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4,5%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smtClean="0">
                          <a:latin typeface="Sylfaen"/>
                          <a:ea typeface="Times New Roman"/>
                          <a:cs typeface="Sylfaen"/>
                        </a:rPr>
                        <a:t>4.8%</a:t>
                      </a: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66019">
                <a:tc>
                  <a:txBody>
                    <a:bodyPr/>
                    <a:lstStyle/>
                    <a:p>
                      <a:pPr marL="0" marR="0">
                        <a:lnSpc>
                          <a:spcPct val="115000"/>
                        </a:lnSpc>
                        <a:spcBef>
                          <a:spcPts val="0"/>
                        </a:spcBef>
                        <a:spcAft>
                          <a:spcPts val="1000"/>
                        </a:spcAft>
                      </a:pPr>
                      <a:r>
                        <a:rPr lang="ru-RU" sz="1200">
                          <a:latin typeface="Sylfaen"/>
                          <a:ea typeface="Calibri"/>
                          <a:cs typeface="Times New Roman"/>
                        </a:rPr>
                        <a:t>Աշ. խորհրդի անդամ ազգային փոքրամասնությունների երեխաների թիվը</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77416">
                <a:tc>
                  <a:txBody>
                    <a:bodyPr/>
                    <a:lstStyle/>
                    <a:p>
                      <a:pPr>
                        <a:spcAft>
                          <a:spcPts val="0"/>
                        </a:spcAft>
                      </a:pPr>
                      <a:r>
                        <a:rPr lang="ru-RU" sz="1200" err="1">
                          <a:latin typeface="Sylfaen"/>
                          <a:ea typeface="Times New Roman"/>
                          <a:cs typeface="Times New Roman"/>
                        </a:rPr>
                        <a:t>Հաստատությունում</a:t>
                      </a:r>
                      <a:r>
                        <a:rPr lang="ru-RU" sz="1200">
                          <a:latin typeface="Sylfaen"/>
                          <a:ea typeface="Times New Roman"/>
                          <a:cs typeface="Times New Roman"/>
                        </a:rPr>
                        <a:t> </a:t>
                      </a:r>
                      <a:r>
                        <a:rPr lang="ru-RU" sz="1200" err="1">
                          <a:latin typeface="Sylfaen"/>
                          <a:ea typeface="Times New Roman"/>
                          <a:cs typeface="Times New Roman"/>
                        </a:rPr>
                        <a:t>սովորող</a:t>
                      </a:r>
                      <a:r>
                        <a:rPr lang="ru-RU" sz="1200">
                          <a:latin typeface="Sylfaen"/>
                          <a:ea typeface="Times New Roman"/>
                          <a:cs typeface="Times New Roman"/>
                        </a:rPr>
                        <a:t> </a:t>
                      </a:r>
                      <a:r>
                        <a:rPr lang="ru-RU" sz="1200" err="1">
                          <a:latin typeface="Sylfaen"/>
                          <a:ea typeface="Times New Roman"/>
                          <a:cs typeface="Times New Roman"/>
                        </a:rPr>
                        <a:t>ազգային</a:t>
                      </a:r>
                      <a:r>
                        <a:rPr lang="ru-RU" sz="1200">
                          <a:latin typeface="Sylfaen"/>
                          <a:ea typeface="Times New Roman"/>
                          <a:cs typeface="Times New Roman"/>
                        </a:rPr>
                        <a:t> </a:t>
                      </a:r>
                      <a:r>
                        <a:rPr lang="ru-RU" sz="1200" err="1">
                          <a:latin typeface="Sylfaen"/>
                          <a:ea typeface="Times New Roman"/>
                          <a:cs typeface="Times New Roman"/>
                        </a:rPr>
                        <a:t>փոքրամասնությունների</a:t>
                      </a:r>
                      <a:r>
                        <a:rPr lang="ru-RU" sz="1200">
                          <a:latin typeface="Sylfaen"/>
                          <a:ea typeface="Times New Roman"/>
                          <a:cs typeface="Times New Roman"/>
                        </a:rPr>
                        <a:t> </a:t>
                      </a:r>
                      <a:r>
                        <a:rPr lang="ru-RU" sz="1200" err="1">
                          <a:latin typeface="Sylfaen"/>
                          <a:ea typeface="Times New Roman"/>
                          <a:cs typeface="Times New Roman"/>
                        </a:rPr>
                        <a:t>երեխաների</a:t>
                      </a:r>
                      <a:r>
                        <a:rPr lang="ru-RU" sz="1200">
                          <a:latin typeface="Sylfaen"/>
                          <a:ea typeface="Times New Roman"/>
                          <a:cs typeface="Times New Roman"/>
                        </a:rPr>
                        <a:t> </a:t>
                      </a:r>
                      <a:r>
                        <a:rPr lang="ru-RU" sz="1200" err="1">
                          <a:latin typeface="Sylfaen"/>
                          <a:ea typeface="Times New Roman"/>
                          <a:cs typeface="Times New Roman"/>
                        </a:rPr>
                        <a:t>միջին</a:t>
                      </a:r>
                      <a:r>
                        <a:rPr lang="ru-RU" sz="1200">
                          <a:latin typeface="Sylfaen"/>
                          <a:ea typeface="Times New Roman"/>
                          <a:cs typeface="Times New Roman"/>
                        </a:rPr>
                        <a:t> </a:t>
                      </a:r>
                      <a:r>
                        <a:rPr lang="ru-RU" sz="1200" err="1">
                          <a:latin typeface="Sylfaen"/>
                          <a:ea typeface="Times New Roman"/>
                          <a:cs typeface="Times New Roman"/>
                        </a:rPr>
                        <a:t>տարեկան</a:t>
                      </a:r>
                      <a:r>
                        <a:rPr lang="ru-RU" sz="1200">
                          <a:latin typeface="Sylfaen"/>
                          <a:ea typeface="Times New Roman"/>
                          <a:cs typeface="Times New Roman"/>
                        </a:rPr>
                        <a:t> </a:t>
                      </a:r>
                      <a:r>
                        <a:rPr lang="ru-RU" sz="1200" err="1">
                          <a:latin typeface="Sylfaen"/>
                          <a:ea typeface="Times New Roman"/>
                          <a:cs typeface="Times New Roman"/>
                        </a:rPr>
                        <a:t>առաջադիմությունը</a:t>
                      </a:r>
                      <a:endParaRPr lang="en-US" sz="1200" err="1">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Անվճար</a:t>
                      </a:r>
                      <a:r>
                        <a:rPr lang="ru-RU" sz="1200">
                          <a:latin typeface="Sylfaen"/>
                          <a:ea typeface="Calibri"/>
                          <a:cs typeface="Times New Roman"/>
                        </a:rPr>
                        <a:t> </a:t>
                      </a:r>
                      <a:r>
                        <a:rPr lang="ru-RU" sz="1200" err="1">
                          <a:latin typeface="Sylfaen"/>
                          <a:ea typeface="Calibri"/>
                          <a:cs typeface="Times New Roman"/>
                        </a:rPr>
                        <a:t>դասագրքեր</a:t>
                      </a:r>
                      <a:r>
                        <a:rPr lang="ru-RU" sz="1200">
                          <a:latin typeface="Sylfaen"/>
                          <a:ea typeface="Calibri"/>
                          <a:cs typeface="Times New Roman"/>
                        </a:rPr>
                        <a:t> </a:t>
                      </a:r>
                      <a:r>
                        <a:rPr lang="ru-RU" sz="1200" err="1">
                          <a:latin typeface="Sylfaen"/>
                          <a:ea typeface="Calibri"/>
                          <a:cs typeface="Times New Roman"/>
                        </a:rPr>
                        <a:t>ստացող</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7.8 %</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Sylfaen"/>
                          <a:ea typeface="Times New Roman"/>
                          <a:cs typeface="Sylfaen"/>
                        </a:rPr>
                        <a:t>8,5%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smtClean="0">
                          <a:latin typeface="Sylfaen"/>
                          <a:ea typeface="Times New Roman"/>
                          <a:cs typeface="Sylfaen"/>
                        </a:rPr>
                        <a:t>9%</a:t>
                      </a:r>
                      <a:endParaRPr lang="en-US" sz="12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Անվճար</a:t>
                      </a:r>
                      <a:r>
                        <a:rPr lang="ru-RU" sz="1200">
                          <a:latin typeface="Sylfaen"/>
                          <a:ea typeface="Calibri"/>
                          <a:cs typeface="Times New Roman"/>
                        </a:rPr>
                        <a:t> </a:t>
                      </a:r>
                      <a:r>
                        <a:rPr lang="ru-RU" sz="1200" err="1">
                          <a:latin typeface="Sylfaen"/>
                          <a:ea typeface="Calibri"/>
                          <a:cs typeface="Times New Roman"/>
                        </a:rPr>
                        <a:t>սնունդ</a:t>
                      </a:r>
                      <a:r>
                        <a:rPr lang="ru-RU" sz="1200">
                          <a:latin typeface="Sylfaen"/>
                          <a:ea typeface="Calibri"/>
                          <a:cs typeface="Times New Roman"/>
                        </a:rPr>
                        <a:t> </a:t>
                      </a:r>
                      <a:r>
                        <a:rPr lang="ru-RU" sz="1200" err="1">
                          <a:latin typeface="Sylfaen"/>
                          <a:ea typeface="Calibri"/>
                          <a:cs typeface="Times New Roman"/>
                        </a:rPr>
                        <a:t>ստացող</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549028">
                <a:tc>
                  <a:txBody>
                    <a:bodyPr/>
                    <a:lstStyle/>
                    <a:p>
                      <a:pPr marL="0" marR="0">
                        <a:lnSpc>
                          <a:spcPct val="115000"/>
                        </a:lnSpc>
                        <a:spcBef>
                          <a:spcPts val="0"/>
                        </a:spcBef>
                        <a:spcAft>
                          <a:spcPts val="0"/>
                        </a:spcAft>
                      </a:pPr>
                      <a:r>
                        <a:rPr lang="ru-RU" sz="1200" err="1">
                          <a:latin typeface="Sylfaen"/>
                          <a:ea typeface="Calibri"/>
                          <a:cs typeface="Times New Roman"/>
                        </a:rPr>
                        <a:t>Սոց</a:t>
                      </a:r>
                      <a:r>
                        <a:rPr lang="ru-RU" sz="1200">
                          <a:latin typeface="Sylfaen"/>
                          <a:ea typeface="Calibri"/>
                          <a:cs typeface="Times New Roman"/>
                        </a:rPr>
                        <a:t>. </a:t>
                      </a:r>
                      <a:r>
                        <a:rPr lang="ru-RU" sz="1200" err="1">
                          <a:latin typeface="Sylfaen"/>
                          <a:ea typeface="Calibri"/>
                          <a:cs typeface="Times New Roman"/>
                        </a:rPr>
                        <a:t>անապահով</a:t>
                      </a:r>
                      <a:r>
                        <a:rPr lang="ru-RU" sz="1200">
                          <a:latin typeface="Sylfaen"/>
                          <a:ea typeface="Calibri"/>
                          <a:cs typeface="Times New Roman"/>
                        </a:rPr>
                        <a:t> </a:t>
                      </a:r>
                      <a:r>
                        <a:rPr lang="ru-RU" sz="1200" err="1">
                          <a:latin typeface="Sylfaen"/>
                          <a:ea typeface="Calibri"/>
                          <a:cs typeface="Times New Roman"/>
                        </a:rPr>
                        <a:t>ընտանիքներից</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համար</a:t>
                      </a:r>
                      <a:r>
                        <a:rPr lang="ru-RU" sz="1200">
                          <a:latin typeface="Sylfaen"/>
                          <a:ea typeface="Calibri"/>
                          <a:cs typeface="Times New Roman"/>
                        </a:rPr>
                        <a:t> </a:t>
                      </a:r>
                      <a:r>
                        <a:rPr lang="ru-RU" sz="1200" err="1">
                          <a:latin typeface="Sylfaen"/>
                          <a:ea typeface="Calibri"/>
                          <a:cs typeface="Times New Roman"/>
                        </a:rPr>
                        <a:t>հաստատության</a:t>
                      </a:r>
                      <a:r>
                        <a:rPr lang="ru-RU" sz="1200">
                          <a:latin typeface="Sylfaen"/>
                          <a:ea typeface="Calibri"/>
                          <a:cs typeface="Times New Roman"/>
                        </a:rPr>
                        <a:t> </a:t>
                      </a:r>
                      <a:r>
                        <a:rPr lang="ru-RU" sz="1200" err="1">
                          <a:latin typeface="Sylfaen"/>
                          <a:ea typeface="Calibri"/>
                          <a:cs typeface="Times New Roman"/>
                        </a:rPr>
                        <a:t>իրականացրած</a:t>
                      </a:r>
                      <a:r>
                        <a:rPr lang="ru-RU" sz="1200">
                          <a:latin typeface="Sylfaen"/>
                          <a:ea typeface="Calibri"/>
                          <a:cs typeface="Times New Roman"/>
                        </a:rPr>
                        <a:t> </a:t>
                      </a:r>
                      <a:r>
                        <a:rPr lang="ru-RU" sz="1200" err="1">
                          <a:latin typeface="Sylfaen"/>
                          <a:ea typeface="Calibri"/>
                          <a:cs typeface="Times New Roman"/>
                        </a:rPr>
                        <a:t>սոցիալական</a:t>
                      </a:r>
                      <a:r>
                        <a:rPr lang="ru-RU" sz="1200">
                          <a:latin typeface="Sylfaen"/>
                          <a:ea typeface="Calibri"/>
                          <a:cs typeface="Times New Roman"/>
                        </a:rPr>
                        <a:t> </a:t>
                      </a:r>
                      <a:r>
                        <a:rPr lang="ru-RU" sz="1200" err="1">
                          <a:latin typeface="Sylfaen"/>
                          <a:ea typeface="Calibri"/>
                          <a:cs typeface="Times New Roman"/>
                        </a:rPr>
                        <a:t>աջակցության</a:t>
                      </a:r>
                      <a:r>
                        <a:rPr lang="ru-RU" sz="1200">
                          <a:latin typeface="Sylfaen"/>
                          <a:ea typeface="Calibri"/>
                          <a:cs typeface="Times New Roman"/>
                        </a:rPr>
                        <a:t> </a:t>
                      </a:r>
                      <a:r>
                        <a:rPr lang="ru-RU" sz="1200" err="1">
                          <a:latin typeface="Sylfaen"/>
                          <a:ea typeface="Calibri"/>
                          <a:cs typeface="Times New Roman"/>
                        </a:rPr>
                        <a:t>ծրագրերի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a:t>
                      </a:r>
                      <a:r>
                        <a:rPr lang="ru-RU" sz="1200" err="1">
                          <a:latin typeface="Sylfaen"/>
                          <a:ea typeface="Calibri"/>
                          <a:cs typeface="Times New Roman"/>
                        </a:rPr>
                        <a:t>տվյալ</a:t>
                      </a:r>
                      <a:r>
                        <a:rPr lang="ru-RU" sz="1200">
                          <a:latin typeface="Sylfaen"/>
                          <a:ea typeface="Calibri"/>
                          <a:cs typeface="Times New Roman"/>
                        </a:rPr>
                        <a:t> </a:t>
                      </a:r>
                      <a:r>
                        <a:rPr lang="ru-RU" sz="1200" err="1">
                          <a:latin typeface="Sylfaen"/>
                          <a:ea typeface="Calibri"/>
                          <a:cs typeface="Times New Roman"/>
                        </a:rPr>
                        <a:t>ուստարում</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200">
                          <a:latin typeface="Sylfaen"/>
                          <a:ea typeface="Calibri"/>
                          <a:cs typeface="Times New Roman"/>
                        </a:rPr>
                        <a:t>-</a:t>
                      </a:r>
                      <a:endParaRPr lang="ru-RU" sz="120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endParaRPr lang="ru-RU" sz="1200" dirty="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endParaRPr lang="ru-RU" sz="1200" dirty="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3009">
                <a:tc>
                  <a:txBody>
                    <a:bodyPr/>
                    <a:lstStyle/>
                    <a:p>
                      <a:pPr marL="0" marR="0">
                        <a:lnSpc>
                          <a:spcPct val="115000"/>
                        </a:lnSpc>
                        <a:spcBef>
                          <a:spcPts val="0"/>
                        </a:spcBef>
                        <a:spcAft>
                          <a:spcPts val="1000"/>
                        </a:spcAft>
                      </a:pPr>
                      <a:endParaRPr lang="en-US" sz="10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dirty="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3333" t="53107" r="36563"/>
          <a:stretch/>
        </p:blipFill>
        <p:spPr>
          <a:xfrm>
            <a:off x="4879020" y="1314180"/>
            <a:ext cx="2328866" cy="943980"/>
          </a:xfrm>
          <a:prstGeom prst="rect">
            <a:avLst/>
          </a:prstGeom>
          <a:ln>
            <a:noFill/>
          </a:ln>
          <a:effectLst>
            <a:softEdge rad="112500"/>
          </a:effectLst>
        </p:spPr>
      </p:pic>
      <p:pic>
        <p:nvPicPr>
          <p:cNvPr id="4" name="Picture 3"/>
          <p:cNvPicPr>
            <a:picLocks noChangeAspect="1"/>
          </p:cNvPicPr>
          <p:nvPr/>
        </p:nvPicPr>
        <p:blipFill rotWithShape="1">
          <a:blip r:embed="rId4" cstate="print"/>
          <a:srcRect b="49390"/>
          <a:stretch/>
        </p:blipFill>
        <p:spPr>
          <a:xfrm>
            <a:off x="2660792" y="2976207"/>
            <a:ext cx="8731917" cy="944923"/>
          </a:xfrm>
          <a:prstGeom prst="rect">
            <a:avLst/>
          </a:prstGeom>
          <a:ln>
            <a:noFill/>
          </a:ln>
          <a:effectLst>
            <a:softEdge rad="112500"/>
          </a:effectLst>
        </p:spPr>
      </p:pic>
    </p:spTree>
    <p:extLst>
      <p:ext uri="{BB962C8B-B14F-4D97-AF65-F5344CB8AC3E}">
        <p14:creationId xmlns:p14="http://schemas.microsoft.com/office/powerpoint/2010/main" val="84123022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150" y="58738"/>
            <a:ext cx="11250797" cy="923330"/>
          </a:xfrm>
          <a:prstGeom prst="rect">
            <a:avLst/>
          </a:prstGeom>
        </p:spPr>
        <p:txBody>
          <a:bodyPr rtlCol="0">
            <a:spAutoFit/>
          </a:bodyPr>
          <a:lstStyle/>
          <a:p>
            <a:r>
              <a:rPr lang="hy-AM" b="1" i="1">
                <a:latin typeface="Sylfaen"/>
              </a:rPr>
              <a:t>Աղյուսակ 30. Տվյալներ հաստատության գործունեությանը սովորողների</a:t>
            </a:r>
            <a:endParaRPr lang="en-US" b="1" i="1">
              <a:latin typeface="Sylfaen"/>
            </a:endParaRPr>
          </a:p>
          <a:p>
            <a:r>
              <a:rPr lang="hy-AM" b="1" i="1">
                <a:latin typeface="Sylfaen"/>
              </a:rPr>
              <a:t>                          մասնակցության վերաբերյալ</a:t>
            </a:r>
            <a:endParaRPr lang="en-US" b="1" i="1">
              <a:solidFill>
                <a:srgbClr val="000000"/>
              </a:solidFill>
              <a:latin typeface="Sylfaen"/>
            </a:endParaRPr>
          </a:p>
          <a:p>
            <a:endParaRPr lang="hy-AM" b="1" i="1">
              <a:latin typeface="Sylfaen"/>
            </a:endParaRPr>
          </a:p>
        </p:txBody>
      </p:sp>
      <p:graphicFrame>
        <p:nvGraphicFramePr>
          <p:cNvPr id="5" name="Table 4"/>
          <p:cNvGraphicFramePr/>
          <p:nvPr>
            <p:extLst>
              <p:ext uri="{D42A27DB-BD31-4B8C-83A1-F6EECF244321}">
                <p14:modId xmlns:p14="http://schemas.microsoft.com/office/powerpoint/2010/main" val="1187034425"/>
              </p:ext>
            </p:extLst>
          </p:nvPr>
        </p:nvGraphicFramePr>
        <p:xfrm>
          <a:off x="310719" y="824108"/>
          <a:ext cx="11206748" cy="5282819"/>
        </p:xfrm>
        <a:graphic>
          <a:graphicData uri="http://schemas.openxmlformats.org/drawingml/2006/table">
            <a:tbl>
              <a:tblPr>
                <a:tableStyleId>{5940675A-B579-460E-94D1-54222C63F5DA}</a:tableStyleId>
              </a:tblPr>
              <a:tblGrid>
                <a:gridCol w="3520259">
                  <a:extLst>
                    <a:ext uri="{9D8B030D-6E8A-4147-A177-3AD203B41FA5}">
                      <a16:colId xmlns:a16="http://schemas.microsoft.com/office/drawing/2014/main" val="42186410"/>
                    </a:ext>
                  </a:extLst>
                </a:gridCol>
                <a:gridCol w="1027826">
                  <a:extLst>
                    <a:ext uri="{9D8B030D-6E8A-4147-A177-3AD203B41FA5}">
                      <a16:colId xmlns:a16="http://schemas.microsoft.com/office/drawing/2014/main" val="1147876900"/>
                    </a:ext>
                  </a:extLst>
                </a:gridCol>
                <a:gridCol w="1319678">
                  <a:extLst>
                    <a:ext uri="{9D8B030D-6E8A-4147-A177-3AD203B41FA5}">
                      <a16:colId xmlns:a16="http://schemas.microsoft.com/office/drawing/2014/main" val="3747162528"/>
                    </a:ext>
                  </a:extLst>
                </a:gridCol>
                <a:gridCol w="523430">
                  <a:extLst>
                    <a:ext uri="{9D8B030D-6E8A-4147-A177-3AD203B41FA5}">
                      <a16:colId xmlns:a16="http://schemas.microsoft.com/office/drawing/2014/main" val="3721053059"/>
                    </a:ext>
                  </a:extLst>
                </a:gridCol>
                <a:gridCol w="1617874">
                  <a:extLst>
                    <a:ext uri="{9D8B030D-6E8A-4147-A177-3AD203B41FA5}">
                      <a16:colId xmlns:a16="http://schemas.microsoft.com/office/drawing/2014/main" val="4060120293"/>
                    </a:ext>
                  </a:extLst>
                </a:gridCol>
                <a:gridCol w="1674976">
                  <a:extLst>
                    <a:ext uri="{9D8B030D-6E8A-4147-A177-3AD203B41FA5}">
                      <a16:colId xmlns:a16="http://schemas.microsoft.com/office/drawing/2014/main" val="3023651399"/>
                    </a:ext>
                  </a:extLst>
                </a:gridCol>
                <a:gridCol w="1522705">
                  <a:extLst>
                    <a:ext uri="{9D8B030D-6E8A-4147-A177-3AD203B41FA5}">
                      <a16:colId xmlns:a16="http://schemas.microsoft.com/office/drawing/2014/main" val="250786910"/>
                    </a:ext>
                  </a:extLst>
                </a:gridCol>
              </a:tblGrid>
              <a:tr h="318643">
                <a:tc gridSpan="4">
                  <a:txBody>
                    <a:bodyPr/>
                    <a:lstStyle/>
                    <a:p>
                      <a:pPr marL="0" marR="0" algn="ctr" rtl="0" eaLnBrk="1" latinLnBrk="0" hangingPunct="1">
                        <a:lnSpc>
                          <a:spcPct val="115000"/>
                        </a:lnSpc>
                        <a:spcBef>
                          <a:spcPts val="0"/>
                        </a:spcBef>
                        <a:spcAft>
                          <a:spcPts val="0"/>
                        </a:spcAft>
                      </a:pPr>
                      <a:r>
                        <a:rPr lang="hy-AM" sz="1200" dirty="0">
                          <a:effectLst/>
                        </a:rPr>
                        <a:t>Ցուցանիշ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a:effectLst/>
                        </a:rPr>
                        <a:t>20</a:t>
                      </a:r>
                      <a:r>
                        <a:rPr lang="en-GB" sz="1200" dirty="0" smtClean="0">
                          <a:effectLst/>
                        </a:rPr>
                        <a:t>2</a:t>
                      </a:r>
                      <a:r>
                        <a:rPr lang="hy-AM" sz="1200" dirty="0" smtClean="0">
                          <a:effectLst/>
                        </a:rPr>
                        <a:t>2-20</a:t>
                      </a:r>
                      <a:r>
                        <a:rPr lang="en-GB" sz="1200" dirty="0" smtClean="0">
                          <a:effectLst/>
                        </a:rPr>
                        <a:t>2</a:t>
                      </a:r>
                      <a:r>
                        <a:rPr lang="hy-AM" sz="1200" dirty="0" smtClean="0">
                          <a:effectLst/>
                        </a:rPr>
                        <a:t>3ուստարի</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a:effectLst/>
                        </a:rPr>
                        <a:t>20</a:t>
                      </a:r>
                      <a:r>
                        <a:rPr lang="en-GB" sz="1200" dirty="0" smtClean="0">
                          <a:effectLst/>
                        </a:rPr>
                        <a:t>2</a:t>
                      </a:r>
                      <a:r>
                        <a:rPr lang="hy-AM" sz="1200" dirty="0" smtClean="0">
                          <a:effectLst/>
                        </a:rPr>
                        <a:t>3-202</a:t>
                      </a:r>
                      <a:r>
                        <a:rPr lang="hy-AM" sz="1200" dirty="0">
                          <a:effectLst/>
                        </a:rPr>
                        <a:t>4</a:t>
                      </a:r>
                      <a:r>
                        <a:rPr lang="hy-AM" sz="1200" dirty="0" smtClean="0">
                          <a:effectLst/>
                        </a:rPr>
                        <a:t>ուստարի</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a:effectLst/>
                        </a:rPr>
                        <a:t>20</a:t>
                      </a:r>
                      <a:r>
                        <a:rPr lang="en-GB" sz="1200" dirty="0" smtClean="0">
                          <a:effectLst/>
                        </a:rPr>
                        <a:t>24</a:t>
                      </a:r>
                      <a:r>
                        <a:rPr lang="hy-AM" sz="1200" dirty="0" smtClean="0">
                          <a:effectLst/>
                        </a:rPr>
                        <a:t>-202</a:t>
                      </a:r>
                      <a:r>
                        <a:rPr lang="en-US" sz="1200" dirty="0" smtClean="0">
                          <a:effectLst/>
                        </a:rPr>
                        <a:t>5</a:t>
                      </a:r>
                      <a:r>
                        <a:rPr lang="hy-AM" sz="1200" dirty="0" smtClean="0">
                          <a:effectLst/>
                        </a:rPr>
                        <a:t>ուստարի</a:t>
                      </a:r>
                      <a:r>
                        <a:rPr lang="hy-AM" sz="1200" dirty="0">
                          <a:effectLst/>
                        </a:rPr>
                        <a:t> </a:t>
                      </a:r>
                      <a:endParaRPr lang="hy-AM" dirty="0">
                        <a:effectLst/>
                      </a:endParaRPr>
                    </a:p>
                  </a:txBody>
                  <a:tcPr marL="0" marR="0" marT="0" marB="0" anchor="ctr"/>
                </a:tc>
                <a:extLst>
                  <a:ext uri="{0D108BD9-81ED-4DB2-BD59-A6C34878D82A}">
                    <a16:rowId xmlns:a16="http://schemas.microsoft.com/office/drawing/2014/main" val="2552366546"/>
                  </a:ext>
                </a:extLst>
              </a:tr>
              <a:tr h="76835">
                <a:tc gridSpan="4">
                  <a:txBody>
                    <a:bodyPr/>
                    <a:lstStyle/>
                    <a:p>
                      <a:pPr marL="0" marR="0" rtl="0" latinLnBrk="0">
                        <a:lnSpc>
                          <a:spcPct val="115000"/>
                        </a:lnSpc>
                        <a:spcBef>
                          <a:spcPts val="0"/>
                        </a:spcBef>
                        <a:spcAft>
                          <a:spcPts val="1000"/>
                        </a:spcAft>
                      </a:pPr>
                      <a:r>
                        <a:rPr lang="hy-AM" sz="1200" dirty="0">
                          <a:effectLst/>
                        </a:rPr>
                        <a:t>Դեպքերի թիվը, երբ սովորողները մասնակցություն են ունեցել իրենց վերաբերող խնդրահարույց հարցերի շուրջ տնօրինության կողմից որոշումների կայացմանը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en-US" sz="1200" dirty="0">
                          <a:effectLst/>
                        </a:rPr>
                        <a:t>1 </a:t>
                      </a:r>
                      <a:endParaRPr lang="en-US" dirty="0">
                        <a:effectLst/>
                      </a:endParaRPr>
                    </a:p>
                  </a:txBody>
                  <a:tcPr marL="0" marR="0" marT="0" marB="0" anchor="ctr"/>
                </a:tc>
                <a:tc>
                  <a:txBody>
                    <a:bodyPr/>
                    <a:lstStyle/>
                    <a:p>
                      <a:pPr algn="ctr"/>
                      <a:r>
                        <a:rPr lang="hy-AM" sz="1200" dirty="0" smtClean="0"/>
                        <a:t>3</a:t>
                      </a:r>
                      <a:endParaRPr lang="ru-RU" sz="1200" dirty="0"/>
                    </a:p>
                  </a:txBody>
                  <a:tcPr marL="0" marR="0" marT="0" marB="0" anchor="ctr"/>
                </a:tc>
                <a:tc>
                  <a:txBody>
                    <a:bodyPr/>
                    <a:lstStyle/>
                    <a:p>
                      <a:pPr algn="ctr"/>
                      <a:r>
                        <a:rPr lang="en-US" sz="1200" dirty="0" smtClean="0"/>
                        <a:t>25</a:t>
                      </a:r>
                      <a:endParaRPr lang="ru-RU" sz="1200" dirty="0"/>
                    </a:p>
                  </a:txBody>
                  <a:tcPr marL="0" marR="0" marT="0" marB="0" anchor="ctr"/>
                </a:tc>
                <a:extLst>
                  <a:ext uri="{0D108BD9-81ED-4DB2-BD59-A6C34878D82A}">
                    <a16:rowId xmlns:a16="http://schemas.microsoft.com/office/drawing/2014/main" val="1678815369"/>
                  </a:ext>
                </a:extLst>
              </a:tr>
              <a:tr h="39878">
                <a:tc gridSpan="4">
                  <a:txBody>
                    <a:bodyPr/>
                    <a:lstStyle/>
                    <a:p>
                      <a:pPr marL="0" marR="0" rtl="0" latinLnBrk="0">
                        <a:lnSpc>
                          <a:spcPct val="115000"/>
                        </a:lnSpc>
                        <a:spcBef>
                          <a:spcPts val="0"/>
                        </a:spcBef>
                        <a:spcAft>
                          <a:spcPts val="1000"/>
                        </a:spcAft>
                      </a:pPr>
                      <a:r>
                        <a:rPr lang="hy-AM" sz="1200">
                          <a:effectLst/>
                        </a:rPr>
                        <a:t>Սովորողների կողմից առաջարկված նոր նախաձեռնությունների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9</a:t>
                      </a:r>
                      <a:r>
                        <a:rPr lang="en-US" sz="1200" dirty="0">
                          <a:effectLst/>
                        </a:rPr>
                        <a:t> </a:t>
                      </a:r>
                      <a:endParaRPr lang="en-US" dirty="0">
                        <a:effectLst/>
                      </a:endParaRPr>
                    </a:p>
                  </a:txBody>
                  <a:tcPr marL="0" marR="0" marT="0" marB="0" anchor="ctr"/>
                </a:tc>
                <a:tc>
                  <a:txBody>
                    <a:bodyPr/>
                    <a:lstStyle/>
                    <a:p>
                      <a:pPr algn="ctr"/>
                      <a:r>
                        <a:rPr lang="hy-AM" sz="1200" dirty="0" smtClean="0"/>
                        <a:t>15</a:t>
                      </a:r>
                      <a:endParaRPr lang="ru-RU" sz="1200" dirty="0"/>
                    </a:p>
                  </a:txBody>
                  <a:tcPr marL="0" marR="0" marT="0" marB="0" anchor="ctr"/>
                </a:tc>
                <a:tc>
                  <a:txBody>
                    <a:bodyPr/>
                    <a:lstStyle/>
                    <a:p>
                      <a:pPr algn="ctr"/>
                      <a:r>
                        <a:rPr lang="en-US" sz="1200" dirty="0" smtClean="0"/>
                        <a:t>18</a:t>
                      </a:r>
                      <a:endParaRPr lang="ru-RU" sz="1200" dirty="0"/>
                    </a:p>
                  </a:txBody>
                  <a:tcPr marL="0" marR="0" marT="0" marB="0" anchor="ctr"/>
                </a:tc>
                <a:extLst>
                  <a:ext uri="{0D108BD9-81ED-4DB2-BD59-A6C34878D82A}">
                    <a16:rowId xmlns:a16="http://schemas.microsoft.com/office/drawing/2014/main" val="159792836"/>
                  </a:ext>
                </a:extLst>
              </a:tr>
              <a:tr h="39878">
                <a:tc gridSpan="4">
                  <a:txBody>
                    <a:bodyPr/>
                    <a:lstStyle/>
                    <a:p>
                      <a:pPr marL="0" marR="0" rtl="0" latinLnBrk="0">
                        <a:lnSpc>
                          <a:spcPct val="115000"/>
                        </a:lnSpc>
                        <a:spcBef>
                          <a:spcPts val="0"/>
                        </a:spcBef>
                        <a:spcAft>
                          <a:spcPts val="1000"/>
                        </a:spcAft>
                      </a:pPr>
                      <a:r>
                        <a:rPr lang="hy-AM" sz="1200">
                          <a:effectLst/>
                        </a:rPr>
                        <a:t>Սովորողների կողմից կազմակերպած միջոցառումների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6</a:t>
                      </a:r>
                      <a:endParaRPr lang="en-US" dirty="0">
                        <a:effectLst/>
                      </a:endParaRPr>
                    </a:p>
                  </a:txBody>
                  <a:tcPr marL="0" marR="0" marT="0" marB="0" anchor="ctr"/>
                </a:tc>
                <a:tc>
                  <a:txBody>
                    <a:bodyPr/>
                    <a:lstStyle/>
                    <a:p>
                      <a:pPr algn="ctr"/>
                      <a:r>
                        <a:rPr lang="hy-AM" sz="1200" dirty="0" smtClean="0"/>
                        <a:t>8</a:t>
                      </a:r>
                      <a:endParaRPr lang="ru-RU" sz="1200" dirty="0"/>
                    </a:p>
                  </a:txBody>
                  <a:tcPr marL="0" marR="0" marT="0" marB="0" anchor="ctr"/>
                </a:tc>
                <a:tc>
                  <a:txBody>
                    <a:bodyPr/>
                    <a:lstStyle/>
                    <a:p>
                      <a:pPr algn="ctr"/>
                      <a:r>
                        <a:rPr lang="en-US" sz="1200" dirty="0" smtClean="0"/>
                        <a:t>20</a:t>
                      </a:r>
                      <a:endParaRPr lang="ru-RU" sz="1200" dirty="0"/>
                    </a:p>
                  </a:txBody>
                  <a:tcPr marL="0" marR="0" marT="0" marB="0" anchor="ctr"/>
                </a:tc>
                <a:extLst>
                  <a:ext uri="{0D108BD9-81ED-4DB2-BD59-A6C34878D82A}">
                    <a16:rowId xmlns:a16="http://schemas.microsoft.com/office/drawing/2014/main" val="1312358546"/>
                  </a:ext>
                </a:extLst>
              </a:tr>
              <a:tr h="59690">
                <a:tc gridSpan="4">
                  <a:txBody>
                    <a:bodyPr/>
                    <a:lstStyle/>
                    <a:p>
                      <a:pPr marL="0" marR="0" rtl="0" latinLnBrk="0">
                        <a:lnSpc>
                          <a:spcPct val="115000"/>
                        </a:lnSpc>
                        <a:spcBef>
                          <a:spcPts val="0"/>
                        </a:spcBef>
                        <a:spcAft>
                          <a:spcPts val="1000"/>
                        </a:spcAft>
                      </a:pPr>
                      <a:r>
                        <a:rPr lang="hy-AM" sz="1200">
                          <a:effectLst/>
                        </a:rPr>
                        <a:t>Իրենց հուզող հարցերի վերաբերյալ սովորողների կողմից կազմակերպված համաժողովների, սեմինարների, կլոր-սեղանների, քննարկումների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4</a:t>
                      </a:r>
                      <a:r>
                        <a:rPr lang="en-US" sz="1200" dirty="0">
                          <a:effectLst/>
                        </a:rPr>
                        <a:t> </a:t>
                      </a:r>
                      <a:endParaRPr lang="en-US" dirty="0">
                        <a:effectLst/>
                      </a:endParaRPr>
                    </a:p>
                  </a:txBody>
                  <a:tcPr marL="0" marR="0" marT="0" marB="0" anchor="ctr"/>
                </a:tc>
                <a:tc>
                  <a:txBody>
                    <a:bodyPr/>
                    <a:lstStyle/>
                    <a:p>
                      <a:pPr algn="ctr"/>
                      <a:r>
                        <a:rPr lang="hy-AM" sz="1200" dirty="0" smtClean="0"/>
                        <a:t>6</a:t>
                      </a:r>
                      <a:endParaRPr lang="ru-RU" sz="1200" dirty="0"/>
                    </a:p>
                  </a:txBody>
                  <a:tcPr marL="0" marR="0" marT="0" marB="0" anchor="ctr"/>
                </a:tc>
                <a:tc>
                  <a:txBody>
                    <a:bodyPr/>
                    <a:lstStyle/>
                    <a:p>
                      <a:pPr algn="ctr"/>
                      <a:r>
                        <a:rPr lang="en-US" sz="1200" dirty="0" smtClean="0"/>
                        <a:t>10</a:t>
                      </a:r>
                      <a:endParaRPr lang="ru-RU" sz="1200" dirty="0"/>
                    </a:p>
                  </a:txBody>
                  <a:tcPr marL="0" marR="0" marT="0" marB="0" anchor="ctr"/>
                </a:tc>
                <a:extLst>
                  <a:ext uri="{0D108BD9-81ED-4DB2-BD59-A6C34878D82A}">
                    <a16:rowId xmlns:a16="http://schemas.microsoft.com/office/drawing/2014/main" val="646683661"/>
                  </a:ext>
                </a:extLst>
              </a:tr>
              <a:tr h="39878">
                <a:tc gridSpan="7">
                  <a:txBody>
                    <a:bodyPr/>
                    <a:lstStyle/>
                    <a:p>
                      <a:pPr marL="0" marR="0" rtl="0" latinLnBrk="0">
                        <a:lnSpc>
                          <a:spcPct val="115000"/>
                        </a:lnSpc>
                        <a:spcBef>
                          <a:spcPts val="0"/>
                        </a:spcBef>
                        <a:spcAft>
                          <a:spcPts val="1000"/>
                        </a:spcAft>
                      </a:pPr>
                      <a:r>
                        <a:rPr lang="hy-AM" sz="1200">
                          <a:effectLst/>
                        </a:rPr>
                        <a:t>Նկարագրել, թե ինչպես է տնօրինությունը խթանում է սովորողների նախաձեռնությունները, օժանդակում դրանց իրագործմանը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18767601"/>
                  </a:ext>
                </a:extLst>
              </a:tr>
              <a:tr h="138938">
                <a:tc gridSpan="7">
                  <a:txBody>
                    <a:bodyPr/>
                    <a:lstStyle/>
                    <a:p>
                      <a:pPr marL="0" marR="0" rtl="0" latinLnBrk="0">
                        <a:lnSpc>
                          <a:spcPct val="115000"/>
                        </a:lnSpc>
                        <a:spcBef>
                          <a:spcPts val="0"/>
                        </a:spcBef>
                        <a:spcAft>
                          <a:spcPts val="1000"/>
                        </a:spcAft>
                      </a:pPr>
                      <a:r>
                        <a:rPr lang="hy-AM" sz="1200">
                          <a:effectLst/>
                        </a:rPr>
                        <a:t>Տրամադրում է անհրաժեշտ պայմաններ, միջոցներ, համակարգիչ-ինտերնետ և այլն: </a:t>
                      </a:r>
                      <a:endParaRPr lang="hy-AM">
                        <a:effectLst/>
                      </a:endParaRPr>
                    </a:p>
                    <a:p>
                      <a:pPr marL="0" marR="0" rtl="0" latinLnBrk="0">
                        <a:lnSpc>
                          <a:spcPct val="115000"/>
                        </a:lnSpc>
                        <a:spcBef>
                          <a:spcPts val="0"/>
                        </a:spcBef>
                        <a:spcAft>
                          <a:spcPts val="1000"/>
                        </a:spcAft>
                      </a:pPr>
                      <a:r>
                        <a:rPr lang="hy-AM" sz="1200">
                          <a:effectLst/>
                        </a:rPr>
                        <a:t>Աջակցում է նախաձեռնությունների իրագործմանը: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1191225"/>
                  </a:ext>
                </a:extLst>
              </a:tr>
              <a:tr h="59690">
                <a:tc gridSpan="7">
                  <a:txBody>
                    <a:bodyPr/>
                    <a:lstStyle/>
                    <a:p>
                      <a:pPr marL="0" marR="0" rtl="0" latinLnBrk="0">
                        <a:lnSpc>
                          <a:spcPct val="115000"/>
                        </a:lnSpc>
                        <a:spcBef>
                          <a:spcPts val="0"/>
                        </a:spcBef>
                        <a:spcAft>
                          <a:spcPts val="1000"/>
                        </a:spcAft>
                      </a:pPr>
                      <a:r>
                        <a:rPr lang="hy-AM" sz="1200">
                          <a:effectLst/>
                        </a:rPr>
                        <a:t>Սովորողների մասնակցությունը իրենց վերաբերող </a:t>
                      </a:r>
                      <a:r>
                        <a:rPr lang="hy-AM" sz="1200" err="1">
                          <a:effectLst/>
                        </a:rPr>
                        <a:t>խնդրահարույց</a:t>
                      </a:r>
                      <a:r>
                        <a:rPr lang="hy-AM" sz="1200">
                          <a:effectLst/>
                        </a:rPr>
                        <a:t> հարցերի շուրջ տնօրինության կողմից ընդունած որոշումներին և դրանց կայացմանը մասնակցություն ունեցած սովորողների տոկոսը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4950430"/>
                  </a:ext>
                </a:extLst>
              </a:tr>
              <a:tr h="119507">
                <a:tc>
                  <a:txBody>
                    <a:bodyPr/>
                    <a:lstStyle/>
                    <a:p>
                      <a:pPr marL="0" marR="0" rtl="0" latinLnBrk="0">
                        <a:lnSpc>
                          <a:spcPct val="115000"/>
                        </a:lnSpc>
                        <a:spcBef>
                          <a:spcPts val="0"/>
                        </a:spcBef>
                        <a:spcAft>
                          <a:spcPts val="0"/>
                        </a:spcAft>
                      </a:pPr>
                      <a:r>
                        <a:rPr lang="hy-AM" sz="1200">
                          <a:effectLst/>
                        </a:rPr>
                        <a:t>Նկարագրել վերջին 3 տարում քննարկված </a:t>
                      </a:r>
                      <a:r>
                        <a:rPr lang="hy-AM" sz="1200" err="1">
                          <a:effectLst/>
                        </a:rPr>
                        <a:t>խնդրահարույց</a:t>
                      </a:r>
                      <a:r>
                        <a:rPr lang="hy-AM" sz="1200">
                          <a:effectLst/>
                        </a:rPr>
                        <a:t> հարցերը և ընդունված որոշումները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gridSpan="4">
                  <a:txBody>
                    <a:bodyPr/>
                    <a:lstStyle/>
                    <a:p>
                      <a:pPr marL="0" marR="0" algn="ctr" rtl="0" latinLnBrk="0">
                        <a:lnSpc>
                          <a:spcPct val="115000"/>
                        </a:lnSpc>
                        <a:spcBef>
                          <a:spcPts val="0"/>
                        </a:spcBef>
                        <a:spcAft>
                          <a:spcPts val="0"/>
                        </a:spcAft>
                      </a:pPr>
                      <a:r>
                        <a:rPr lang="hy-AM" sz="1200" dirty="0">
                          <a:effectLst/>
                        </a:rPr>
                        <a:t>Մեկնաբանություն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48189954"/>
                  </a:ext>
                </a:extLst>
              </a:tr>
              <a:tr h="258826">
                <a:tc>
                  <a:txBody>
                    <a:bodyPr/>
                    <a:lstStyle/>
                    <a:p>
                      <a:pPr marL="54610" marR="0" indent="-54610" rtl="0" latinLnBrk="0">
                        <a:lnSpc>
                          <a:spcPct val="115000"/>
                        </a:lnSpc>
                        <a:spcBef>
                          <a:spcPts val="0"/>
                        </a:spcBef>
                        <a:spcAft>
                          <a:spcPts val="0"/>
                        </a:spcAft>
                      </a:pPr>
                      <a:r>
                        <a:rPr lang="hy-AM" sz="1200">
                          <a:effectLst/>
                        </a:rPr>
                        <a:t>1.Հաստատության ներքին կարգապահական կանոնների հաստատում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en-US" sz="1200" dirty="0" smtClean="0">
                          <a:effectLst/>
                        </a:rPr>
                        <a:t>10.09</a:t>
                      </a:r>
                      <a:r>
                        <a:rPr lang="hy-AM" sz="1200" dirty="0" smtClean="0">
                          <a:effectLst/>
                        </a:rPr>
                        <a:t>.202</a:t>
                      </a:r>
                      <a:r>
                        <a:rPr lang="en-US" sz="1200" dirty="0" smtClean="0">
                          <a:effectLst/>
                        </a:rPr>
                        <a:t>4</a:t>
                      </a:r>
                      <a:r>
                        <a:rPr lang="hy-AM" sz="1200" dirty="0" smtClean="0">
                          <a:effectLst/>
                        </a:rPr>
                        <a:t>թ</a:t>
                      </a:r>
                      <a:r>
                        <a:rPr lang="hy-AM" sz="1200" dirty="0">
                          <a:effectLst/>
                        </a:rPr>
                        <a:t>.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en-US" sz="1200" dirty="0">
                          <a:effectLst/>
                        </a:rPr>
                        <a:t>              </a:t>
                      </a:r>
                      <a:r>
                        <a:rPr lang="hy-AM" sz="1200" dirty="0" smtClean="0">
                          <a:effectLst/>
                        </a:rPr>
                        <a:t>90</a:t>
                      </a:r>
                      <a:r>
                        <a:rPr lang="en-US" sz="1200" dirty="0" smtClean="0">
                          <a:effectLst/>
                        </a:rPr>
                        <a:t> </a:t>
                      </a:r>
                      <a:r>
                        <a:rPr lang="en-US" sz="1200" dirty="0">
                          <a:effectLst/>
                        </a:rPr>
                        <a:t>% </a:t>
                      </a:r>
                      <a:endParaRPr lang="en-US" dirty="0">
                        <a:effectLst/>
                      </a:endParaRPr>
                    </a:p>
                  </a:txBody>
                  <a:tcPr marL="0" marR="0" marT="0" marB="0" anchor="ctr"/>
                </a:tc>
                <a:tc gridSpan="4">
                  <a:txBody>
                    <a:bodyPr/>
                    <a:lstStyle/>
                    <a:p>
                      <a:pPr marL="0" marR="0" rtl="0" latinLnBrk="0">
                        <a:lnSpc>
                          <a:spcPct val="115000"/>
                        </a:lnSpc>
                        <a:spcBef>
                          <a:spcPts val="0"/>
                        </a:spcBef>
                        <a:spcAft>
                          <a:spcPts val="0"/>
                        </a:spcAft>
                      </a:pPr>
                      <a:r>
                        <a:rPr lang="hy-AM" sz="1200" dirty="0">
                          <a:effectLst/>
                        </a:rPr>
                        <a:t>Աշակերտները հանդես են եկել առաջարկություններով, որոնց մի մասը հաշվի է առնվել հաստատության ներքին կարգապահական կանոնները հաստատելիս: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7992756"/>
                  </a:ext>
                </a:extLst>
              </a:tr>
              <a:tr h="358394">
                <a:tc>
                  <a:txBody>
                    <a:bodyPr/>
                    <a:lstStyle/>
                    <a:p>
                      <a:pPr marL="54610" marR="0" indent="-54610" rtl="0" latinLnBrk="0">
                        <a:lnSpc>
                          <a:spcPct val="115000"/>
                        </a:lnSpc>
                        <a:spcBef>
                          <a:spcPts val="0"/>
                        </a:spcBef>
                        <a:spcAft>
                          <a:spcPts val="0"/>
                        </a:spcAft>
                      </a:pPr>
                      <a:r>
                        <a:rPr lang="hy-AM" sz="1200">
                          <a:effectLst/>
                        </a:rPr>
                        <a:t>2. «Աշակերտական կերպար»-ի քննարկում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en-US" sz="1200" dirty="0" smtClean="0">
                          <a:effectLst/>
                        </a:rPr>
                        <a:t>20</a:t>
                      </a:r>
                      <a:r>
                        <a:rPr lang="hy-AM" sz="1200" dirty="0" smtClean="0">
                          <a:effectLst/>
                        </a:rPr>
                        <a:t>.</a:t>
                      </a:r>
                      <a:r>
                        <a:rPr lang="en-US" sz="1200" dirty="0" smtClean="0">
                          <a:effectLst/>
                        </a:rPr>
                        <a:t>10</a:t>
                      </a:r>
                      <a:r>
                        <a:rPr lang="hy-AM" sz="1200" dirty="0" smtClean="0">
                          <a:effectLst/>
                        </a:rPr>
                        <a:t>.202</a:t>
                      </a:r>
                      <a:r>
                        <a:rPr lang="en-US" sz="1200" dirty="0" smtClean="0">
                          <a:effectLst/>
                        </a:rPr>
                        <a:t>4</a:t>
                      </a:r>
                      <a:r>
                        <a:rPr lang="hy-AM" sz="1200" dirty="0" smtClean="0">
                          <a:effectLst/>
                        </a:rPr>
                        <a:t>թ</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       </a:t>
                      </a:r>
                      <a:r>
                        <a:rPr lang="en-US" sz="1200" dirty="0" smtClean="0">
                          <a:effectLst/>
                        </a:rPr>
                        <a:t>92%</a:t>
                      </a:r>
                      <a:r>
                        <a:rPr lang="en-US" sz="1200" dirty="0">
                          <a:effectLst/>
                        </a:rPr>
                        <a:t> </a:t>
                      </a:r>
                      <a:endParaRPr lang="en-US" dirty="0">
                        <a:effectLst/>
                      </a:endParaRPr>
                    </a:p>
                  </a:txBody>
                  <a:tcPr marL="0" marR="0" marT="0" marB="0" anchor="ctr"/>
                </a:tc>
                <a:tc gridSpan="4">
                  <a:txBody>
                    <a:bodyPr/>
                    <a:lstStyle/>
                    <a:p>
                      <a:pPr marL="0" marR="0" rtl="0" latinLnBrk="0">
                        <a:lnSpc>
                          <a:spcPct val="115000"/>
                        </a:lnSpc>
                        <a:spcBef>
                          <a:spcPts val="0"/>
                        </a:spcBef>
                        <a:spcAft>
                          <a:spcPts val="0"/>
                        </a:spcAft>
                      </a:pPr>
                      <a:r>
                        <a:rPr lang="hy-AM" sz="1200" dirty="0">
                          <a:effectLst/>
                        </a:rPr>
                        <a:t>Աշակերտները հանդես են եկել առաջարկություններով և քննարկման արդյունքում </a:t>
                      </a:r>
                      <a:r>
                        <a:rPr lang="hy-AM" sz="1200" dirty="0" smtClean="0">
                          <a:effectLst/>
                        </a:rPr>
                        <a:t>որոշ</a:t>
                      </a:r>
                      <a:r>
                        <a:rPr lang="en-US" sz="1200" dirty="0" smtClean="0">
                          <a:effectLst/>
                        </a:rPr>
                        <a:t>ե</a:t>
                      </a:r>
                      <a:r>
                        <a:rPr lang="hy-AM" sz="1200" dirty="0" smtClean="0">
                          <a:effectLst/>
                        </a:rPr>
                        <a:t>լ </a:t>
                      </a:r>
                      <a:r>
                        <a:rPr lang="hy-AM" sz="1200" dirty="0">
                          <a:effectLst/>
                        </a:rPr>
                        <a:t>են չընտրել միասնական համազգեստ, այլ կրել սպիտակ վերնաշապիկներ և սև տաբատ ու կիսաշրջազգեստ: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7189"/>
                  </a:ext>
                </a:extLst>
              </a:tr>
            </a:tbl>
          </a:graphicData>
        </a:graphic>
      </p:graphicFrame>
    </p:spTree>
    <p:extLst>
      <p:ext uri="{BB962C8B-B14F-4D97-AF65-F5344CB8AC3E}">
        <p14:creationId xmlns:p14="http://schemas.microsoft.com/office/powerpoint/2010/main" val="39500170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82112503"/>
              </p:ext>
            </p:extLst>
          </p:nvPr>
        </p:nvGraphicFramePr>
        <p:xfrm>
          <a:off x="310719" y="-212421"/>
          <a:ext cx="11114844" cy="6817409"/>
        </p:xfrm>
        <a:graphic>
          <a:graphicData uri="http://schemas.openxmlformats.org/drawingml/2006/table">
            <a:tbl>
              <a:tblPr>
                <a:tableStyleId>{5940675A-B579-460E-94D1-54222C63F5DA}</a:tableStyleId>
              </a:tblPr>
              <a:tblGrid>
                <a:gridCol w="4129539">
                  <a:extLst>
                    <a:ext uri="{9D8B030D-6E8A-4147-A177-3AD203B41FA5}">
                      <a16:colId xmlns:a16="http://schemas.microsoft.com/office/drawing/2014/main" val="398189439"/>
                    </a:ext>
                  </a:extLst>
                </a:gridCol>
                <a:gridCol w="1619026">
                  <a:extLst>
                    <a:ext uri="{9D8B030D-6E8A-4147-A177-3AD203B41FA5}">
                      <a16:colId xmlns:a16="http://schemas.microsoft.com/office/drawing/2014/main" val="76527006"/>
                    </a:ext>
                  </a:extLst>
                </a:gridCol>
                <a:gridCol w="2838417">
                  <a:extLst>
                    <a:ext uri="{9D8B030D-6E8A-4147-A177-3AD203B41FA5}">
                      <a16:colId xmlns:a16="http://schemas.microsoft.com/office/drawing/2014/main" val="2179264355"/>
                    </a:ext>
                  </a:extLst>
                </a:gridCol>
                <a:gridCol w="2527862">
                  <a:extLst>
                    <a:ext uri="{9D8B030D-6E8A-4147-A177-3AD203B41FA5}">
                      <a16:colId xmlns:a16="http://schemas.microsoft.com/office/drawing/2014/main" val="3574648469"/>
                    </a:ext>
                  </a:extLst>
                </a:gridCol>
              </a:tblGrid>
              <a:tr h="436940">
                <a:tc gridSpan="4">
                  <a:txBody>
                    <a:bodyPr/>
                    <a:lstStyle/>
                    <a:p>
                      <a:pPr marL="0" marR="0" rtl="0" latinLnBrk="0">
                        <a:lnSpc>
                          <a:spcPct val="114999"/>
                        </a:lnSpc>
                        <a:spcBef>
                          <a:spcPts val="0"/>
                        </a:spcBef>
                        <a:spcAft>
                          <a:spcPts val="1000"/>
                        </a:spcAft>
                      </a:pPr>
                      <a:r>
                        <a:rPr lang="hy-AM" sz="1050" b="1" dirty="0">
                          <a:effectLst/>
                        </a:rPr>
                        <a:t>Սովորողների կողմից առաջարկված նոր նախաձեռնությունները և նախաձեռնություններին մասնակցություն ունեցած սովորողների տոկոսը</a:t>
                      </a:r>
                      <a:r>
                        <a:rPr lang="hy-AM" sz="1050" dirty="0">
                          <a:effectLst/>
                        </a:rPr>
                        <a:t>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31553633"/>
                  </a:ext>
                </a:extLst>
              </a:tr>
              <a:tr h="769692">
                <a:tc>
                  <a:txBody>
                    <a:bodyPr/>
                    <a:lstStyle/>
                    <a:p>
                      <a:pPr marL="17780" marR="0" rtl="0" latinLnBrk="0">
                        <a:lnSpc>
                          <a:spcPct val="115000"/>
                        </a:lnSpc>
                        <a:spcBef>
                          <a:spcPts val="0"/>
                        </a:spcBef>
                        <a:spcAft>
                          <a:spcPts val="0"/>
                        </a:spcAft>
                      </a:pPr>
                      <a:r>
                        <a:rPr lang="hy-AM" sz="1050" dirty="0">
                          <a:effectLst/>
                        </a:rPr>
                        <a:t>Նկարագրել վերջին 3 տարում սովորողների կողմից առաջարկված նոր նախաձեռնությունները </a:t>
                      </a:r>
                    </a:p>
                  </a:txBody>
                  <a:tcPr marL="0" marR="0" marT="0" marB="0" anchor="ctr"/>
                </a:tc>
                <a:tc>
                  <a:txBody>
                    <a:bodyPr/>
                    <a:lstStyle/>
                    <a:p>
                      <a:pPr marL="0" marR="0" rtl="0" latinLnBrk="0">
                        <a:lnSpc>
                          <a:spcPct val="115000"/>
                        </a:lnSpc>
                        <a:spcBef>
                          <a:spcPts val="0"/>
                        </a:spcBef>
                        <a:spcAft>
                          <a:spcPts val="0"/>
                        </a:spcAft>
                      </a:pPr>
                      <a:r>
                        <a:rPr lang="hy-AM" sz="1050" dirty="0" smtClean="0">
                          <a:effectLst/>
                        </a:rPr>
                        <a:t> Ամսաթիվ</a:t>
                      </a:r>
                      <a:r>
                        <a:rPr lang="hy-AM" sz="1050" dirty="0">
                          <a:effectLst/>
                        </a:rPr>
                        <a:t> </a:t>
                      </a:r>
                    </a:p>
                  </a:txBody>
                  <a:tcPr marL="0" marR="0" marT="0" marB="0" anchor="ctr"/>
                </a:tc>
                <a:tc>
                  <a:txBody>
                    <a:bodyPr/>
                    <a:lstStyle/>
                    <a:p>
                      <a:pPr marL="0" marR="0" rtl="0" latinLnBrk="0">
                        <a:lnSpc>
                          <a:spcPct val="115000"/>
                        </a:lnSpc>
                        <a:spcBef>
                          <a:spcPts val="0"/>
                        </a:spcBef>
                        <a:spcAft>
                          <a:spcPts val="0"/>
                        </a:spcAft>
                      </a:pPr>
                      <a:r>
                        <a:rPr lang="hy-AM" sz="1050">
                          <a:effectLst/>
                        </a:rPr>
                        <a:t>Մասնակից սովորողների տոկոսը՝ սովորողների ընդհանուր թվի նկատմամբ </a:t>
                      </a:r>
                    </a:p>
                  </a:txBody>
                  <a:tcPr marL="0" marR="0" marT="0" marB="0" anchor="ctr"/>
                </a:tc>
                <a:tc>
                  <a:txBody>
                    <a:bodyPr/>
                    <a:lstStyle/>
                    <a:p>
                      <a:pPr marL="0" marR="0" rtl="0" latinLnBrk="0">
                        <a:lnSpc>
                          <a:spcPct val="115000"/>
                        </a:lnSpc>
                        <a:spcBef>
                          <a:spcPts val="0"/>
                        </a:spcBef>
                        <a:spcAft>
                          <a:spcPts val="0"/>
                        </a:spcAft>
                      </a:pPr>
                      <a:r>
                        <a:rPr lang="hy-AM" sz="1050" dirty="0">
                          <a:effectLst/>
                        </a:rPr>
                        <a:t>Մեկնաբանություն </a:t>
                      </a:r>
                    </a:p>
                  </a:txBody>
                  <a:tcPr marL="0" marR="0" marT="0" marB="0" anchor="ctr"/>
                </a:tc>
                <a:extLst>
                  <a:ext uri="{0D108BD9-81ED-4DB2-BD59-A6C34878D82A}">
                    <a16:rowId xmlns:a16="http://schemas.microsoft.com/office/drawing/2014/main" val="51582580"/>
                  </a:ext>
                </a:extLst>
              </a:tr>
              <a:tr h="315756">
                <a:tc>
                  <a:txBody>
                    <a:bodyPr/>
                    <a:lstStyle/>
                    <a:p>
                      <a:pPr marL="0" marR="0" rtl="0" latinLnBrk="0">
                        <a:lnSpc>
                          <a:spcPts val="1080"/>
                        </a:lnSpc>
                        <a:spcBef>
                          <a:spcPts val="0"/>
                        </a:spcBef>
                        <a:spcAft>
                          <a:spcPts val="1000"/>
                        </a:spcAft>
                      </a:pPr>
                      <a:r>
                        <a:rPr lang="en-US" sz="1050" dirty="0" smtClean="0">
                          <a:effectLst/>
                        </a:rPr>
                        <a:t>1</a:t>
                      </a:r>
                      <a:r>
                        <a:rPr lang="hy-AM" sz="1050" dirty="0" smtClean="0">
                          <a:effectLst/>
                        </a:rPr>
                        <a:t>. ՀՀ անկախությանը նվիրված միջոցառում: </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սեպտեմբեր </a:t>
                      </a:r>
                      <a:endParaRPr lang="hy-AM" sz="1050" dirty="0">
                        <a:effectLst/>
                      </a:endParaRPr>
                    </a:p>
                  </a:txBody>
                  <a:tcPr marL="0" marR="0" marT="0" marB="0" anchor="ctr"/>
                </a:tc>
                <a:tc>
                  <a:txBody>
                    <a:bodyPr/>
                    <a:lstStyle/>
                    <a:p>
                      <a:pPr marL="0" marR="0" algn="ctr" rtl="0" eaLnBrk="1" latinLnBrk="0" hangingPunct="1">
                        <a:lnSpc>
                          <a:spcPts val="1080"/>
                        </a:lnSpc>
                        <a:spcBef>
                          <a:spcPts val="0"/>
                        </a:spcBef>
                        <a:spcAft>
                          <a:spcPts val="0"/>
                        </a:spcAft>
                      </a:pPr>
                      <a:r>
                        <a:rPr lang="hy-AM" sz="1050" dirty="0" smtClean="0">
                          <a:effectLst/>
                        </a:rPr>
                        <a:t>30</a:t>
                      </a:r>
                      <a:r>
                        <a:rPr lang="en-US" sz="1050" dirty="0" smtClean="0">
                          <a:effectLst/>
                        </a:rPr>
                        <a:t>% </a:t>
                      </a:r>
                      <a:endParaRPr lang="en-US"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Համադպրոցական</a:t>
                      </a:r>
                      <a:endParaRPr lang="hy-AM" sz="1050" dirty="0">
                        <a:effectLst/>
                      </a:endParaRPr>
                    </a:p>
                  </a:txBody>
                  <a:tcPr marL="0" marR="0" marT="0" marB="0" anchor="ctr"/>
                </a:tc>
                <a:extLst>
                  <a:ext uri="{0D108BD9-81ED-4DB2-BD59-A6C34878D82A}">
                    <a16:rowId xmlns:a16="http://schemas.microsoft.com/office/drawing/2014/main" val="2233348511"/>
                  </a:ext>
                </a:extLst>
              </a:tr>
              <a:tr h="392199">
                <a:tc>
                  <a:txBody>
                    <a:bodyPr/>
                    <a:lstStyle/>
                    <a:p>
                      <a:pPr marL="0" marR="0" rtl="0" latinLnBrk="0">
                        <a:lnSpc>
                          <a:spcPts val="1080"/>
                        </a:lnSpc>
                        <a:spcBef>
                          <a:spcPts val="0"/>
                        </a:spcBef>
                        <a:spcAft>
                          <a:spcPts val="1000"/>
                        </a:spcAft>
                      </a:pPr>
                      <a:r>
                        <a:rPr lang="en-US" sz="1050" dirty="0">
                          <a:effectLst/>
                        </a:rPr>
                        <a:t>2</a:t>
                      </a:r>
                      <a:r>
                        <a:rPr lang="hy-AM" sz="1050" dirty="0">
                          <a:effectLst/>
                        </a:rPr>
                        <a:t>. Ամենամյա միջոցառում`Ուսուցչի օրվան նվիրված շնորհավորական բացիկների պատրաստում: </a:t>
                      </a:r>
                    </a:p>
                  </a:txBody>
                  <a:tcPr marL="0" marR="0" marT="0" marB="0" anchor="ctr"/>
                </a:tc>
                <a:tc>
                  <a:txBody>
                    <a:bodyPr/>
                    <a:lstStyle/>
                    <a:p>
                      <a:pPr marL="0" marR="0" rtl="0" latinLnBrk="0">
                        <a:lnSpc>
                          <a:spcPts val="1080"/>
                        </a:lnSpc>
                        <a:spcBef>
                          <a:spcPts val="0"/>
                        </a:spcBef>
                        <a:spcAft>
                          <a:spcPts val="0"/>
                        </a:spcAft>
                      </a:pPr>
                      <a:r>
                        <a:rPr lang="hy-AM" sz="1050" dirty="0">
                          <a:effectLst/>
                        </a:rPr>
                        <a:t>ամենամյա </a:t>
                      </a:r>
                    </a:p>
                  </a:txBody>
                  <a:tcPr marL="0" marR="0" marT="0" marB="0" anchor="ctr"/>
                </a:tc>
                <a:tc>
                  <a:txBody>
                    <a:bodyPr/>
                    <a:lstStyle/>
                    <a:p>
                      <a:pPr marL="0" marR="0" algn="ctr" rtl="0" eaLnBrk="1" latinLnBrk="0" hangingPunct="1">
                        <a:lnSpc>
                          <a:spcPts val="1080"/>
                        </a:lnSpc>
                        <a:spcBef>
                          <a:spcPts val="0"/>
                        </a:spcBef>
                        <a:spcAft>
                          <a:spcPts val="0"/>
                        </a:spcAft>
                      </a:pPr>
                      <a:r>
                        <a:rPr lang="hy-AM" sz="1050" dirty="0" smtClean="0">
                          <a:effectLst/>
                        </a:rPr>
                        <a:t>7</a:t>
                      </a:r>
                      <a:r>
                        <a:rPr lang="en-US" sz="1050" dirty="0" smtClean="0">
                          <a:effectLst/>
                        </a:rPr>
                        <a:t>0 </a:t>
                      </a:r>
                      <a:r>
                        <a:rPr lang="en-US" sz="1050" dirty="0">
                          <a:effectLst/>
                        </a:rPr>
                        <a:t>% </a:t>
                      </a:r>
                    </a:p>
                  </a:txBody>
                  <a:tcPr marL="0" marR="0" marT="0" marB="0" anchor="ctr"/>
                </a:tc>
                <a:tc>
                  <a:txBody>
                    <a:bodyPr/>
                    <a:lstStyle/>
                    <a:p>
                      <a:pPr marL="0" marR="0" rtl="0" latinLnBrk="0">
                        <a:lnSpc>
                          <a:spcPts val="1080"/>
                        </a:lnSpc>
                        <a:spcBef>
                          <a:spcPts val="0"/>
                        </a:spcBef>
                        <a:spcAft>
                          <a:spcPts val="0"/>
                        </a:spcAft>
                      </a:pPr>
                      <a:r>
                        <a:rPr lang="hy-AM" sz="1050" dirty="0" smtClean="0">
                          <a:effectLst/>
                        </a:rPr>
                        <a:t>Պատրաստել </a:t>
                      </a:r>
                      <a:r>
                        <a:rPr lang="hy-AM" sz="1050" dirty="0">
                          <a:effectLst/>
                        </a:rPr>
                        <a:t>և </a:t>
                      </a:r>
                      <a:r>
                        <a:rPr lang="hy-AM" sz="1050" dirty="0" smtClean="0">
                          <a:effectLst/>
                        </a:rPr>
                        <a:t>նվիրել են </a:t>
                      </a:r>
                      <a:r>
                        <a:rPr lang="hy-AM" sz="1050" dirty="0">
                          <a:effectLst/>
                        </a:rPr>
                        <a:t>բացիկներ ուսուցիչներին: </a:t>
                      </a:r>
                    </a:p>
                  </a:txBody>
                  <a:tcPr marL="0" marR="0" marT="0" marB="0" anchor="ctr"/>
                </a:tc>
                <a:extLst>
                  <a:ext uri="{0D108BD9-81ED-4DB2-BD59-A6C34878D82A}">
                    <a16:rowId xmlns:a16="http://schemas.microsoft.com/office/drawing/2014/main" val="2200425659"/>
                  </a:ext>
                </a:extLst>
              </a:tr>
              <a:tr h="809863">
                <a:tc>
                  <a:txBody>
                    <a:bodyPr/>
                    <a:lstStyle/>
                    <a:p>
                      <a:r>
                        <a:rPr lang="hy-AM" sz="1050" dirty="0" smtClean="0"/>
                        <a:t>3. Մասնակցություն «Պարենի համաշխարհային օրվան» նվիրված միջոցառմանը</a:t>
                      </a:r>
                      <a:endParaRPr lang="en-US" sz="1050" dirty="0"/>
                    </a:p>
                  </a:txBody>
                  <a:tcPr marL="0" marR="0" marT="0" marB="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y-AM" sz="1050" dirty="0" smtClean="0">
                          <a:effectLst/>
                        </a:rPr>
                        <a:t>հոկտեմբեր </a:t>
                      </a:r>
                    </a:p>
                    <a:p>
                      <a:endParaRPr lang="en-US" sz="1050" dirty="0"/>
                    </a:p>
                  </a:txBody>
                  <a:tcPr marL="0" marR="0" marT="0" marB="0" anchor="ctr"/>
                </a:tc>
                <a:tc>
                  <a:txBody>
                    <a:bodyPr/>
                    <a:lstStyle/>
                    <a:p>
                      <a:pPr marL="0" marR="0" lvl="0" indent="0" algn="ctr" defTabSz="457200" rtl="0" eaLnBrk="1" fontAlgn="auto" latinLnBrk="0" hangingPunct="1">
                        <a:lnSpc>
                          <a:spcPts val="1080"/>
                        </a:lnSpc>
                        <a:spcBef>
                          <a:spcPts val="0"/>
                        </a:spcBef>
                        <a:spcAft>
                          <a:spcPts val="1000"/>
                        </a:spcAft>
                        <a:buClrTx/>
                        <a:buSzTx/>
                        <a:buFontTx/>
                        <a:buNone/>
                        <a:tabLst/>
                        <a:defRPr/>
                      </a:pPr>
                      <a:endParaRPr kumimoji="0" lang="hy-AM" sz="1050" b="0" i="0" u="none" strike="noStrike" kern="1200" cap="none" spc="0" normalizeH="0" baseline="0" noProof="0" dirty="0" smtClean="0">
                        <a:ln>
                          <a:noFill/>
                        </a:ln>
                        <a:solidFill>
                          <a:prstClr val="black"/>
                        </a:solidFill>
                        <a:effectLst/>
                        <a:uLnTx/>
                        <a:uFillTx/>
                        <a:ea typeface="+mn-ea"/>
                        <a:cs typeface="+mn-cs"/>
                      </a:endParaRPr>
                    </a:p>
                    <a:p>
                      <a:pPr marL="0" marR="0" lvl="0" indent="0" algn="ctr" defTabSz="457200" rtl="0" eaLnBrk="1" fontAlgn="auto" latinLnBrk="0" hangingPunct="1">
                        <a:lnSpc>
                          <a:spcPts val="1080"/>
                        </a:lnSpc>
                        <a:spcBef>
                          <a:spcPts val="0"/>
                        </a:spcBef>
                        <a:spcAft>
                          <a:spcPts val="1000"/>
                        </a:spcAft>
                        <a:buClrTx/>
                        <a:buSzTx/>
                        <a:buFontTx/>
                        <a:buNone/>
                        <a:tabLst/>
                        <a:defRPr/>
                      </a:pPr>
                      <a:r>
                        <a:rPr kumimoji="0" lang="hy-AM" sz="1050" b="0" i="0" u="none" strike="noStrike" kern="1200" cap="none" spc="0" normalizeH="0" baseline="0" noProof="0" dirty="0" smtClean="0">
                          <a:ln>
                            <a:noFill/>
                          </a:ln>
                          <a:solidFill>
                            <a:prstClr val="black"/>
                          </a:solidFill>
                          <a:effectLst/>
                          <a:uLnTx/>
                          <a:uFillTx/>
                          <a:ea typeface="+mn-ea"/>
                          <a:cs typeface="+mn-cs"/>
                        </a:rPr>
                        <a:t>20 </a:t>
                      </a:r>
                      <a:r>
                        <a:rPr kumimoji="0" lang="en-US" sz="1050" b="0" i="0" u="none" strike="noStrike" kern="1200" cap="none" spc="0" normalizeH="0" baseline="0" noProof="0" dirty="0" smtClean="0">
                          <a:ln>
                            <a:noFill/>
                          </a:ln>
                          <a:solidFill>
                            <a:prstClr val="black"/>
                          </a:solidFill>
                          <a:effectLst/>
                          <a:uLnTx/>
                          <a:uFillTx/>
                          <a:latin typeface="+mn-lt"/>
                          <a:ea typeface="+mn-ea"/>
                          <a:cs typeface="+mn-cs"/>
                        </a:rPr>
                        <a:t>% </a:t>
                      </a:r>
                    </a:p>
                    <a:p>
                      <a:endParaRPr lang="en-US" sz="1050" dirty="0"/>
                    </a:p>
                  </a:txBody>
                  <a:tcPr marL="0" marR="0" marT="0" marB="0" anchor="ctr"/>
                </a:tc>
                <a:tc>
                  <a:txBody>
                    <a:bodyPr/>
                    <a:lstStyle/>
                    <a:p>
                      <a:r>
                        <a:rPr lang="hy-AM" sz="1050" dirty="0" smtClean="0"/>
                        <a:t>Համադպրոցական</a:t>
                      </a:r>
                      <a:endParaRPr lang="en-US" sz="1050" dirty="0"/>
                    </a:p>
                  </a:txBody>
                  <a:tcPr marL="0" marR="0" marT="0" marB="0" anchor="ctr"/>
                </a:tc>
                <a:extLst>
                  <a:ext uri="{0D108BD9-81ED-4DB2-BD59-A6C34878D82A}">
                    <a16:rowId xmlns:a16="http://schemas.microsoft.com/office/drawing/2014/main" val="1016621724"/>
                  </a:ext>
                </a:extLst>
              </a:tr>
              <a:tr h="303520">
                <a:tc>
                  <a:txBody>
                    <a:bodyPr/>
                    <a:lstStyle/>
                    <a:p>
                      <a:pPr marL="0" marR="0" rtl="0" latinLnBrk="0">
                        <a:lnSpc>
                          <a:spcPts val="1080"/>
                        </a:lnSpc>
                        <a:spcBef>
                          <a:spcPts val="0"/>
                        </a:spcBef>
                        <a:spcAft>
                          <a:spcPts val="1000"/>
                        </a:spcAft>
                      </a:pPr>
                      <a:r>
                        <a:rPr lang="en-US" sz="1050" dirty="0" smtClean="0">
                          <a:effectLst/>
                        </a:rPr>
                        <a:t>4</a:t>
                      </a:r>
                      <a:r>
                        <a:rPr lang="hy-AM" sz="1050" dirty="0" smtClean="0">
                          <a:effectLst/>
                        </a:rPr>
                        <a:t>․</a:t>
                      </a:r>
                      <a:r>
                        <a:rPr lang="hy-AM" sz="1050" baseline="0" dirty="0" smtClean="0">
                          <a:effectLst/>
                        </a:rPr>
                        <a:t> Կենտրոն վարչական շրջանի կողմից «Ղեկավարի գավաթ» ֆուտբոլային մրցաշարին մասնակցություն</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 հոկտեմբեր</a:t>
                      </a:r>
                      <a:r>
                        <a:rPr lang="hy-AM" sz="1050" dirty="0">
                          <a:effectLst/>
                        </a:rPr>
                        <a:t> </a:t>
                      </a:r>
                    </a:p>
                  </a:txBody>
                  <a:tcPr marL="0" marR="0" marT="0" marB="0" anchor="ctr"/>
                </a:tc>
                <a:tc>
                  <a:txBody>
                    <a:bodyPr/>
                    <a:lstStyle/>
                    <a:p>
                      <a:pPr marL="0" marR="0" algn="ctr" rtl="0" eaLnBrk="1" latinLnBrk="0" hangingPunct="1">
                        <a:lnSpc>
                          <a:spcPts val="1080"/>
                        </a:lnSpc>
                        <a:spcBef>
                          <a:spcPts val="0"/>
                        </a:spcBef>
                        <a:spcAft>
                          <a:spcPts val="0"/>
                        </a:spcAft>
                      </a:pPr>
                      <a:r>
                        <a:rPr lang="hy-AM" sz="1050" dirty="0" smtClean="0">
                          <a:effectLst/>
                        </a:rPr>
                        <a:t>40 </a:t>
                      </a:r>
                      <a:r>
                        <a:rPr lang="en-US" sz="1050" dirty="0" smtClean="0">
                          <a:effectLst/>
                        </a:rPr>
                        <a:t>% </a:t>
                      </a:r>
                      <a:endParaRPr lang="en-US"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Համադպրոցական</a:t>
                      </a:r>
                      <a:endParaRPr lang="hy-AM" sz="1050" dirty="0">
                        <a:effectLst/>
                      </a:endParaRPr>
                    </a:p>
                  </a:txBody>
                  <a:tcPr marL="0" marR="0" marT="0" marB="0" anchor="ctr"/>
                </a:tc>
                <a:extLst>
                  <a:ext uri="{0D108BD9-81ED-4DB2-BD59-A6C34878D82A}">
                    <a16:rowId xmlns:a16="http://schemas.microsoft.com/office/drawing/2014/main" val="10005"/>
                  </a:ext>
                </a:extLst>
              </a:tr>
              <a:tr h="441484">
                <a:tc>
                  <a:txBody>
                    <a:bodyPr/>
                    <a:lstStyle/>
                    <a:p>
                      <a:pPr marL="0" marR="0" rtl="0" latinLnBrk="0">
                        <a:lnSpc>
                          <a:spcPts val="1080"/>
                        </a:lnSpc>
                        <a:spcBef>
                          <a:spcPts val="0"/>
                        </a:spcBef>
                        <a:spcAft>
                          <a:spcPts val="1000"/>
                        </a:spcAft>
                      </a:pPr>
                      <a:r>
                        <a:rPr lang="en-US" sz="1050" dirty="0">
                          <a:effectLst/>
                        </a:rPr>
                        <a:t>5. </a:t>
                      </a:r>
                      <a:r>
                        <a:rPr lang="hy-AM" sz="1050" dirty="0" smtClean="0">
                          <a:effectLst/>
                        </a:rPr>
                        <a:t>Ամանորյա  համադպրոցական   բարեգործական   տոնավաճառ </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 </a:t>
                      </a:r>
                      <a:r>
                        <a:rPr lang="en-US" sz="1050" dirty="0" err="1" smtClean="0">
                          <a:effectLst/>
                        </a:rPr>
                        <a:t>ամենամյա</a:t>
                      </a:r>
                      <a:endParaRPr lang="hy-AM" sz="1050" dirty="0">
                        <a:effectLst/>
                      </a:endParaRPr>
                    </a:p>
                  </a:txBody>
                  <a:tcPr marL="0" marR="0" marT="0" marB="0" anchor="ctr"/>
                </a:tc>
                <a:tc>
                  <a:txBody>
                    <a:bodyPr/>
                    <a:lstStyle/>
                    <a:p>
                      <a:pPr marL="0" marR="0" indent="0" algn="ctr" defTabSz="457200" rtl="0" eaLnBrk="1" fontAlgn="auto" latinLnBrk="0" hangingPunct="1">
                        <a:lnSpc>
                          <a:spcPts val="1080"/>
                        </a:lnSpc>
                        <a:spcBef>
                          <a:spcPts val="0"/>
                        </a:spcBef>
                        <a:spcAft>
                          <a:spcPts val="0"/>
                        </a:spcAft>
                        <a:buClrTx/>
                        <a:buSzTx/>
                        <a:buFontTx/>
                        <a:buNone/>
                        <a:tabLst/>
                        <a:defRPr/>
                      </a:pPr>
                      <a:r>
                        <a:rPr lang="en-US" sz="1050" dirty="0">
                          <a:effectLst/>
                        </a:rPr>
                        <a:t>100% </a:t>
                      </a: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050" dirty="0" smtClean="0">
                          <a:effectLst/>
                        </a:rPr>
                        <a:t> Համադպրոցական</a:t>
                      </a:r>
                    </a:p>
                  </a:txBody>
                  <a:tcPr marL="0" marR="0" marT="0" marB="0" anchor="ctr"/>
                </a:tc>
                <a:extLst>
                  <a:ext uri="{0D108BD9-81ED-4DB2-BD59-A6C34878D82A}">
                    <a16:rowId xmlns:a16="http://schemas.microsoft.com/office/drawing/2014/main" val="3217767296"/>
                  </a:ext>
                </a:extLst>
              </a:tr>
              <a:tr h="566395">
                <a:tc>
                  <a:txBody>
                    <a:bodyPr/>
                    <a:lstStyle/>
                    <a:p>
                      <a:pPr marL="0" marR="0" rtl="0" latinLnBrk="0">
                        <a:lnSpc>
                          <a:spcPts val="1080"/>
                        </a:lnSpc>
                        <a:spcBef>
                          <a:spcPts val="0"/>
                        </a:spcBef>
                        <a:spcAft>
                          <a:spcPts val="1000"/>
                        </a:spcAft>
                      </a:pPr>
                      <a:r>
                        <a:rPr lang="en-US" sz="1050" dirty="0" smtClean="0">
                          <a:effectLst/>
                        </a:rPr>
                        <a:t>6</a:t>
                      </a:r>
                      <a:r>
                        <a:rPr lang="hy-AM" sz="1050" dirty="0">
                          <a:effectLst/>
                        </a:rPr>
                        <a:t>. </a:t>
                      </a:r>
                      <a:r>
                        <a:rPr lang="hy-AM" sz="1050" dirty="0" smtClean="0">
                          <a:effectLst/>
                          <a:latin typeface="Sylfaen" panose="010A0502050306030303" pitchFamily="18" charset="0"/>
                          <a:ea typeface="Times New Roman" panose="02020603050405020304" pitchFamily="18" charset="0"/>
                          <a:cs typeface="Times New Roman" panose="02020603050405020304" pitchFamily="18" charset="0"/>
                        </a:rPr>
                        <a:t>Մշակութային տարվա շրջանակներում կազմակերպված «Տեառնընդառաջ»-ի տոնակատարություն</a:t>
                      </a:r>
                      <a:r>
                        <a:rPr lang="en-US" sz="1050" dirty="0" smtClean="0">
                          <a:effectLst/>
                          <a:latin typeface="Sylfaen" panose="010A0502050306030303" pitchFamily="18" charset="0"/>
                          <a:ea typeface="Times New Roman" panose="02020603050405020304" pitchFamily="18" charset="0"/>
                          <a:cs typeface="Times New Roman" panose="02020603050405020304" pitchFamily="18" charset="0"/>
                        </a:rPr>
                        <a:t>: </a:t>
                      </a:r>
                      <a:r>
                        <a:rPr lang="hy-AM" sz="1050" dirty="0" smtClean="0">
                          <a:effectLst/>
                          <a:latin typeface="Sylfaen" panose="010A0502050306030303" pitchFamily="18" charset="0"/>
                          <a:ea typeface="Times New Roman" panose="02020603050405020304" pitchFamily="18" charset="0"/>
                          <a:cs typeface="Times New Roman" panose="02020603050405020304" pitchFamily="18" charset="0"/>
                        </a:rPr>
                        <a:t>Համագործակցություն Երևանի Ա.Մարգարյանի անվան թիվ 29 և Խ.Դաշտենցի անվան թիվ 114 դպրոցների հետ</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14.02. </a:t>
                      </a:r>
                      <a:r>
                        <a:rPr lang="hy-AM" sz="1050" dirty="0">
                          <a:effectLst/>
                        </a:rPr>
                        <a:t>20</a:t>
                      </a:r>
                      <a:r>
                        <a:rPr lang="en-US" sz="1050" dirty="0" smtClean="0">
                          <a:effectLst/>
                        </a:rPr>
                        <a:t>2</a:t>
                      </a:r>
                      <a:r>
                        <a:rPr lang="hy-AM" sz="1050" dirty="0" smtClean="0">
                          <a:effectLst/>
                        </a:rPr>
                        <a:t>5</a:t>
                      </a:r>
                      <a:r>
                        <a:rPr lang="en-US" sz="1050" dirty="0">
                          <a:effectLst/>
                        </a:rPr>
                        <a:t> </a:t>
                      </a:r>
                      <a:r>
                        <a:rPr lang="hy-AM" sz="1050" dirty="0">
                          <a:effectLst/>
                        </a:rPr>
                        <a:t>թ. </a:t>
                      </a:r>
                    </a:p>
                  </a:txBody>
                  <a:tcPr marL="0" marR="0" marT="0" marB="0" anchor="ctr"/>
                </a:tc>
                <a:tc>
                  <a:txBody>
                    <a:bodyPr/>
                    <a:lstStyle/>
                    <a:p>
                      <a:pPr marL="0" marR="0" algn="ctr" rtl="0" eaLnBrk="1" latinLnBrk="0" hangingPunct="1">
                        <a:lnSpc>
                          <a:spcPts val="1080"/>
                        </a:lnSpc>
                        <a:spcBef>
                          <a:spcPts val="0"/>
                        </a:spcBef>
                        <a:spcAft>
                          <a:spcPts val="0"/>
                        </a:spcAft>
                      </a:pPr>
                      <a:r>
                        <a:rPr lang="hy-AM" sz="1050" dirty="0" smtClean="0">
                          <a:effectLst/>
                        </a:rPr>
                        <a:t>100 </a:t>
                      </a:r>
                      <a:r>
                        <a:rPr lang="en-US" sz="1050" dirty="0" smtClean="0">
                          <a:effectLst/>
                        </a:rPr>
                        <a:t>% </a:t>
                      </a:r>
                      <a:endParaRPr lang="en-US" sz="1050" dirty="0">
                        <a:effectLst/>
                      </a:endParaRPr>
                    </a:p>
                  </a:txBody>
                  <a:tcPr marL="0" marR="0" marT="0" marB="0" anchor="ctr"/>
                </a:tc>
                <a:tc>
                  <a:txBody>
                    <a:bodyPr/>
                    <a:lstStyle/>
                    <a:p>
                      <a:pPr marL="0" marR="0" lvl="0" indent="0" algn="l" defTabSz="457200" rtl="0" eaLnBrk="1" fontAlgn="auto" latinLnBrk="0" hangingPunct="1">
                        <a:lnSpc>
                          <a:spcPts val="1080"/>
                        </a:lnSpc>
                        <a:spcBef>
                          <a:spcPts val="0"/>
                        </a:spcBef>
                        <a:spcAft>
                          <a:spcPts val="1000"/>
                        </a:spcAft>
                        <a:buClrTx/>
                        <a:buSzTx/>
                        <a:buFontTx/>
                        <a:buNone/>
                        <a:tabLst/>
                        <a:defRPr/>
                      </a:pPr>
                      <a:r>
                        <a:rPr lang="hy-AM" sz="1050" kern="1200" dirty="0" smtClean="0">
                          <a:solidFill>
                            <a:schemeClr val="tx1"/>
                          </a:solidFill>
                          <a:effectLst/>
                          <a:latin typeface="+mn-lt"/>
                          <a:ea typeface="+mn-ea"/>
                          <a:cs typeface="+mn-cs"/>
                        </a:rPr>
                        <a:t>Համադպրոցական</a:t>
                      </a:r>
                    </a:p>
                  </a:txBody>
                  <a:tcPr marL="0" marR="0" marT="0" marB="0" anchor="ctr"/>
                </a:tc>
                <a:extLst>
                  <a:ext uri="{0D108BD9-81ED-4DB2-BD59-A6C34878D82A}">
                    <a16:rowId xmlns:a16="http://schemas.microsoft.com/office/drawing/2014/main" val="1044340779"/>
                  </a:ext>
                </a:extLst>
              </a:tr>
              <a:tr h="420212">
                <a:tc>
                  <a:txBody>
                    <a:bodyPr/>
                    <a:lstStyle/>
                    <a:p>
                      <a:pPr marL="0" marR="0" rtl="0" latinLnBrk="0">
                        <a:lnSpc>
                          <a:spcPts val="1080"/>
                        </a:lnSpc>
                        <a:spcBef>
                          <a:spcPts val="0"/>
                        </a:spcBef>
                        <a:spcAft>
                          <a:spcPts val="1000"/>
                        </a:spcAft>
                      </a:pPr>
                      <a:r>
                        <a:rPr lang="hy-AM" sz="1050" dirty="0" smtClean="0">
                          <a:effectLst/>
                        </a:rPr>
                        <a:t>7․ «Թումանյանական օրեր»։ Գրքի տոնի և Մայրենիի տոնի խորհուրդը. աշակերտների նախաձեռնությամբ գրքերի նվիրաբերություն դպրոցի գրադարանին</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12-23․02․2025թ․</a:t>
                      </a:r>
                      <a:endParaRPr lang="hy-AM" sz="105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050" dirty="0" smtClean="0">
                          <a:effectLst/>
                        </a:rPr>
                        <a:t>80 </a:t>
                      </a:r>
                      <a:r>
                        <a:rPr lang="en-US" sz="1050" dirty="0" smtClean="0">
                          <a:effectLst/>
                        </a:rPr>
                        <a:t>% </a:t>
                      </a: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050" kern="1200" dirty="0" smtClean="0">
                          <a:solidFill>
                            <a:schemeClr val="tx1"/>
                          </a:solidFill>
                          <a:effectLst/>
                          <a:latin typeface="+mn-lt"/>
                          <a:ea typeface="+mn-ea"/>
                          <a:cs typeface="+mn-cs"/>
                        </a:rPr>
                        <a:t>Համադպրոցական</a:t>
                      </a:r>
                    </a:p>
                  </a:txBody>
                  <a:tcPr marL="0" marR="0" marT="0" marB="0" anchor="ctr"/>
                </a:tc>
                <a:extLst>
                  <a:ext uri="{0D108BD9-81ED-4DB2-BD59-A6C34878D82A}">
                    <a16:rowId xmlns:a16="http://schemas.microsoft.com/office/drawing/2014/main" val="3684086196"/>
                  </a:ext>
                </a:extLst>
              </a:tr>
              <a:tr h="420212">
                <a:tc>
                  <a:txBody>
                    <a:bodyPr/>
                    <a:lstStyle/>
                    <a:p>
                      <a:pPr marL="0" marR="0" rtl="0" latinLnBrk="0">
                        <a:lnSpc>
                          <a:spcPts val="1080"/>
                        </a:lnSpc>
                        <a:spcBef>
                          <a:spcPts val="0"/>
                        </a:spcBef>
                        <a:spcAft>
                          <a:spcPts val="1000"/>
                        </a:spcAft>
                      </a:pPr>
                      <a:r>
                        <a:rPr lang="hy-AM" sz="1050" dirty="0" smtClean="0">
                          <a:effectLst/>
                        </a:rPr>
                        <a:t>8․ «Շևչենկովյան օրեր» համադպրոցական միջոցառում (նկարների ցուցադրություն, թեմատիկ դասեր, միջոցառում, այց գրողի հուշարձանին)</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07-11․03․2025թ․</a:t>
                      </a:r>
                      <a:endParaRPr lang="hy-AM" sz="105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050" dirty="0" smtClean="0">
                          <a:effectLst/>
                        </a:rPr>
                        <a:t>60 </a:t>
                      </a:r>
                      <a:r>
                        <a:rPr lang="en-US" sz="1050" dirty="0" smtClean="0">
                          <a:effectLst/>
                        </a:rPr>
                        <a:t>% </a:t>
                      </a: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050" kern="1200" dirty="0" smtClean="0">
                          <a:solidFill>
                            <a:schemeClr val="tx1"/>
                          </a:solidFill>
                          <a:effectLst/>
                          <a:latin typeface="+mn-lt"/>
                          <a:ea typeface="+mn-ea"/>
                          <a:cs typeface="+mn-cs"/>
                        </a:rPr>
                        <a:t>Համադպրոցական</a:t>
                      </a:r>
                    </a:p>
                  </a:txBody>
                  <a:tcPr marL="0" marR="0" marT="0" marB="0" anchor="ctr"/>
                </a:tc>
                <a:extLst>
                  <a:ext uri="{0D108BD9-81ED-4DB2-BD59-A6C34878D82A}">
                    <a16:rowId xmlns:a16="http://schemas.microsoft.com/office/drawing/2014/main" val="2435625537"/>
                  </a:ext>
                </a:extLst>
              </a:tr>
              <a:tr h="312115">
                <a:tc>
                  <a:txBody>
                    <a:bodyPr/>
                    <a:lstStyle/>
                    <a:p>
                      <a:pPr marL="0" marR="0" rtl="0" latinLnBrk="0">
                        <a:lnSpc>
                          <a:spcPts val="1080"/>
                        </a:lnSpc>
                        <a:spcBef>
                          <a:spcPts val="0"/>
                        </a:spcBef>
                        <a:spcAft>
                          <a:spcPts val="1000"/>
                        </a:spcAft>
                      </a:pPr>
                      <a:r>
                        <a:rPr lang="en-US" sz="1050" dirty="0" smtClean="0">
                          <a:effectLst/>
                        </a:rPr>
                        <a:t>9.</a:t>
                      </a:r>
                      <a:r>
                        <a:rPr lang="hy-AM" sz="1050" dirty="0" smtClean="0">
                          <a:effectLst/>
                        </a:rPr>
                        <a:t>Ինքնավարության</a:t>
                      </a:r>
                      <a:r>
                        <a:rPr lang="hy-AM" sz="1050" baseline="0" dirty="0" smtClean="0">
                          <a:effectLst/>
                        </a:rPr>
                        <a:t> օր</a:t>
                      </a:r>
                      <a:endParaRPr lang="hy-AM" sz="1050" dirty="0">
                        <a:effectLst/>
                      </a:endParaRPr>
                    </a:p>
                  </a:txBody>
                  <a:tcPr marL="0" marR="0" marT="0" marB="0" anchor="ctr"/>
                </a:tc>
                <a:tc>
                  <a:txBody>
                    <a:bodyPr/>
                    <a:lstStyle/>
                    <a:p>
                      <a:pPr marL="0" marR="0" rtl="0" latinLnBrk="0">
                        <a:lnSpc>
                          <a:spcPts val="1080"/>
                        </a:lnSpc>
                        <a:spcBef>
                          <a:spcPts val="0"/>
                        </a:spcBef>
                        <a:spcAft>
                          <a:spcPts val="0"/>
                        </a:spcAft>
                      </a:pPr>
                      <a:r>
                        <a:rPr lang="hy-AM" sz="1050" dirty="0" smtClean="0">
                          <a:effectLst/>
                        </a:rPr>
                        <a:t>07․03․2025թ․</a:t>
                      </a:r>
                      <a:endParaRPr lang="hy-AM" sz="105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050" dirty="0" smtClean="0">
                          <a:effectLst/>
                        </a:rPr>
                        <a:t>90 </a:t>
                      </a:r>
                      <a:r>
                        <a:rPr lang="en-US" sz="1050" dirty="0" smtClean="0">
                          <a:effectLst/>
                        </a:rPr>
                        <a:t>% </a:t>
                      </a:r>
                    </a:p>
                  </a:txBody>
                  <a:tcPr marL="0" marR="0" marT="0" marB="0" anchor="ctr"/>
                </a:tc>
                <a:tc>
                  <a:txBody>
                    <a:bodyPr/>
                    <a:lstStyle/>
                    <a:p>
                      <a:pPr marL="0" marR="0" rtl="0" latinLnBrk="0">
                        <a:lnSpc>
                          <a:spcPts val="1080"/>
                        </a:lnSpc>
                        <a:spcBef>
                          <a:spcPts val="0"/>
                        </a:spcBef>
                        <a:spcAft>
                          <a:spcPts val="0"/>
                        </a:spcAft>
                      </a:pPr>
                      <a:r>
                        <a:rPr lang="hy-AM" sz="1050" dirty="0" smtClean="0">
                          <a:effectLst/>
                        </a:rPr>
                        <a:t>ԱԽ նախաձեռնություն</a:t>
                      </a:r>
                      <a:endParaRPr lang="hy-AM" sz="1050" dirty="0">
                        <a:effectLst/>
                      </a:endParaRPr>
                    </a:p>
                  </a:txBody>
                  <a:tcPr marL="0" marR="0" marT="0" marB="0" anchor="ctr"/>
                </a:tc>
                <a:extLst>
                  <a:ext uri="{0D108BD9-81ED-4DB2-BD59-A6C34878D82A}">
                    <a16:rowId xmlns:a16="http://schemas.microsoft.com/office/drawing/2014/main" val="1135841007"/>
                  </a:ext>
                </a:extLst>
              </a:tr>
              <a:tr h="441484">
                <a:tc>
                  <a:txBody>
                    <a:bodyPr/>
                    <a:lstStyle/>
                    <a:p>
                      <a:pPr marL="0" marR="0" rtl="0" latinLnBrk="0">
                        <a:lnSpc>
                          <a:spcPts val="1080"/>
                        </a:lnSpc>
                        <a:spcBef>
                          <a:spcPts val="0"/>
                        </a:spcBef>
                        <a:spcAft>
                          <a:spcPts val="1000"/>
                        </a:spcAft>
                      </a:pPr>
                      <a:r>
                        <a:rPr lang="hy-AM" sz="1050" dirty="0" smtClean="0">
                          <a:effectLst/>
                        </a:rPr>
                        <a:t>10․</a:t>
                      </a:r>
                      <a:r>
                        <a:rPr lang="hy-AM" sz="1050" baseline="0" dirty="0" smtClean="0">
                          <a:effectLst/>
                        </a:rPr>
                        <a:t> Կանանց միջազգային տոնի առթիվ ԱԽ նախաձեռնությամբ բացիկների պատրաստում, շնորհավորանքներ և բարեմաղթանքներ ուսուցիչներին</a:t>
                      </a:r>
                      <a:endParaRPr lang="hy-AM" sz="1050" dirty="0">
                        <a:effectLst/>
                      </a:endParaRPr>
                    </a:p>
                  </a:txBody>
                  <a:tcPr marL="0" marR="0" marT="0" marB="0" anchor="ctr"/>
                </a:tc>
                <a:tc>
                  <a:txBody>
                    <a:bodyPr/>
                    <a:lstStyle/>
                    <a:p>
                      <a:pPr marL="0" marR="0" rtl="0" latinLnBrk="0">
                        <a:lnSpc>
                          <a:spcPts val="1080"/>
                        </a:lnSpc>
                        <a:spcBef>
                          <a:spcPts val="0"/>
                        </a:spcBef>
                        <a:spcAft>
                          <a:spcPts val="1000"/>
                        </a:spcAft>
                      </a:pPr>
                      <a:r>
                        <a:rPr lang="hy-AM" sz="1050" dirty="0" smtClean="0">
                          <a:effectLst/>
                        </a:rPr>
                        <a:t>07.03. </a:t>
                      </a:r>
                      <a:r>
                        <a:rPr lang="hy-AM" sz="1050" dirty="0">
                          <a:effectLst/>
                        </a:rPr>
                        <a:t>20</a:t>
                      </a:r>
                      <a:r>
                        <a:rPr lang="en-US" sz="1050" dirty="0" smtClean="0">
                          <a:effectLst/>
                        </a:rPr>
                        <a:t>2</a:t>
                      </a:r>
                      <a:r>
                        <a:rPr lang="hy-AM" sz="1050" dirty="0" smtClean="0">
                          <a:effectLst/>
                        </a:rPr>
                        <a:t>5</a:t>
                      </a:r>
                      <a:r>
                        <a:rPr lang="en-US" sz="1050" dirty="0">
                          <a:effectLst/>
                        </a:rPr>
                        <a:t> </a:t>
                      </a:r>
                      <a:r>
                        <a:rPr lang="hy-AM" sz="1050" dirty="0">
                          <a:effectLst/>
                        </a:rPr>
                        <a:t>թ. </a:t>
                      </a:r>
                    </a:p>
                  </a:txBody>
                  <a:tcPr marL="0" marR="0" marT="0" marB="0" anchor="ctr"/>
                </a:tc>
                <a:tc>
                  <a:txBody>
                    <a:bodyPr/>
                    <a:lstStyle/>
                    <a:p>
                      <a:pPr marL="0" marR="0" algn="ctr" rtl="0" eaLnBrk="1" latinLnBrk="0" hangingPunct="1">
                        <a:lnSpc>
                          <a:spcPts val="1080"/>
                        </a:lnSpc>
                        <a:spcBef>
                          <a:spcPts val="0"/>
                        </a:spcBef>
                        <a:spcAft>
                          <a:spcPts val="1000"/>
                        </a:spcAft>
                      </a:pPr>
                      <a:r>
                        <a:rPr lang="hy-AM" sz="1050" dirty="0" smtClean="0">
                          <a:effectLst/>
                        </a:rPr>
                        <a:t>8</a:t>
                      </a:r>
                      <a:r>
                        <a:rPr lang="en-US" sz="1050" dirty="0" smtClean="0">
                          <a:effectLst/>
                        </a:rPr>
                        <a:t>0</a:t>
                      </a:r>
                      <a:r>
                        <a:rPr lang="en-US" sz="1050" dirty="0">
                          <a:effectLst/>
                        </a:rPr>
                        <a:t>% </a:t>
                      </a: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050" kern="1200" dirty="0" smtClean="0">
                          <a:solidFill>
                            <a:schemeClr val="tx1"/>
                          </a:solidFill>
                          <a:effectLst/>
                          <a:latin typeface="+mn-lt"/>
                          <a:ea typeface="+mn-ea"/>
                          <a:cs typeface="+mn-cs"/>
                        </a:rPr>
                        <a:t>ԱԽ նախաձեռնություն</a:t>
                      </a:r>
                    </a:p>
                  </a:txBody>
                  <a:tcPr marL="0" marR="0" marT="0" marB="0" anchor="ctr"/>
                </a:tc>
                <a:extLst>
                  <a:ext uri="{0D108BD9-81ED-4DB2-BD59-A6C34878D82A}">
                    <a16:rowId xmlns:a16="http://schemas.microsoft.com/office/drawing/2014/main" val="2736209011"/>
                  </a:ext>
                </a:extLst>
              </a:tr>
              <a:tr h="441484">
                <a:tc>
                  <a:txBody>
                    <a:bodyPr/>
                    <a:lstStyle/>
                    <a:p>
                      <a:pPr marL="0" marR="0" rtl="0" latinLnBrk="0">
                        <a:lnSpc>
                          <a:spcPts val="1080"/>
                        </a:lnSpc>
                        <a:spcBef>
                          <a:spcPts val="0"/>
                        </a:spcBef>
                        <a:spcAft>
                          <a:spcPts val="1000"/>
                        </a:spcAft>
                      </a:pPr>
                      <a:r>
                        <a:rPr lang="hy-AM" sz="1050" dirty="0" smtClean="0">
                          <a:effectLst/>
                        </a:rPr>
                        <a:t>11.Համադպրոցական երթ Ծիծեռնակաբերդի հուշահամլիր </a:t>
                      </a:r>
                      <a:endParaRPr lang="hy-AM" sz="1050" dirty="0">
                        <a:effectLst/>
                      </a:endParaRPr>
                    </a:p>
                  </a:txBody>
                  <a:tcPr marL="0" marR="0" marT="0" marB="0" anchor="ctr"/>
                </a:tc>
                <a:tc>
                  <a:txBody>
                    <a:bodyPr/>
                    <a:lstStyle/>
                    <a:p>
                      <a:pPr marL="0" marR="0" rtl="0" latinLnBrk="0">
                        <a:lnSpc>
                          <a:spcPts val="1080"/>
                        </a:lnSpc>
                        <a:spcBef>
                          <a:spcPts val="0"/>
                        </a:spcBef>
                        <a:spcAft>
                          <a:spcPts val="1000"/>
                        </a:spcAft>
                      </a:pPr>
                      <a:r>
                        <a:rPr lang="en-US" sz="1050" dirty="0" smtClean="0">
                          <a:effectLst/>
                        </a:rPr>
                        <a:t>2</a:t>
                      </a:r>
                      <a:r>
                        <a:rPr lang="hy-AM" sz="1050" dirty="0" smtClean="0">
                          <a:effectLst/>
                        </a:rPr>
                        <a:t>3.04․20</a:t>
                      </a:r>
                      <a:r>
                        <a:rPr lang="en-US" sz="1050" dirty="0" smtClean="0">
                          <a:effectLst/>
                        </a:rPr>
                        <a:t>2</a:t>
                      </a:r>
                      <a:r>
                        <a:rPr lang="hy-AM" sz="1050" dirty="0" smtClean="0">
                          <a:effectLst/>
                        </a:rPr>
                        <a:t>5թ</a:t>
                      </a:r>
                      <a:r>
                        <a:rPr lang="hy-AM" sz="1050" dirty="0">
                          <a:effectLst/>
                        </a:rPr>
                        <a:t>. </a:t>
                      </a:r>
                    </a:p>
                  </a:txBody>
                  <a:tcPr marL="0" marR="0" marT="0" marB="0" anchor="ctr"/>
                </a:tc>
                <a:tc>
                  <a:txBody>
                    <a:bodyPr/>
                    <a:lstStyle/>
                    <a:p>
                      <a:pPr marL="0" marR="0" algn="ctr" rtl="0" eaLnBrk="1" latinLnBrk="0" hangingPunct="1">
                        <a:lnSpc>
                          <a:spcPts val="1080"/>
                        </a:lnSpc>
                        <a:spcBef>
                          <a:spcPts val="0"/>
                        </a:spcBef>
                        <a:spcAft>
                          <a:spcPts val="1000"/>
                        </a:spcAft>
                      </a:pPr>
                      <a:r>
                        <a:rPr lang="en-US" sz="1050" dirty="0">
                          <a:effectLst/>
                        </a:rPr>
                        <a:t>100% </a:t>
                      </a:r>
                    </a:p>
                  </a:txBody>
                  <a:tcPr marL="0" marR="0" marT="0" marB="0" anchor="ctr"/>
                </a:tc>
                <a:tc>
                  <a:txBody>
                    <a:bodyPr/>
                    <a:lstStyle/>
                    <a:p>
                      <a:pPr marL="0" marR="0" lvl="0" indent="0" algn="l" defTabSz="457200" rtl="0" eaLnBrk="1" fontAlgn="auto" latinLnBrk="0" hangingPunct="1">
                        <a:lnSpc>
                          <a:spcPts val="1080"/>
                        </a:lnSpc>
                        <a:spcBef>
                          <a:spcPts val="0"/>
                        </a:spcBef>
                        <a:spcAft>
                          <a:spcPts val="1000"/>
                        </a:spcAft>
                        <a:buClrTx/>
                        <a:buSzTx/>
                        <a:buFontTx/>
                        <a:buNone/>
                        <a:tabLst/>
                        <a:defRPr/>
                      </a:pPr>
                      <a:r>
                        <a:rPr lang="hy-AM" sz="1050" kern="1200" dirty="0" smtClean="0">
                          <a:solidFill>
                            <a:schemeClr val="tx1"/>
                          </a:solidFill>
                          <a:effectLst/>
                          <a:latin typeface="+mn-lt"/>
                          <a:ea typeface="+mn-ea"/>
                          <a:cs typeface="+mn-cs"/>
                        </a:rPr>
                        <a:t>Համադպրոցական</a:t>
                      </a:r>
                    </a:p>
                  </a:txBody>
                  <a:tcPr marL="0" marR="0" marT="0" marB="0" anchor="ctr"/>
                </a:tc>
                <a:extLst>
                  <a:ext uri="{0D108BD9-81ED-4DB2-BD59-A6C34878D82A}">
                    <a16:rowId xmlns:a16="http://schemas.microsoft.com/office/drawing/2014/main" val="4063007397"/>
                  </a:ext>
                </a:extLst>
              </a:tr>
              <a:tr h="746053">
                <a:tc>
                  <a:txBody>
                    <a:bodyPr/>
                    <a:lstStyle/>
                    <a:p>
                      <a:pPr marL="0" marR="0" rtl="0" latinLnBrk="0">
                        <a:lnSpc>
                          <a:spcPts val="1080"/>
                        </a:lnSpc>
                        <a:spcBef>
                          <a:spcPts val="0"/>
                        </a:spcBef>
                        <a:spcAft>
                          <a:spcPts val="1000"/>
                        </a:spcAft>
                      </a:pPr>
                      <a:r>
                        <a:rPr lang="hy-AM" sz="1050" dirty="0" smtClean="0">
                          <a:effectLst/>
                        </a:rPr>
                        <a:t>13․ Մասնակցություն Հայաստանի</a:t>
                      </a:r>
                      <a:r>
                        <a:rPr lang="hy-AM" sz="1050" baseline="0" dirty="0" smtClean="0">
                          <a:effectLst/>
                        </a:rPr>
                        <a:t> ԴՕՍԱԱՖ-ի կողմից կազմակերպված ռազմական եռամարտի առաջնությանը</a:t>
                      </a:r>
                      <a:endParaRPr lang="hy-AM" sz="1050" dirty="0">
                        <a:effectLst/>
                      </a:endParaRPr>
                    </a:p>
                  </a:txBody>
                  <a:tcPr marL="0" marR="0" marT="0" marB="0" anchor="ctr"/>
                </a:tc>
                <a:tc>
                  <a:txBody>
                    <a:bodyPr/>
                    <a:lstStyle/>
                    <a:p>
                      <a:pPr marL="0" marR="0" rtl="0" latinLnBrk="0">
                        <a:lnSpc>
                          <a:spcPts val="1080"/>
                        </a:lnSpc>
                        <a:spcBef>
                          <a:spcPts val="0"/>
                        </a:spcBef>
                        <a:spcAft>
                          <a:spcPts val="1000"/>
                        </a:spcAft>
                      </a:pPr>
                      <a:r>
                        <a:rPr lang="hy-AM" sz="1050" dirty="0" smtClean="0">
                          <a:effectLst/>
                          <a:latin typeface="Sylfaen"/>
                        </a:rPr>
                        <a:t>մայիս</a:t>
                      </a:r>
                      <a:endParaRPr lang="en-US" sz="1050" dirty="0">
                        <a:effectLst/>
                        <a:latin typeface="Sylfaen"/>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1000"/>
                        </a:spcAft>
                        <a:buClrTx/>
                        <a:buSzTx/>
                        <a:buFontTx/>
                        <a:buNone/>
                        <a:tabLst/>
                        <a:defRPr/>
                      </a:pPr>
                      <a:r>
                        <a:rPr lang="hy-AM" sz="1050" dirty="0" smtClean="0">
                          <a:effectLst/>
                        </a:rPr>
                        <a:t>20 </a:t>
                      </a:r>
                      <a:r>
                        <a:rPr lang="en-US" sz="1050" dirty="0" smtClean="0">
                          <a:effectLst/>
                        </a:rPr>
                        <a:t>% </a:t>
                      </a:r>
                    </a:p>
                    <a:p>
                      <a:pPr marL="0" marR="0" algn="ctr" rtl="0" eaLnBrk="1" latinLnBrk="0" hangingPunct="1">
                        <a:lnSpc>
                          <a:spcPts val="1080"/>
                        </a:lnSpc>
                        <a:spcBef>
                          <a:spcPts val="0"/>
                        </a:spcBef>
                        <a:spcAft>
                          <a:spcPts val="1000"/>
                        </a:spcAft>
                      </a:pPr>
                      <a:endParaRPr lang="en-US" sz="1050" dirty="0">
                        <a:effectLst/>
                      </a:endParaRPr>
                    </a:p>
                  </a:txBody>
                  <a:tcPr marL="0" marR="0" marT="0" marB="0" anchor="ctr"/>
                </a:tc>
                <a:tc>
                  <a:txBody>
                    <a:bodyPr/>
                    <a:lstStyle/>
                    <a:p>
                      <a:pPr marL="0" marR="0" rtl="0" latinLnBrk="0">
                        <a:lnSpc>
                          <a:spcPts val="1080"/>
                        </a:lnSpc>
                        <a:spcBef>
                          <a:spcPts val="0"/>
                        </a:spcBef>
                        <a:spcAft>
                          <a:spcPts val="1000"/>
                        </a:spcAft>
                      </a:pPr>
                      <a:endParaRPr lang="hy-AM" sz="1050" dirty="0">
                        <a:effectLst/>
                      </a:endParaRPr>
                    </a:p>
                  </a:txBody>
                  <a:tcPr marL="0" marR="0" marT="0" marB="0" anchor="ctr"/>
                </a:tc>
                <a:extLst>
                  <a:ext uri="{0D108BD9-81ED-4DB2-BD59-A6C34878D82A}">
                    <a16:rowId xmlns:a16="http://schemas.microsoft.com/office/drawing/2014/main" val="2484854259"/>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993182332"/>
              </p:ext>
            </p:extLst>
          </p:nvPr>
        </p:nvGraphicFramePr>
        <p:xfrm>
          <a:off x="301842" y="6391923"/>
          <a:ext cx="11123721" cy="632166"/>
        </p:xfrm>
        <a:graphic>
          <a:graphicData uri="http://schemas.openxmlformats.org/drawingml/2006/table">
            <a:tbl>
              <a:tblPr>
                <a:tableStyleId>{5940675A-B579-460E-94D1-54222C63F5DA}</a:tableStyleId>
              </a:tblPr>
              <a:tblGrid>
                <a:gridCol w="4132837">
                  <a:extLst>
                    <a:ext uri="{9D8B030D-6E8A-4147-A177-3AD203B41FA5}">
                      <a16:colId xmlns:a16="http://schemas.microsoft.com/office/drawing/2014/main" val="4111790079"/>
                    </a:ext>
                  </a:extLst>
                </a:gridCol>
                <a:gridCol w="1620319">
                  <a:extLst>
                    <a:ext uri="{9D8B030D-6E8A-4147-A177-3AD203B41FA5}">
                      <a16:colId xmlns:a16="http://schemas.microsoft.com/office/drawing/2014/main" val="2775928201"/>
                    </a:ext>
                  </a:extLst>
                </a:gridCol>
                <a:gridCol w="2840684">
                  <a:extLst>
                    <a:ext uri="{9D8B030D-6E8A-4147-A177-3AD203B41FA5}">
                      <a16:colId xmlns:a16="http://schemas.microsoft.com/office/drawing/2014/main" val="1499005864"/>
                    </a:ext>
                  </a:extLst>
                </a:gridCol>
                <a:gridCol w="2529881">
                  <a:extLst>
                    <a:ext uri="{9D8B030D-6E8A-4147-A177-3AD203B41FA5}">
                      <a16:colId xmlns:a16="http://schemas.microsoft.com/office/drawing/2014/main" val="4165278888"/>
                    </a:ext>
                  </a:extLst>
                </a:gridCol>
              </a:tblGrid>
              <a:tr h="632166">
                <a:tc>
                  <a:txBody>
                    <a:bodyPr/>
                    <a:lstStyle/>
                    <a:p>
                      <a:pPr marL="0" marR="0" rtl="0" latinLnBrk="0">
                        <a:lnSpc>
                          <a:spcPts val="1080"/>
                        </a:lnSpc>
                        <a:spcBef>
                          <a:spcPts val="0"/>
                        </a:spcBef>
                        <a:spcAft>
                          <a:spcPts val="1000"/>
                        </a:spcAft>
                      </a:pPr>
                      <a:r>
                        <a:rPr lang="hy-AM" sz="1200" dirty="0" smtClean="0">
                          <a:effectLst/>
                        </a:rPr>
                        <a:t>7․ «Թումանյանական օրեր»։ Գրքի տոնի և Մայրենիի տոնի խորհուրդը. աշակերտների նախաձեռնությամբ գրքերի նվիրաբերություն դպրոցի գրադարանին</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12-23․02․2025թ․</a:t>
                      </a:r>
                      <a:endParaRPr lang="hy-AM" sz="120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200" dirty="0" smtClean="0">
                          <a:effectLst/>
                        </a:rPr>
                        <a:t>80 </a:t>
                      </a:r>
                      <a:r>
                        <a:rPr lang="en-US" sz="1200" dirty="0" smtClean="0">
                          <a:effectLst/>
                        </a:rPr>
                        <a:t>% </a:t>
                      </a: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200" kern="1200" dirty="0" smtClean="0">
                          <a:solidFill>
                            <a:schemeClr val="tx1"/>
                          </a:solidFill>
                          <a:effectLst/>
                          <a:latin typeface="+mn-lt"/>
                          <a:ea typeface="+mn-ea"/>
                          <a:cs typeface="+mn-cs"/>
                        </a:rPr>
                        <a:t>Համադպրոցական</a:t>
                      </a:r>
                    </a:p>
                  </a:txBody>
                  <a:tcPr marL="0" marR="0" marT="0" marB="0" anchor="ctr"/>
                </a:tc>
                <a:extLst>
                  <a:ext uri="{0D108BD9-81ED-4DB2-BD59-A6C34878D82A}">
                    <a16:rowId xmlns:a16="http://schemas.microsoft.com/office/drawing/2014/main" val="3230185093"/>
                  </a:ext>
                </a:extLst>
              </a:tr>
            </a:tbl>
          </a:graphicData>
        </a:graphic>
      </p:graphicFrame>
    </p:spTree>
    <p:extLst>
      <p:ext uri="{BB962C8B-B14F-4D97-AF65-F5344CB8AC3E}">
        <p14:creationId xmlns:p14="http://schemas.microsoft.com/office/powerpoint/2010/main" val="5896072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16398653"/>
              </p:ext>
            </p:extLst>
          </p:nvPr>
        </p:nvGraphicFramePr>
        <p:xfrm>
          <a:off x="372862" y="455810"/>
          <a:ext cx="11150354" cy="4486656"/>
        </p:xfrm>
        <a:graphic>
          <a:graphicData uri="http://schemas.openxmlformats.org/drawingml/2006/table">
            <a:tbl>
              <a:tblPr>
                <a:tableStyleId>{5940675A-B579-460E-94D1-54222C63F5DA}</a:tableStyleId>
              </a:tblPr>
              <a:tblGrid>
                <a:gridCol w="4950253">
                  <a:extLst>
                    <a:ext uri="{9D8B030D-6E8A-4147-A177-3AD203B41FA5}">
                      <a16:colId xmlns:a16="http://schemas.microsoft.com/office/drawing/2014/main" val="3744970368"/>
                    </a:ext>
                  </a:extLst>
                </a:gridCol>
                <a:gridCol w="1090705">
                  <a:extLst>
                    <a:ext uri="{9D8B030D-6E8A-4147-A177-3AD203B41FA5}">
                      <a16:colId xmlns:a16="http://schemas.microsoft.com/office/drawing/2014/main" val="3682190337"/>
                    </a:ext>
                  </a:extLst>
                </a:gridCol>
                <a:gridCol w="2128902">
                  <a:extLst>
                    <a:ext uri="{9D8B030D-6E8A-4147-A177-3AD203B41FA5}">
                      <a16:colId xmlns:a16="http://schemas.microsoft.com/office/drawing/2014/main" val="3261157851"/>
                    </a:ext>
                  </a:extLst>
                </a:gridCol>
                <a:gridCol w="2980494">
                  <a:extLst>
                    <a:ext uri="{9D8B030D-6E8A-4147-A177-3AD203B41FA5}">
                      <a16:colId xmlns:a16="http://schemas.microsoft.com/office/drawing/2014/main" val="3098232283"/>
                    </a:ext>
                  </a:extLst>
                </a:gridCol>
              </a:tblGrid>
              <a:tr h="47498">
                <a:tc gridSpan="4">
                  <a:txBody>
                    <a:bodyPr/>
                    <a:lstStyle/>
                    <a:p>
                      <a:pPr marL="0" marR="0" rtl="0" latinLnBrk="0">
                        <a:lnSpc>
                          <a:spcPct val="114999"/>
                        </a:lnSpc>
                        <a:spcBef>
                          <a:spcPts val="0"/>
                        </a:spcBef>
                        <a:spcAft>
                          <a:spcPts val="1000"/>
                        </a:spcAft>
                      </a:pPr>
                      <a:r>
                        <a:rPr lang="hy-AM" sz="1400" b="1">
                          <a:effectLst/>
                        </a:rPr>
                        <a:t>Սովորողների կողմից կազմակերպված միջոցառումները և միջոցառումներին մասնակցություն ունեցած սովորողների տոկոսը.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34321052"/>
                  </a:ext>
                </a:extLst>
              </a:tr>
              <a:tr h="119507">
                <a:tc>
                  <a:txBody>
                    <a:bodyPr/>
                    <a:lstStyle/>
                    <a:p>
                      <a:pPr marL="0" marR="0" rtl="0" latinLnBrk="0">
                        <a:lnSpc>
                          <a:spcPct val="115000"/>
                        </a:lnSpc>
                        <a:spcBef>
                          <a:spcPts val="0"/>
                        </a:spcBef>
                        <a:spcAft>
                          <a:spcPts val="0"/>
                        </a:spcAft>
                      </a:pPr>
                      <a:r>
                        <a:rPr lang="hy-AM" sz="1200">
                          <a:effectLst/>
                        </a:rPr>
                        <a:t>Նկարագրել վերջին 3 տարում սովորողների կողմից կազմակերպված միջոցառումները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p>
                      <a:pPr marL="0" marR="0" rtl="0" latinLnBrk="0">
                        <a:lnSpc>
                          <a:spcPct val="115000"/>
                        </a:lnSpc>
                        <a:spcBef>
                          <a:spcPts val="0"/>
                        </a:spcBef>
                        <a:spcAft>
                          <a:spcPts val="0"/>
                        </a:spcAft>
                      </a:pPr>
                      <a:r>
                        <a:rPr lang="hy-AM" sz="1200">
                          <a:effectLst/>
                        </a:rPr>
                        <a:t>կամ դասարանային </a:t>
                      </a:r>
                      <a:endParaRPr lang="hy-AM">
                        <a:effectLst/>
                      </a:endParaRPr>
                    </a:p>
                  </a:txBody>
                  <a:tcPr marL="0" marR="0" marT="0" marB="0" anchor="ctr"/>
                </a:tc>
                <a:extLst>
                  <a:ext uri="{0D108BD9-81ED-4DB2-BD59-A6C34878D82A}">
                    <a16:rowId xmlns:a16="http://schemas.microsoft.com/office/drawing/2014/main" val="2081433691"/>
                  </a:ext>
                </a:extLst>
              </a:tr>
              <a:tr h="39878">
                <a:tc>
                  <a:txBody>
                    <a:bodyPr/>
                    <a:lstStyle/>
                    <a:p>
                      <a:pPr marL="0" marR="0" rtl="0" latinLnBrk="0">
                        <a:lnSpc>
                          <a:spcPct val="115000"/>
                        </a:lnSpc>
                        <a:spcBef>
                          <a:spcPts val="0"/>
                        </a:spcBef>
                        <a:spcAft>
                          <a:spcPts val="1000"/>
                        </a:spcAft>
                      </a:pPr>
                      <a:r>
                        <a:rPr lang="ru-RU" sz="1200" dirty="0" smtClean="0">
                          <a:effectLst/>
                        </a:rPr>
                        <a:t>1</a:t>
                      </a:r>
                      <a:r>
                        <a:rPr lang="hy-AM" sz="1200" dirty="0" smtClean="0">
                          <a:effectLst/>
                        </a:rPr>
                        <a:t>«Աշնան մեղեդի» խորագրով համադպրոցական միջոցառում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200" dirty="0" smtClean="0">
                          <a:effectLst/>
                        </a:rPr>
                        <a:t>28.11.20</a:t>
                      </a:r>
                      <a:r>
                        <a:rPr lang="en-US" sz="1200" dirty="0" smtClean="0">
                          <a:effectLst/>
                        </a:rPr>
                        <a:t>2</a:t>
                      </a:r>
                      <a:r>
                        <a:rPr lang="hy-AM" sz="1200" dirty="0" smtClean="0">
                          <a:effectLst/>
                        </a:rPr>
                        <a:t>4</a:t>
                      </a:r>
                      <a:r>
                        <a:rPr lang="en-US" sz="1200" dirty="0">
                          <a:effectLst/>
                        </a:rPr>
                        <a:t> </a:t>
                      </a:r>
                      <a:r>
                        <a:rPr lang="hy-AM" sz="1200" dirty="0">
                          <a:effectLst/>
                        </a:rPr>
                        <a:t>թ.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40</a:t>
                      </a:r>
                      <a:r>
                        <a:rPr lang="en-US" sz="1200" dirty="0" smtClean="0">
                          <a:effectLst/>
                        </a:rPr>
                        <a:t> </a:t>
                      </a:r>
                      <a:r>
                        <a:rPr lang="en-US" sz="1200" dirty="0">
                          <a:effectLst/>
                        </a:rPr>
                        <a:t>% </a:t>
                      </a:r>
                      <a:endParaRPr lang="en-US" dirty="0">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2149721751"/>
                  </a:ext>
                </a:extLst>
              </a:tr>
              <a:tr h="79629">
                <a:tc>
                  <a:txBody>
                    <a:bodyPr/>
                    <a:lstStyle/>
                    <a:p>
                      <a:pPr marL="0" marR="0" rtl="0" latinLnBrk="0">
                        <a:lnSpc>
                          <a:spcPct val="115000"/>
                        </a:lnSpc>
                        <a:spcBef>
                          <a:spcPts val="0"/>
                        </a:spcBef>
                        <a:spcAft>
                          <a:spcPts val="1000"/>
                        </a:spcAft>
                      </a:pPr>
                      <a:r>
                        <a:rPr lang="ru-RU" sz="1200" dirty="0" smtClean="0">
                          <a:effectLst/>
                        </a:rPr>
                        <a:t>3</a:t>
                      </a:r>
                      <a:r>
                        <a:rPr lang="hy-AM" sz="1200" dirty="0" smtClean="0">
                          <a:effectLst/>
                        </a:rPr>
                        <a:t>. «Թույլ օղակ» ինտելեկտուալ խաղի կազմակերպում և անցկացում</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200" dirty="0" smtClean="0">
                          <a:effectLst/>
                        </a:rPr>
                        <a:t>հոկտեմբեր-դեկտեմբեր</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55</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540680782"/>
                  </a:ext>
                </a:extLst>
              </a:tr>
              <a:tr h="80010">
                <a:tc>
                  <a:txBody>
                    <a:bodyPr/>
                    <a:lstStyle/>
                    <a:p>
                      <a:pPr marL="0" marR="0" rtl="0" latinLnBrk="0">
                        <a:lnSpc>
                          <a:spcPct val="115000"/>
                        </a:lnSpc>
                        <a:spcBef>
                          <a:spcPts val="0"/>
                        </a:spcBef>
                        <a:spcAft>
                          <a:spcPts val="0"/>
                        </a:spcAft>
                      </a:pPr>
                      <a:r>
                        <a:rPr lang="ru-RU" sz="1200" dirty="0" smtClean="0">
                          <a:effectLst/>
                        </a:rPr>
                        <a:t>4</a:t>
                      </a:r>
                      <a:r>
                        <a:rPr lang="hy-AM" sz="1200" dirty="0" smtClean="0">
                          <a:effectLst/>
                        </a:rPr>
                        <a:t>.Թումանյանական օրեր. միջոցառում-ցերեկույթ՝ նվիրված մեծանուն գրողին</a:t>
                      </a:r>
                      <a:r>
                        <a:rPr lang="hy-AM" sz="1200" dirty="0">
                          <a:effectLst/>
                        </a:rPr>
                        <a:t> </a:t>
                      </a:r>
                      <a:endParaRPr lang="hy-AM" dirty="0">
                        <a:effectLst/>
                      </a:endParaRPr>
                    </a:p>
                  </a:txBody>
                  <a:tcPr marL="0" marR="0" marT="0" marB="0" anchor="ctr"/>
                </a:tc>
                <a:tc>
                  <a:txBody>
                    <a:bodyPr/>
                    <a:lstStyle/>
                    <a:p>
                      <a:pPr marL="0" marR="0" rtl="0" latinLnBrk="0">
                        <a:lnSpc>
                          <a:spcPct val="115000"/>
                        </a:lnSpc>
                        <a:spcBef>
                          <a:spcPts val="0"/>
                        </a:spcBef>
                        <a:spcAft>
                          <a:spcPts val="1000"/>
                        </a:spcAft>
                      </a:pPr>
                      <a:r>
                        <a:rPr lang="hy-AM" sz="1200" dirty="0" smtClean="0">
                          <a:effectLst/>
                        </a:rPr>
                        <a:t>փետրվար</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dirty="0" smtClean="0">
                          <a:effectLst/>
                        </a:rPr>
                        <a:t>3</a:t>
                      </a:r>
                      <a:r>
                        <a:rPr lang="hy-AM" sz="1200" dirty="0" smtClean="0">
                          <a:effectLst/>
                        </a:rPr>
                        <a:t>0</a:t>
                      </a:r>
                      <a:r>
                        <a:rPr lang="en-US" sz="1200" dirty="0" smtClean="0">
                          <a:effectLst/>
                        </a:rPr>
                        <a:t> </a:t>
                      </a:r>
                      <a:r>
                        <a:rPr lang="en-US" sz="1200" dirty="0">
                          <a:effectLst/>
                        </a:rPr>
                        <a:t>% </a:t>
                      </a:r>
                      <a:endParaRPr lang="en-US" dirty="0">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3290222807"/>
                  </a:ext>
                </a:extLst>
              </a:tr>
              <a:tr h="79629">
                <a:tc>
                  <a:txBody>
                    <a:bodyPr/>
                    <a:lstStyle/>
                    <a:p>
                      <a:pPr marL="0" marR="0" rtl="0" latinLnBrk="0">
                        <a:lnSpc>
                          <a:spcPct val="115000"/>
                        </a:lnSpc>
                        <a:spcBef>
                          <a:spcPts val="0"/>
                        </a:spcBef>
                        <a:spcAft>
                          <a:spcPts val="0"/>
                        </a:spcAft>
                      </a:pPr>
                      <a:r>
                        <a:rPr lang="en-US" sz="1200" dirty="0">
                          <a:effectLst/>
                        </a:rPr>
                        <a:t>5</a:t>
                      </a:r>
                      <a:r>
                        <a:rPr lang="ru-RU" sz="1200" dirty="0">
                          <a:effectLst/>
                        </a:rPr>
                        <a:t>.</a:t>
                      </a:r>
                      <a:r>
                        <a:rPr lang="en-US" sz="1200" dirty="0" err="1">
                          <a:effectLst/>
                        </a:rPr>
                        <a:t>Միջոցառում</a:t>
                      </a:r>
                      <a:r>
                        <a:rPr lang="en-US" sz="1200" baseline="0" dirty="0">
                          <a:effectLst/>
                        </a:rPr>
                        <a:t> </a:t>
                      </a:r>
                      <a:r>
                        <a:rPr lang="en-US" sz="1200" baseline="0" dirty="0" err="1">
                          <a:effectLst/>
                        </a:rPr>
                        <a:t>նվիրված</a:t>
                      </a:r>
                      <a:r>
                        <a:rPr lang="en-US" sz="1200" baseline="0" dirty="0">
                          <a:effectLst/>
                        </a:rPr>
                        <a:t> &lt;&lt;</a:t>
                      </a:r>
                      <a:r>
                        <a:rPr lang="en-US" sz="1200" baseline="0" dirty="0" err="1">
                          <a:effectLst/>
                        </a:rPr>
                        <a:t>Քառօրյա</a:t>
                      </a:r>
                      <a:r>
                        <a:rPr lang="en-US" sz="1200" baseline="0" dirty="0">
                          <a:effectLst/>
                        </a:rPr>
                        <a:t> </a:t>
                      </a:r>
                      <a:r>
                        <a:rPr lang="en-US" sz="1200" baseline="0" dirty="0" err="1">
                          <a:effectLst/>
                        </a:rPr>
                        <a:t>պատերազմին</a:t>
                      </a:r>
                      <a:r>
                        <a:rPr lang="en-US" sz="1200" baseline="0" dirty="0">
                          <a:effectLst/>
                        </a:rPr>
                        <a:t>&gt;&gt; և </a:t>
                      </a:r>
                      <a:r>
                        <a:rPr lang="en-US" sz="1200" baseline="0" dirty="0" err="1">
                          <a:effectLst/>
                        </a:rPr>
                        <a:t>մայիսյան</a:t>
                      </a:r>
                      <a:r>
                        <a:rPr lang="en-US" sz="1200" baseline="0" dirty="0">
                          <a:effectLst/>
                        </a:rPr>
                        <a:t> </a:t>
                      </a:r>
                      <a:r>
                        <a:rPr lang="en-US" sz="1200" baseline="0" dirty="0" err="1">
                          <a:effectLst/>
                        </a:rPr>
                        <a:t>հաղթանակներին</a:t>
                      </a:r>
                      <a:r>
                        <a:rPr lang="en-US" sz="1200" baseline="0" dirty="0">
                          <a:effectLst/>
                        </a:rPr>
                        <a:t> </a:t>
                      </a:r>
                      <a:endParaRPr lang="hy-AM" sz="1200" dirty="0">
                        <a:effectLst/>
                      </a:endParaRPr>
                    </a:p>
                  </a:txBody>
                  <a:tcPr marL="0" marR="0" marT="0" marB="0" anchor="ctr"/>
                </a:tc>
                <a:tc>
                  <a:txBody>
                    <a:bodyPr/>
                    <a:lstStyle/>
                    <a:p>
                      <a:pPr marL="0" marR="0" rtl="0" latinLnBrk="0">
                        <a:lnSpc>
                          <a:spcPct val="115000"/>
                        </a:lnSpc>
                        <a:spcBef>
                          <a:spcPts val="0"/>
                        </a:spcBef>
                        <a:spcAft>
                          <a:spcPts val="1000"/>
                        </a:spcAft>
                      </a:pPr>
                      <a:r>
                        <a:rPr lang="en-US" sz="1200" dirty="0" smtClean="0">
                          <a:effectLst/>
                        </a:rPr>
                        <a:t>10</a:t>
                      </a:r>
                      <a:r>
                        <a:rPr lang="hy-AM" sz="1200" dirty="0" smtClean="0">
                          <a:effectLst/>
                        </a:rPr>
                        <a:t>․</a:t>
                      </a:r>
                      <a:r>
                        <a:rPr lang="en-US" sz="1200" dirty="0" smtClean="0">
                          <a:effectLst/>
                        </a:rPr>
                        <a:t>05.2025թ</a:t>
                      </a:r>
                      <a:r>
                        <a:rPr lang="en-US" sz="1200" dirty="0">
                          <a:effectLst/>
                        </a:rPr>
                        <a:t>.</a:t>
                      </a:r>
                      <a:endParaRPr lang="hy-AM" sz="1200" dirty="0">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dirty="0">
                          <a:effectLst/>
                        </a:rPr>
                        <a:t>80 </a:t>
                      </a:r>
                      <a:r>
                        <a:rPr lang="ru-RU" sz="1200" dirty="0">
                          <a:effectLst/>
                        </a:rPr>
                        <a:t>%</a:t>
                      </a:r>
                      <a:endParaRPr lang="en-US" sz="1200" dirty="0">
                        <a:effectLst/>
                      </a:endParaRPr>
                    </a:p>
                  </a:txBody>
                  <a:tcPr marL="0" marR="0" marT="0" marB="0" anchor="ctr"/>
                </a:tc>
                <a:tc>
                  <a:txBody>
                    <a:bodyPr/>
                    <a:lstStyle/>
                    <a:p>
                      <a:pPr marL="0" marR="0" indent="0" algn="l" rtl="0" eaLnBrk="1" fontAlgn="auto" latinLnBrk="0" hangingPunct="1">
                        <a:lnSpc>
                          <a:spcPct val="115000"/>
                        </a:lnSpc>
                        <a:spcBef>
                          <a:spcPts val="0"/>
                        </a:spcBef>
                        <a:spcAft>
                          <a:spcPts val="1000"/>
                        </a:spcAft>
                        <a:buFontTx/>
                        <a:buNone/>
                      </a:pPr>
                      <a:r>
                        <a:rPr lang="hy-AM" sz="1200" dirty="0">
                          <a:effectLst/>
                        </a:rPr>
                        <a:t>Համադպրոցական </a:t>
                      </a:r>
                    </a:p>
                  </a:txBody>
                  <a:tcPr marL="0" marR="0" marT="0" marB="0" anchor="ctr"/>
                </a:tc>
                <a:extLst>
                  <a:ext uri="{0D108BD9-81ED-4DB2-BD59-A6C34878D82A}">
                    <a16:rowId xmlns:a16="http://schemas.microsoft.com/office/drawing/2014/main" val="10007"/>
                  </a:ext>
                </a:extLst>
              </a:tr>
              <a:tr h="56769">
                <a:tc gridSpan="4">
                  <a:txBody>
                    <a:bodyPr/>
                    <a:lstStyle/>
                    <a:p>
                      <a:pPr marL="0" marR="0" rtl="0" latinLnBrk="0">
                        <a:lnSpc>
                          <a:spcPct val="115000"/>
                        </a:lnSpc>
                        <a:spcBef>
                          <a:spcPts val="0"/>
                        </a:spcBef>
                        <a:spcAft>
                          <a:spcPts val="0"/>
                        </a:spcAft>
                      </a:pPr>
                      <a:r>
                        <a:rPr lang="hy-AM" sz="1200" dirty="0">
                          <a:effectLst/>
                        </a:rPr>
                        <a:t>Սովորողների մասնակցությունը հաստատության ներքին կարգապահական կանոնների մշակմանը և մասնակցություն ունեցած սովորողների տոկոսը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2951005"/>
                  </a:ext>
                </a:extLst>
              </a:tr>
              <a:tr h="119507">
                <a:tc>
                  <a:txBody>
                    <a:bodyPr/>
                    <a:lstStyle/>
                    <a:p>
                      <a:pPr marL="0" marR="0" rtl="0" latinLnBrk="0">
                        <a:lnSpc>
                          <a:spcPct val="115000"/>
                        </a:lnSpc>
                        <a:spcBef>
                          <a:spcPts val="0"/>
                        </a:spcBef>
                        <a:spcAft>
                          <a:spcPts val="0"/>
                        </a:spcAft>
                      </a:pPr>
                      <a:r>
                        <a:rPr lang="ru-RU" sz="1200">
                          <a:effectLst/>
                        </a:rPr>
                        <a:t>7.</a:t>
                      </a:r>
                      <a:r>
                        <a:rPr lang="hy-AM" sz="1200">
                          <a:effectLst/>
                        </a:rPr>
                        <a:t>Նկարագրել վերջին 3 տարում հաստատության ներքին կարգապահական կանոնների մշակմանը սովորողների մասնակցության դեպքերը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1327551817"/>
                  </a:ext>
                </a:extLst>
              </a:tr>
              <a:tr h="258826">
                <a:tc>
                  <a:txBody>
                    <a:bodyPr/>
                    <a:lstStyle/>
                    <a:p>
                      <a:pPr marL="54610" marR="0" indent="-54610" rtl="0" latinLnBrk="0">
                        <a:lnSpc>
                          <a:spcPct val="115000"/>
                        </a:lnSpc>
                        <a:spcBef>
                          <a:spcPts val="0"/>
                        </a:spcBef>
                        <a:spcAft>
                          <a:spcPts val="0"/>
                        </a:spcAft>
                      </a:pPr>
                      <a:r>
                        <a:rPr lang="hy-AM" sz="1200">
                          <a:effectLst/>
                        </a:rPr>
                        <a:t>1.Հաստատության ներքին կարգապահական կանոնների քննարկում և հաստատում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en-US" sz="1200">
                          <a:effectLst/>
                        </a:rPr>
                        <a:t>                100 % </a:t>
                      </a:r>
                      <a:endParaRPr lang="en-US">
                        <a:effectLst/>
                      </a:endParaRPr>
                    </a:p>
                  </a:txBody>
                  <a:tcPr marL="0" marR="0" marT="0" marB="0" anchor="ctr"/>
                </a:tc>
                <a:tc>
                  <a:txBody>
                    <a:bodyPr/>
                    <a:lstStyle/>
                    <a:p>
                      <a:pPr marL="0" marR="0" rtl="0" latinLnBrk="0">
                        <a:lnSpc>
                          <a:spcPct val="114999"/>
                        </a:lnSpc>
                        <a:spcBef>
                          <a:spcPts val="0"/>
                        </a:spcBef>
                        <a:spcAft>
                          <a:spcPts val="0"/>
                        </a:spcAft>
                      </a:pPr>
                      <a:r>
                        <a:rPr lang="hy-AM" sz="1200" dirty="0">
                          <a:effectLst/>
                        </a:rPr>
                        <a:t>Աշակերտները հանդես են եկել առաջարկու-թյուններով, որոնց մի մասը հաշվի է առնվել հաստատության ներքին կարգապահական կանոնները հաստատելիս: </a:t>
                      </a:r>
                      <a:endParaRPr lang="hy-AM" dirty="0">
                        <a:effectLst/>
                      </a:endParaRPr>
                    </a:p>
                  </a:txBody>
                  <a:tcPr marL="0" marR="0" marT="0" marB="0" anchor="ctr"/>
                </a:tc>
                <a:extLst>
                  <a:ext uri="{0D108BD9-81ED-4DB2-BD59-A6C34878D82A}">
                    <a16:rowId xmlns:a16="http://schemas.microsoft.com/office/drawing/2014/main" val="1949136340"/>
                  </a:ext>
                </a:extLst>
              </a:tr>
            </a:tbl>
          </a:graphicData>
        </a:graphic>
      </p:graphicFrame>
    </p:spTree>
    <p:extLst>
      <p:ext uri="{BB962C8B-B14F-4D97-AF65-F5344CB8AC3E}">
        <p14:creationId xmlns:p14="http://schemas.microsoft.com/office/powerpoint/2010/main" val="27269431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extLst>
              <p:ext uri="{D42A27DB-BD31-4B8C-83A1-F6EECF244321}">
                <p14:modId xmlns:p14="http://schemas.microsoft.com/office/powerpoint/2010/main" val="3187907175"/>
              </p:ext>
            </p:extLst>
          </p:nvPr>
        </p:nvGraphicFramePr>
        <p:xfrm>
          <a:off x="236314" y="322528"/>
          <a:ext cx="9994900" cy="6464808"/>
        </p:xfrm>
        <a:graphic>
          <a:graphicData uri="http://schemas.openxmlformats.org/drawingml/2006/table">
            <a:tbl>
              <a:tblPr>
                <a:tableStyleId>{5940675A-B579-460E-94D1-54222C63F5DA}</a:tableStyleId>
              </a:tblPr>
              <a:tblGrid>
                <a:gridCol w="4388237">
                  <a:extLst>
                    <a:ext uri="{9D8B030D-6E8A-4147-A177-3AD203B41FA5}">
                      <a16:colId xmlns:a16="http://schemas.microsoft.com/office/drawing/2014/main" val="3514334348"/>
                    </a:ext>
                  </a:extLst>
                </a:gridCol>
                <a:gridCol w="1270222">
                  <a:extLst>
                    <a:ext uri="{9D8B030D-6E8A-4147-A177-3AD203B41FA5}">
                      <a16:colId xmlns:a16="http://schemas.microsoft.com/office/drawing/2014/main" val="1635658836"/>
                    </a:ext>
                  </a:extLst>
                </a:gridCol>
                <a:gridCol w="2175639">
                  <a:extLst>
                    <a:ext uri="{9D8B030D-6E8A-4147-A177-3AD203B41FA5}">
                      <a16:colId xmlns:a16="http://schemas.microsoft.com/office/drawing/2014/main" val="4221076978"/>
                    </a:ext>
                  </a:extLst>
                </a:gridCol>
                <a:gridCol w="2160802">
                  <a:extLst>
                    <a:ext uri="{9D8B030D-6E8A-4147-A177-3AD203B41FA5}">
                      <a16:colId xmlns:a16="http://schemas.microsoft.com/office/drawing/2014/main" val="2114801923"/>
                    </a:ext>
                  </a:extLst>
                </a:gridCol>
              </a:tblGrid>
              <a:tr h="59690">
                <a:tc gridSpan="4">
                  <a:txBody>
                    <a:bodyPr/>
                    <a:lstStyle/>
                    <a:p>
                      <a:pPr marL="0" marR="0" rtl="0" latinLnBrk="0">
                        <a:lnSpc>
                          <a:spcPct val="114999"/>
                        </a:lnSpc>
                        <a:spcBef>
                          <a:spcPts val="0"/>
                        </a:spcBef>
                        <a:spcAft>
                          <a:spcPts val="0"/>
                        </a:spcAft>
                      </a:pPr>
                      <a:r>
                        <a:rPr lang="hy-AM" sz="1400" b="1">
                          <a:effectLst/>
                        </a:rPr>
                        <a:t>Իրենց հուզող հարցերի վերաբերյալ սովորողների կողմից կազմակերպված համաժողովները, սեմինարները, կլոր-սեղանները, քննարկումները և մասնակցություն ունեցած սովորողների տոկոսը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88852410"/>
                  </a:ext>
                </a:extLst>
              </a:tr>
              <a:tr h="119507">
                <a:tc>
                  <a:txBody>
                    <a:bodyPr/>
                    <a:lstStyle/>
                    <a:p>
                      <a:pPr marL="0" marR="0" rtl="0" latinLnBrk="0">
                        <a:lnSpc>
                          <a:spcPct val="115000"/>
                        </a:lnSpc>
                        <a:spcBef>
                          <a:spcPts val="0"/>
                        </a:spcBef>
                        <a:spcAft>
                          <a:spcPts val="0"/>
                        </a:spcAft>
                      </a:pPr>
                      <a:r>
                        <a:rPr lang="hy-AM" sz="1400">
                          <a:effectLst/>
                        </a:rPr>
                        <a:t>Թվարկել վերջին 3 տարում սովորողների կողմից կազմակերպված համաժողովները, </a:t>
                      </a:r>
                      <a:r>
                        <a:rPr lang="hy-AM" sz="1400" err="1">
                          <a:effectLst/>
                        </a:rPr>
                        <a:t>սեմինարները</a:t>
                      </a:r>
                      <a:r>
                        <a:rPr lang="hy-AM" sz="1400">
                          <a:effectLst/>
                        </a:rPr>
                        <a:t>, կլոր-սեղանները, քննարկումները, նշել դրանց թեմաները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428430132"/>
                  </a:ext>
                </a:extLst>
              </a:tr>
              <a:tr h="39878">
                <a:tc>
                  <a:txBody>
                    <a:bodyPr/>
                    <a:lstStyle/>
                    <a:p>
                      <a:pPr marL="0" marR="0" rtl="0" latinLnBrk="0">
                        <a:lnSpc>
                          <a:spcPct val="115000"/>
                        </a:lnSpc>
                        <a:spcBef>
                          <a:spcPts val="0"/>
                        </a:spcBef>
                        <a:spcAft>
                          <a:spcPts val="0"/>
                        </a:spcAft>
                      </a:pPr>
                      <a:r>
                        <a:rPr lang="hy-AM" sz="1400">
                          <a:effectLst/>
                        </a:rPr>
                        <a:t>1. «Սովորողի իրավունքներն ու պարտականությունները» քննարկում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dirty="0">
                          <a:effectLst/>
                        </a:rPr>
                        <a:t>ամենամյա </a:t>
                      </a:r>
                      <a:endParaRPr lang="hy-AM" dirty="0">
                        <a:effectLst/>
                      </a:endParaRPr>
                    </a:p>
                  </a:txBody>
                  <a:tcPr marL="0" marR="0" marT="0" marB="0" anchor="ctr"/>
                </a:tc>
                <a:tc>
                  <a:txBody>
                    <a:bodyPr/>
                    <a:lstStyle/>
                    <a:p>
                      <a:pPr marL="0" marR="0" algn="ctr" rtl="0" latinLnBrk="0">
                        <a:lnSpc>
                          <a:spcPct val="114999"/>
                        </a:lnSpc>
                        <a:spcBef>
                          <a:spcPts val="0"/>
                        </a:spcBef>
                        <a:spcAft>
                          <a:spcPts val="0"/>
                        </a:spcAft>
                      </a:pPr>
                      <a:r>
                        <a:rPr lang="hy-AM" sz="1400" dirty="0" smtClean="0">
                          <a:effectLst/>
                        </a:rPr>
                        <a:t>60</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Թեման կրկնվում է դպրոց ընդունված աշակերտներին </a:t>
                      </a:r>
                      <a:r>
                        <a:rPr lang="hy-AM" sz="1400" err="1">
                          <a:effectLst/>
                        </a:rPr>
                        <a:t>ևս</a:t>
                      </a:r>
                      <a:r>
                        <a:rPr lang="hy-AM" sz="1400">
                          <a:effectLst/>
                        </a:rPr>
                        <a:t> ներգրավելու համար </a:t>
                      </a:r>
                      <a:endParaRPr lang="hy-AM">
                        <a:effectLst/>
                      </a:endParaRPr>
                    </a:p>
                  </a:txBody>
                  <a:tcPr marL="0" marR="0" marT="0" marB="0" anchor="ctr"/>
                </a:tc>
                <a:extLst>
                  <a:ext uri="{0D108BD9-81ED-4DB2-BD59-A6C34878D82A}">
                    <a16:rowId xmlns:a16="http://schemas.microsoft.com/office/drawing/2014/main" val="3009486307"/>
                  </a:ext>
                </a:extLst>
              </a:tr>
              <a:tr h="39878">
                <a:tc>
                  <a:txBody>
                    <a:bodyPr/>
                    <a:lstStyle/>
                    <a:p>
                      <a:pPr marL="0" marR="0" rtl="0" latinLnBrk="0">
                        <a:lnSpc>
                          <a:spcPct val="115000"/>
                        </a:lnSpc>
                        <a:spcBef>
                          <a:spcPts val="0"/>
                        </a:spcBef>
                        <a:spcAft>
                          <a:spcPts val="0"/>
                        </a:spcAft>
                      </a:pPr>
                      <a:r>
                        <a:rPr lang="hy-AM" sz="1400">
                          <a:effectLst/>
                        </a:rPr>
                        <a:t>2. «Արդի մասնագիտություններ. աշխատաշուկա»՝  մասնագիտական կողմնորոշման հանձնախմբի նախաձեռնությամբ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dirty="0" smtClean="0">
                          <a:effectLst/>
                        </a:rPr>
                        <a:t>պարբերաբար</a:t>
                      </a:r>
                      <a:r>
                        <a:rPr lang="hy-AM" sz="1400" dirty="0">
                          <a:effectLst/>
                        </a:rPr>
                        <a:t> </a:t>
                      </a:r>
                      <a:endParaRPr lang="hy-AM" dirty="0">
                        <a:effectLst/>
                      </a:endParaRPr>
                    </a:p>
                  </a:txBody>
                  <a:tcPr marL="0" marR="0" marT="0" marB="0" anchor="ctr"/>
                </a:tc>
                <a:tc>
                  <a:txBody>
                    <a:bodyPr/>
                    <a:lstStyle/>
                    <a:p>
                      <a:pPr marL="0" marR="0" algn="ctr" rtl="0" latinLnBrk="0">
                        <a:lnSpc>
                          <a:spcPct val="114999"/>
                        </a:lnSpc>
                        <a:spcBef>
                          <a:spcPts val="0"/>
                        </a:spcBef>
                        <a:spcAft>
                          <a:spcPts val="0"/>
                        </a:spcAft>
                      </a:pPr>
                      <a:r>
                        <a:rPr lang="hy-AM" sz="1400" dirty="0" smtClean="0">
                          <a:effectLst/>
                        </a:rPr>
                        <a:t>80</a:t>
                      </a:r>
                      <a:r>
                        <a:rPr lang="en-US" sz="1400" dirty="0" smtClean="0">
                          <a:effectLst/>
                        </a:rPr>
                        <a:t>%</a:t>
                      </a:r>
                      <a:r>
                        <a:rPr lang="en-US" sz="1400" dirty="0">
                          <a:effectLst/>
                        </a:rPr>
                        <a:t> </a:t>
                      </a:r>
                      <a:endParaRPr lang="en-US" dirty="0">
                        <a:effectLst/>
                      </a:endParaRPr>
                    </a:p>
                  </a:txBody>
                  <a:tcPr marL="0" marR="0" marT="0" marB="0" anchor="ctr"/>
                </a:tc>
                <a:tc>
                  <a:txBody>
                    <a:bodyPr/>
                    <a:lstStyle/>
                    <a:p>
                      <a:pPr marL="0" rtl="0" latinLnBrk="0">
                        <a:spcBef>
                          <a:spcPts val="0"/>
                        </a:spcBef>
                        <a:spcAft>
                          <a:spcPts val="0"/>
                        </a:spcAft>
                      </a:pPr>
                      <a:r>
                        <a:rPr lang="hy-AM" sz="1400">
                          <a:effectLst/>
                        </a:rPr>
                        <a:t>Մասնագիտական կողմնորոշման նպատակով </a:t>
                      </a:r>
                      <a:endParaRPr lang="hy-AM">
                        <a:effectLst/>
                      </a:endParaRPr>
                    </a:p>
                  </a:txBody>
                  <a:tcPr marL="0" marR="0" marT="0" marB="0" anchor="ctr"/>
                </a:tc>
                <a:extLst>
                  <a:ext uri="{0D108BD9-81ED-4DB2-BD59-A6C34878D82A}">
                    <a16:rowId xmlns:a16="http://schemas.microsoft.com/office/drawing/2014/main" val="1113147868"/>
                  </a:ext>
                </a:extLst>
              </a:tr>
              <a:tr h="59690">
                <a:tc>
                  <a:txBody>
                    <a:bodyPr/>
                    <a:lstStyle/>
                    <a:p>
                      <a:pPr marL="0" marR="0" rtl="0" latinLnBrk="0">
                        <a:lnSpc>
                          <a:spcPct val="115000"/>
                        </a:lnSpc>
                        <a:spcBef>
                          <a:spcPts val="0"/>
                        </a:spcBef>
                        <a:spcAft>
                          <a:spcPts val="0"/>
                        </a:spcAft>
                      </a:pPr>
                      <a:r>
                        <a:rPr lang="hy-AM" sz="1400" dirty="0">
                          <a:effectLst/>
                        </a:rPr>
                        <a:t>3. «Աշակերտական կերպար»՝ կլոր-սեղան քննարկում ուսուցիչների մասնակցությամբ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400" dirty="0" smtClean="0">
                          <a:effectLst/>
                        </a:rPr>
                        <a:t>  ամենամյա</a:t>
                      </a:r>
                      <a:r>
                        <a:rPr lang="hy-AM" sz="1400" dirty="0">
                          <a:effectLst/>
                        </a:rPr>
                        <a:t> </a:t>
                      </a:r>
                      <a:endParaRPr lang="hy-AM" dirty="0">
                        <a:effectLst/>
                      </a:endParaRPr>
                    </a:p>
                  </a:txBody>
                  <a:tcPr marL="0" marR="0" marT="0" marB="0" anchor="ctr"/>
                </a:tc>
                <a:tc>
                  <a:txBody>
                    <a:bodyPr/>
                    <a:lstStyle/>
                    <a:p>
                      <a:pPr marL="0" marR="0" algn="ctr" rtl="0" latinLnBrk="0">
                        <a:lnSpc>
                          <a:spcPct val="114999"/>
                        </a:lnSpc>
                        <a:spcBef>
                          <a:spcPts val="0"/>
                        </a:spcBef>
                        <a:spcAft>
                          <a:spcPts val="0"/>
                        </a:spcAft>
                      </a:pPr>
                      <a:r>
                        <a:rPr lang="hy-AM" sz="1400" dirty="0" smtClean="0">
                          <a:effectLst/>
                        </a:rPr>
                        <a:t>90</a:t>
                      </a:r>
                      <a:r>
                        <a:rPr lang="en-US" sz="1400" dirty="0" smtClean="0">
                          <a:effectLst/>
                        </a:rPr>
                        <a:t>%</a:t>
                      </a:r>
                      <a:r>
                        <a:rPr lang="en-US" sz="1400" dirty="0">
                          <a:effectLst/>
                        </a:rPr>
                        <a:t> </a:t>
                      </a:r>
                      <a:endParaRPr lang="en-US" dirty="0">
                        <a:effectLst/>
                      </a:endParaRPr>
                    </a:p>
                  </a:txBody>
                  <a:tcPr marL="0" marR="0" marT="0" marB="0" anchor="ctr"/>
                </a:tc>
                <a:tc>
                  <a:txBody>
                    <a:bodyPr/>
                    <a:lstStyle/>
                    <a:p>
                      <a:pPr marL="0" rtl="0" latinLnBrk="0">
                        <a:spcBef>
                          <a:spcPts val="0"/>
                        </a:spcBef>
                        <a:spcAft>
                          <a:spcPts val="0"/>
                        </a:spcAft>
                      </a:pPr>
                      <a:r>
                        <a:rPr lang="hy-AM" sz="1400">
                          <a:effectLst/>
                        </a:rPr>
                        <a:t>Աջակցում հաստատության ներքին կարգապահական կանոնների պահպանմանը </a:t>
                      </a:r>
                      <a:endParaRPr lang="hy-AM">
                        <a:effectLst/>
                      </a:endParaRPr>
                    </a:p>
                  </a:txBody>
                  <a:tcPr marL="0" marR="0" marT="0" marB="0" anchor="ctr"/>
                </a:tc>
                <a:extLst>
                  <a:ext uri="{0D108BD9-81ED-4DB2-BD59-A6C34878D82A}">
                    <a16:rowId xmlns:a16="http://schemas.microsoft.com/office/drawing/2014/main" val="113408903"/>
                  </a:ext>
                </a:extLst>
              </a:tr>
              <a:tr h="39878">
                <a:tc gridSpan="4">
                  <a:txBody>
                    <a:bodyPr/>
                    <a:lstStyle/>
                    <a:p>
                      <a:pPr marL="0" marR="0" rtl="0" latinLnBrk="0">
                        <a:lnSpc>
                          <a:spcPct val="114999"/>
                        </a:lnSpc>
                        <a:spcBef>
                          <a:spcPts val="0"/>
                        </a:spcBef>
                        <a:spcAft>
                          <a:spcPts val="0"/>
                        </a:spcAft>
                      </a:pPr>
                      <a:r>
                        <a:rPr lang="hy-AM" sz="1400" b="1">
                          <a:effectLst/>
                        </a:rPr>
                        <a:t>Նկարագրել սովորող - սովորող և սովորող - ուսուցիչ հարաբերություններն ուսումնական հաստատությունում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7946226"/>
                  </a:ext>
                </a:extLst>
              </a:tr>
              <a:tr h="139446">
                <a:tc gridSpan="4">
                  <a:txBody>
                    <a:bodyPr/>
                    <a:lstStyle/>
                    <a:p>
                      <a:pPr marL="0" marR="0" rtl="0" latinLnBrk="0">
                        <a:lnSpc>
                          <a:spcPct val="114999"/>
                        </a:lnSpc>
                        <a:spcBef>
                          <a:spcPts val="0"/>
                        </a:spcBef>
                        <a:spcAft>
                          <a:spcPts val="0"/>
                        </a:spcAft>
                      </a:pPr>
                      <a:r>
                        <a:rPr lang="hy-AM" sz="1400" b="1" dirty="0">
                          <a:effectLst/>
                        </a:rPr>
                        <a:t>Ուսումնական հաստատությունում տիրում է հանդուրժողականության, համագործակցության առողջ բարոյահոգեբանական մթնոլորտ: </a:t>
                      </a:r>
                      <a:endParaRPr lang="hy-AM" b="1" dirty="0">
                        <a:effectLst/>
                      </a:endParaRPr>
                    </a:p>
                    <a:p>
                      <a:pPr marL="0" marR="0" rtl="0" latinLnBrk="0">
                        <a:lnSpc>
                          <a:spcPct val="114999"/>
                        </a:lnSpc>
                        <a:spcBef>
                          <a:spcPts val="0"/>
                        </a:spcBef>
                        <a:spcAft>
                          <a:spcPts val="0"/>
                        </a:spcAft>
                      </a:pPr>
                      <a:r>
                        <a:rPr lang="hy-AM" sz="1400" b="1" dirty="0">
                          <a:effectLst/>
                        </a:rPr>
                        <a:t>Սովորողները միմյանց աջակցում են  տարբեր իրավիճակներում, իրենց հուզող հարցերը քննարկում են  և´ միմյանց, և´ ուսուցիչների հետ: Հարգում են միմյանց իրավունքները՝ չմոռանալով պարտականությունների մասին: </a:t>
                      </a:r>
                      <a:endParaRPr lang="hy-AM" b="1" dirty="0">
                        <a:effectLst/>
                      </a:endParaRPr>
                    </a:p>
                    <a:p>
                      <a:pPr marL="0" marR="0" rtl="0" latinLnBrk="0">
                        <a:lnSpc>
                          <a:spcPct val="114999"/>
                        </a:lnSpc>
                        <a:spcBef>
                          <a:spcPts val="0"/>
                        </a:spcBef>
                        <a:spcAft>
                          <a:spcPts val="0"/>
                        </a:spcAft>
                      </a:pPr>
                      <a:r>
                        <a:rPr lang="hy-AM" sz="1400" b="1" dirty="0">
                          <a:effectLst/>
                        </a:rPr>
                        <a:t>Ուսուցիչները հարաբերվում են աշակերտների հետ, ինչպես հավասարը հավասարի՝ խթանելով նրանց մոտ  անհատի և քաղաքացու հոգեբանություն զարգացումը: </a:t>
                      </a:r>
                      <a:endParaRPr lang="hy-AM" b="1"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1750228"/>
                  </a:ext>
                </a:extLst>
              </a:tr>
            </a:tbl>
          </a:graphicData>
        </a:graphic>
      </p:graphicFrame>
    </p:spTree>
    <p:extLst>
      <p:ext uri="{BB962C8B-B14F-4D97-AF65-F5344CB8AC3E}">
        <p14:creationId xmlns:p14="http://schemas.microsoft.com/office/powerpoint/2010/main" val="860921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225" y="74613"/>
            <a:ext cx="10513479" cy="369332"/>
          </a:xfrm>
          <a:prstGeom prst="rect">
            <a:avLst/>
          </a:prstGeom>
        </p:spPr>
        <p:txBody>
          <a:bodyPr rtlCol="0">
            <a:spAutoFit/>
          </a:bodyPr>
          <a:lstStyle/>
          <a:p>
            <a:r>
              <a:rPr lang="ru-RU" b="1" i="1" err="1">
                <a:latin typeface="Sylfaen"/>
              </a:rPr>
              <a:t>Աղյուսակ</a:t>
            </a:r>
            <a:r>
              <a:rPr lang="en-GB" b="1" i="1">
                <a:latin typeface="Sylfaen"/>
              </a:rPr>
              <a:t> 31. </a:t>
            </a:r>
            <a:r>
              <a:rPr lang="ru-RU" b="1" i="1" err="1">
                <a:latin typeface="Sylfaen"/>
              </a:rPr>
              <a:t>Տվյալներ</a:t>
            </a:r>
            <a:r>
              <a:rPr lang="ru-RU" b="1" i="1">
                <a:latin typeface="Sylfaen"/>
              </a:rPr>
              <a:t> </a:t>
            </a:r>
            <a:r>
              <a:rPr lang="ru-RU" b="1" i="1" err="1">
                <a:latin typeface="Sylfaen"/>
              </a:rPr>
              <a:t>հաստատության</a:t>
            </a:r>
            <a:r>
              <a:rPr lang="ru-RU" b="1" i="1">
                <a:latin typeface="Sylfaen"/>
              </a:rPr>
              <a:t> </a:t>
            </a:r>
            <a:r>
              <a:rPr lang="ru-RU" b="1" i="1" err="1">
                <a:latin typeface="Sylfaen"/>
              </a:rPr>
              <a:t>աշակերտական</a:t>
            </a:r>
            <a:r>
              <a:rPr lang="ru-RU" b="1" i="1">
                <a:latin typeface="Sylfaen"/>
              </a:rPr>
              <a:t> </a:t>
            </a:r>
            <a:r>
              <a:rPr lang="ru-RU" b="1" i="1" err="1">
                <a:latin typeface="Sylfaen"/>
              </a:rPr>
              <a:t>խորհրդի</a:t>
            </a:r>
            <a:r>
              <a:rPr lang="en-GB" b="1" i="1">
                <a:latin typeface="Sylfaen"/>
              </a:rPr>
              <a:t> </a:t>
            </a:r>
            <a:r>
              <a:rPr lang="ru-RU" b="1" i="1">
                <a:latin typeface="Sylfaen"/>
              </a:rPr>
              <a:t>գործունեության </a:t>
            </a:r>
            <a:r>
              <a:rPr lang="ru-RU" b="1" i="1" err="1">
                <a:latin typeface="Sylfaen"/>
              </a:rPr>
              <a:t>վերաբերյալ</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2161779212"/>
              </p:ext>
            </p:extLst>
          </p:nvPr>
        </p:nvGraphicFramePr>
        <p:xfrm>
          <a:off x="284791" y="686026"/>
          <a:ext cx="10553700" cy="4480560"/>
        </p:xfrm>
        <a:graphic>
          <a:graphicData uri="http://schemas.openxmlformats.org/drawingml/2006/table">
            <a:tbl>
              <a:tblPr>
                <a:tableStyleId>{5940675A-B579-460E-94D1-54222C63F5DA}</a:tableStyleId>
              </a:tblPr>
              <a:tblGrid>
                <a:gridCol w="4895850">
                  <a:extLst>
                    <a:ext uri="{9D8B030D-6E8A-4147-A177-3AD203B41FA5}">
                      <a16:colId xmlns:a16="http://schemas.microsoft.com/office/drawing/2014/main" val="3101613210"/>
                    </a:ext>
                  </a:extLst>
                </a:gridCol>
                <a:gridCol w="1314450">
                  <a:extLst>
                    <a:ext uri="{9D8B030D-6E8A-4147-A177-3AD203B41FA5}">
                      <a16:colId xmlns:a16="http://schemas.microsoft.com/office/drawing/2014/main" val="1834543996"/>
                    </a:ext>
                  </a:extLst>
                </a:gridCol>
                <a:gridCol w="2209800">
                  <a:extLst>
                    <a:ext uri="{9D8B030D-6E8A-4147-A177-3AD203B41FA5}">
                      <a16:colId xmlns:a16="http://schemas.microsoft.com/office/drawing/2014/main" val="3895130620"/>
                    </a:ext>
                  </a:extLst>
                </a:gridCol>
                <a:gridCol w="2133600">
                  <a:extLst>
                    <a:ext uri="{9D8B030D-6E8A-4147-A177-3AD203B41FA5}">
                      <a16:colId xmlns:a16="http://schemas.microsoft.com/office/drawing/2014/main" val="1739712945"/>
                    </a:ext>
                  </a:extLst>
                </a:gridCol>
              </a:tblGrid>
              <a:tr h="50546">
                <a:tc gridSpan="4">
                  <a:txBody>
                    <a:bodyPr/>
                    <a:lstStyle/>
                    <a:p>
                      <a:pPr marL="0" marR="0" algn="ctr" rtl="0" eaLnBrk="1" latinLnBrk="0" hangingPunct="1">
                        <a:lnSpc>
                          <a:spcPct val="150000"/>
                        </a:lnSpc>
                        <a:spcBef>
                          <a:spcPts val="0"/>
                        </a:spcBef>
                        <a:spcAft>
                          <a:spcPts val="0"/>
                        </a:spcAft>
                      </a:pPr>
                      <a:r>
                        <a:rPr lang="hy-AM" sz="1400" b="1">
                          <a:effectLst/>
                        </a:rPr>
                        <a:t>Ցուցանիշ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1858766"/>
                  </a:ext>
                </a:extLst>
              </a:tr>
              <a:tr h="100965">
                <a:tc gridSpan="4">
                  <a:txBody>
                    <a:bodyPr/>
                    <a:lstStyle/>
                    <a:p>
                      <a:pPr marL="0" marR="0" rtl="0" latinLnBrk="0">
                        <a:lnSpc>
                          <a:spcPct val="150000"/>
                        </a:lnSpc>
                        <a:spcBef>
                          <a:spcPts val="0"/>
                        </a:spcBef>
                        <a:spcAft>
                          <a:spcPts val="1000"/>
                        </a:spcAft>
                      </a:pPr>
                      <a:r>
                        <a:rPr lang="hy-AM" sz="1400" b="1">
                          <a:effectLst/>
                        </a:rPr>
                        <a:t>Աշակերտական խորհրդի կողմից նախաձեռնած քայլերն ուղղված ուսման մեջ կամ այլ հարցերում խնդիրներ ունեցող սովորողներին </a:t>
                      </a:r>
                      <a:r>
                        <a:rPr lang="hy-AM" sz="1400" b="1" err="1">
                          <a:effectLst/>
                        </a:rPr>
                        <a:t>աջակցելուն</a:t>
                      </a:r>
                      <a:r>
                        <a:rPr lang="hy-AM" sz="1400" b="1">
                          <a:effectLst/>
                        </a:rPr>
                        <a:t>.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86774681"/>
                  </a:ext>
                </a:extLst>
              </a:tr>
              <a:tr h="353568">
                <a:tc>
                  <a:txBody>
                    <a:bodyPr/>
                    <a:lstStyle/>
                    <a:p>
                      <a:pPr marL="0" marR="0" rtl="0" latinLnBrk="0">
                        <a:lnSpc>
                          <a:spcPct val="150000"/>
                        </a:lnSpc>
                        <a:spcBef>
                          <a:spcPts val="0"/>
                        </a:spcBef>
                        <a:spcAft>
                          <a:spcPts val="0"/>
                        </a:spcAft>
                      </a:pPr>
                      <a:r>
                        <a:rPr lang="hy-AM" sz="1400">
                          <a:effectLst/>
                        </a:rPr>
                        <a:t>Նկարագրել վերջին 3 տարում աշակերտական խորհրդի կողմից նախաձեռնած քայլերն ուղղված ուսման մեջ կամ այլ հարցերում խնդիրներ ունեցող սովորողներին </a:t>
                      </a:r>
                      <a:r>
                        <a:rPr lang="hy-AM" sz="1400" err="1">
                          <a:effectLst/>
                        </a:rPr>
                        <a:t>աջակցելուն</a:t>
                      </a:r>
                      <a:r>
                        <a:rPr lang="hy-AM" sz="1400">
                          <a:effectLst/>
                        </a:rPr>
                        <a:t>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Աջակցություն ստացած սովորողների թիվը և տոկոսը՝ սովորողների ընդհանուր թվի նկատմամբ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2361241228"/>
                  </a:ext>
                </a:extLst>
              </a:tr>
              <a:tr h="353568">
                <a:tc>
                  <a:txBody>
                    <a:bodyPr/>
                    <a:lstStyle/>
                    <a:p>
                      <a:pPr marL="54610" marR="0" indent="-54610" rtl="0" latinLnBrk="0">
                        <a:lnSpc>
                          <a:spcPct val="150000"/>
                        </a:lnSpc>
                        <a:spcBef>
                          <a:spcPts val="0"/>
                        </a:spcBef>
                        <a:spcAft>
                          <a:spcPts val="0"/>
                        </a:spcAft>
                      </a:pPr>
                      <a:r>
                        <a:rPr lang="hy-AM" sz="1400">
                          <a:effectLst/>
                        </a:rPr>
                        <a:t>1.Առողջ մրցակցություն ապահովելու, </a:t>
                      </a:r>
                      <a:r>
                        <a:rPr lang="hy-AM" sz="1400" err="1">
                          <a:effectLst/>
                        </a:rPr>
                        <a:t>առաջադիմութունը</a:t>
                      </a:r>
                      <a:r>
                        <a:rPr lang="hy-AM" sz="1400">
                          <a:effectLst/>
                        </a:rPr>
                        <a:t> խթանելու նպատակով մրցույթների, </a:t>
                      </a:r>
                      <a:r>
                        <a:rPr lang="hy-AM" sz="1400" err="1">
                          <a:effectLst/>
                        </a:rPr>
                        <a:t>խրախուսումների</a:t>
                      </a:r>
                      <a:r>
                        <a:rPr lang="hy-AM" sz="1400">
                          <a:effectLst/>
                        </a:rPr>
                        <a:t> իրականացման </a:t>
                      </a:r>
                      <a:r>
                        <a:rPr lang="hy-AM" sz="1400" err="1">
                          <a:effectLst/>
                        </a:rPr>
                        <a:t>մոտիվացիայի</a:t>
                      </a:r>
                      <a:r>
                        <a:rPr lang="hy-AM" sz="1400">
                          <a:effectLst/>
                        </a:rPr>
                        <a:t> ստեղծում: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պարբերաբար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smtClean="0">
                          <a:effectLst/>
                        </a:rPr>
                        <a:t>70</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400" err="1">
                          <a:effectLst/>
                        </a:rPr>
                        <a:t>Մեթոդն</a:t>
                      </a:r>
                      <a:r>
                        <a:rPr lang="hy-AM" sz="1400">
                          <a:effectLst/>
                        </a:rPr>
                        <a:t> արդյունավետ է ու նպատակաուղղված: </a:t>
                      </a:r>
                      <a:endParaRPr lang="hy-AM">
                        <a:effectLst/>
                      </a:endParaRPr>
                    </a:p>
                  </a:txBody>
                  <a:tcPr marL="0" marR="0" marT="0" marB="0" anchor="ctr"/>
                </a:tc>
                <a:extLst>
                  <a:ext uri="{0D108BD9-81ED-4DB2-BD59-A6C34878D82A}">
                    <a16:rowId xmlns:a16="http://schemas.microsoft.com/office/drawing/2014/main" val="566647868"/>
                  </a:ext>
                </a:extLst>
              </a:tr>
              <a:tr h="303022">
                <a:tc>
                  <a:txBody>
                    <a:bodyPr/>
                    <a:lstStyle/>
                    <a:p>
                      <a:pPr marL="54610" marR="0" indent="-54610" rtl="0" latinLnBrk="0">
                        <a:lnSpc>
                          <a:spcPct val="150000"/>
                        </a:lnSpc>
                        <a:spcBef>
                          <a:spcPts val="0"/>
                        </a:spcBef>
                        <a:spcAft>
                          <a:spcPts val="0"/>
                        </a:spcAft>
                      </a:pPr>
                      <a:r>
                        <a:rPr lang="hy-AM" sz="1400">
                          <a:effectLst/>
                        </a:rPr>
                        <a:t>2.Բարդույթներ ունեցող աշակերտների ինտեգրում միջոցառումներին և այլ նախաձեռնություններին սոցիալական և կրթության հանձնախմբերի կողմից: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պարբերաբար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400" dirty="0">
                          <a:effectLst/>
                        </a:rPr>
                        <a:t>                    </a:t>
                      </a:r>
                      <a:r>
                        <a:rPr lang="hy-AM" sz="1400" dirty="0" smtClean="0">
                          <a:effectLst/>
                        </a:rPr>
                        <a:t>50</a:t>
                      </a:r>
                      <a:r>
                        <a:rPr lang="en-US" sz="1400" dirty="0" smtClean="0">
                          <a:effectLst/>
                        </a:rPr>
                        <a:t> </a:t>
                      </a:r>
                      <a:r>
                        <a:rPr lang="en-US" sz="14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Մեթոդն արդյունավետ է ու նպատակաուղղված: </a:t>
                      </a:r>
                      <a:endParaRPr lang="hy-AM" dirty="0">
                        <a:effectLst/>
                      </a:endParaRPr>
                    </a:p>
                  </a:txBody>
                  <a:tcPr marL="0" marR="0" marT="0" marB="0" anchor="ctr"/>
                </a:tc>
                <a:extLst>
                  <a:ext uri="{0D108BD9-81ED-4DB2-BD59-A6C34878D82A}">
                    <a16:rowId xmlns:a16="http://schemas.microsoft.com/office/drawing/2014/main" val="3597224986"/>
                  </a:ext>
                </a:extLst>
              </a:tr>
            </a:tbl>
          </a:graphicData>
        </a:graphic>
      </p:graphicFrame>
    </p:spTree>
    <p:extLst>
      <p:ext uri="{BB962C8B-B14F-4D97-AF65-F5344CB8AC3E}">
        <p14:creationId xmlns:p14="http://schemas.microsoft.com/office/powerpoint/2010/main" val="34395330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extLst>
              <p:ext uri="{D42A27DB-BD31-4B8C-83A1-F6EECF244321}">
                <p14:modId xmlns:p14="http://schemas.microsoft.com/office/powerpoint/2010/main" val="327967865"/>
              </p:ext>
            </p:extLst>
          </p:nvPr>
        </p:nvGraphicFramePr>
        <p:xfrm>
          <a:off x="284791" y="673910"/>
          <a:ext cx="10896600" cy="5303520"/>
        </p:xfrm>
        <a:graphic>
          <a:graphicData uri="http://schemas.openxmlformats.org/drawingml/2006/table">
            <a:tbl>
              <a:tblPr>
                <a:tableStyleId>{5940675A-B579-460E-94D1-54222C63F5DA}</a:tableStyleId>
              </a:tblPr>
              <a:tblGrid>
                <a:gridCol w="4349123">
                  <a:extLst>
                    <a:ext uri="{9D8B030D-6E8A-4147-A177-3AD203B41FA5}">
                      <a16:colId xmlns:a16="http://schemas.microsoft.com/office/drawing/2014/main" val="2967872304"/>
                    </a:ext>
                  </a:extLst>
                </a:gridCol>
                <a:gridCol w="1053179">
                  <a:extLst>
                    <a:ext uri="{9D8B030D-6E8A-4147-A177-3AD203B41FA5}">
                      <a16:colId xmlns:a16="http://schemas.microsoft.com/office/drawing/2014/main" val="793127036"/>
                    </a:ext>
                  </a:extLst>
                </a:gridCol>
                <a:gridCol w="2131737">
                  <a:extLst>
                    <a:ext uri="{9D8B030D-6E8A-4147-A177-3AD203B41FA5}">
                      <a16:colId xmlns:a16="http://schemas.microsoft.com/office/drawing/2014/main" val="3754178155"/>
                    </a:ext>
                  </a:extLst>
                </a:gridCol>
                <a:gridCol w="3362561">
                  <a:extLst>
                    <a:ext uri="{9D8B030D-6E8A-4147-A177-3AD203B41FA5}">
                      <a16:colId xmlns:a16="http://schemas.microsoft.com/office/drawing/2014/main" val="3946997915"/>
                    </a:ext>
                  </a:extLst>
                </a:gridCol>
              </a:tblGrid>
              <a:tr h="54356">
                <a:tc gridSpan="4">
                  <a:txBody>
                    <a:bodyPr/>
                    <a:lstStyle/>
                    <a:p>
                      <a:pPr algn="ctr"/>
                      <a:r>
                        <a:rPr lang="hy-AM" sz="1200" b="1">
                          <a:effectLst/>
                        </a:rPr>
                        <a:t>Ցուցանիշ </a:t>
                      </a:r>
                    </a:p>
                    <a:p>
                      <a:pPr algn="ctr"/>
                      <a:endParaRPr lang="hy-AM" sz="1200"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72449601"/>
                  </a:ext>
                </a:extLst>
              </a:tr>
              <a:tr h="108585">
                <a:tc gridSpan="4">
                  <a:txBody>
                    <a:bodyPr/>
                    <a:lstStyle/>
                    <a:p>
                      <a:pPr marL="0" marR="0" rtl="0" latinLnBrk="0">
                        <a:spcBef>
                          <a:spcPts val="0"/>
                        </a:spcBef>
                        <a:spcAft>
                          <a:spcPts val="0"/>
                        </a:spcAft>
                      </a:pPr>
                      <a:r>
                        <a:rPr lang="hy-AM" sz="1200" b="1">
                          <a:effectLst/>
                        </a:rPr>
                        <a:t>Աշակերտական խորհրդի ձեռնարկած միջոցները` սովորողների </a:t>
                      </a:r>
                      <a:r>
                        <a:rPr lang="hy-AM" sz="1200" b="1" err="1">
                          <a:effectLst/>
                        </a:rPr>
                        <a:t>միջև</a:t>
                      </a:r>
                      <a:r>
                        <a:rPr lang="hy-AM" sz="1200" b="1">
                          <a:effectLst/>
                        </a:rPr>
                        <a:t> ծագած </a:t>
                      </a:r>
                      <a:r>
                        <a:rPr lang="hy-AM" sz="1200" b="1" err="1">
                          <a:effectLst/>
                        </a:rPr>
                        <a:t>վեճերին</a:t>
                      </a:r>
                      <a:r>
                        <a:rPr lang="hy-AM" sz="1200" b="1">
                          <a:effectLst/>
                        </a:rPr>
                        <a:t> և խնդիրներին լուծում տալու նպատակով </a:t>
                      </a:r>
                    </a:p>
                    <a:p>
                      <a:pPr marL="0" marR="0" rtl="0" latinLnBrk="0">
                        <a:spcBef>
                          <a:spcPts val="0"/>
                        </a:spcBef>
                        <a:spcAft>
                          <a:spcPts val="0"/>
                        </a:spcAft>
                      </a:pPr>
                      <a:endParaRPr lang="hy-AM" sz="1200"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67550943"/>
                  </a:ext>
                </a:extLst>
              </a:tr>
              <a:tr h="380111">
                <a:tc>
                  <a:txBody>
                    <a:bodyPr/>
                    <a:lstStyle/>
                    <a:p>
                      <a:pPr marL="0" marR="0" rtl="0" latinLnBrk="0">
                        <a:spcBef>
                          <a:spcPts val="0"/>
                        </a:spcBef>
                        <a:spcAft>
                          <a:spcPts val="0"/>
                        </a:spcAft>
                      </a:pPr>
                      <a:r>
                        <a:rPr lang="hy-AM" sz="1200">
                          <a:effectLst/>
                        </a:rPr>
                        <a:t>Նկարագրել վերջին 3 տարում աշակերտական խորհրդի կողմից ձեռնարկած միջոցները՝ սովորողների </a:t>
                      </a:r>
                      <a:r>
                        <a:rPr lang="hy-AM" sz="1200" err="1">
                          <a:effectLst/>
                        </a:rPr>
                        <a:t>միջև</a:t>
                      </a:r>
                      <a:r>
                        <a:rPr lang="hy-AM" sz="1200">
                          <a:effectLst/>
                        </a:rPr>
                        <a:t> ծագած </a:t>
                      </a:r>
                      <a:r>
                        <a:rPr lang="hy-AM" sz="1200" err="1">
                          <a:effectLst/>
                        </a:rPr>
                        <a:t>վեճերին</a:t>
                      </a:r>
                      <a:r>
                        <a:rPr lang="hy-AM" sz="1200">
                          <a:effectLst/>
                        </a:rPr>
                        <a:t> և խնդիրներին լուծում տալու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Աջակցություն ստացած սովորողների թիվը և տոկոսը՝ սովորողների ընդհանուր թվի նկատմամբ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3821319248"/>
                  </a:ext>
                </a:extLst>
              </a:tr>
              <a:tr h="1140206">
                <a:tc>
                  <a:txBody>
                    <a:bodyPr/>
                    <a:lstStyle/>
                    <a:p>
                      <a:pPr marL="0" marR="0" rtl="0" latinLnBrk="0">
                        <a:spcBef>
                          <a:spcPts val="0"/>
                        </a:spcBef>
                        <a:spcAft>
                          <a:spcPts val="1000"/>
                        </a:spcAft>
                      </a:pPr>
                      <a:r>
                        <a:rPr lang="hy-AM" sz="1200">
                          <a:effectLst/>
                        </a:rPr>
                        <a:t>1. Հրավիրել ԱԽ նիստեր և անցկացնել քննարկումներ առկա խնդիրները լուծելու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hy-AM" sz="1200" dirty="0" smtClean="0">
                          <a:effectLst/>
                        </a:rPr>
                        <a:t>40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200">
                          <a:effectLst/>
                        </a:rPr>
                        <a:t>Ժամանակին բացահայտել աշակերտների մոտ առկա խաթարված </a:t>
                      </a:r>
                      <a:r>
                        <a:rPr lang="hy-AM" sz="1200" err="1">
                          <a:effectLst/>
                        </a:rPr>
                        <a:t>միջանձնային</a:t>
                      </a:r>
                      <a:r>
                        <a:rPr lang="hy-AM" sz="1200">
                          <a:effectLst/>
                        </a:rPr>
                        <a:t> հարաբերությունները: </a:t>
                      </a:r>
                      <a:endParaRPr lang="hy-AM">
                        <a:effectLst/>
                      </a:endParaRPr>
                    </a:p>
                    <a:p>
                      <a:pPr marL="0" marR="0" rtl="0" latinLnBrk="0">
                        <a:spcBef>
                          <a:spcPts val="0"/>
                        </a:spcBef>
                        <a:spcAft>
                          <a:spcPts val="0"/>
                        </a:spcAft>
                      </a:pPr>
                      <a:r>
                        <a:rPr lang="hy-AM" sz="1200">
                          <a:effectLst/>
                        </a:rPr>
                        <a:t>Պարզել սովորողների </a:t>
                      </a:r>
                      <a:r>
                        <a:rPr lang="hy-AM" sz="1200" err="1">
                          <a:effectLst/>
                        </a:rPr>
                        <a:t>միջև</a:t>
                      </a:r>
                      <a:r>
                        <a:rPr lang="hy-AM" sz="1200">
                          <a:effectLst/>
                        </a:rPr>
                        <a:t> ծագած վեճերի շարժառիթներն ու դրդապատճառները՝ հետագայում նմանատիպ դեպքերը կանխարգելելու  նպատակով: </a:t>
                      </a:r>
                      <a:endParaRPr lang="hy-AM">
                        <a:effectLst/>
                      </a:endParaRPr>
                    </a:p>
                  </a:txBody>
                  <a:tcPr marL="0" marR="0" marT="0" marB="0" anchor="ctr"/>
                </a:tc>
                <a:extLst>
                  <a:ext uri="{0D108BD9-81ED-4DB2-BD59-A6C34878D82A}">
                    <a16:rowId xmlns:a16="http://schemas.microsoft.com/office/drawing/2014/main" val="3382092000"/>
                  </a:ext>
                </a:extLst>
              </a:tr>
              <a:tr h="705866">
                <a:tc>
                  <a:txBody>
                    <a:bodyPr/>
                    <a:lstStyle/>
                    <a:p>
                      <a:pPr marL="0" marR="0" rtl="0" latinLnBrk="0">
                        <a:spcBef>
                          <a:spcPts val="0"/>
                        </a:spcBef>
                        <a:spcAft>
                          <a:spcPts val="1000"/>
                        </a:spcAft>
                      </a:pPr>
                      <a:r>
                        <a:rPr lang="hy-AM" sz="1200">
                          <a:effectLst/>
                        </a:rPr>
                        <a:t>2.Առանձնազրույցներ խնդիրներ ունեցող սովորողների հետ՝ ներգրավելով նաև խնդիր ունեցող սովորողների կողմից </a:t>
                      </a:r>
                      <a:r>
                        <a:rPr lang="hy-AM" sz="1200" err="1">
                          <a:effectLst/>
                        </a:rPr>
                        <a:t>հեղինկաություն</a:t>
                      </a:r>
                      <a:r>
                        <a:rPr lang="hy-AM" sz="1200">
                          <a:effectLst/>
                        </a:rPr>
                        <a:t> ունեցող երիտասարդ ուսուցիչների և հաստատությունում բարի համբավ ունեցող </a:t>
                      </a:r>
                      <a:r>
                        <a:rPr lang="hy-AM" sz="1200" err="1">
                          <a:effectLst/>
                        </a:rPr>
                        <a:t>սովորողներ</a:t>
                      </a:r>
                      <a:r>
                        <a:rPr lang="hy-AM" sz="1200">
                          <a:effectLst/>
                        </a:rPr>
                        <a:t> </a:t>
                      </a:r>
                      <a:r>
                        <a:rPr lang="hy-AM" sz="1200" err="1">
                          <a:effectLst/>
                        </a:rPr>
                        <a:t>ևս</a:t>
                      </a:r>
                      <a:r>
                        <a:rPr lang="hy-AM" sz="1200">
                          <a:effectLst/>
                        </a:rPr>
                        <a:t>՝ հաշվի առնելով վերջիններիս քաղաքացիական գիտակցությունը, ընկերասիրությունը, աջակցելու պատրաստակամությունը: </a:t>
                      </a:r>
                      <a:endParaRPr lang="hy-AM">
                        <a:effectLst/>
                      </a:endParaRPr>
                    </a:p>
                  </a:txBody>
                  <a:tcPr marL="0" marR="0" marT="0" marB="0" anchor="ctr"/>
                </a:tc>
                <a:tc>
                  <a:txBody>
                    <a:bodyPr/>
                    <a:lstStyle/>
                    <a:p>
                      <a:pPr marL="0" marR="0" indent="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hy-AM" sz="1200" dirty="0" smtClean="0">
                          <a:effectLst/>
                        </a:rPr>
                        <a:t>60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200" err="1">
                          <a:effectLst/>
                        </a:rPr>
                        <a:t>Նպատակնել</a:t>
                      </a:r>
                      <a:r>
                        <a:rPr lang="hy-AM" sz="1200">
                          <a:effectLst/>
                        </a:rPr>
                        <a:t> սովորեցնել </a:t>
                      </a:r>
                      <a:r>
                        <a:rPr lang="hy-AM" sz="1200" err="1">
                          <a:effectLst/>
                        </a:rPr>
                        <a:t>հանդութժողականություն</a:t>
                      </a:r>
                      <a:r>
                        <a:rPr lang="hy-AM" sz="1200">
                          <a:effectLst/>
                        </a:rPr>
                        <a:t>, կանխարգելել խնդիրների հետագա զարգացումը, հասնել փոխըմբռնման: </a:t>
                      </a:r>
                      <a:endParaRPr lang="hy-AM">
                        <a:effectLst/>
                      </a:endParaRPr>
                    </a:p>
                  </a:txBody>
                  <a:tcPr marL="0" marR="0" marT="0" marB="0" anchor="ctr"/>
                </a:tc>
                <a:extLst>
                  <a:ext uri="{0D108BD9-81ED-4DB2-BD59-A6C34878D82A}">
                    <a16:rowId xmlns:a16="http://schemas.microsoft.com/office/drawing/2014/main" val="565456933"/>
                  </a:ext>
                </a:extLst>
              </a:tr>
              <a:tr h="217170">
                <a:tc>
                  <a:txBody>
                    <a:bodyPr/>
                    <a:lstStyle/>
                    <a:p>
                      <a:pPr marL="0" marR="0" rtl="0" latinLnBrk="0">
                        <a:spcBef>
                          <a:spcPts val="0"/>
                        </a:spcBef>
                        <a:spcAft>
                          <a:spcPts val="1000"/>
                        </a:spcAft>
                      </a:pPr>
                      <a:r>
                        <a:rPr lang="hy-AM" sz="1200">
                          <a:effectLst/>
                        </a:rPr>
                        <a:t>3.Աշակերտների իրավունքների ու պարտականությունների պաշտպանության հանձնախմբի անցկացրած քննարկումներ </a:t>
                      </a:r>
                      <a:endParaRPr lang="hy-AM">
                        <a:effectLst/>
                      </a:endParaRPr>
                    </a:p>
                  </a:txBody>
                  <a:tcPr marL="0" marR="0" marT="0" marB="0" anchor="ctr"/>
                </a:tc>
                <a:tc>
                  <a:txBody>
                    <a:bodyPr/>
                    <a:lstStyle/>
                    <a:p>
                      <a:pPr marL="0" marR="0" indent="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en-US" sz="1200">
                          <a:effectLst/>
                        </a:rPr>
                        <a:t>60% </a:t>
                      </a:r>
                      <a:endParaRPr lang="en-US">
                        <a:effectLst/>
                      </a:endParaRPr>
                    </a:p>
                  </a:txBody>
                  <a:tcPr marL="0" marR="0" marT="0" marB="0" anchor="ctr"/>
                </a:tc>
                <a:tc>
                  <a:txBody>
                    <a:bodyPr/>
                    <a:lstStyle/>
                    <a:p>
                      <a:pPr marL="0" marR="0" rtl="0" latinLnBrk="0">
                        <a:spcBef>
                          <a:spcPts val="0"/>
                        </a:spcBef>
                        <a:spcAft>
                          <a:spcPts val="0"/>
                        </a:spcAft>
                      </a:pPr>
                      <a:r>
                        <a:rPr lang="hy-AM" sz="1200">
                          <a:effectLst/>
                        </a:rPr>
                        <a:t>Սովորողների իրազեկման նպատակով: </a:t>
                      </a:r>
                      <a:endParaRPr lang="hy-AM">
                        <a:effectLst/>
                      </a:endParaRPr>
                    </a:p>
                  </a:txBody>
                  <a:tcPr marL="0" marR="0" marT="0" marB="0" anchor="ctr"/>
                </a:tc>
                <a:extLst>
                  <a:ext uri="{0D108BD9-81ED-4DB2-BD59-A6C34878D82A}">
                    <a16:rowId xmlns:a16="http://schemas.microsoft.com/office/drawing/2014/main" val="577399412"/>
                  </a:ext>
                </a:extLst>
              </a:tr>
              <a:tr h="217170">
                <a:tc>
                  <a:txBody>
                    <a:bodyPr/>
                    <a:lstStyle/>
                    <a:p>
                      <a:pPr marL="0" marR="0" rtl="0" latinLnBrk="0">
                        <a:spcBef>
                          <a:spcPts val="0"/>
                        </a:spcBef>
                        <a:spcAft>
                          <a:spcPts val="1000"/>
                        </a:spcAft>
                      </a:pPr>
                      <a:r>
                        <a:rPr lang="hy-AM" sz="1200">
                          <a:effectLst/>
                        </a:rPr>
                        <a:t>4. Դպրոցական տեսուչին կից հերթապահ հանձնախմբերի ստեղծում՝ հաստատության ներքին կարգապահական կանոններին չենթարկվող սովորողների հետ  դաստիարակչական աշխատանքներ տանելու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hy-AM" sz="1200" dirty="0" smtClean="0">
                          <a:effectLst/>
                        </a:rPr>
                        <a:t>30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200" dirty="0">
                          <a:effectLst/>
                        </a:rPr>
                        <a:t>Սովորողների մոտ ինքնաղեկավարվելու ունակություններ զարգացնելու նպատակով: </a:t>
                      </a:r>
                      <a:endParaRPr lang="hy-AM" dirty="0">
                        <a:effectLst/>
                      </a:endParaRPr>
                    </a:p>
                  </a:txBody>
                  <a:tcPr marL="0" marR="0" marT="0" marB="0" anchor="ctr"/>
                </a:tc>
                <a:extLst>
                  <a:ext uri="{0D108BD9-81ED-4DB2-BD59-A6C34878D82A}">
                    <a16:rowId xmlns:a16="http://schemas.microsoft.com/office/drawing/2014/main" val="3416825484"/>
                  </a:ext>
                </a:extLst>
              </a:tr>
            </a:tbl>
          </a:graphicData>
        </a:graphic>
      </p:graphicFrame>
    </p:spTree>
    <p:extLst>
      <p:ext uri="{BB962C8B-B14F-4D97-AF65-F5344CB8AC3E}">
        <p14:creationId xmlns:p14="http://schemas.microsoft.com/office/powerpoint/2010/main" val="248102812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651478209"/>
              </p:ext>
            </p:extLst>
          </p:nvPr>
        </p:nvGraphicFramePr>
        <p:xfrm>
          <a:off x="194974" y="180242"/>
          <a:ext cx="10896599" cy="5464181"/>
        </p:xfrm>
        <a:graphic>
          <a:graphicData uri="http://schemas.openxmlformats.org/drawingml/2006/table">
            <a:tbl>
              <a:tblPr>
                <a:tableStyleId>{5940675A-B579-460E-94D1-54222C63F5DA}</a:tableStyleId>
              </a:tblPr>
              <a:tblGrid>
                <a:gridCol w="4690799">
                  <a:extLst>
                    <a:ext uri="{9D8B030D-6E8A-4147-A177-3AD203B41FA5}">
                      <a16:colId xmlns:a16="http://schemas.microsoft.com/office/drawing/2014/main" val="2559408653"/>
                    </a:ext>
                  </a:extLst>
                </a:gridCol>
                <a:gridCol w="1064938">
                  <a:extLst>
                    <a:ext uri="{9D8B030D-6E8A-4147-A177-3AD203B41FA5}">
                      <a16:colId xmlns:a16="http://schemas.microsoft.com/office/drawing/2014/main" val="2434925520"/>
                    </a:ext>
                  </a:extLst>
                </a:gridCol>
                <a:gridCol w="2003098">
                  <a:extLst>
                    <a:ext uri="{9D8B030D-6E8A-4147-A177-3AD203B41FA5}">
                      <a16:colId xmlns:a16="http://schemas.microsoft.com/office/drawing/2014/main" val="3431489842"/>
                    </a:ext>
                  </a:extLst>
                </a:gridCol>
                <a:gridCol w="3137764">
                  <a:extLst>
                    <a:ext uri="{9D8B030D-6E8A-4147-A177-3AD203B41FA5}">
                      <a16:colId xmlns:a16="http://schemas.microsoft.com/office/drawing/2014/main" val="2612228417"/>
                    </a:ext>
                  </a:extLst>
                </a:gridCol>
              </a:tblGrid>
              <a:tr h="162941">
                <a:tc gridSpan="4">
                  <a:txBody>
                    <a:bodyPr/>
                    <a:lstStyle/>
                    <a:p>
                      <a:pPr marL="0" marR="0" rtl="0" latinLnBrk="0">
                        <a:spcBef>
                          <a:spcPts val="0"/>
                        </a:spcBef>
                        <a:spcAft>
                          <a:spcPts val="1000"/>
                        </a:spcAft>
                      </a:pPr>
                      <a:r>
                        <a:rPr lang="hy-AM" sz="1200" b="1">
                          <a:effectLst/>
                        </a:rPr>
                        <a:t>Աշակերտական խորհրդի կողմից նախաձեռնած միջոցառումները.` ներառյալ շաբաթօրյակները, հաստատության և դպրոցամերձ տարածքի մաքրման աշխատանքները, դրանց հաճախականությունը և մասնակից սովորողների տոկոսը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3530090"/>
                  </a:ext>
                </a:extLst>
              </a:tr>
              <a:tr h="325755">
                <a:tc>
                  <a:txBody>
                    <a:bodyPr/>
                    <a:lstStyle/>
                    <a:p>
                      <a:pPr marL="0" marR="0" rtl="0" latinLnBrk="0">
                        <a:spcBef>
                          <a:spcPts val="0"/>
                        </a:spcBef>
                        <a:spcAft>
                          <a:spcPts val="1000"/>
                        </a:spcAft>
                      </a:pPr>
                      <a:r>
                        <a:rPr lang="hy-AM" sz="1200">
                          <a:effectLst/>
                        </a:rPr>
                        <a:t>Նկարագրել վերջին 3 տարում աշակերտական խորհրդի կողմից նախաձեռնած վերոնշյալ միջոցառումները </a:t>
                      </a:r>
                    </a:p>
                  </a:txBody>
                  <a:tcPr marL="0" marR="0" marT="0" marB="0" anchor="ctr"/>
                </a:tc>
                <a:tc>
                  <a:txBody>
                    <a:bodyPr/>
                    <a:lstStyle/>
                    <a:p>
                      <a:pPr marL="0" marR="0" rtl="0" latinLnBrk="0">
                        <a:spcBef>
                          <a:spcPts val="0"/>
                        </a:spcBef>
                        <a:spcAft>
                          <a:spcPts val="0"/>
                        </a:spcAft>
                      </a:pPr>
                      <a:r>
                        <a:rPr lang="hy-AM" sz="1200">
                          <a:effectLst/>
                        </a:rPr>
                        <a:t>Ամսաթիվ </a:t>
                      </a:r>
                    </a:p>
                  </a:txBody>
                  <a:tcPr marL="0" marR="0" marT="0" marB="0" anchor="ctr"/>
                </a:tc>
                <a:tc>
                  <a:txBody>
                    <a:bodyPr/>
                    <a:lstStyle/>
                    <a:p>
                      <a:pPr marL="0" marR="0" rtl="0" latinLnBrk="0">
                        <a:spcBef>
                          <a:spcPts val="0"/>
                        </a:spcBef>
                        <a:spcAft>
                          <a:spcPts val="0"/>
                        </a:spcAft>
                      </a:pPr>
                      <a:r>
                        <a:rPr lang="hy-AM" sz="1200">
                          <a:effectLst/>
                        </a:rPr>
                        <a:t>Մասնակից սովորողների տոկոսը՝ սովորողների ընդհանուր թվի նկատմամբ </a:t>
                      </a:r>
                    </a:p>
                  </a:txBody>
                  <a:tcPr marL="0" marR="0" marT="0" marB="0" anchor="ctr"/>
                </a:tc>
                <a:tc>
                  <a:txBody>
                    <a:bodyPr/>
                    <a:lstStyle/>
                    <a:p>
                      <a:pPr marL="0" marR="0" rtl="0" latinLnBrk="0">
                        <a:spcBef>
                          <a:spcPts val="0"/>
                        </a:spcBef>
                        <a:spcAft>
                          <a:spcPts val="0"/>
                        </a:spcAft>
                      </a:pPr>
                      <a:r>
                        <a:rPr lang="hy-AM" sz="1200">
                          <a:effectLst/>
                        </a:rPr>
                        <a:t>Մեկնաբանություն </a:t>
                      </a:r>
                    </a:p>
                  </a:txBody>
                  <a:tcPr marL="0" marR="0" marT="0" marB="0" anchor="ctr"/>
                </a:tc>
                <a:extLst>
                  <a:ext uri="{0D108BD9-81ED-4DB2-BD59-A6C34878D82A}">
                    <a16:rowId xmlns:a16="http://schemas.microsoft.com/office/drawing/2014/main" val="996700513"/>
                  </a:ext>
                </a:extLst>
              </a:tr>
              <a:tr h="162941">
                <a:tc>
                  <a:txBody>
                    <a:bodyPr/>
                    <a:lstStyle/>
                    <a:p>
                      <a:pPr marL="0" marR="0" rtl="0" latinLnBrk="0">
                        <a:spcBef>
                          <a:spcPts val="0"/>
                        </a:spcBef>
                        <a:spcAft>
                          <a:spcPts val="1000"/>
                        </a:spcAft>
                      </a:pPr>
                      <a:r>
                        <a:rPr lang="hy-AM" sz="1200" dirty="0">
                          <a:effectLst/>
                        </a:rPr>
                        <a:t>1. Ճանաչողական այցեր՝ ՀՊՄՀ, ՀՊՏՀ, Կենտրոնական բանկ , </a:t>
                      </a:r>
                      <a:r>
                        <a:rPr lang="hy-AM" sz="1200" dirty="0" smtClean="0">
                          <a:effectLst/>
                        </a:rPr>
                        <a:t>ԵՊՀ,ԵրՊԼՀ,</a:t>
                      </a:r>
                      <a:r>
                        <a:rPr lang="hy-AM" sz="1200" baseline="0" dirty="0" smtClean="0">
                          <a:effectLst/>
                        </a:rPr>
                        <a:t> «Փաստաբանների պալատ»</a:t>
                      </a:r>
                      <a:r>
                        <a:rPr lang="hy-AM" sz="1200" dirty="0">
                          <a:effectLst/>
                        </a:rPr>
                        <a:t> </a:t>
                      </a:r>
                    </a:p>
                  </a:txBody>
                  <a:tcPr marL="0" marR="0" marT="0" marB="0" anchor="ctr"/>
                </a:tc>
                <a:tc>
                  <a:txBody>
                    <a:bodyPr/>
                    <a:lstStyle/>
                    <a:p>
                      <a:pPr marL="0" marR="0" rtl="0" latinLnBrk="0">
                        <a:spcBef>
                          <a:spcPts val="0"/>
                        </a:spcBef>
                        <a:spcAft>
                          <a:spcPts val="0"/>
                        </a:spcAft>
                      </a:pPr>
                      <a:r>
                        <a:rPr lang="hy-AM" sz="1200">
                          <a:effectLst/>
                        </a:rPr>
                        <a:t>ամենամյա </a:t>
                      </a:r>
                    </a:p>
                  </a:txBody>
                  <a:tcPr marL="0" marR="0" marT="0" marB="0" anchor="ctr"/>
                </a:tc>
                <a:tc>
                  <a:txBody>
                    <a:bodyPr/>
                    <a:lstStyle/>
                    <a:p>
                      <a:pPr marL="0" marR="0" algn="ctr" rtl="0" latinLnBrk="0">
                        <a:spcBef>
                          <a:spcPts val="0"/>
                        </a:spcBef>
                        <a:spcAft>
                          <a:spcPts val="0"/>
                        </a:spcAft>
                      </a:pPr>
                      <a:r>
                        <a:rPr lang="hy-AM" sz="1200" dirty="0" smtClean="0">
                          <a:effectLst/>
                        </a:rPr>
                        <a:t>50</a:t>
                      </a:r>
                      <a:r>
                        <a:rPr lang="en-US" sz="1200" dirty="0" smtClean="0">
                          <a:effectLst/>
                        </a:rPr>
                        <a:t>-</a:t>
                      </a:r>
                      <a:r>
                        <a:rPr lang="hy-AM" sz="1200" dirty="0" smtClean="0">
                          <a:effectLst/>
                        </a:rPr>
                        <a:t>7</a:t>
                      </a:r>
                      <a:r>
                        <a:rPr lang="en-US" sz="1200" dirty="0" smtClean="0">
                          <a:effectLst/>
                        </a:rPr>
                        <a:t>0</a:t>
                      </a:r>
                      <a:r>
                        <a:rPr lang="en-US" sz="1200" dirty="0">
                          <a:effectLst/>
                        </a:rPr>
                        <a:t>% </a:t>
                      </a:r>
                    </a:p>
                  </a:txBody>
                  <a:tcPr marL="0" marR="0" marT="0" marB="0" anchor="ctr"/>
                </a:tc>
                <a:tc>
                  <a:txBody>
                    <a:bodyPr/>
                    <a:lstStyle/>
                    <a:p>
                      <a:pPr marL="0" marR="0" rtl="0" latinLnBrk="0">
                        <a:spcBef>
                          <a:spcPts val="0"/>
                        </a:spcBef>
                        <a:spcAft>
                          <a:spcPts val="0"/>
                        </a:spcAft>
                      </a:pPr>
                      <a:r>
                        <a:rPr lang="hy-AM" sz="1200">
                          <a:effectLst/>
                        </a:rPr>
                        <a:t>Մասնագիտական կողմնորոշման նպատակով </a:t>
                      </a:r>
                    </a:p>
                  </a:txBody>
                  <a:tcPr marL="0" marR="0" marT="0" marB="0" anchor="ctr"/>
                </a:tc>
                <a:extLst>
                  <a:ext uri="{0D108BD9-81ED-4DB2-BD59-A6C34878D82A}">
                    <a16:rowId xmlns:a16="http://schemas.microsoft.com/office/drawing/2014/main" val="1642571870"/>
                  </a:ext>
                </a:extLst>
              </a:tr>
              <a:tr h="162941">
                <a:tc>
                  <a:txBody>
                    <a:bodyPr/>
                    <a:lstStyle/>
                    <a:p>
                      <a:pPr marL="0" marR="0" rtl="0" latinLnBrk="0">
                        <a:spcBef>
                          <a:spcPts val="0"/>
                        </a:spcBef>
                        <a:spcAft>
                          <a:spcPts val="1000"/>
                        </a:spcAft>
                      </a:pPr>
                      <a:r>
                        <a:rPr lang="hy-AM" sz="1200" dirty="0">
                          <a:effectLst/>
                        </a:rPr>
                        <a:t>2. Համագործակցություն դպրոցում ճանաչողական պրակտիկա անցնող ՀՊՄՀ ուսանողների հետ՝   </a:t>
                      </a:r>
                    </a:p>
                    <a:p>
                      <a:pPr marL="0" marR="0" rtl="0" latinLnBrk="0">
                        <a:spcBef>
                          <a:spcPts val="0"/>
                        </a:spcBef>
                        <a:spcAft>
                          <a:spcPts val="1000"/>
                        </a:spcAft>
                      </a:pPr>
                      <a:r>
                        <a:rPr lang="hy-AM" sz="1200" dirty="0">
                          <a:effectLst/>
                        </a:rPr>
                        <a:t>Հանդիպում ՈՒԽ նախագահի հետ </a:t>
                      </a:r>
                    </a:p>
                    <a:p>
                      <a:pPr marL="0" marR="0" rtl="0" latinLnBrk="0">
                        <a:spcBef>
                          <a:spcPts val="0"/>
                        </a:spcBef>
                        <a:spcAft>
                          <a:spcPts val="1000"/>
                        </a:spcAft>
                      </a:pPr>
                      <a:r>
                        <a:rPr lang="hy-AM" sz="1200" dirty="0">
                          <a:effectLst/>
                        </a:rPr>
                        <a:t>Համատեղ սեմինար՝ &lt;&lt;Մարդու իրավունքները&gt;&gt; թեմայով </a:t>
                      </a:r>
                    </a:p>
                    <a:p>
                      <a:pPr marL="0" marR="0" rtl="0" latinLnBrk="0">
                        <a:spcBef>
                          <a:spcPts val="0"/>
                        </a:spcBef>
                        <a:spcAft>
                          <a:spcPts val="1000"/>
                        </a:spcAft>
                      </a:pPr>
                      <a:r>
                        <a:rPr lang="hy-AM" sz="1200" dirty="0" smtClean="0">
                          <a:effectLst/>
                        </a:rPr>
                        <a:t>Այց</a:t>
                      </a:r>
                      <a:r>
                        <a:rPr lang="hy-AM" sz="1200" dirty="0">
                          <a:effectLst/>
                        </a:rPr>
                        <a:t>  ՀՊՄՀ գրադարան </a:t>
                      </a:r>
                      <a:endParaRPr lang="en-US" sz="1200" dirty="0" smtClean="0">
                        <a:effectLst/>
                      </a:endParaRPr>
                    </a:p>
                    <a:p>
                      <a:pPr marL="0" marR="0" lvl="0" indent="0" algn="l" defTabSz="457200" rtl="0" eaLnBrk="1" fontAlgn="auto" latinLnBrk="0" hangingPunct="1">
                        <a:lnSpc>
                          <a:spcPct val="100000"/>
                        </a:lnSpc>
                        <a:spcBef>
                          <a:spcPts val="0"/>
                        </a:spcBef>
                        <a:spcAft>
                          <a:spcPts val="1000"/>
                        </a:spcAft>
                        <a:buClrTx/>
                        <a:buSzTx/>
                        <a:buFontTx/>
                        <a:buNone/>
                        <a:tabLst/>
                        <a:defRPr/>
                      </a:pPr>
                      <a:r>
                        <a:rPr lang="hy-AM" sz="1200" dirty="0" smtClean="0">
                          <a:effectLst/>
                        </a:rPr>
                        <a:t>Այց  </a:t>
                      </a:r>
                      <a:r>
                        <a:rPr lang="en-US" sz="1200" dirty="0" err="1" smtClean="0">
                          <a:effectLst/>
                        </a:rPr>
                        <a:t>Մարդու</a:t>
                      </a:r>
                      <a:r>
                        <a:rPr lang="en-US" sz="1200" dirty="0" smtClean="0">
                          <a:effectLst/>
                        </a:rPr>
                        <a:t> </a:t>
                      </a:r>
                      <a:r>
                        <a:rPr lang="en-US" sz="1200" dirty="0" err="1" smtClean="0">
                          <a:effectLst/>
                        </a:rPr>
                        <a:t>իրավունքների</a:t>
                      </a:r>
                      <a:r>
                        <a:rPr lang="en-US" sz="1200" dirty="0" smtClean="0">
                          <a:effectLst/>
                        </a:rPr>
                        <a:t> </a:t>
                      </a:r>
                      <a:r>
                        <a:rPr lang="en-US" sz="1200" dirty="0" err="1" smtClean="0">
                          <a:effectLst/>
                        </a:rPr>
                        <a:t>պաշտպանի</a:t>
                      </a:r>
                      <a:r>
                        <a:rPr lang="en-US" sz="1200" dirty="0" smtClean="0">
                          <a:effectLst/>
                        </a:rPr>
                        <a:t> </a:t>
                      </a:r>
                      <a:r>
                        <a:rPr lang="en-US" sz="1200" dirty="0" err="1" smtClean="0">
                          <a:effectLst/>
                        </a:rPr>
                        <a:t>գրասենյակ</a:t>
                      </a:r>
                      <a:r>
                        <a:rPr lang="hy-AM" sz="1200" dirty="0" smtClean="0">
                          <a:effectLst/>
                        </a:rPr>
                        <a:t> </a:t>
                      </a:r>
                    </a:p>
                    <a:p>
                      <a:pPr marL="0" marR="0" rtl="0" latinLnBrk="0">
                        <a:spcBef>
                          <a:spcPts val="0"/>
                        </a:spcBef>
                        <a:spcAft>
                          <a:spcPts val="1000"/>
                        </a:spcAft>
                      </a:pPr>
                      <a:endParaRPr lang="hy-AM" sz="1200" dirty="0">
                        <a:effectLst/>
                      </a:endParaRPr>
                    </a:p>
                  </a:txBody>
                  <a:tcPr marL="0" marR="0" marT="0" marB="0" anchor="ctr"/>
                </a:tc>
                <a:tc>
                  <a:txBody>
                    <a:bodyPr/>
                    <a:lstStyle/>
                    <a:p>
                      <a:pPr marL="0" marR="0" rtl="0" latinLnBrk="0">
                        <a:spcBef>
                          <a:spcPts val="0"/>
                        </a:spcBef>
                        <a:spcAft>
                          <a:spcPts val="0"/>
                        </a:spcAft>
                      </a:pPr>
                      <a:endParaRPr lang="hy-AM" sz="1200" dirty="0">
                        <a:effectLst/>
                      </a:endParaRPr>
                    </a:p>
                    <a:p>
                      <a:pPr marL="0" marR="0" rtl="0" latinLnBrk="0">
                        <a:spcBef>
                          <a:spcPts val="0"/>
                        </a:spcBef>
                        <a:spcAft>
                          <a:spcPts val="0"/>
                        </a:spcAft>
                      </a:pPr>
                      <a:r>
                        <a:rPr lang="en-US" sz="1200" dirty="0">
                          <a:effectLst/>
                        </a:rPr>
                        <a:t>08</a:t>
                      </a:r>
                      <a:r>
                        <a:rPr lang="hy-AM" sz="1200" dirty="0">
                          <a:effectLst/>
                        </a:rPr>
                        <a:t>.02.20</a:t>
                      </a:r>
                      <a:r>
                        <a:rPr lang="en-US" sz="1200" dirty="0" smtClean="0">
                          <a:effectLst/>
                        </a:rPr>
                        <a:t>25</a:t>
                      </a:r>
                      <a:r>
                        <a:rPr lang="hy-AM" sz="1200" dirty="0" smtClean="0">
                          <a:effectLst/>
                        </a:rPr>
                        <a:t>թ</a:t>
                      </a:r>
                      <a:endParaRPr lang="hy-AM" sz="1200" dirty="0">
                        <a:effectLst/>
                      </a:endParaRPr>
                    </a:p>
                    <a:p>
                      <a:pPr marL="0" marR="0" rtl="0" latinLnBrk="0">
                        <a:spcBef>
                          <a:spcPts val="0"/>
                        </a:spcBef>
                        <a:spcAft>
                          <a:spcPts val="0"/>
                        </a:spcAft>
                      </a:pPr>
                      <a:r>
                        <a:rPr lang="hy-AM" sz="1200" dirty="0">
                          <a:effectLst/>
                        </a:rPr>
                        <a:t>12.12.20</a:t>
                      </a:r>
                      <a:r>
                        <a:rPr lang="en-US" sz="1200" dirty="0" smtClean="0">
                          <a:effectLst/>
                        </a:rPr>
                        <a:t>24</a:t>
                      </a:r>
                      <a:r>
                        <a:rPr lang="hy-AM" sz="1200" dirty="0" smtClean="0">
                          <a:effectLst/>
                        </a:rPr>
                        <a:t>թ</a:t>
                      </a:r>
                      <a:endParaRPr lang="hy-AM" sz="1200" dirty="0">
                        <a:effectLst/>
                      </a:endParaRPr>
                    </a:p>
                    <a:p>
                      <a:pPr marL="0" marR="0" rtl="0" latinLnBrk="0">
                        <a:spcBef>
                          <a:spcPts val="0"/>
                        </a:spcBef>
                        <a:spcAft>
                          <a:spcPts val="0"/>
                        </a:spcAft>
                      </a:pPr>
                      <a:r>
                        <a:rPr lang="hy-AM" sz="1200" dirty="0" smtClean="0">
                          <a:effectLst/>
                        </a:rPr>
                        <a:t>28.03.20</a:t>
                      </a:r>
                      <a:r>
                        <a:rPr lang="en-US" sz="1200" dirty="0" smtClean="0">
                          <a:effectLst/>
                        </a:rPr>
                        <a:t>25</a:t>
                      </a:r>
                      <a:r>
                        <a:rPr lang="hy-AM" sz="1200" dirty="0" smtClean="0">
                          <a:effectLst/>
                        </a:rPr>
                        <a:t>թ</a:t>
                      </a:r>
                      <a:r>
                        <a:rPr lang="hy-AM" sz="1200" dirty="0">
                          <a:effectLst/>
                        </a:rPr>
                        <a:t> </a:t>
                      </a:r>
                    </a:p>
                  </a:txBody>
                  <a:tcPr marL="0" marR="0" marT="0" marB="0" anchor="ctr"/>
                </a:tc>
                <a:tc>
                  <a:txBody>
                    <a:bodyPr/>
                    <a:lstStyle/>
                    <a:p>
                      <a:pPr marL="0" marR="0" algn="ctr" rtl="0" latinLnBrk="0">
                        <a:spcBef>
                          <a:spcPts val="0"/>
                        </a:spcBef>
                        <a:spcAft>
                          <a:spcPts val="0"/>
                        </a:spcAft>
                      </a:pPr>
                      <a:r>
                        <a:rPr lang="hy-AM" sz="1200" dirty="0" smtClean="0">
                          <a:effectLst/>
                        </a:rPr>
                        <a:t>50</a:t>
                      </a:r>
                      <a:r>
                        <a:rPr lang="en-US" sz="1200" dirty="0" smtClean="0">
                          <a:effectLst/>
                        </a:rPr>
                        <a:t>%</a:t>
                      </a:r>
                      <a:r>
                        <a:rPr lang="en-US" sz="1200" dirty="0">
                          <a:effectLst/>
                        </a:rPr>
                        <a:t> </a:t>
                      </a:r>
                    </a:p>
                  </a:txBody>
                  <a:tcPr marL="0" marR="0" marT="0" marB="0" anchor="ctr"/>
                </a:tc>
                <a:tc>
                  <a:txBody>
                    <a:bodyPr/>
                    <a:lstStyle/>
                    <a:p>
                      <a:pPr marL="0" marR="0" rtl="0" latinLnBrk="0">
                        <a:spcBef>
                          <a:spcPts val="0"/>
                        </a:spcBef>
                        <a:spcAft>
                          <a:spcPts val="0"/>
                        </a:spcAft>
                      </a:pPr>
                      <a:r>
                        <a:rPr lang="hy-AM" sz="1200">
                          <a:effectLst/>
                        </a:rPr>
                        <a:t>Փորձի փոխանակման, սովորողների իրազեկման նպատակներով: </a:t>
                      </a:r>
                    </a:p>
                  </a:txBody>
                  <a:tcPr marL="0" marR="0" marT="0" marB="0" anchor="ctr"/>
                </a:tc>
                <a:extLst>
                  <a:ext uri="{0D108BD9-81ED-4DB2-BD59-A6C34878D82A}">
                    <a16:rowId xmlns:a16="http://schemas.microsoft.com/office/drawing/2014/main" val="3165205069"/>
                  </a:ext>
                </a:extLst>
              </a:tr>
              <a:tr h="162941">
                <a:tc>
                  <a:txBody>
                    <a:bodyPr/>
                    <a:lstStyle/>
                    <a:p>
                      <a:pPr marL="0" marR="0" rtl="0" latinLnBrk="0">
                        <a:spcBef>
                          <a:spcPts val="0"/>
                        </a:spcBef>
                        <a:spcAft>
                          <a:spcPts val="1000"/>
                        </a:spcAft>
                      </a:pPr>
                      <a:r>
                        <a:rPr lang="hy-AM" sz="1200" dirty="0">
                          <a:effectLst/>
                        </a:rPr>
                        <a:t>1.«Էրեբունի-Երևան» տոնի նախօրյակին ֆլեշմոբ «Մաքուր պահենք մեր քաղաքը» : </a:t>
                      </a:r>
                    </a:p>
                  </a:txBody>
                  <a:tcPr marL="0" marR="0" marT="0" marB="0" anchor="ctr"/>
                </a:tc>
                <a:tc>
                  <a:txBody>
                    <a:bodyPr/>
                    <a:lstStyle/>
                    <a:p>
                      <a:pPr marL="0" marR="0" rtl="0" latinLnBrk="0">
                        <a:spcBef>
                          <a:spcPts val="0"/>
                        </a:spcBef>
                        <a:spcAft>
                          <a:spcPts val="0"/>
                        </a:spcAft>
                      </a:pPr>
                      <a:r>
                        <a:rPr lang="hy-AM" sz="1200" dirty="0">
                          <a:effectLst/>
                        </a:rPr>
                        <a:t>ամենամյա </a:t>
                      </a:r>
                    </a:p>
                  </a:txBody>
                  <a:tcPr marL="0" marR="0" marT="0" marB="0" anchor="ctr"/>
                </a:tc>
                <a:tc>
                  <a:txBody>
                    <a:bodyPr/>
                    <a:lstStyle/>
                    <a:p>
                      <a:pPr marL="0" marR="0" algn="ctr" rtl="0" latinLnBrk="0">
                        <a:spcBef>
                          <a:spcPts val="0"/>
                        </a:spcBef>
                        <a:spcAft>
                          <a:spcPts val="0"/>
                        </a:spcAft>
                      </a:pPr>
                      <a:r>
                        <a:rPr lang="en-US" sz="1200">
                          <a:effectLst/>
                        </a:rPr>
                        <a:t>85-95% </a:t>
                      </a:r>
                    </a:p>
                  </a:txBody>
                  <a:tcPr marL="0" marR="0" marT="0" marB="0" anchor="ctr"/>
                </a:tc>
                <a:tc>
                  <a:txBody>
                    <a:bodyPr/>
                    <a:lstStyle/>
                    <a:p>
                      <a:pPr marL="0" marR="0" rtl="0" latinLnBrk="0">
                        <a:spcBef>
                          <a:spcPts val="0"/>
                        </a:spcBef>
                        <a:spcAft>
                          <a:spcPts val="0"/>
                        </a:spcAft>
                      </a:pPr>
                      <a:r>
                        <a:rPr lang="hy-AM" sz="1200">
                          <a:effectLst/>
                        </a:rPr>
                        <a:t>Համադպրոցական միջոցառում, որն իրականացվել է ծնողների և ուսուցիչների աջակցությամբ: </a:t>
                      </a:r>
                    </a:p>
                  </a:txBody>
                  <a:tcPr marL="0" marR="0" marT="0" marB="0" anchor="ctr"/>
                </a:tc>
                <a:extLst>
                  <a:ext uri="{0D108BD9-81ED-4DB2-BD59-A6C34878D82A}">
                    <a16:rowId xmlns:a16="http://schemas.microsoft.com/office/drawing/2014/main" val="1312744363"/>
                  </a:ext>
                </a:extLst>
              </a:tr>
              <a:tr h="257181">
                <a:tc>
                  <a:txBody>
                    <a:bodyPr/>
                    <a:lstStyle/>
                    <a:p>
                      <a:pPr marL="0" marR="0" rtl="0" latinLnBrk="0">
                        <a:spcBef>
                          <a:spcPts val="0"/>
                        </a:spcBef>
                        <a:spcAft>
                          <a:spcPts val="1000"/>
                        </a:spcAft>
                      </a:pPr>
                      <a:r>
                        <a:rPr lang="hy-AM" sz="1200">
                          <a:effectLst/>
                        </a:rPr>
                        <a:t>3.</a:t>
                      </a:r>
                      <a:r>
                        <a:rPr lang="en-US" sz="1200" err="1">
                          <a:effectLst/>
                        </a:rPr>
                        <a:t>Շաբաթօրյակ</a:t>
                      </a:r>
                      <a:endParaRPr lang="hy-AM" sz="1200">
                        <a:effectLst/>
                      </a:endParaRPr>
                    </a:p>
                  </a:txBody>
                  <a:tcPr marL="0" marR="0" marT="0" marB="0" anchor="ctr"/>
                </a:tc>
                <a:tc>
                  <a:txBody>
                    <a:bodyPr/>
                    <a:lstStyle/>
                    <a:p>
                      <a:pPr marL="0" marR="0" rtl="0" latinLnBrk="0">
                        <a:spcBef>
                          <a:spcPts val="0"/>
                        </a:spcBef>
                        <a:spcAft>
                          <a:spcPts val="0"/>
                        </a:spcAft>
                      </a:pPr>
                      <a:r>
                        <a:rPr lang="en-US" sz="1200" err="1">
                          <a:effectLst/>
                        </a:rPr>
                        <a:t>ամենամյա</a:t>
                      </a:r>
                      <a:endParaRPr lang="hy-AM" sz="1200">
                        <a:effectLst/>
                      </a:endParaRPr>
                    </a:p>
                  </a:txBody>
                  <a:tcPr marL="0" marR="0" marT="0" marB="0" anchor="ctr"/>
                </a:tc>
                <a:tc>
                  <a:txBody>
                    <a:bodyPr/>
                    <a:lstStyle/>
                    <a:p>
                      <a:pPr marL="0" marR="0" algn="ctr" rtl="0" latinLnBrk="0">
                        <a:spcBef>
                          <a:spcPts val="0"/>
                        </a:spcBef>
                        <a:spcAft>
                          <a:spcPts val="0"/>
                        </a:spcAft>
                      </a:pPr>
                      <a:r>
                        <a:rPr lang="hy-AM" sz="1200" dirty="0" smtClean="0">
                          <a:effectLst/>
                        </a:rPr>
                        <a:t>80</a:t>
                      </a:r>
                      <a:r>
                        <a:rPr lang="en-US" sz="1200" dirty="0" smtClean="0">
                          <a:effectLst/>
                        </a:rPr>
                        <a:t>%</a:t>
                      </a:r>
                      <a:r>
                        <a:rPr lang="en-US" sz="1200" dirty="0">
                          <a:effectLst/>
                        </a:rPr>
                        <a:t> </a:t>
                      </a:r>
                    </a:p>
                  </a:txBody>
                  <a:tcPr marL="0" marR="0" marT="0" marB="0" anchor="ctr"/>
                </a:tc>
                <a:tc>
                  <a:txBody>
                    <a:bodyPr/>
                    <a:lstStyle/>
                    <a:p>
                      <a:pPr marL="0" marR="0" rtl="0" latinLnBrk="0">
                        <a:spcBef>
                          <a:spcPts val="0"/>
                        </a:spcBef>
                        <a:spcAft>
                          <a:spcPts val="0"/>
                        </a:spcAft>
                      </a:pPr>
                      <a:r>
                        <a:rPr lang="hy-AM" sz="1200">
                          <a:effectLst/>
                        </a:rPr>
                        <a:t>Համայնքի հետ միասին: Տնկվել է 50 տնկի: </a:t>
                      </a:r>
                    </a:p>
                  </a:txBody>
                  <a:tcPr marL="0" marR="0" marT="0" marB="0" anchor="ctr"/>
                </a:tc>
                <a:extLst>
                  <a:ext uri="{0D108BD9-81ED-4DB2-BD59-A6C34878D82A}">
                    <a16:rowId xmlns:a16="http://schemas.microsoft.com/office/drawing/2014/main" val="2661483673"/>
                  </a:ext>
                </a:extLst>
              </a:tr>
              <a:tr h="162941">
                <a:tc>
                  <a:txBody>
                    <a:bodyPr/>
                    <a:lstStyle/>
                    <a:p>
                      <a:pPr marL="0" marR="0" rtl="0" latinLnBrk="0">
                        <a:spcBef>
                          <a:spcPts val="0"/>
                        </a:spcBef>
                        <a:spcAft>
                          <a:spcPts val="0"/>
                        </a:spcAft>
                      </a:pPr>
                      <a:r>
                        <a:rPr lang="en-US" sz="1200" dirty="0" err="1" smtClean="0">
                          <a:effectLst/>
                        </a:rPr>
                        <a:t>Այց</a:t>
                      </a:r>
                      <a:r>
                        <a:rPr lang="en-US" sz="1200" dirty="0" smtClean="0">
                          <a:effectLst/>
                        </a:rPr>
                        <a:t> </a:t>
                      </a:r>
                      <a:r>
                        <a:rPr lang="en-US" sz="1200" dirty="0" err="1" smtClean="0">
                          <a:effectLst/>
                        </a:rPr>
                        <a:t>Ծիծեռնակաբերդի</a:t>
                      </a:r>
                      <a:r>
                        <a:rPr lang="en-US" sz="1200" dirty="0" smtClean="0">
                          <a:effectLst/>
                        </a:rPr>
                        <a:t> </a:t>
                      </a:r>
                      <a:r>
                        <a:rPr lang="en-US" sz="1200" dirty="0" err="1" smtClean="0">
                          <a:effectLst/>
                        </a:rPr>
                        <a:t>հուշակոթող</a:t>
                      </a:r>
                      <a:r>
                        <a:rPr lang="hy-AM" sz="1200" dirty="0" smtClean="0">
                          <a:effectLst/>
                        </a:rPr>
                        <a:t>:</a:t>
                      </a:r>
                      <a:r>
                        <a:rPr lang="hy-AM" sz="1200" dirty="0">
                          <a:effectLst/>
                        </a:rPr>
                        <a:t> </a:t>
                      </a:r>
                    </a:p>
                  </a:txBody>
                  <a:tcPr marL="0" marR="0" marT="0" marB="0" anchor="ctr"/>
                </a:tc>
                <a:tc>
                  <a:txBody>
                    <a:bodyPr/>
                    <a:lstStyle/>
                    <a:p>
                      <a:pPr marL="0" marR="0" rtl="0" latinLnBrk="0">
                        <a:spcBef>
                          <a:spcPts val="0"/>
                        </a:spcBef>
                        <a:spcAft>
                          <a:spcPts val="0"/>
                        </a:spcAft>
                      </a:pPr>
                      <a:r>
                        <a:rPr lang="en-US" sz="1200" dirty="0" smtClean="0">
                          <a:effectLst/>
                        </a:rPr>
                        <a:t>23.04.25 </a:t>
                      </a:r>
                      <a:r>
                        <a:rPr lang="en-US" sz="1200" dirty="0">
                          <a:effectLst/>
                        </a:rPr>
                        <a:t>թ.</a:t>
                      </a:r>
                    </a:p>
                  </a:txBody>
                  <a:tcPr marL="0" marR="0" marT="0" marB="0" anchor="ctr"/>
                </a:tc>
                <a:tc>
                  <a:txBody>
                    <a:bodyPr/>
                    <a:lstStyle/>
                    <a:p>
                      <a:pPr marL="0" marR="0" algn="ctr" rtl="0" latinLnBrk="0">
                        <a:spcBef>
                          <a:spcPts val="0"/>
                        </a:spcBef>
                        <a:spcAft>
                          <a:spcPts val="0"/>
                        </a:spcAft>
                      </a:pPr>
                      <a:r>
                        <a:rPr lang="en-US" sz="1200">
                          <a:effectLst/>
                        </a:rPr>
                        <a:t>98% </a:t>
                      </a:r>
                    </a:p>
                  </a:txBody>
                  <a:tcPr marL="0" marR="0" marT="0" marB="0" anchor="ctr"/>
                </a:tc>
                <a:tc>
                  <a:txBody>
                    <a:bodyPr/>
                    <a:lstStyle/>
                    <a:p>
                      <a:pPr marL="0" marR="0" indent="0" rtl="0" latinLnBrk="0">
                        <a:spcBef>
                          <a:spcPts val="0"/>
                        </a:spcBef>
                        <a:spcAft>
                          <a:spcPts val="0"/>
                        </a:spcAft>
                      </a:pPr>
                      <a:r>
                        <a:rPr lang="hy-AM" sz="1200" dirty="0">
                          <a:effectLst/>
                        </a:rPr>
                        <a:t>Համադպրոցական միջոցառում, որն իրականացվել է ծնողների և ուսուցիչների աջակցությամբ: </a:t>
                      </a:r>
                    </a:p>
                  </a:txBody>
                  <a:tcPr marL="0" marR="0" marT="0" marB="0" anchor="ctr"/>
                </a:tc>
                <a:extLst>
                  <a:ext uri="{0D108BD9-81ED-4DB2-BD59-A6C34878D82A}">
                    <a16:rowId xmlns:a16="http://schemas.microsoft.com/office/drawing/2014/main" val="402544703"/>
                  </a:ext>
                </a:extLst>
              </a:tr>
              <a:tr h="280924">
                <a:tc gridSpan="4">
                  <a:txBody>
                    <a:bodyPr/>
                    <a:lstStyle/>
                    <a:p>
                      <a:pPr marL="0" marR="0" rtl="0" latinLnBrk="0">
                        <a:spcBef>
                          <a:spcPts val="0"/>
                        </a:spcBef>
                        <a:spcAft>
                          <a:spcPts val="0"/>
                        </a:spcAft>
                      </a:pPr>
                      <a:r>
                        <a:rPr lang="hy-AM" sz="1200" b="1">
                          <a:effectLst/>
                        </a:rPr>
                        <a:t>Նկարագրել աշակերտական խորհրդի գործունեության սկզբունքները և </a:t>
                      </a:r>
                      <a:r>
                        <a:rPr lang="hy-AM" sz="1200" b="1" err="1">
                          <a:effectLst/>
                        </a:rPr>
                        <a:t>ձևերը</a:t>
                      </a:r>
                      <a:r>
                        <a:rPr lang="hy-AM" sz="1200" b="1">
                          <a:effectLst/>
                        </a:rPr>
                        <a:t>՝ համապատասխանությունը ժողովրդավարության և ինքնավարության սկզբունքներին: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46572329"/>
                  </a:ext>
                </a:extLst>
              </a:tr>
              <a:tr h="108585">
                <a:tc gridSpan="4">
                  <a:txBody>
                    <a:bodyPr/>
                    <a:lstStyle/>
                    <a:p>
                      <a:pPr marL="0" marR="0" rtl="0" latinLnBrk="0">
                        <a:spcBef>
                          <a:spcPts val="0"/>
                        </a:spcBef>
                        <a:spcAft>
                          <a:spcPts val="0"/>
                        </a:spcAft>
                      </a:pPr>
                      <a:r>
                        <a:rPr lang="hy-AM" sz="1200" b="1" dirty="0">
                          <a:effectLst/>
                        </a:rPr>
                        <a:t>ԱԽ Հիմնական սկզբունքներն են՝ կամավորությունը, սովորողների իրավահավասարությունը, կառավարման կոլեգալությունը և հրապարակայնությունը: ԱԽ-ն իր գործունեությունն իրականացնում է սովորողների, ծնողների, ուսուցիչների և տնօրինության փոխադարձ վստահության ու աջակցության մթնոլորտում: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55787103"/>
                  </a:ext>
                </a:extLst>
              </a:tr>
            </a:tbl>
          </a:graphicData>
        </a:graphic>
      </p:graphicFrame>
    </p:spTree>
    <p:extLst>
      <p:ext uri="{BB962C8B-B14F-4D97-AF65-F5344CB8AC3E}">
        <p14:creationId xmlns:p14="http://schemas.microsoft.com/office/powerpoint/2010/main" val="287875144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338" y="61913"/>
            <a:ext cx="11507260" cy="369332"/>
          </a:xfrm>
          <a:prstGeom prst="rect">
            <a:avLst/>
          </a:prstGeom>
        </p:spPr>
        <p:txBody>
          <a:bodyPr rtlCol="0">
            <a:spAutoFit/>
          </a:bodyPr>
          <a:lstStyle/>
          <a:p>
            <a:r>
              <a:rPr lang="ru-RU" b="1" i="1">
                <a:latin typeface="Sylfaen"/>
              </a:rPr>
              <a:t>Աղյուսակ</a:t>
            </a:r>
            <a:r>
              <a:rPr lang="en-GB" b="1" i="1">
                <a:latin typeface="Sylfaen"/>
              </a:rPr>
              <a:t> 32 </a:t>
            </a:r>
            <a:r>
              <a:rPr lang="ru-RU" b="1" i="1">
                <a:latin typeface="Sylfaen"/>
              </a:rPr>
              <a:t>Տվյալներ հաստատության ծնողական խորհրդի գործունեության վերաբերյալ</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2346647822"/>
              </p:ext>
            </p:extLst>
          </p:nvPr>
        </p:nvGraphicFramePr>
        <p:xfrm>
          <a:off x="115121" y="419462"/>
          <a:ext cx="11387066" cy="6211225"/>
        </p:xfrm>
        <a:graphic>
          <a:graphicData uri="http://schemas.openxmlformats.org/drawingml/2006/table">
            <a:tbl>
              <a:tblPr>
                <a:tableStyleId>{5940675A-B579-460E-94D1-54222C63F5DA}</a:tableStyleId>
              </a:tblPr>
              <a:tblGrid>
                <a:gridCol w="7671839">
                  <a:extLst>
                    <a:ext uri="{9D8B030D-6E8A-4147-A177-3AD203B41FA5}">
                      <a16:colId xmlns:a16="http://schemas.microsoft.com/office/drawing/2014/main" val="2888103854"/>
                    </a:ext>
                  </a:extLst>
                </a:gridCol>
                <a:gridCol w="1238409">
                  <a:extLst>
                    <a:ext uri="{9D8B030D-6E8A-4147-A177-3AD203B41FA5}">
                      <a16:colId xmlns:a16="http://schemas.microsoft.com/office/drawing/2014/main" val="4182308013"/>
                    </a:ext>
                  </a:extLst>
                </a:gridCol>
                <a:gridCol w="1231412">
                  <a:extLst>
                    <a:ext uri="{9D8B030D-6E8A-4147-A177-3AD203B41FA5}">
                      <a16:colId xmlns:a16="http://schemas.microsoft.com/office/drawing/2014/main" val="2293955454"/>
                    </a:ext>
                  </a:extLst>
                </a:gridCol>
                <a:gridCol w="1245406">
                  <a:extLst>
                    <a:ext uri="{9D8B030D-6E8A-4147-A177-3AD203B41FA5}">
                      <a16:colId xmlns:a16="http://schemas.microsoft.com/office/drawing/2014/main" val="600559525"/>
                    </a:ext>
                  </a:extLst>
                </a:gridCol>
              </a:tblGrid>
              <a:tr h="698376">
                <a:tc>
                  <a:txBody>
                    <a:bodyPr/>
                    <a:lstStyle/>
                    <a:p>
                      <a:pPr marL="0" marR="0" algn="ctr" rtl="0" eaLnBrk="1" latinLnBrk="0" hangingPunct="1">
                        <a:lnSpc>
                          <a:spcPct val="150000"/>
                        </a:lnSpc>
                        <a:spcBef>
                          <a:spcPts val="0"/>
                        </a:spcBef>
                        <a:spcAft>
                          <a:spcPts val="1000"/>
                        </a:spcAft>
                      </a:pPr>
                      <a:r>
                        <a:rPr lang="hy-AM" sz="1200" b="1">
                          <a:effectLst/>
                        </a:rPr>
                        <a:t>Ցուցանիշ </a:t>
                      </a:r>
                    </a:p>
                  </a:txBody>
                  <a:tcPr marL="0" marR="0" marT="0" marB="0" anchor="ctr"/>
                </a:tc>
                <a:tc>
                  <a:txBody>
                    <a:bodyPr/>
                    <a:lstStyle/>
                    <a:p>
                      <a:pPr marL="0" marR="0" rtl="0" latinLnBrk="0">
                        <a:lnSpc>
                          <a:spcPct val="150000"/>
                        </a:lnSpc>
                        <a:spcBef>
                          <a:spcPts val="0"/>
                        </a:spcBef>
                        <a:spcAft>
                          <a:spcPts val="1000"/>
                        </a:spcAft>
                      </a:pPr>
                      <a:r>
                        <a:rPr lang="hy-AM" sz="1200" b="1" dirty="0" smtClean="0">
                          <a:effectLst/>
                        </a:rPr>
                        <a:t>20</a:t>
                      </a:r>
                      <a:r>
                        <a:rPr lang="en-US" sz="1200" b="1" dirty="0" smtClean="0">
                          <a:effectLst/>
                        </a:rPr>
                        <a:t>2</a:t>
                      </a:r>
                      <a:r>
                        <a:rPr lang="hy-AM" sz="1200" b="1" dirty="0" smtClean="0">
                          <a:effectLst/>
                        </a:rPr>
                        <a:t>2-20</a:t>
                      </a:r>
                      <a:r>
                        <a:rPr lang="en-US" sz="1200" b="1" dirty="0" smtClean="0">
                          <a:effectLst/>
                        </a:rPr>
                        <a:t>2</a:t>
                      </a:r>
                      <a:r>
                        <a:rPr lang="hy-AM" sz="1200" b="1" dirty="0" smtClean="0">
                          <a:effectLst/>
                        </a:rPr>
                        <a:t>3</a:t>
                      </a:r>
                    </a:p>
                    <a:p>
                      <a:pPr marL="0" marR="0" lvl="0">
                        <a:lnSpc>
                          <a:spcPct val="150000"/>
                        </a:lnSpc>
                        <a:spcBef>
                          <a:spcPts val="0"/>
                        </a:spcBef>
                        <a:spcAft>
                          <a:spcPts val="1000"/>
                        </a:spcAft>
                        <a:buNone/>
                      </a:pPr>
                      <a:r>
                        <a:rPr lang="hy-AM" sz="1200" b="1" dirty="0" smtClean="0">
                          <a:effectLst/>
                        </a:rPr>
                        <a:t> ուստարի </a:t>
                      </a:r>
                      <a:endParaRPr lang="hy-AM" dirty="0"/>
                    </a:p>
                  </a:txBody>
                  <a:tcPr marL="0" marR="0" marT="0" marB="0" anchor="ctr"/>
                </a:tc>
                <a:tc>
                  <a:txBody>
                    <a:bodyPr/>
                    <a:lstStyle/>
                    <a:p>
                      <a:pPr marL="0" marR="0" rtl="0" latinLnBrk="0">
                        <a:lnSpc>
                          <a:spcPct val="150000"/>
                        </a:lnSpc>
                        <a:spcBef>
                          <a:spcPts val="0"/>
                        </a:spcBef>
                        <a:spcAft>
                          <a:spcPts val="1000"/>
                        </a:spcAft>
                      </a:pPr>
                      <a:r>
                        <a:rPr lang="hy-AM" sz="1200" b="1" dirty="0">
                          <a:effectLst/>
                        </a:rPr>
                        <a:t>20</a:t>
                      </a:r>
                      <a:r>
                        <a:rPr lang="en-US" sz="1200" b="1" dirty="0" smtClean="0">
                          <a:effectLst/>
                        </a:rPr>
                        <a:t>23</a:t>
                      </a:r>
                      <a:r>
                        <a:rPr lang="hy-AM" sz="1200" b="1" dirty="0" smtClean="0">
                          <a:effectLst/>
                        </a:rPr>
                        <a:t>-20</a:t>
                      </a:r>
                      <a:r>
                        <a:rPr lang="en-US" sz="1200" b="1" dirty="0" smtClean="0">
                          <a:effectLst/>
                        </a:rPr>
                        <a:t>24</a:t>
                      </a:r>
                      <a:endParaRPr lang="hy-AM" sz="1200" b="1" dirty="0">
                        <a:effectLst/>
                      </a:endParaRPr>
                    </a:p>
                    <a:p>
                      <a:pPr marL="0" marR="0" lvl="0">
                        <a:lnSpc>
                          <a:spcPct val="150000"/>
                        </a:lnSpc>
                        <a:spcBef>
                          <a:spcPts val="0"/>
                        </a:spcBef>
                        <a:spcAft>
                          <a:spcPts val="1000"/>
                        </a:spcAft>
                        <a:buNone/>
                      </a:pPr>
                      <a:r>
                        <a:rPr lang="hy-AM" sz="1200" b="1" dirty="0">
                          <a:effectLst/>
                        </a:rPr>
                        <a:t> ուստարի </a:t>
                      </a:r>
                    </a:p>
                  </a:txBody>
                  <a:tcPr marL="0" marR="0" marT="0" marB="0" anchor="ctr"/>
                </a:tc>
                <a:tc>
                  <a:txBody>
                    <a:bodyPr/>
                    <a:lstStyle/>
                    <a:p>
                      <a:pPr marL="0" marR="0" rtl="0" latinLnBrk="0">
                        <a:lnSpc>
                          <a:spcPct val="150000"/>
                        </a:lnSpc>
                        <a:spcBef>
                          <a:spcPts val="0"/>
                        </a:spcBef>
                        <a:spcAft>
                          <a:spcPts val="1000"/>
                        </a:spcAft>
                      </a:pPr>
                      <a:r>
                        <a:rPr lang="hy-AM" sz="1200" b="1" dirty="0">
                          <a:effectLst/>
                        </a:rPr>
                        <a:t>20</a:t>
                      </a:r>
                      <a:r>
                        <a:rPr lang="en-US" sz="1200" b="1" dirty="0" smtClean="0">
                          <a:effectLst/>
                        </a:rPr>
                        <a:t>24</a:t>
                      </a:r>
                      <a:r>
                        <a:rPr lang="hy-AM" sz="1200" b="1" dirty="0" smtClean="0">
                          <a:effectLst/>
                        </a:rPr>
                        <a:t>-202</a:t>
                      </a:r>
                      <a:r>
                        <a:rPr lang="en-US" sz="1200" b="1" dirty="0" smtClean="0">
                          <a:effectLst/>
                        </a:rPr>
                        <a:t>5</a:t>
                      </a:r>
                      <a:endParaRPr lang="hy-AM" sz="1200" b="1" dirty="0" smtClean="0">
                        <a:effectLst/>
                      </a:endParaRPr>
                    </a:p>
                    <a:p>
                      <a:pPr marL="0" marR="0" rtl="0" latinLnBrk="0">
                        <a:lnSpc>
                          <a:spcPct val="150000"/>
                        </a:lnSpc>
                        <a:spcBef>
                          <a:spcPts val="0"/>
                        </a:spcBef>
                        <a:spcAft>
                          <a:spcPts val="1000"/>
                        </a:spcAft>
                      </a:pPr>
                      <a:r>
                        <a:rPr lang="hy-AM" sz="1200" b="1" dirty="0" smtClean="0">
                          <a:effectLst/>
                        </a:rPr>
                        <a:t>ուստարի</a:t>
                      </a:r>
                      <a:r>
                        <a:rPr lang="hy-AM" sz="1200" dirty="0">
                          <a:effectLst/>
                        </a:rPr>
                        <a:t> </a:t>
                      </a:r>
                    </a:p>
                  </a:txBody>
                  <a:tcPr marL="0" marR="0" marT="0" marB="0" anchor="ctr"/>
                </a:tc>
                <a:extLst>
                  <a:ext uri="{0D108BD9-81ED-4DB2-BD59-A6C34878D82A}">
                    <a16:rowId xmlns:a16="http://schemas.microsoft.com/office/drawing/2014/main" val="1692092686"/>
                  </a:ext>
                </a:extLst>
              </a:tr>
              <a:tr h="912578">
                <a:tc>
                  <a:txBody>
                    <a:bodyPr/>
                    <a:lstStyle/>
                    <a:p>
                      <a:pPr marL="0" marR="0" rtl="0" latinLnBrk="0">
                        <a:lnSpc>
                          <a:spcPct val="150000"/>
                        </a:lnSpc>
                        <a:spcBef>
                          <a:spcPts val="0"/>
                        </a:spcBef>
                        <a:spcAft>
                          <a:spcPts val="1000"/>
                        </a:spcAft>
                      </a:pPr>
                      <a:r>
                        <a:rPr lang="hy-AM" sz="1200" dirty="0">
                          <a:effectLst/>
                        </a:rPr>
                        <a:t>Սովորողների ուսումնադաստիարակչական գործընթացի վերաբերյալ ծնողական խորհրդի կողմից տնօրինությանը ներկայացրած առաջարկությունների թիվը և ընդունված առաջարկների տոկոսը ներկայացվածի նկատամամբ. </a:t>
                      </a:r>
                    </a:p>
                  </a:txBody>
                  <a:tcPr marL="0" marR="0" marT="0" marB="0" anchor="ctr"/>
                </a:tc>
                <a:tc>
                  <a:txBody>
                    <a:bodyPr/>
                    <a:lstStyle/>
                    <a:p>
                      <a:pPr marL="0" marR="0" lvl="0" algn="ctr" rtl="0">
                        <a:lnSpc>
                          <a:spcPct val="150000"/>
                        </a:lnSpc>
                        <a:spcBef>
                          <a:spcPts val="0"/>
                        </a:spcBef>
                        <a:spcAft>
                          <a:spcPts val="1000"/>
                        </a:spcAft>
                        <a:buNone/>
                      </a:pPr>
                      <a:r>
                        <a:rPr lang="hy-AM" sz="1200" smtClean="0">
                          <a:effectLst/>
                        </a:rPr>
                        <a:t>3</a:t>
                      </a:r>
                      <a:endParaRPr lang="en-US" sz="12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200" dirty="0" smtClean="0">
                          <a:effectLst/>
                        </a:rPr>
                        <a:t>4</a:t>
                      </a:r>
                      <a:endParaRPr lang="en-US" sz="1200" dirty="0">
                        <a:effectLst/>
                      </a:endParaRPr>
                    </a:p>
                  </a:txBody>
                  <a:tcPr marL="0" marR="0" marT="0" marB="0" anchor="ctr"/>
                </a:tc>
                <a:tc>
                  <a:txBody>
                    <a:bodyPr/>
                    <a:lstStyle/>
                    <a:p>
                      <a:pPr algn="ctr"/>
                      <a:r>
                        <a:rPr lang="hy-AM" sz="1200" dirty="0" smtClean="0"/>
                        <a:t>5</a:t>
                      </a:r>
                      <a:endParaRPr lang="en-US" sz="1200" dirty="0"/>
                    </a:p>
                  </a:txBody>
                  <a:tcPr marL="0" marR="0" marT="0" marB="0" anchor="ctr"/>
                </a:tc>
                <a:extLst>
                  <a:ext uri="{0D108BD9-81ED-4DB2-BD59-A6C34878D82A}">
                    <a16:rowId xmlns:a16="http://schemas.microsoft.com/office/drawing/2014/main" val="1253966391"/>
                  </a:ext>
                </a:extLst>
              </a:tr>
              <a:tr h="912578">
                <a:tc>
                  <a:txBody>
                    <a:bodyPr/>
                    <a:lstStyle/>
                    <a:p>
                      <a:pPr marL="0" marR="0" rtl="0" latinLnBrk="0">
                        <a:lnSpc>
                          <a:spcPct val="150000"/>
                        </a:lnSpc>
                        <a:spcBef>
                          <a:spcPts val="0"/>
                        </a:spcBef>
                        <a:spcAft>
                          <a:spcPts val="1000"/>
                        </a:spcAft>
                      </a:pPr>
                      <a:r>
                        <a:rPr lang="hy-AM" sz="1200">
                          <a:effectLst/>
                        </a:rPr>
                        <a:t>Ծնողական խորհրդի կողմից տվյալ </a:t>
                      </a:r>
                      <a:r>
                        <a:rPr lang="hy-AM" sz="1200" err="1">
                          <a:effectLst/>
                        </a:rPr>
                        <a:t>ուստարում</a:t>
                      </a:r>
                      <a:r>
                        <a:rPr lang="hy-AM" sz="1200">
                          <a:effectLst/>
                        </a:rPr>
                        <a:t> կազմակերպված միջոցառումների՝ հանդեսների, հավաքների, երեկույթների, էքսկուրսիաների, ճանաչողական այցերի, ժողովների և այլնի թիվը </a:t>
                      </a:r>
                    </a:p>
                  </a:txBody>
                  <a:tcPr marL="0" marR="0" marT="0" marB="0" anchor="ctr"/>
                </a:tc>
                <a:tc>
                  <a:txBody>
                    <a:bodyPr/>
                    <a:lstStyle/>
                    <a:p>
                      <a:pPr marL="0" marR="0" lvl="0" algn="ctr" rtl="0">
                        <a:lnSpc>
                          <a:spcPct val="150000"/>
                        </a:lnSpc>
                        <a:spcBef>
                          <a:spcPts val="0"/>
                        </a:spcBef>
                        <a:spcAft>
                          <a:spcPts val="1000"/>
                        </a:spcAft>
                        <a:buNone/>
                      </a:pPr>
                      <a:r>
                        <a:rPr lang="hy-AM" sz="1200" smtClean="0">
                          <a:effectLst/>
                        </a:rPr>
                        <a:t>16</a:t>
                      </a:r>
                      <a:r>
                        <a:rPr lang="en-US" sz="1200" smtClean="0">
                          <a:effectLst/>
                        </a:rPr>
                        <a:t>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smtClean="0">
                          <a:effectLst/>
                        </a:rPr>
                        <a:t>1</a:t>
                      </a:r>
                      <a:r>
                        <a:rPr lang="hy-AM" sz="1200" dirty="0" smtClean="0">
                          <a:effectLst/>
                        </a:rPr>
                        <a:t>5</a:t>
                      </a:r>
                      <a:endParaRPr lang="en-US" sz="1200" dirty="0">
                        <a:effectLst/>
                      </a:endParaRPr>
                    </a:p>
                  </a:txBody>
                  <a:tcPr marL="0" marR="0" marT="0" marB="0" anchor="ctr"/>
                </a:tc>
                <a:tc>
                  <a:txBody>
                    <a:bodyPr/>
                    <a:lstStyle/>
                    <a:p>
                      <a:pPr algn="ctr"/>
                      <a:r>
                        <a:rPr lang="hy-AM" sz="1200" dirty="0" smtClean="0"/>
                        <a:t>20</a:t>
                      </a:r>
                      <a:endParaRPr lang="ru-RU" sz="1200" dirty="0"/>
                    </a:p>
                  </a:txBody>
                  <a:tcPr marL="0" marR="0" marT="0" marB="0" anchor="ctr"/>
                </a:tc>
                <a:extLst>
                  <a:ext uri="{0D108BD9-81ED-4DB2-BD59-A6C34878D82A}">
                    <a16:rowId xmlns:a16="http://schemas.microsoft.com/office/drawing/2014/main" val="1172770914"/>
                  </a:ext>
                </a:extLst>
              </a:tr>
              <a:tr h="608385">
                <a:tc>
                  <a:txBody>
                    <a:bodyPr/>
                    <a:lstStyle/>
                    <a:p>
                      <a:pPr marL="0" marR="0" rtl="0" latinLnBrk="0">
                        <a:lnSpc>
                          <a:spcPct val="150000"/>
                        </a:lnSpc>
                        <a:spcBef>
                          <a:spcPts val="0"/>
                        </a:spcBef>
                        <a:spcAft>
                          <a:spcPts val="1000"/>
                        </a:spcAft>
                      </a:pPr>
                      <a:r>
                        <a:rPr lang="hy-AM" sz="1200">
                          <a:effectLst/>
                        </a:rPr>
                        <a:t>Ծնողական խորհրդի կողմից ուսուցիչներին խրախուսելու, նրանց նկատմամբ կարգապահական կամ այլ տույժեր կիրառելու և նմանատիպ առաջարկների թիվը </a:t>
                      </a:r>
                    </a:p>
                  </a:txBody>
                  <a:tcPr marL="0" marR="0" marT="0" marB="0" anchor="ctr"/>
                </a:tc>
                <a:tc>
                  <a:txBody>
                    <a:bodyPr/>
                    <a:lstStyle/>
                    <a:p>
                      <a:pPr marL="0" marR="0" lvl="0" algn="ctr" rtl="0">
                        <a:lnSpc>
                          <a:spcPct val="150000"/>
                        </a:lnSpc>
                        <a:spcBef>
                          <a:spcPts val="0"/>
                        </a:spcBef>
                        <a:spcAft>
                          <a:spcPts val="1000"/>
                        </a:spcAft>
                        <a:buNone/>
                      </a:pPr>
                      <a:r>
                        <a:rPr lang="en-US" sz="1200" smtClean="0">
                          <a:effectLst/>
                        </a:rPr>
                        <a:t>-</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a:effectLst/>
                        </a:rPr>
                        <a:t>-</a:t>
                      </a:r>
                    </a:p>
                  </a:txBody>
                  <a:tcPr marL="0" marR="0" marT="0" marB="0" anchor="ctr"/>
                </a:tc>
                <a:tc>
                  <a:txBody>
                    <a:bodyPr/>
                    <a:lstStyle/>
                    <a:p>
                      <a:pPr algn="ctr"/>
                      <a:r>
                        <a:rPr lang="en-US" sz="1200"/>
                        <a:t>-</a:t>
                      </a:r>
                      <a:endParaRPr lang="ru-RU" sz="1200"/>
                    </a:p>
                  </a:txBody>
                  <a:tcPr marL="0" marR="0" marT="0" marB="0" anchor="ctr"/>
                </a:tc>
                <a:extLst>
                  <a:ext uri="{0D108BD9-81ED-4DB2-BD59-A6C34878D82A}">
                    <a16:rowId xmlns:a16="http://schemas.microsoft.com/office/drawing/2014/main" val="2324121645"/>
                  </a:ext>
                </a:extLst>
              </a:tr>
              <a:tr h="608385">
                <a:tc>
                  <a:txBody>
                    <a:bodyPr/>
                    <a:lstStyle/>
                    <a:p>
                      <a:pPr marL="0" marR="0" rtl="0" latinLnBrk="0">
                        <a:lnSpc>
                          <a:spcPct val="150000"/>
                        </a:lnSpc>
                        <a:spcBef>
                          <a:spcPts val="0"/>
                        </a:spcBef>
                        <a:spcAft>
                          <a:spcPts val="1000"/>
                        </a:spcAft>
                      </a:pPr>
                      <a:r>
                        <a:rPr lang="hy-AM" sz="1200">
                          <a:effectLst/>
                        </a:rPr>
                        <a:t>Ծնողական խորհրդի հանդիպումների հաճախականությունը՝ դրանց թիվը 1 </a:t>
                      </a:r>
                      <a:r>
                        <a:rPr lang="hy-AM" sz="1200" err="1">
                          <a:effectLst/>
                        </a:rPr>
                        <a:t>ուստարվա</a:t>
                      </a:r>
                      <a:r>
                        <a:rPr lang="hy-AM" sz="1200">
                          <a:effectLst/>
                        </a:rPr>
                        <a:t> ընթացքում </a:t>
                      </a:r>
                    </a:p>
                  </a:txBody>
                  <a:tcPr marL="0" marR="0" marT="0" marB="0" anchor="ctr"/>
                </a:tc>
                <a:tc>
                  <a:txBody>
                    <a:bodyPr/>
                    <a:lstStyle/>
                    <a:p>
                      <a:pPr marL="0" marR="0" lvl="0" algn="ctr" rtl="0">
                        <a:lnSpc>
                          <a:spcPct val="150000"/>
                        </a:lnSpc>
                        <a:spcBef>
                          <a:spcPts val="0"/>
                        </a:spcBef>
                        <a:spcAft>
                          <a:spcPts val="1000"/>
                        </a:spcAft>
                        <a:buNone/>
                      </a:pPr>
                      <a:r>
                        <a:rPr lang="en-US" sz="1200" smtClean="0">
                          <a:effectLst/>
                        </a:rPr>
                        <a:t>8</a:t>
                      </a:r>
                      <a:endParaRPr lang="en-US" sz="12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a:effectLst/>
                        </a:rPr>
                        <a:t>8 </a:t>
                      </a:r>
                    </a:p>
                  </a:txBody>
                  <a:tcPr marL="0" marR="0" marT="0" marB="0" anchor="ctr"/>
                </a:tc>
                <a:tc>
                  <a:txBody>
                    <a:bodyPr/>
                    <a:lstStyle/>
                    <a:p>
                      <a:pPr algn="ctr"/>
                      <a:r>
                        <a:rPr lang="ru-RU" sz="1200" dirty="0"/>
                        <a:t>8</a:t>
                      </a:r>
                    </a:p>
                  </a:txBody>
                  <a:tcPr marL="0" marR="0" marT="0" marB="0" anchor="ctr"/>
                </a:tc>
                <a:extLst>
                  <a:ext uri="{0D108BD9-81ED-4DB2-BD59-A6C34878D82A}">
                    <a16:rowId xmlns:a16="http://schemas.microsoft.com/office/drawing/2014/main" val="516745007"/>
                  </a:ext>
                </a:extLst>
              </a:tr>
              <a:tr h="912578">
                <a:tc>
                  <a:txBody>
                    <a:bodyPr/>
                    <a:lstStyle/>
                    <a:p>
                      <a:pPr marL="0" marR="0" indent="17780" rtl="0" latinLnBrk="0">
                        <a:lnSpc>
                          <a:spcPct val="150000"/>
                        </a:lnSpc>
                        <a:spcBef>
                          <a:spcPts val="0"/>
                        </a:spcBef>
                        <a:spcAft>
                          <a:spcPts val="1000"/>
                        </a:spcAft>
                      </a:pPr>
                      <a:r>
                        <a:rPr lang="hy-AM" sz="1200">
                          <a:effectLst/>
                        </a:rPr>
                        <a:t>Ծնողական խորհրդի կողմից հաստատության ծնողազուրկ և սոցիալապես անապահով ընտանիքներից աջակցություն ստացող սովորողների տոկոսը տվյալ </a:t>
                      </a:r>
                      <a:r>
                        <a:rPr lang="hy-AM" sz="1200" err="1">
                          <a:effectLst/>
                        </a:rPr>
                        <a:t>ուստարում</a:t>
                      </a:r>
                      <a:r>
                        <a:rPr lang="hy-AM" sz="1200">
                          <a:effectLst/>
                        </a:rPr>
                        <a:t> </a:t>
                      </a:r>
                    </a:p>
                  </a:txBody>
                  <a:tcPr marL="0" marR="0" marT="0" marB="0" anchor="ctr"/>
                </a:tc>
                <a:tc>
                  <a:txBody>
                    <a:bodyPr/>
                    <a:lstStyle/>
                    <a:p>
                      <a:pPr marL="0" marR="0" lvl="0" algn="ctr" rtl="0">
                        <a:lnSpc>
                          <a:spcPct val="150000"/>
                        </a:lnSpc>
                        <a:spcBef>
                          <a:spcPts val="0"/>
                        </a:spcBef>
                        <a:spcAft>
                          <a:spcPts val="1000"/>
                        </a:spcAft>
                        <a:buNone/>
                      </a:pPr>
                      <a:r>
                        <a:rPr lang="en-US" sz="1200" smtClean="0">
                          <a:effectLst/>
                        </a:rPr>
                        <a:t>1</a:t>
                      </a:r>
                      <a:r>
                        <a:rPr lang="hy-AM" sz="1200" smtClean="0">
                          <a:effectLst/>
                        </a:rPr>
                        <a:t>5</a:t>
                      </a:r>
                      <a:r>
                        <a:rPr lang="en-US" sz="1200" smtClean="0">
                          <a:effectLst/>
                        </a:rPr>
                        <a:t>%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smtClean="0">
                          <a:effectLst/>
                        </a:rPr>
                        <a:t>1</a:t>
                      </a:r>
                      <a:r>
                        <a:rPr lang="hy-AM" sz="1200" dirty="0" smtClean="0">
                          <a:effectLst/>
                        </a:rPr>
                        <a:t>8</a:t>
                      </a:r>
                      <a:r>
                        <a:rPr lang="en-US" sz="1200" dirty="0" smtClean="0">
                          <a:effectLst/>
                        </a:rPr>
                        <a:t>%</a:t>
                      </a:r>
                      <a:r>
                        <a:rPr lang="en-US" sz="1200" dirty="0">
                          <a:effectLst/>
                        </a:rPr>
                        <a:t> </a:t>
                      </a:r>
                    </a:p>
                  </a:txBody>
                  <a:tcPr marL="0" marR="0" marT="0" marB="0" anchor="ctr"/>
                </a:tc>
                <a:tc>
                  <a:txBody>
                    <a:bodyPr/>
                    <a:lstStyle/>
                    <a:p>
                      <a:pPr algn="ctr"/>
                      <a:r>
                        <a:rPr lang="en-US" sz="1200" dirty="0"/>
                        <a:t>18</a:t>
                      </a:r>
                      <a:r>
                        <a:rPr lang="ru-RU" sz="1200" dirty="0"/>
                        <a:t>%</a:t>
                      </a:r>
                    </a:p>
                  </a:txBody>
                  <a:tcPr marL="0" marR="0" marT="0" marB="0" anchor="ctr"/>
                </a:tc>
                <a:extLst>
                  <a:ext uri="{0D108BD9-81ED-4DB2-BD59-A6C34878D82A}">
                    <a16:rowId xmlns:a16="http://schemas.microsoft.com/office/drawing/2014/main" val="3808965177"/>
                  </a:ext>
                </a:extLst>
              </a:tr>
              <a:tr h="608385">
                <a:tc>
                  <a:txBody>
                    <a:bodyPr/>
                    <a:lstStyle/>
                    <a:p>
                      <a:pPr marL="0" marR="0" rtl="0" latinLnBrk="0">
                        <a:lnSpc>
                          <a:spcPct val="150000"/>
                        </a:lnSpc>
                        <a:spcBef>
                          <a:spcPts val="0"/>
                        </a:spcBef>
                        <a:spcAft>
                          <a:spcPts val="1000"/>
                        </a:spcAft>
                      </a:pPr>
                      <a:r>
                        <a:rPr lang="hy-AM" sz="1200">
                          <a:effectLst/>
                        </a:rPr>
                        <a:t>Սովորողների արտադպրոցական և արտադասարանական աշխատանքներում ներառված ծնողների տոկոսը. </a:t>
                      </a:r>
                    </a:p>
                  </a:txBody>
                  <a:tcPr marL="0" marR="0" marT="0" marB="0" anchor="ctr"/>
                </a:tc>
                <a:tc>
                  <a:txBody>
                    <a:bodyPr/>
                    <a:lstStyle/>
                    <a:p>
                      <a:pPr marL="0" marR="0" lvl="0" algn="ctr" rtl="0">
                        <a:lnSpc>
                          <a:spcPct val="150000"/>
                        </a:lnSpc>
                        <a:spcBef>
                          <a:spcPts val="0"/>
                        </a:spcBef>
                        <a:spcAft>
                          <a:spcPts val="1000"/>
                        </a:spcAft>
                        <a:buNone/>
                      </a:pPr>
                      <a:r>
                        <a:rPr lang="en-US" sz="1200" smtClean="0">
                          <a:effectLst/>
                        </a:rPr>
                        <a:t>80%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a:effectLst/>
                        </a:rPr>
                        <a:t>80% </a:t>
                      </a:r>
                    </a:p>
                  </a:txBody>
                  <a:tcPr marL="0" marR="0" marT="0" marB="0" anchor="ctr"/>
                </a:tc>
                <a:tc>
                  <a:txBody>
                    <a:bodyPr/>
                    <a:lstStyle/>
                    <a:p>
                      <a:pPr algn="ctr"/>
                      <a:r>
                        <a:rPr lang="ru-RU" sz="1200" dirty="0" smtClean="0"/>
                        <a:t>8</a:t>
                      </a:r>
                      <a:r>
                        <a:rPr lang="hy-AM" sz="1200" dirty="0" smtClean="0"/>
                        <a:t>5</a:t>
                      </a:r>
                      <a:r>
                        <a:rPr lang="ru-RU" sz="1200" dirty="0" smtClean="0"/>
                        <a:t>%</a:t>
                      </a:r>
                      <a:endParaRPr lang="ru-RU" sz="1200" dirty="0"/>
                    </a:p>
                  </a:txBody>
                  <a:tcPr marL="0" marR="0" marT="0" marB="0" anchor="ctr"/>
                </a:tc>
                <a:extLst>
                  <a:ext uri="{0D108BD9-81ED-4DB2-BD59-A6C34878D82A}">
                    <a16:rowId xmlns:a16="http://schemas.microsoft.com/office/drawing/2014/main" val="1315695480"/>
                  </a:ext>
                </a:extLst>
              </a:tr>
              <a:tr h="912578">
                <a:tc>
                  <a:txBody>
                    <a:bodyPr/>
                    <a:lstStyle/>
                    <a:p>
                      <a:pPr marL="0" marR="0" indent="0" algn="l" defTabSz="457200" rtl="0" eaLnBrk="1" fontAlgn="auto" latinLnBrk="0" hangingPunct="1">
                        <a:lnSpc>
                          <a:spcPct val="150000"/>
                        </a:lnSpc>
                        <a:spcBef>
                          <a:spcPts val="0"/>
                        </a:spcBef>
                        <a:spcAft>
                          <a:spcPts val="1000"/>
                        </a:spcAft>
                        <a:buClrTx/>
                        <a:buSzTx/>
                        <a:buFontTx/>
                        <a:buNone/>
                        <a:tabLst/>
                        <a:defRPr/>
                      </a:pPr>
                      <a:r>
                        <a:rPr lang="hy-AM" sz="1200">
                          <a:effectLst/>
                        </a:rPr>
                        <a:t>Ծնողների տոկոսը, որոնք օգտվում են </a:t>
                      </a:r>
                      <a:r>
                        <a:rPr lang="en-US" sz="1200" kern="1200">
                          <a:effectLst/>
                          <a:hlinkClick r:id="rId3"/>
                        </a:rPr>
                        <a:t>https://e-diary.emis.am/</a:t>
                      </a:r>
                      <a:endParaRPr lang="hy-AM" sz="1200" kern="1200">
                        <a:effectLst/>
                      </a:endParaRPr>
                    </a:p>
                    <a:p>
                      <a:pPr marL="0" marR="0" rtl="0" latinLnBrk="0">
                        <a:lnSpc>
                          <a:spcPct val="150000"/>
                        </a:lnSpc>
                        <a:spcBef>
                          <a:spcPts val="0"/>
                        </a:spcBef>
                        <a:spcAft>
                          <a:spcPts val="1000"/>
                        </a:spcAft>
                      </a:pPr>
                      <a:r>
                        <a:rPr lang="en-US" sz="1200" kern="1200">
                          <a:effectLst/>
                          <a:hlinkClick r:id="rId4"/>
                        </a:rPr>
                        <a:t>http://ktak.am</a:t>
                      </a:r>
                      <a:r>
                        <a:rPr lang="en-US" sz="1200">
                          <a:effectLst/>
                        </a:rPr>
                        <a:t>, </a:t>
                      </a:r>
                      <a:r>
                        <a:rPr lang="en-US" sz="1200" kern="1200">
                          <a:effectLst/>
                          <a:hlinkClick r:id="rId5"/>
                        </a:rPr>
                        <a:t>http://www.armedu.am</a:t>
                      </a:r>
                      <a:r>
                        <a:rPr lang="en-US" sz="1200">
                          <a:effectLst/>
                        </a:rPr>
                        <a:t>, </a:t>
                      </a:r>
                      <a:r>
                        <a:rPr lang="en-US" sz="1200" kern="1200">
                          <a:effectLst/>
                          <a:hlinkClick r:id="rId6"/>
                        </a:rPr>
                        <a:t>http://forum.armedu.am/</a:t>
                      </a:r>
                      <a:r>
                        <a:rPr lang="en-US" sz="1200">
                          <a:effectLst/>
                        </a:rPr>
                        <a:t>, </a:t>
                      </a:r>
                      <a:r>
                        <a:rPr lang="en-US" sz="1200" kern="1200">
                          <a:effectLst/>
                          <a:hlinkClick r:id="rId7"/>
                        </a:rPr>
                        <a:t>http://lib.armedu.am</a:t>
                      </a:r>
                      <a:r>
                        <a:rPr lang="en-US" sz="1200">
                          <a:effectLst/>
                        </a:rPr>
                        <a:t>, </a:t>
                      </a:r>
                      <a:r>
                        <a:rPr lang="hy-AM" sz="1200">
                          <a:effectLst/>
                        </a:rPr>
                        <a:t>և այլ կրթական </a:t>
                      </a:r>
                      <a:r>
                        <a:rPr lang="hy-AM" sz="1200" err="1">
                          <a:effectLst/>
                        </a:rPr>
                        <a:t>կայքերից</a:t>
                      </a:r>
                      <a:r>
                        <a:rPr lang="hy-AM" sz="1200">
                          <a:effectLst/>
                        </a:rPr>
                        <a:t>, ինչպես նաև հաստատության </a:t>
                      </a:r>
                    </a:p>
                  </a:txBody>
                  <a:tcPr marL="0" marR="0" marT="0" marB="0" anchor="ctr"/>
                </a:tc>
                <a:tc>
                  <a:txBody>
                    <a:bodyPr/>
                    <a:lstStyle/>
                    <a:p>
                      <a:pPr marL="0" marR="0" lvl="0" algn="ctr" rtl="0">
                        <a:lnSpc>
                          <a:spcPct val="150000"/>
                        </a:lnSpc>
                        <a:spcBef>
                          <a:spcPts val="0"/>
                        </a:spcBef>
                        <a:spcAft>
                          <a:spcPts val="1000"/>
                        </a:spcAft>
                        <a:buNone/>
                      </a:pPr>
                      <a:r>
                        <a:rPr lang="en-US" sz="1200" dirty="0" smtClean="0">
                          <a:effectLst/>
                        </a:rPr>
                        <a:t>7</a:t>
                      </a:r>
                      <a:r>
                        <a:rPr lang="hy-AM" sz="1200" dirty="0" smtClean="0">
                          <a:effectLst/>
                        </a:rPr>
                        <a:t>5</a:t>
                      </a:r>
                      <a:r>
                        <a:rPr lang="en-US" sz="1200" dirty="0" smtClean="0">
                          <a:effectLst/>
                        </a:rPr>
                        <a:t>%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hy-AM" sz="1200" dirty="0" smtClean="0">
                          <a:effectLst/>
                        </a:rPr>
                        <a:t>80</a:t>
                      </a:r>
                      <a:r>
                        <a:rPr lang="en-US" sz="1200" dirty="0" smtClean="0">
                          <a:effectLst/>
                        </a:rPr>
                        <a:t>%</a:t>
                      </a:r>
                      <a:r>
                        <a:rPr lang="en-US" sz="1200" dirty="0">
                          <a:effectLst/>
                        </a:rPr>
                        <a:t> </a:t>
                      </a:r>
                    </a:p>
                  </a:txBody>
                  <a:tcPr marL="0" marR="0" marT="0" marB="0" anchor="ctr"/>
                </a:tc>
                <a:tc>
                  <a:txBody>
                    <a:bodyPr/>
                    <a:lstStyle/>
                    <a:p>
                      <a:pPr algn="ctr"/>
                      <a:r>
                        <a:rPr lang="ru-RU" sz="1200" dirty="0" smtClean="0"/>
                        <a:t>8</a:t>
                      </a:r>
                      <a:r>
                        <a:rPr lang="hy-AM" sz="1200" dirty="0" smtClean="0"/>
                        <a:t>8</a:t>
                      </a:r>
                      <a:r>
                        <a:rPr lang="ru-RU" sz="1200" dirty="0" smtClean="0"/>
                        <a:t>%</a:t>
                      </a:r>
                      <a:endParaRPr lang="ru-RU" sz="1200" dirty="0"/>
                    </a:p>
                  </a:txBody>
                  <a:tcPr marL="0" marR="0" marT="0" marB="0" anchor="ctr"/>
                </a:tc>
                <a:extLst>
                  <a:ext uri="{0D108BD9-81ED-4DB2-BD59-A6C34878D82A}">
                    <a16:rowId xmlns:a16="http://schemas.microsoft.com/office/drawing/2014/main" val="2538989790"/>
                  </a:ext>
                </a:extLst>
              </a:tr>
            </a:tbl>
          </a:graphicData>
        </a:graphic>
      </p:graphicFrame>
    </p:spTree>
    <p:extLst>
      <p:ext uri="{BB962C8B-B14F-4D97-AF65-F5344CB8AC3E}">
        <p14:creationId xmlns:p14="http://schemas.microsoft.com/office/powerpoint/2010/main" val="165598956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10108771"/>
              </p:ext>
            </p:extLst>
          </p:nvPr>
        </p:nvGraphicFramePr>
        <p:xfrm>
          <a:off x="321149" y="770842"/>
          <a:ext cx="10426700" cy="4800600"/>
        </p:xfrm>
        <a:graphic>
          <a:graphicData uri="http://schemas.openxmlformats.org/drawingml/2006/table">
            <a:tbl>
              <a:tblPr>
                <a:tableStyleId>{5940675A-B579-460E-94D1-54222C63F5DA}</a:tableStyleId>
              </a:tblPr>
              <a:tblGrid>
                <a:gridCol w="3765021">
                  <a:extLst>
                    <a:ext uri="{9D8B030D-6E8A-4147-A177-3AD203B41FA5}">
                      <a16:colId xmlns:a16="http://schemas.microsoft.com/office/drawing/2014/main" val="1165555064"/>
                    </a:ext>
                  </a:extLst>
                </a:gridCol>
                <a:gridCol w="1853988">
                  <a:extLst>
                    <a:ext uri="{9D8B030D-6E8A-4147-A177-3AD203B41FA5}">
                      <a16:colId xmlns:a16="http://schemas.microsoft.com/office/drawing/2014/main" val="3253134383"/>
                    </a:ext>
                  </a:extLst>
                </a:gridCol>
                <a:gridCol w="2040971">
                  <a:extLst>
                    <a:ext uri="{9D8B030D-6E8A-4147-A177-3AD203B41FA5}">
                      <a16:colId xmlns:a16="http://schemas.microsoft.com/office/drawing/2014/main" val="801353264"/>
                    </a:ext>
                  </a:extLst>
                </a:gridCol>
                <a:gridCol w="2766720">
                  <a:extLst>
                    <a:ext uri="{9D8B030D-6E8A-4147-A177-3AD203B41FA5}">
                      <a16:colId xmlns:a16="http://schemas.microsoft.com/office/drawing/2014/main" val="617814928"/>
                    </a:ext>
                  </a:extLst>
                </a:gridCol>
              </a:tblGrid>
              <a:tr h="50165">
                <a:tc gridSpan="4">
                  <a:txBody>
                    <a:bodyPr/>
                    <a:lstStyle/>
                    <a:p>
                      <a:pPr marL="0" marR="0" rtl="0" latinLnBrk="0">
                        <a:lnSpc>
                          <a:spcPct val="150000"/>
                        </a:lnSpc>
                        <a:spcBef>
                          <a:spcPts val="0"/>
                        </a:spcBef>
                        <a:spcAft>
                          <a:spcPts val="1000"/>
                        </a:spcAft>
                      </a:pPr>
                      <a:r>
                        <a:rPr lang="hy-AM" sz="1400" b="1">
                          <a:effectLst/>
                        </a:rPr>
                        <a:t>Սովորողների ուսումնադաստիարակչական գործընթացի վերաբերյալ ծնողական խորհրդի կողմից տնօրինությանը ներկայացրած առաջարկությունները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17768091"/>
                  </a:ext>
                </a:extLst>
              </a:tr>
              <a:tr h="251079">
                <a:tc>
                  <a:txBody>
                    <a:bodyPr/>
                    <a:lstStyle/>
                    <a:p>
                      <a:pPr marL="17780" marR="0" indent="-17780" rtl="0" latinLnBrk="0">
                        <a:lnSpc>
                          <a:spcPct val="150000"/>
                        </a:lnSpc>
                        <a:spcBef>
                          <a:spcPts val="0"/>
                        </a:spcBef>
                        <a:spcAft>
                          <a:spcPts val="0"/>
                        </a:spcAft>
                      </a:pPr>
                      <a:r>
                        <a:rPr lang="hy-AM" sz="1400">
                          <a:effectLst/>
                        </a:rPr>
                        <a:t>Նկարագրել վերջին 3 տարում սովորողների ուսումնադաստիարակչական գործընթացի վերաբերյալ ծնողական խորհրդի կողմից տնօրինությանը ներկայացրած առաջարկությունները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Առաջարկների քննարկմանը մասնակից ծնողների թիվը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742365163"/>
                  </a:ext>
                </a:extLst>
              </a:tr>
              <a:tr h="125476">
                <a:tc>
                  <a:txBody>
                    <a:bodyPr/>
                    <a:lstStyle/>
                    <a:p>
                      <a:pPr marL="54610" marR="0" indent="-54610" rtl="0" latinLnBrk="0">
                        <a:lnSpc>
                          <a:spcPct val="150000"/>
                        </a:lnSpc>
                        <a:spcBef>
                          <a:spcPts val="0"/>
                        </a:spcBef>
                        <a:spcAft>
                          <a:spcPts val="0"/>
                        </a:spcAft>
                      </a:pPr>
                      <a:r>
                        <a:rPr lang="hy-AM" sz="1400">
                          <a:effectLst/>
                        </a:rPr>
                        <a:t>1.Առաջարկվել է սահմանել ծնողների </a:t>
                      </a:r>
                      <a:r>
                        <a:rPr lang="hy-AM" sz="1400" err="1">
                          <a:effectLst/>
                        </a:rPr>
                        <a:t>հերթապահություն`աջակցելու</a:t>
                      </a:r>
                      <a:r>
                        <a:rPr lang="hy-AM" sz="1400">
                          <a:effectLst/>
                        </a:rPr>
                        <a:t> դպրոցին կարգապահական հարցերում: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dirty="0" smtClean="0">
                          <a:effectLst/>
                        </a:rPr>
                        <a:t>ամենամյա</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smtClean="0">
                          <a:effectLst/>
                        </a:rPr>
                        <a:t>75</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Առաջարկությունն ընդունվել է, բայց փոքր է եղել նախաձեռնության արդյունավետությունը: </a:t>
                      </a:r>
                      <a:endParaRPr lang="hy-AM">
                        <a:effectLst/>
                      </a:endParaRPr>
                    </a:p>
                  </a:txBody>
                  <a:tcPr marL="0" marR="0" marT="0" marB="0" anchor="ctr"/>
                </a:tc>
                <a:extLst>
                  <a:ext uri="{0D108BD9-81ED-4DB2-BD59-A6C34878D82A}">
                    <a16:rowId xmlns:a16="http://schemas.microsoft.com/office/drawing/2014/main" val="2489904927"/>
                  </a:ext>
                </a:extLst>
              </a:tr>
              <a:tr h="150622">
                <a:tc>
                  <a:txBody>
                    <a:bodyPr/>
                    <a:lstStyle/>
                    <a:p>
                      <a:pPr marL="54610" marR="0" indent="-54610" rtl="0" latinLnBrk="0">
                        <a:lnSpc>
                          <a:spcPct val="150000"/>
                        </a:lnSpc>
                        <a:spcBef>
                          <a:spcPts val="0"/>
                        </a:spcBef>
                        <a:spcAft>
                          <a:spcPts val="0"/>
                        </a:spcAft>
                      </a:pPr>
                      <a:r>
                        <a:rPr lang="hy-AM" sz="1400">
                          <a:effectLst/>
                        </a:rPr>
                        <a:t>2.Առաջարկվել է անցկացնել </a:t>
                      </a:r>
                      <a:r>
                        <a:rPr lang="hy-AM" sz="1400" err="1">
                          <a:effectLst/>
                        </a:rPr>
                        <a:t>դասալսումներ</a:t>
                      </a:r>
                      <a:r>
                        <a:rPr lang="hy-AM" sz="1400">
                          <a:effectLst/>
                        </a:rPr>
                        <a:t> ծնողների կողմից՝ ցածր </a:t>
                      </a:r>
                      <a:r>
                        <a:rPr lang="hy-AM" sz="1400" err="1">
                          <a:effectLst/>
                        </a:rPr>
                        <a:t>առաջադիմությամբ</a:t>
                      </a:r>
                      <a:r>
                        <a:rPr lang="hy-AM" sz="1400">
                          <a:effectLst/>
                        </a:rPr>
                        <a:t> սովորողների ուսման պրոցեսում ոչ լիարժեք </a:t>
                      </a:r>
                      <a:r>
                        <a:rPr lang="hy-AM" sz="1400" err="1">
                          <a:effectLst/>
                        </a:rPr>
                        <a:t>ինտեգրված</a:t>
                      </a:r>
                      <a:r>
                        <a:rPr lang="hy-AM" sz="1400">
                          <a:effectLst/>
                        </a:rPr>
                        <a:t> լինելու պատճառները /: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88%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Առաջարկությունն ընդունվել է, գործընթացը կրում է շարունակական բնույթ: </a:t>
                      </a:r>
                      <a:endParaRPr lang="hy-AM" dirty="0">
                        <a:effectLst/>
                      </a:endParaRPr>
                    </a:p>
                  </a:txBody>
                  <a:tcPr marL="0" marR="0" marT="0" marB="0" anchor="ctr"/>
                </a:tc>
                <a:extLst>
                  <a:ext uri="{0D108BD9-81ED-4DB2-BD59-A6C34878D82A}">
                    <a16:rowId xmlns:a16="http://schemas.microsoft.com/office/drawing/2014/main" val="299902771"/>
                  </a:ext>
                </a:extLst>
              </a:tr>
            </a:tbl>
          </a:graphicData>
        </a:graphic>
      </p:graphicFrame>
    </p:spTree>
    <p:extLst>
      <p:ext uri="{BB962C8B-B14F-4D97-AF65-F5344CB8AC3E}">
        <p14:creationId xmlns:p14="http://schemas.microsoft.com/office/powerpoint/2010/main" val="5968164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639268107"/>
              </p:ext>
            </p:extLst>
          </p:nvPr>
        </p:nvGraphicFramePr>
        <p:xfrm>
          <a:off x="357507" y="552744"/>
          <a:ext cx="10426700" cy="4114800"/>
        </p:xfrm>
        <a:graphic>
          <a:graphicData uri="http://schemas.openxmlformats.org/drawingml/2006/table">
            <a:tbl>
              <a:tblPr>
                <a:tableStyleId>{5940675A-B579-460E-94D1-54222C63F5DA}</a:tableStyleId>
              </a:tblPr>
              <a:tblGrid>
                <a:gridCol w="5801417">
                  <a:extLst>
                    <a:ext uri="{9D8B030D-6E8A-4147-A177-3AD203B41FA5}">
                      <a16:colId xmlns:a16="http://schemas.microsoft.com/office/drawing/2014/main" val="2607254924"/>
                    </a:ext>
                  </a:extLst>
                </a:gridCol>
                <a:gridCol w="1150773">
                  <a:extLst>
                    <a:ext uri="{9D8B030D-6E8A-4147-A177-3AD203B41FA5}">
                      <a16:colId xmlns:a16="http://schemas.microsoft.com/office/drawing/2014/main" val="292722227"/>
                    </a:ext>
                  </a:extLst>
                </a:gridCol>
                <a:gridCol w="1990869">
                  <a:extLst>
                    <a:ext uri="{9D8B030D-6E8A-4147-A177-3AD203B41FA5}">
                      <a16:colId xmlns:a16="http://schemas.microsoft.com/office/drawing/2014/main" val="2380088905"/>
                    </a:ext>
                  </a:extLst>
                </a:gridCol>
                <a:gridCol w="1483641">
                  <a:extLst>
                    <a:ext uri="{9D8B030D-6E8A-4147-A177-3AD203B41FA5}">
                      <a16:colId xmlns:a16="http://schemas.microsoft.com/office/drawing/2014/main" val="2657698576"/>
                    </a:ext>
                  </a:extLst>
                </a:gridCol>
              </a:tblGrid>
              <a:tr h="75311">
                <a:tc gridSpan="4">
                  <a:txBody>
                    <a:bodyPr/>
                    <a:lstStyle/>
                    <a:p>
                      <a:pPr marL="0" marR="0" rtl="0" latinLnBrk="0">
                        <a:lnSpc>
                          <a:spcPct val="150000"/>
                        </a:lnSpc>
                        <a:spcBef>
                          <a:spcPts val="0"/>
                        </a:spcBef>
                        <a:spcAft>
                          <a:spcPts val="1000"/>
                        </a:spcAft>
                      </a:pPr>
                      <a:r>
                        <a:rPr lang="hy-AM" sz="1200">
                          <a:effectLst/>
                        </a:rPr>
                        <a:t>Ծնողական խորհրդի կողմից տվյալ ուստարում կազմակերպված միջոցառումները՝ հանդեսներ, հավաքներ, երեկույթներ, էքսկուրսիաներ, ճանաչողական այցեր և այլն, մասնակից ծնողների թիվը և սովորողների տոկոսը</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66164949"/>
                  </a:ext>
                </a:extLst>
              </a:tr>
              <a:tr h="125476">
                <a:tc>
                  <a:txBody>
                    <a:bodyPr/>
                    <a:lstStyle/>
                    <a:p>
                      <a:pPr marL="17780" marR="0" indent="-17780" rtl="0" latinLnBrk="0">
                        <a:lnSpc>
                          <a:spcPct val="150000"/>
                        </a:lnSpc>
                        <a:spcBef>
                          <a:spcPts val="0"/>
                        </a:spcBef>
                        <a:spcAft>
                          <a:spcPts val="0"/>
                        </a:spcAft>
                      </a:pPr>
                      <a:r>
                        <a:rPr lang="hy-AM" sz="1200">
                          <a:effectLst/>
                        </a:rPr>
                        <a:t>Նկարագրել վերջին 3 տարում ծնողական խորհրդի կողմից կազմակերպված միջոցառումները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Մասնակից ծնողների թիվը և սովորողների տոկոսը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Ծնողական ներդրումների չափը </a:t>
                      </a:r>
                      <a:endParaRPr lang="hy-AM">
                        <a:effectLst/>
                      </a:endParaRPr>
                    </a:p>
                  </a:txBody>
                  <a:tcPr marL="0" marR="0" marT="0" marB="0" anchor="ctr"/>
                </a:tc>
                <a:extLst>
                  <a:ext uri="{0D108BD9-81ED-4DB2-BD59-A6C34878D82A}">
                    <a16:rowId xmlns:a16="http://schemas.microsoft.com/office/drawing/2014/main" val="3555993425"/>
                  </a:ext>
                </a:extLst>
              </a:tr>
              <a:tr h="50165">
                <a:tc>
                  <a:txBody>
                    <a:bodyPr/>
                    <a:lstStyle/>
                    <a:p>
                      <a:pPr marL="0" marR="0" rtl="0" latinLnBrk="0">
                        <a:lnSpc>
                          <a:spcPct val="150000"/>
                        </a:lnSpc>
                        <a:spcBef>
                          <a:spcPts val="0"/>
                        </a:spcBef>
                        <a:spcAft>
                          <a:spcPts val="1000"/>
                        </a:spcAft>
                      </a:pPr>
                      <a:r>
                        <a:rPr lang="hy-AM" sz="1200">
                          <a:effectLst/>
                        </a:rPr>
                        <a:t>1.Գիտելիքի օրվան նվիրված տոնական միջոցառման կազմակերպչական հարցեր: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smtClean="0">
                          <a:effectLst/>
                        </a:rPr>
                        <a:t>80-90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079558657"/>
                  </a:ext>
                </a:extLst>
              </a:tr>
              <a:tr h="75311">
                <a:tc>
                  <a:txBody>
                    <a:bodyPr/>
                    <a:lstStyle/>
                    <a:p>
                      <a:pPr marL="0" marR="0" rtl="0" latinLnBrk="0">
                        <a:lnSpc>
                          <a:spcPct val="150000"/>
                        </a:lnSpc>
                        <a:spcBef>
                          <a:spcPts val="0"/>
                        </a:spcBef>
                        <a:spcAft>
                          <a:spcPts val="1000"/>
                        </a:spcAft>
                      </a:pPr>
                      <a:r>
                        <a:rPr lang="hy-AM" sz="1200">
                          <a:effectLst/>
                        </a:rPr>
                        <a:t>2. Ուսուցչի օրվան նվիրված շնորհավորական բացիկների պատրաստում ԱԽ –ի հետ համատեղ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smtClean="0">
                          <a:effectLst/>
                        </a:rPr>
                        <a:t>70</a:t>
                      </a:r>
                      <a:r>
                        <a:rPr lang="hy-AM" sz="1200" dirty="0" smtClean="0">
                          <a:effectLst/>
                        </a:rPr>
                        <a:t>-80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018672307"/>
                  </a:ext>
                </a:extLst>
              </a:tr>
              <a:tr h="100457">
                <a:tc>
                  <a:txBody>
                    <a:bodyPr/>
                    <a:lstStyle/>
                    <a:p>
                      <a:pPr marL="0" marR="0" rtl="0" latinLnBrk="0">
                        <a:lnSpc>
                          <a:spcPct val="150000"/>
                        </a:lnSpc>
                        <a:spcBef>
                          <a:spcPts val="0"/>
                        </a:spcBef>
                        <a:spcAft>
                          <a:spcPts val="1000"/>
                        </a:spcAft>
                      </a:pPr>
                      <a:r>
                        <a:rPr lang="hy-AM" sz="1200">
                          <a:effectLst/>
                        </a:rPr>
                        <a:t>3. Ամանորին ընդառաջ դասասենյակների </a:t>
                      </a:r>
                      <a:r>
                        <a:rPr lang="hy-AM" sz="1200" err="1">
                          <a:effectLst/>
                        </a:rPr>
                        <a:t>ձևավորում</a:t>
                      </a:r>
                      <a:r>
                        <a:rPr lang="hy-AM" sz="1200">
                          <a:effectLst/>
                        </a:rPr>
                        <a:t>, և համադպրոցական միջոցառման կազմակերպչական հարցերին աջակցում: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80</a:t>
                      </a:r>
                      <a:r>
                        <a:rPr lang="en-US" sz="1200">
                          <a:effectLst/>
                        </a:rPr>
                        <a:t>-</a:t>
                      </a:r>
                      <a:r>
                        <a:rPr lang="hy-AM" sz="1200">
                          <a:effectLst/>
                        </a:rPr>
                        <a:t>90</a:t>
                      </a:r>
                      <a:r>
                        <a:rPr lang="hy-AM" sz="1200" baseline="0">
                          <a:effectLst/>
                        </a:rPr>
                        <a:t> </a:t>
                      </a:r>
                      <a:r>
                        <a:rPr lang="en-US" sz="1200">
                          <a:effectLst/>
                        </a:rPr>
                        <a:t>%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17590132"/>
                  </a:ext>
                </a:extLst>
              </a:tr>
              <a:tr h="100457">
                <a:tc>
                  <a:txBody>
                    <a:bodyPr/>
                    <a:lstStyle/>
                    <a:p>
                      <a:pPr marL="0" marR="0" rtl="0" latinLnBrk="0">
                        <a:lnSpc>
                          <a:spcPct val="150000"/>
                        </a:lnSpc>
                        <a:spcBef>
                          <a:spcPts val="0"/>
                        </a:spcBef>
                        <a:spcAft>
                          <a:spcPts val="1000"/>
                        </a:spcAft>
                      </a:pPr>
                      <a:r>
                        <a:rPr lang="hy-AM" sz="1200">
                          <a:effectLst/>
                        </a:rPr>
                        <a:t>4. Հայոց բանակի օրվան նվիրված զինվորականների և վետերանների հետ  ամենամյա հանդիպումների կազմակերպչական հարցերին աջակցում: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smtClean="0">
                          <a:effectLst/>
                        </a:rPr>
                        <a:t>6</a:t>
                      </a:r>
                      <a:r>
                        <a:rPr lang="en-US" sz="1200" dirty="0" smtClean="0">
                          <a:effectLst/>
                        </a:rPr>
                        <a:t>0</a:t>
                      </a:r>
                      <a:r>
                        <a:rPr lang="hy-AM" sz="1200" dirty="0" smtClean="0">
                          <a:effectLst/>
                        </a:rPr>
                        <a:t>-70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067101923"/>
                  </a:ext>
                </a:extLst>
              </a:tr>
              <a:tr h="75311">
                <a:tc>
                  <a:txBody>
                    <a:bodyPr/>
                    <a:lstStyle/>
                    <a:p>
                      <a:pPr marL="0" marR="0" rtl="0" latinLnBrk="0">
                        <a:lnSpc>
                          <a:spcPct val="150000"/>
                        </a:lnSpc>
                        <a:spcBef>
                          <a:spcPts val="0"/>
                        </a:spcBef>
                        <a:spcAft>
                          <a:spcPts val="1000"/>
                        </a:spcAft>
                      </a:pPr>
                      <a:r>
                        <a:rPr lang="hy-AM" sz="1200">
                          <a:effectLst/>
                        </a:rPr>
                        <a:t>7.Վերջին դասերի և Վերջին զանգի միջոցառումների կազմակերպչական հարցեր: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98</a:t>
                      </a:r>
                      <a:r>
                        <a:rPr lang="hy-AM" sz="1200" dirty="0">
                          <a:effectLst/>
                        </a:rPr>
                        <a:t> </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960444773"/>
                  </a:ext>
                </a:extLst>
              </a:tr>
              <a:tr h="75311">
                <a:tc>
                  <a:txBody>
                    <a:bodyPr/>
                    <a:lstStyle/>
                    <a:p>
                      <a:pPr marL="0" marR="0" rtl="0" latinLnBrk="0">
                        <a:lnSpc>
                          <a:spcPct val="150000"/>
                        </a:lnSpc>
                        <a:spcBef>
                          <a:spcPts val="0"/>
                        </a:spcBef>
                        <a:spcAft>
                          <a:spcPts val="1000"/>
                        </a:spcAft>
                      </a:pPr>
                      <a:r>
                        <a:rPr lang="hy-AM" sz="1200">
                          <a:effectLst/>
                        </a:rPr>
                        <a:t>8.Տարեվերջյան դասարանական էքսկուրսիաների և ճանաչողական այցերի կազմակերպում: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a:effectLst/>
                        </a:rPr>
                        <a:t>90-100</a:t>
                      </a:r>
                      <a:r>
                        <a:rPr lang="hy-AM" sz="1200" baseline="0" dirty="0">
                          <a:effectLst/>
                        </a:rPr>
                        <a:t> </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1456777270"/>
                  </a:ext>
                </a:extLst>
              </a:tr>
            </a:tbl>
          </a:graphicData>
        </a:graphic>
      </p:graphicFrame>
    </p:spTree>
    <p:extLst>
      <p:ext uri="{BB962C8B-B14F-4D97-AF65-F5344CB8AC3E}">
        <p14:creationId xmlns:p14="http://schemas.microsoft.com/office/powerpoint/2010/main" val="20883524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051753227"/>
              </p:ext>
            </p:extLst>
          </p:nvPr>
        </p:nvGraphicFramePr>
        <p:xfrm>
          <a:off x="236314" y="455811"/>
          <a:ext cx="10499623" cy="6035040"/>
        </p:xfrm>
        <a:graphic>
          <a:graphicData uri="http://schemas.openxmlformats.org/drawingml/2006/table">
            <a:tbl>
              <a:tblPr>
                <a:tableStyleId>{5940675A-B579-460E-94D1-54222C63F5DA}</a:tableStyleId>
              </a:tblPr>
              <a:tblGrid>
                <a:gridCol w="4014660">
                  <a:extLst>
                    <a:ext uri="{9D8B030D-6E8A-4147-A177-3AD203B41FA5}">
                      <a16:colId xmlns:a16="http://schemas.microsoft.com/office/drawing/2014/main" val="1301153049"/>
                    </a:ext>
                  </a:extLst>
                </a:gridCol>
                <a:gridCol w="580318">
                  <a:extLst>
                    <a:ext uri="{9D8B030D-6E8A-4147-A177-3AD203B41FA5}">
                      <a16:colId xmlns:a16="http://schemas.microsoft.com/office/drawing/2014/main" val="3355911639"/>
                    </a:ext>
                  </a:extLst>
                </a:gridCol>
                <a:gridCol w="371023">
                  <a:extLst>
                    <a:ext uri="{9D8B030D-6E8A-4147-A177-3AD203B41FA5}">
                      <a16:colId xmlns:a16="http://schemas.microsoft.com/office/drawing/2014/main" val="3880516134"/>
                    </a:ext>
                  </a:extLst>
                </a:gridCol>
                <a:gridCol w="1750468">
                  <a:extLst>
                    <a:ext uri="{9D8B030D-6E8A-4147-A177-3AD203B41FA5}">
                      <a16:colId xmlns:a16="http://schemas.microsoft.com/office/drawing/2014/main" val="946048786"/>
                    </a:ext>
                  </a:extLst>
                </a:gridCol>
                <a:gridCol w="1607767">
                  <a:extLst>
                    <a:ext uri="{9D8B030D-6E8A-4147-A177-3AD203B41FA5}">
                      <a16:colId xmlns:a16="http://schemas.microsoft.com/office/drawing/2014/main" val="3093824864"/>
                    </a:ext>
                  </a:extLst>
                </a:gridCol>
                <a:gridCol w="2175387">
                  <a:extLst>
                    <a:ext uri="{9D8B030D-6E8A-4147-A177-3AD203B41FA5}">
                      <a16:colId xmlns:a16="http://schemas.microsoft.com/office/drawing/2014/main" val="1639342206"/>
                    </a:ext>
                  </a:extLst>
                </a:gridCol>
              </a:tblGrid>
              <a:tr h="75311">
                <a:tc gridSpan="6">
                  <a:txBody>
                    <a:bodyPr/>
                    <a:lstStyle/>
                    <a:p>
                      <a:pPr marL="0" marR="0" rtl="0" latinLnBrk="0">
                        <a:spcBef>
                          <a:spcPts val="0"/>
                        </a:spcBef>
                        <a:spcAft>
                          <a:spcPts val="1000"/>
                        </a:spcAft>
                      </a:pPr>
                      <a:r>
                        <a:rPr lang="hy-AM" sz="1200">
                          <a:effectLst/>
                        </a:rPr>
                        <a:t>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44420116"/>
                  </a:ext>
                </a:extLst>
              </a:tr>
              <a:tr h="326390">
                <a:tc>
                  <a:txBody>
                    <a:bodyPr/>
                    <a:lstStyle/>
                    <a:p>
                      <a:pPr marL="0" marR="0" rtl="0" latinLnBrk="0">
                        <a:spcBef>
                          <a:spcPts val="0"/>
                        </a:spcBef>
                        <a:spcAft>
                          <a:spcPts val="1000"/>
                        </a:spcAft>
                      </a:pPr>
                      <a:r>
                        <a:rPr lang="hy-AM" sz="1200">
                          <a:effectLst/>
                        </a:rPr>
                        <a:t>Նկարագրել վերջին 3 տարում 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Առաջարկությունների քննարկմանը մասնակից ծնողների թիվը </a:t>
                      </a:r>
                      <a:r>
                        <a:rPr lang="hy-AM" sz="1200" err="1">
                          <a:effectLst/>
                        </a:rPr>
                        <a:t>ևուսուցիչներին</a:t>
                      </a:r>
                      <a:r>
                        <a:rPr lang="hy-AM" sz="1200">
                          <a:effectLst/>
                        </a:rPr>
                        <a:t> թիվը, ովքեր ծնողական խորհրդի կողմից առաջարկվել են խրախուսման կամ կարգապահական տույժի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dirty="0" smtClean="0">
                          <a:effectLst/>
                        </a:rPr>
                        <a:t>Մեկնաբանություններ</a:t>
                      </a:r>
                      <a:r>
                        <a:rPr lang="hy-AM" sz="1200" dirty="0">
                          <a:effectLst/>
                        </a:rPr>
                        <a:t> </a:t>
                      </a:r>
                      <a:endParaRPr lang="hy-AM" dirty="0">
                        <a:effectLst/>
                      </a:endParaRPr>
                    </a:p>
                  </a:txBody>
                  <a:tcPr marL="0" marR="0" marT="0" marB="0" anchor="ctr"/>
                </a:tc>
                <a:extLst>
                  <a:ext uri="{0D108BD9-81ED-4DB2-BD59-A6C34878D82A}">
                    <a16:rowId xmlns:a16="http://schemas.microsoft.com/office/drawing/2014/main" val="2609555309"/>
                  </a:ext>
                </a:extLst>
              </a:tr>
              <a:tr h="175768">
                <a:tc>
                  <a:txBody>
                    <a:bodyPr/>
                    <a:lstStyle/>
                    <a:p>
                      <a:pPr marL="0" marR="0" rtl="0" latinLnBrk="0">
                        <a:spcBef>
                          <a:spcPts val="0"/>
                        </a:spcBef>
                        <a:spcAft>
                          <a:spcPts val="0"/>
                        </a:spcAft>
                      </a:pPr>
                      <a:r>
                        <a:rPr lang="hy-AM" sz="1200">
                          <a:effectLst/>
                        </a:rPr>
                        <a:t>1.Ուսուցիչների ներկայացում հաստատության տնօրենի ամենամյա խրախուսական </a:t>
                      </a:r>
                      <a:r>
                        <a:rPr lang="hy-AM" sz="1200" err="1">
                          <a:effectLst/>
                        </a:rPr>
                        <a:t>շնորհակալագրերին</a:t>
                      </a:r>
                      <a:r>
                        <a:rPr lang="hy-AM" sz="1200">
                          <a:effectLst/>
                        </a:rPr>
                        <a:t>: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en-US" sz="1200">
                          <a:effectLst/>
                        </a:rPr>
                        <a:t>80-90%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Քննարկում են ԾԽ նիստում և իրենց առաջարկությունները ներկայացնում տնօրենի հաստատմանը: </a:t>
                      </a:r>
                      <a:endParaRPr lang="hy-AM">
                        <a:effectLst/>
                      </a:endParaRPr>
                    </a:p>
                  </a:txBody>
                  <a:tcPr marL="0" marR="0" marT="0" marB="0" anchor="ctr"/>
                </a:tc>
                <a:extLst>
                  <a:ext uri="{0D108BD9-81ED-4DB2-BD59-A6C34878D82A}">
                    <a16:rowId xmlns:a16="http://schemas.microsoft.com/office/drawing/2014/main" val="504198601"/>
                  </a:ext>
                </a:extLst>
              </a:tr>
              <a:tr h="200914">
                <a:tc>
                  <a:txBody>
                    <a:bodyPr/>
                    <a:lstStyle/>
                    <a:p>
                      <a:pPr marL="0" marR="0" rtl="0" latinLnBrk="0">
                        <a:spcBef>
                          <a:spcPts val="0"/>
                        </a:spcBef>
                        <a:spcAft>
                          <a:spcPts val="0"/>
                        </a:spcAft>
                      </a:pPr>
                      <a:r>
                        <a:rPr lang="hy-AM" sz="1200">
                          <a:effectLst/>
                        </a:rPr>
                        <a:t>2. Ծնողական ժողովների արձանագրում և ներկայացում քննարկված թեմաներին, այդ թվում՝ գանգատներ, </a:t>
                      </a:r>
                      <a:r>
                        <a:rPr lang="hy-AM" sz="1200" err="1">
                          <a:effectLst/>
                        </a:rPr>
                        <a:t>գոհունակություններ</a:t>
                      </a:r>
                      <a:r>
                        <a:rPr lang="hy-AM" sz="1200">
                          <a:effectLst/>
                        </a:rPr>
                        <a:t>, առաջարկություններ: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Առնվազն կիսամյակը 2 անգամ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en-US" sz="1200" dirty="0" smtClean="0">
                          <a:effectLst/>
                        </a:rPr>
                        <a:t>9</a:t>
                      </a:r>
                      <a:r>
                        <a:rPr lang="hy-AM" sz="1200" dirty="0" smtClean="0">
                          <a:effectLst/>
                        </a:rPr>
                        <a:t>0</a:t>
                      </a:r>
                      <a:r>
                        <a:rPr lang="en-US" sz="1200" dirty="0" smtClean="0">
                          <a:effectLst/>
                        </a:rPr>
                        <a:t>%</a:t>
                      </a:r>
                      <a:r>
                        <a:rPr lang="en-US" sz="1200" dirty="0">
                          <a:effectLst/>
                        </a:rPr>
                        <a:t> </a:t>
                      </a:r>
                      <a:endParaRPr lang="en-US"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Արձանագրությունները քննարկվում են հաստատության տնօրենի և ՄԿԱ գծով տնօրենի տեղակալի կողմից: </a:t>
                      </a:r>
                      <a:endParaRPr lang="hy-AM">
                        <a:effectLst/>
                      </a:endParaRPr>
                    </a:p>
                  </a:txBody>
                  <a:tcPr marL="0" marR="0" marT="0" marB="0" anchor="ctr"/>
                </a:tc>
                <a:extLst>
                  <a:ext uri="{0D108BD9-81ED-4DB2-BD59-A6C34878D82A}">
                    <a16:rowId xmlns:a16="http://schemas.microsoft.com/office/drawing/2014/main" val="3557736671"/>
                  </a:ext>
                </a:extLst>
              </a:tr>
              <a:tr h="27178">
                <a:tc gridSpan="6">
                  <a:txBody>
                    <a:bodyPr/>
                    <a:lstStyle/>
                    <a:p>
                      <a:pPr marL="0" marR="0" rtl="0" latinLnBrk="0">
                        <a:spcBef>
                          <a:spcPts val="0"/>
                        </a:spcBef>
                        <a:spcAft>
                          <a:spcPts val="1000"/>
                        </a:spcAft>
                      </a:pPr>
                      <a:r>
                        <a:rPr lang="hy-AM" sz="1200">
                          <a:effectLst/>
                        </a:rPr>
                        <a:t>Ծնողական խորհրդի հանդիպումների ընթացքում քննարկված հարցերը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35878191"/>
                  </a:ext>
                </a:extLst>
              </a:tr>
              <a:tr h="75311">
                <a:tc gridSpan="2">
                  <a:txBody>
                    <a:bodyPr/>
                    <a:lstStyle/>
                    <a:p>
                      <a:pPr marL="0" marR="0" rtl="0" latinLnBrk="0">
                        <a:spcBef>
                          <a:spcPts val="0"/>
                        </a:spcBef>
                        <a:spcAft>
                          <a:spcPts val="0"/>
                        </a:spcAft>
                      </a:pPr>
                      <a:r>
                        <a:rPr lang="hy-AM" sz="1200">
                          <a:effectLst/>
                        </a:rPr>
                        <a:t>Նկարագրել վերջին 3 տարում ծնողական խորհրդի հանդիպումների ընթացքում քննարկված հարցերը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Մեկնաբանություններ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367083315"/>
                  </a:ext>
                </a:extLst>
              </a:tr>
              <a:tr h="75311">
                <a:tc gridSpan="2">
                  <a:txBody>
                    <a:bodyPr/>
                    <a:lstStyle/>
                    <a:p>
                      <a:pPr marL="54610" marR="0" indent="-54610" rtl="0" latinLnBrk="0">
                        <a:spcBef>
                          <a:spcPts val="0"/>
                        </a:spcBef>
                        <a:spcAft>
                          <a:spcPts val="0"/>
                        </a:spcAft>
                      </a:pPr>
                      <a:r>
                        <a:rPr lang="hy-AM" sz="1200">
                          <a:effectLst/>
                        </a:rPr>
                        <a:t>1.Ծանոթացում համադպրոցական ուսումնադաստիարակչական աշխատանքների  ուսումնական պլանին: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Ծանոթանում են և ըստ այդմ կազմում իրենց աշխատանքային պլանը: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060594876"/>
                  </a:ext>
                </a:extLst>
              </a:tr>
              <a:tr h="218694">
                <a:tc gridSpan="2">
                  <a:txBody>
                    <a:bodyPr/>
                    <a:lstStyle/>
                    <a:p>
                      <a:pPr marL="54610" marR="0" indent="-54610" rtl="0" latinLnBrk="0">
                        <a:spcBef>
                          <a:spcPts val="0"/>
                        </a:spcBef>
                        <a:spcAft>
                          <a:spcPts val="0"/>
                        </a:spcAft>
                      </a:pPr>
                      <a:r>
                        <a:rPr lang="hy-AM" sz="1200" dirty="0">
                          <a:effectLst/>
                        </a:rPr>
                        <a:t>3.Ծանոթացում «</a:t>
                      </a:r>
                      <a:r>
                        <a:rPr lang="hy-AM" sz="1200" kern="1200" dirty="0">
                          <a:effectLst/>
                          <a:hlinkClick r:id="rId3"/>
                        </a:rPr>
                        <a:t>Ուսումնական հաստատության սովորողների կողմից կրթական ծրագրերի յուրացման, ամփոփիչ ստուգման կամ ատեստավորման անցկացման, սովորողների փոխադրման, ավարտման և ուսումնական տարվա ընթացքում </a:t>
                      </a:r>
                      <a:r>
                        <a:rPr lang="hy-AM" sz="1200" kern="1200" dirty="0" smtClean="0">
                          <a:effectLst/>
                          <a:hlinkClick r:id="rId3"/>
                        </a:rPr>
                        <a:t>60</a:t>
                      </a:r>
                      <a:r>
                        <a:rPr lang="hy-AM" sz="1200" kern="1200" baseline="0" dirty="0" smtClean="0">
                          <a:effectLst/>
                          <a:hlinkClick r:id="rId3"/>
                        </a:rPr>
                        <a:t> և ավելի</a:t>
                      </a:r>
                      <a:r>
                        <a:rPr lang="hy-AM" sz="1200" kern="1200" dirty="0" smtClean="0">
                          <a:effectLst/>
                          <a:hlinkClick r:id="rId3"/>
                        </a:rPr>
                        <a:t> ժամ  </a:t>
                      </a:r>
                      <a:r>
                        <a:rPr lang="hy-AM" sz="1200" kern="1200" dirty="0">
                          <a:effectLst/>
                          <a:hlinkClick r:id="rId3"/>
                        </a:rPr>
                        <a:t>բացակայած սովորողի՝ հաջորդ դասարան կամ հանրակրթության հաջորդ աստիճան փոխադրման»  կարգ</a:t>
                      </a:r>
                      <a:r>
                        <a:rPr lang="hy-AM" sz="1200" kern="1200" dirty="0">
                          <a:effectLst/>
                        </a:rPr>
                        <a:t>&gt;&gt;-</a:t>
                      </a:r>
                      <a:r>
                        <a:rPr lang="hy-AM" sz="1200" dirty="0">
                          <a:effectLst/>
                        </a:rPr>
                        <a:t>ին: </a:t>
                      </a:r>
                      <a:r>
                        <a:rPr lang="en-US" sz="1200" dirty="0">
                          <a:effectLst/>
                        </a:rPr>
                        <a:t>/388-</a:t>
                      </a:r>
                      <a:r>
                        <a:rPr lang="hy-AM" sz="1200" dirty="0">
                          <a:effectLst/>
                        </a:rPr>
                        <a:t>Ն</a:t>
                      </a:r>
                      <a:r>
                        <a:rPr lang="hy-AM" sz="1200" baseline="0" dirty="0">
                          <a:effectLst/>
                        </a:rPr>
                        <a:t> հրամանի </a:t>
                      </a:r>
                      <a:r>
                        <a:rPr lang="hy-AM" sz="1200" baseline="0" dirty="0" smtClean="0">
                          <a:effectLst/>
                        </a:rPr>
                        <a:t>հավելված, 164-Ն հրաման/</a:t>
                      </a:r>
                      <a:endParaRPr lang="hy-AM" dirty="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Տեղեկացվածության ապահովման նպատակով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23630294"/>
                  </a:ext>
                </a:extLst>
              </a:tr>
              <a:tr h="218694">
                <a:tc gridSpan="2">
                  <a:txBody>
                    <a:bodyPr/>
                    <a:lstStyle/>
                    <a:p>
                      <a:r>
                        <a:rPr lang="hy-AM" sz="1200">
                          <a:effectLst/>
                        </a:rPr>
                        <a:t>4. Ծանոթացում </a:t>
                      </a:r>
                      <a:r>
                        <a:rPr lang="hy-AM" sz="1200" b="0" i="0" kern="1200">
                          <a:solidFill>
                            <a:schemeClr val="tx1"/>
                          </a:solidFill>
                          <a:latin typeface="+mn-lt"/>
                          <a:ea typeface="+mn-ea"/>
                          <a:cs typeface="+mn-cs"/>
                        </a:rPr>
                        <a:t>հանրակրթական ուսումնական հաստատություններում հեռավար (դիստանցիոն) կրթության կազմակերպման կարգին՝  ՀՀ կրթության, գիտության մշակույթի և սպորտի նախարարի 2020 թվականի</a:t>
                      </a:r>
                    </a:p>
                    <a:p>
                      <a:r>
                        <a:rPr lang="hy-AM" sz="1200" b="0" i="0" kern="1200">
                          <a:solidFill>
                            <a:schemeClr val="tx1"/>
                          </a:solidFill>
                          <a:latin typeface="+mn-lt"/>
                          <a:ea typeface="+mn-ea"/>
                          <a:cs typeface="+mn-cs"/>
                        </a:rPr>
                        <a:t>մայիսի 20-ի </a:t>
                      </a:r>
                      <a:r>
                        <a:rPr lang="en-US" sz="1200" b="0" i="0" kern="1200">
                          <a:solidFill>
                            <a:schemeClr val="tx1"/>
                          </a:solidFill>
                          <a:latin typeface="+mn-lt"/>
                          <a:ea typeface="+mn-ea"/>
                          <a:cs typeface="+mn-cs"/>
                        </a:rPr>
                        <a:t>N 09-</a:t>
                      </a:r>
                      <a:r>
                        <a:rPr lang="hy-AM" sz="1200" b="0" i="0" kern="1200">
                          <a:solidFill>
                            <a:schemeClr val="tx1"/>
                          </a:solidFill>
                          <a:latin typeface="+mn-lt"/>
                          <a:ea typeface="+mn-ea"/>
                          <a:cs typeface="+mn-cs"/>
                        </a:rPr>
                        <a:t>Ն հրամանի հավելված</a:t>
                      </a:r>
                    </a:p>
                    <a:p>
                      <a:pPr marL="54610" marR="0" indent="-54610" rtl="0" latinLnBrk="0">
                        <a:spcBef>
                          <a:spcPts val="0"/>
                        </a:spcBef>
                        <a:spcAft>
                          <a:spcPts val="0"/>
                        </a:spcAft>
                      </a:pPr>
                      <a:endParaRPr lang="hy-AM" sz="120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a:t>
                      </a: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dirty="0">
                          <a:effectLst/>
                        </a:rPr>
                        <a:t>Տեղեկացվածության ապահովման նպատակով </a:t>
                      </a:r>
                    </a:p>
                  </a:txBody>
                  <a:tcPr marL="0" marR="0" marT="0" marB="0" anchor="ctr"/>
                </a:tc>
                <a:tc h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8223349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091781942"/>
              </p:ext>
            </p:extLst>
          </p:nvPr>
        </p:nvGraphicFramePr>
        <p:xfrm>
          <a:off x="212075" y="661793"/>
          <a:ext cx="10426699" cy="5334000"/>
        </p:xfrm>
        <a:graphic>
          <a:graphicData uri="http://schemas.openxmlformats.org/drawingml/2006/table">
            <a:tbl>
              <a:tblPr>
                <a:tableStyleId>{5940675A-B579-460E-94D1-54222C63F5DA}</a:tableStyleId>
              </a:tblPr>
              <a:tblGrid>
                <a:gridCol w="3538989">
                  <a:extLst>
                    <a:ext uri="{9D8B030D-6E8A-4147-A177-3AD203B41FA5}">
                      <a16:colId xmlns:a16="http://schemas.microsoft.com/office/drawing/2014/main" val="3641521153"/>
                    </a:ext>
                  </a:extLst>
                </a:gridCol>
                <a:gridCol w="1763152">
                  <a:extLst>
                    <a:ext uri="{9D8B030D-6E8A-4147-A177-3AD203B41FA5}">
                      <a16:colId xmlns:a16="http://schemas.microsoft.com/office/drawing/2014/main" val="3978333873"/>
                    </a:ext>
                  </a:extLst>
                </a:gridCol>
                <a:gridCol w="2473487">
                  <a:extLst>
                    <a:ext uri="{9D8B030D-6E8A-4147-A177-3AD203B41FA5}">
                      <a16:colId xmlns:a16="http://schemas.microsoft.com/office/drawing/2014/main" val="70141305"/>
                    </a:ext>
                  </a:extLst>
                </a:gridCol>
                <a:gridCol w="2651071">
                  <a:extLst>
                    <a:ext uri="{9D8B030D-6E8A-4147-A177-3AD203B41FA5}">
                      <a16:colId xmlns:a16="http://schemas.microsoft.com/office/drawing/2014/main" val="3507790026"/>
                    </a:ext>
                  </a:extLst>
                </a:gridCol>
              </a:tblGrid>
              <a:tr h="50165">
                <a:tc gridSpan="4">
                  <a:txBody>
                    <a:bodyPr/>
                    <a:lstStyle/>
                    <a:p>
                      <a:pPr marL="0" marR="0" rtl="0" latinLnBrk="0">
                        <a:spcBef>
                          <a:spcPts val="0"/>
                        </a:spcBef>
                        <a:spcAft>
                          <a:spcPts val="1000"/>
                        </a:spcAft>
                      </a:pPr>
                      <a:r>
                        <a:rPr lang="hy-AM" sz="1400" b="1">
                          <a:effectLst/>
                        </a:rPr>
                        <a:t>Ծնողական խորհրդի կողմից հաստատության ծնողազուրկ և սոցիալապես անապահով ընտանիքներից սովորողներին </a:t>
                      </a:r>
                      <a:r>
                        <a:rPr lang="hy-AM" sz="1400" b="1" err="1">
                          <a:effectLst/>
                        </a:rPr>
                        <a:t>տրամադարվող</a:t>
                      </a:r>
                      <a:r>
                        <a:rPr lang="hy-AM" sz="1400" b="1">
                          <a:effectLst/>
                        </a:rPr>
                        <a:t> աջակցությունը, դրանց </a:t>
                      </a:r>
                      <a:r>
                        <a:rPr lang="hy-AM" sz="1400" b="1" err="1">
                          <a:effectLst/>
                        </a:rPr>
                        <a:t>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8161088"/>
                  </a:ext>
                </a:extLst>
              </a:tr>
              <a:tr h="150622">
                <a:tc>
                  <a:txBody>
                    <a:bodyPr/>
                    <a:lstStyle/>
                    <a:p>
                      <a:pPr marL="17780" marR="0" indent="-17780" rtl="0" latinLnBrk="0">
                        <a:spcBef>
                          <a:spcPts val="0"/>
                        </a:spcBef>
                        <a:spcAft>
                          <a:spcPts val="0"/>
                        </a:spcAft>
                      </a:pPr>
                      <a:r>
                        <a:rPr lang="hy-AM" sz="1400">
                          <a:effectLst/>
                        </a:rPr>
                        <a:t>Նկարագրել վերջին 3 տարում ծնողական խորհրդի կողմից հաստատության ծնողազուրկ և սոցիալապես անապահով ընտանիքներից սովորողների </a:t>
                      </a:r>
                      <a:r>
                        <a:rPr lang="hy-AM" sz="1400" err="1">
                          <a:effectLst/>
                        </a:rPr>
                        <a:t>նտրամադարվող</a:t>
                      </a:r>
                      <a:r>
                        <a:rPr lang="hy-AM" sz="1400">
                          <a:effectLst/>
                        </a:rPr>
                        <a:t> աջակցության դեպքերը և դրանց </a:t>
                      </a:r>
                      <a:r>
                        <a:rPr lang="hy-AM" sz="1400" err="1">
                          <a:effectLst/>
                        </a:rPr>
                        <a:t>ձևը</a:t>
                      </a:r>
                      <a:r>
                        <a:rPr lang="hy-AM" sz="1400">
                          <a:effectLst/>
                        </a:rPr>
                        <a:t> </a:t>
                      </a:r>
                      <a:endParaRPr lang="hy-AM">
                        <a:effectLst/>
                      </a:endParaRPr>
                    </a:p>
                  </a:txBody>
                  <a:tcPr marL="0" marR="0" marT="0" marB="0" anchor="ctr"/>
                </a:tc>
                <a:tc>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400">
                          <a:effectLst/>
                        </a:rPr>
                        <a:t>Ծնողների կողմից ներդրված գումարի չափը </a:t>
                      </a:r>
                      <a:endParaRPr lang="hy-AM">
                        <a:effectLst/>
                      </a:endParaRPr>
                    </a:p>
                  </a:txBody>
                  <a:tcPr marL="0" marR="0" marT="0" marB="0" anchor="ctr"/>
                </a:tc>
                <a:tc>
                  <a:txBody>
                    <a:bodyPr/>
                    <a:lstStyle/>
                    <a:p>
                      <a:pPr marL="0" marR="0" rtl="0" latinLnBrk="0">
                        <a:spcBef>
                          <a:spcPts val="0"/>
                        </a:spcBef>
                        <a:spcAft>
                          <a:spcPts val="0"/>
                        </a:spcAft>
                      </a:pPr>
                      <a:r>
                        <a:rPr lang="hy-AM" sz="1400">
                          <a:effectLst/>
                        </a:rPr>
                        <a:t>Մեկնաբանություններ </a:t>
                      </a:r>
                      <a:endParaRPr lang="hy-AM">
                        <a:effectLst/>
                      </a:endParaRPr>
                    </a:p>
                  </a:txBody>
                  <a:tcPr marL="0" marR="0" marT="0" marB="0" anchor="ctr"/>
                </a:tc>
                <a:extLst>
                  <a:ext uri="{0D108BD9-81ED-4DB2-BD59-A6C34878D82A}">
                    <a16:rowId xmlns:a16="http://schemas.microsoft.com/office/drawing/2014/main" val="789185831"/>
                  </a:ext>
                </a:extLst>
              </a:tr>
              <a:tr h="175768">
                <a:tc>
                  <a:txBody>
                    <a:bodyPr/>
                    <a:lstStyle/>
                    <a:p>
                      <a:pPr marL="54610" marR="0" indent="-54610" rtl="0" latinLnBrk="0">
                        <a:spcBef>
                          <a:spcPts val="0"/>
                        </a:spcBef>
                        <a:spcAft>
                          <a:spcPts val="0"/>
                        </a:spcAft>
                      </a:pPr>
                      <a:r>
                        <a:rPr lang="hy-AM" sz="1400">
                          <a:effectLst/>
                        </a:rPr>
                        <a:t>1.Քննարկել և հաստատության տնօրենի հաստատմանն են ներկայացրել սոցիալապես անապահով սովորողների </a:t>
                      </a:r>
                      <a:r>
                        <a:rPr lang="hy-AM" sz="1400" err="1">
                          <a:effectLst/>
                        </a:rPr>
                        <a:t>ցանկը`վերջիններիս</a:t>
                      </a:r>
                      <a:r>
                        <a:rPr lang="hy-AM" sz="1400">
                          <a:effectLst/>
                        </a:rPr>
                        <a:t> պետպատվերի շրջանակներում առանց վարձավճարի գրքեր տրամադրելու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latinLnBrk="0">
                        <a:spcBef>
                          <a:spcPts val="0"/>
                        </a:spcBef>
                        <a:spcAft>
                          <a:spcPts val="0"/>
                        </a:spcAft>
                      </a:pPr>
                      <a:r>
                        <a:rPr lang="en-US" sz="1400" dirty="0" smtClean="0">
                          <a:effectLst/>
                        </a:rPr>
                        <a:t>8</a:t>
                      </a:r>
                      <a:r>
                        <a:rPr lang="hy-AM" sz="1400" dirty="0" smtClean="0">
                          <a:effectLst/>
                        </a:rPr>
                        <a:t>5</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400">
                          <a:effectLst/>
                        </a:rPr>
                        <a:t>Կարիքավոր ընտանիքներին հայտնաբերելու և աջակցելու նպատակով; </a:t>
                      </a:r>
                      <a:endParaRPr lang="hy-AM">
                        <a:effectLst/>
                      </a:endParaRPr>
                    </a:p>
                  </a:txBody>
                  <a:tcPr marL="0" marR="0" marT="0" marB="0" anchor="ctr"/>
                </a:tc>
                <a:extLst>
                  <a:ext uri="{0D108BD9-81ED-4DB2-BD59-A6C34878D82A}">
                    <a16:rowId xmlns:a16="http://schemas.microsoft.com/office/drawing/2014/main" val="1819547829"/>
                  </a:ext>
                </a:extLst>
              </a:tr>
              <a:tr h="50165">
                <a:tc gridSpan="4">
                  <a:txBody>
                    <a:bodyPr/>
                    <a:lstStyle/>
                    <a:p>
                      <a:pPr marL="0" marR="0" rtl="0" latinLnBrk="0">
                        <a:spcBef>
                          <a:spcPts val="0"/>
                        </a:spcBef>
                        <a:spcAft>
                          <a:spcPts val="1000"/>
                        </a:spcAft>
                      </a:pPr>
                      <a:r>
                        <a:rPr lang="hy-AM" sz="1400">
                          <a:effectLst/>
                        </a:rPr>
                        <a:t>Նկարագրել ծնողական և աշակերտական խորհուրդների համագործակցությունը և դրա </a:t>
                      </a:r>
                      <a:r>
                        <a:rPr lang="hy-AM" sz="1400" err="1">
                          <a:effectLst/>
                        </a:rPr>
                        <a:t>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3633860"/>
                  </a:ext>
                </a:extLst>
              </a:tr>
              <a:tr h="50165">
                <a:tc gridSpan="4">
                  <a:txBody>
                    <a:bodyPr/>
                    <a:lstStyle/>
                    <a:p>
                      <a:pPr marL="0" marR="0" rtl="0" latinLnBrk="0">
                        <a:spcBef>
                          <a:spcPts val="0"/>
                        </a:spcBef>
                        <a:spcAft>
                          <a:spcPts val="1000"/>
                        </a:spcAft>
                      </a:pPr>
                      <a:r>
                        <a:rPr lang="hy-AM" sz="1400">
                          <a:effectLst/>
                        </a:rPr>
                        <a:t>Ծնողական խորհուրդն աջակցում է աշակերտական </a:t>
                      </a:r>
                      <a:r>
                        <a:rPr lang="hy-AM" sz="1400" err="1">
                          <a:effectLst/>
                        </a:rPr>
                        <a:t>խորհրդին`իրագործելու</a:t>
                      </a:r>
                      <a:r>
                        <a:rPr lang="hy-AM" sz="1400">
                          <a:effectLst/>
                        </a:rPr>
                        <a:t> իրենց նախաձեռնություններն ու մտահղացումները: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93297999"/>
                  </a:ext>
                </a:extLst>
              </a:tr>
              <a:tr h="50165">
                <a:tc gridSpan="4">
                  <a:txBody>
                    <a:bodyPr/>
                    <a:lstStyle/>
                    <a:p>
                      <a:pPr marL="0" marR="0" rtl="0" latinLnBrk="0">
                        <a:spcBef>
                          <a:spcPts val="0"/>
                        </a:spcBef>
                        <a:spcAft>
                          <a:spcPts val="1000"/>
                        </a:spcAft>
                      </a:pPr>
                      <a:r>
                        <a:rPr lang="hy-AM" sz="1400" b="1">
                          <a:effectLst/>
                        </a:rPr>
                        <a:t>Նկարագրել ուսումնական հաստատության </a:t>
                      </a:r>
                      <a:r>
                        <a:rPr lang="hy-AM" sz="1400" b="1" err="1">
                          <a:effectLst/>
                        </a:rPr>
                        <a:t>առօրյայից</a:t>
                      </a:r>
                      <a:r>
                        <a:rPr lang="hy-AM" sz="1400" b="1">
                          <a:effectLst/>
                        </a:rPr>
                        <a:t> և տեղի ունեցող իրադարձություններից ծնողների </a:t>
                      </a:r>
                      <a:r>
                        <a:rPr lang="hy-AM" sz="1400" b="1" err="1">
                          <a:effectLst/>
                        </a:rPr>
                        <a:t>տեղեկացվածության</a:t>
                      </a:r>
                      <a:r>
                        <a:rPr lang="hy-AM" sz="1400" b="1">
                          <a:effectLst/>
                        </a:rPr>
                        <a:t> աստիճանը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10697291"/>
                  </a:ext>
                </a:extLst>
              </a:tr>
              <a:tr h="175768">
                <a:tc gridSpan="4">
                  <a:txBody>
                    <a:bodyPr/>
                    <a:lstStyle/>
                    <a:p>
                      <a:pPr marL="0" marR="0" rtl="0" latinLnBrk="0">
                        <a:spcBef>
                          <a:spcPts val="0"/>
                        </a:spcBef>
                        <a:spcAft>
                          <a:spcPts val="1000"/>
                        </a:spcAft>
                      </a:pPr>
                      <a:r>
                        <a:rPr lang="hy-AM" sz="1400" b="1" dirty="0">
                          <a:effectLst/>
                        </a:rPr>
                        <a:t>Հաստատության գործունեությունը թափանցիկ է, գործողությունները միտված են տեղեկացվածության մակարդակի բարձրացմանը: Դասղեկներն ապահովում են դպրոց-ծնող ամենօրյա կապ, իրազեկում են երեխաների հաճախումներին, առաջադիմությանն ու կարգապահական հարցերին: Կիսամյակը մեկ անգամ կազմակերպվում է բաց դռների օր`ապահովելով ծնողների և մանկավարժների անմիջական հաղորդակցումը: Տեղեկացվածության ապահովմանը նպաստում են դասարանական ծնողական խորհուրդները, ովքեր հաճախ են լինում դպրոցում,քաջատեղյակ են իրավիճակին: </a:t>
                      </a:r>
                      <a:endParaRPr lang="hy-AM" b="1"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6809453"/>
                  </a:ext>
                </a:extLst>
              </a:tr>
            </a:tbl>
          </a:graphicData>
        </a:graphic>
      </p:graphicFrame>
    </p:spTree>
    <p:extLst>
      <p:ext uri="{BB962C8B-B14F-4D97-AF65-F5344CB8AC3E}">
        <p14:creationId xmlns:p14="http://schemas.microsoft.com/office/powerpoint/2010/main" val="284906412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4121698255"/>
              </p:ext>
            </p:extLst>
          </p:nvPr>
        </p:nvGraphicFramePr>
        <p:xfrm>
          <a:off x="453321" y="0"/>
          <a:ext cx="10426701" cy="6869541"/>
        </p:xfrm>
        <a:graphic>
          <a:graphicData uri="http://schemas.openxmlformats.org/drawingml/2006/table">
            <a:tbl>
              <a:tblPr>
                <a:tableStyleId>{5940675A-B579-460E-94D1-54222C63F5DA}</a:tableStyleId>
              </a:tblPr>
              <a:tblGrid>
                <a:gridCol w="4075459">
                  <a:extLst>
                    <a:ext uri="{9D8B030D-6E8A-4147-A177-3AD203B41FA5}">
                      <a16:colId xmlns:a16="http://schemas.microsoft.com/office/drawing/2014/main" val="3117223105"/>
                    </a:ext>
                  </a:extLst>
                </a:gridCol>
                <a:gridCol w="2132951">
                  <a:extLst>
                    <a:ext uri="{9D8B030D-6E8A-4147-A177-3AD203B41FA5}">
                      <a16:colId xmlns:a16="http://schemas.microsoft.com/office/drawing/2014/main" val="2029776322"/>
                    </a:ext>
                  </a:extLst>
                </a:gridCol>
                <a:gridCol w="1199785">
                  <a:extLst>
                    <a:ext uri="{9D8B030D-6E8A-4147-A177-3AD203B41FA5}">
                      <a16:colId xmlns:a16="http://schemas.microsoft.com/office/drawing/2014/main" val="4046168155"/>
                    </a:ext>
                  </a:extLst>
                </a:gridCol>
                <a:gridCol w="3018506">
                  <a:extLst>
                    <a:ext uri="{9D8B030D-6E8A-4147-A177-3AD203B41FA5}">
                      <a16:colId xmlns:a16="http://schemas.microsoft.com/office/drawing/2014/main" val="1628726605"/>
                    </a:ext>
                  </a:extLst>
                </a:gridCol>
              </a:tblGrid>
              <a:tr h="50165">
                <a:tc gridSpan="4">
                  <a:txBody>
                    <a:bodyPr/>
                    <a:lstStyle/>
                    <a:p>
                      <a:pPr marL="0" marR="0" rtl="0" latinLnBrk="0">
                        <a:spcBef>
                          <a:spcPts val="0"/>
                        </a:spcBef>
                        <a:spcAft>
                          <a:spcPts val="1000"/>
                        </a:spcAft>
                      </a:pPr>
                      <a:endParaRPr lang="hy-AM" sz="1200" b="1">
                        <a:effectLst/>
                      </a:endParaRPr>
                    </a:p>
                    <a:p>
                      <a:pPr marL="0" marR="0" rtl="0" latinLnBrk="0">
                        <a:spcBef>
                          <a:spcPts val="0"/>
                        </a:spcBef>
                        <a:spcAft>
                          <a:spcPts val="1000"/>
                        </a:spcAft>
                      </a:pPr>
                      <a:r>
                        <a:rPr lang="hy-AM" sz="1200" b="1">
                          <a:effectLst/>
                        </a:rPr>
                        <a:t>Ծնողների ներգրավվածությունը. սովորողների արտադպրոցական և արտադասարանական աշխատանքներին, ներգրավվածության ձևերը</a:t>
                      </a:r>
                    </a:p>
                    <a:p>
                      <a:pPr marL="0" marR="0" rtl="0" latinLnBrk="0">
                        <a:spcBef>
                          <a:spcPts val="0"/>
                        </a:spcBef>
                        <a:spcAft>
                          <a:spcPts val="1000"/>
                        </a:spcAft>
                      </a:pP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72645404"/>
                  </a:ext>
                </a:extLst>
              </a:tr>
              <a:tr h="225933">
                <a:tc>
                  <a:txBody>
                    <a:bodyPr/>
                    <a:lstStyle/>
                    <a:p>
                      <a:pPr marL="0" marR="0" rtl="0" latinLnBrk="0">
                        <a:spcBef>
                          <a:spcPts val="0"/>
                        </a:spcBef>
                        <a:spcAft>
                          <a:spcPts val="0"/>
                        </a:spcAft>
                      </a:pPr>
                      <a:r>
                        <a:rPr lang="hy-AM" sz="1200">
                          <a:effectLst/>
                        </a:rPr>
                        <a:t>Նկարագրել արտադպրոցական և արտադասարանական աշխատանքները, որոնց մեջ վերջին 3 տարում ծնողները ներգրավված են եղել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Ծնողների մասնակցության </a:t>
                      </a:r>
                      <a:r>
                        <a:rPr lang="hy-AM" sz="1200" err="1">
                          <a:effectLst/>
                        </a:rPr>
                        <a:t>ձևերը</a:t>
                      </a:r>
                      <a:r>
                        <a:rPr lang="hy-AM" sz="1200">
                          <a:effectLst/>
                        </a:rPr>
                        <a:t> և մասնակից ծնողների թիվը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Ծնողների ներդրումների չափը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 </a:t>
                      </a:r>
                      <a:r>
                        <a:rPr lang="hy-AM" sz="1200" err="1">
                          <a:effectLst/>
                        </a:rPr>
                        <a:t>նություններ</a:t>
                      </a:r>
                      <a:r>
                        <a:rPr lang="hy-AM" sz="1200">
                          <a:effectLst/>
                        </a:rPr>
                        <a:t> </a:t>
                      </a:r>
                      <a:endParaRPr lang="hy-AM">
                        <a:effectLst/>
                      </a:endParaRPr>
                    </a:p>
                  </a:txBody>
                  <a:tcPr marL="0" marR="0" marT="0" marB="0" anchor="ctr"/>
                </a:tc>
                <a:extLst>
                  <a:ext uri="{0D108BD9-81ED-4DB2-BD59-A6C34878D82A}">
                    <a16:rowId xmlns:a16="http://schemas.microsoft.com/office/drawing/2014/main" val="56214592"/>
                  </a:ext>
                </a:extLst>
              </a:tr>
              <a:tr h="75311">
                <a:tc>
                  <a:txBody>
                    <a:bodyPr/>
                    <a:lstStyle/>
                    <a:p>
                      <a:pPr marL="54610" marR="0" indent="-54610" rtl="0" latinLnBrk="0">
                        <a:spcBef>
                          <a:spcPts val="0"/>
                        </a:spcBef>
                        <a:spcAft>
                          <a:spcPts val="0"/>
                        </a:spcAft>
                      </a:pPr>
                      <a:r>
                        <a:rPr lang="hy-AM" sz="1200" dirty="0" smtClean="0">
                          <a:effectLst/>
                        </a:rPr>
                        <a:t>Շևչենկովյան</a:t>
                      </a:r>
                      <a:r>
                        <a:rPr lang="hy-AM" sz="1200" baseline="0" dirty="0" smtClean="0">
                          <a:effectLst/>
                        </a:rPr>
                        <a:t> օրեր</a:t>
                      </a:r>
                      <a:r>
                        <a:rPr lang="hy-AM" sz="1200" dirty="0">
                          <a:effectLst/>
                        </a:rPr>
                        <a:t> </a:t>
                      </a:r>
                      <a:endParaRPr lang="hy-AM" dirty="0">
                        <a:effectLst/>
                      </a:endParaRPr>
                    </a:p>
                  </a:txBody>
                  <a:tcPr marL="0" marR="0" marT="0" marB="0" anchor="ctr"/>
                </a:tc>
                <a:tc>
                  <a:txBody>
                    <a:bodyPr/>
                    <a:lstStyle/>
                    <a:p>
                      <a:pPr marL="0" marR="0" rtl="0" latinLnBrk="0">
                        <a:spcBef>
                          <a:spcPts val="0"/>
                        </a:spcBef>
                        <a:spcAft>
                          <a:spcPts val="0"/>
                        </a:spcAft>
                      </a:pPr>
                      <a:r>
                        <a:rPr lang="hy-AM" sz="1200" dirty="0">
                          <a:effectLst/>
                        </a:rPr>
                        <a:t>Կազմակերպչական հարցեր </a:t>
                      </a:r>
                      <a:endParaRPr lang="hy-AM" dirty="0">
                        <a:effectLst/>
                      </a:endParaRPr>
                    </a:p>
                    <a:p>
                      <a:pPr marL="0" marR="0" rtl="0" latinLnBrk="0">
                        <a:spcBef>
                          <a:spcPts val="0"/>
                        </a:spcBef>
                        <a:spcAft>
                          <a:spcPts val="0"/>
                        </a:spcAft>
                      </a:pPr>
                      <a:r>
                        <a:rPr lang="hy-AM" sz="1200" dirty="0" smtClean="0">
                          <a:effectLst/>
                        </a:rPr>
                        <a:t>80%</a:t>
                      </a:r>
                      <a:r>
                        <a:rPr lang="hy-AM" sz="1200" dirty="0">
                          <a:effectLst/>
                        </a:rPr>
                        <a:t> </a:t>
                      </a:r>
                      <a:endParaRPr lang="hy-AM"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lang="hy-AM" sz="1200">
                          <a:effectLst/>
                        </a:rPr>
                        <a:t>Աջակցություն դպրոցին և ԱԽ-ին </a:t>
                      </a:r>
                      <a:endParaRPr lang="hy-AM">
                        <a:effectLst/>
                      </a:endParaRPr>
                    </a:p>
                  </a:txBody>
                  <a:tcPr marL="0" marR="0" marT="0" marB="0" anchor="ctr"/>
                </a:tc>
                <a:extLst>
                  <a:ext uri="{0D108BD9-81ED-4DB2-BD59-A6C34878D82A}">
                    <a16:rowId xmlns:a16="http://schemas.microsoft.com/office/drawing/2014/main" val="2663176399"/>
                  </a:ext>
                </a:extLst>
              </a:tr>
              <a:tr h="381641">
                <a:tc>
                  <a:txBody>
                    <a:bodyPr/>
                    <a:lstStyle/>
                    <a:p>
                      <a:pPr marL="54610" marR="0" indent="-54610" rtl="0" latinLnBrk="0">
                        <a:spcBef>
                          <a:spcPts val="0"/>
                        </a:spcBef>
                        <a:spcAft>
                          <a:spcPts val="0"/>
                        </a:spcAft>
                      </a:pPr>
                      <a:r>
                        <a:rPr lang="hy-AM" sz="1200" dirty="0" smtClean="0">
                          <a:effectLst/>
                        </a:rPr>
                        <a:t>Հայոց </a:t>
                      </a:r>
                      <a:r>
                        <a:rPr lang="hy-AM" sz="1200" dirty="0">
                          <a:effectLst/>
                        </a:rPr>
                        <a:t>ցեղասպանության </a:t>
                      </a:r>
                      <a:r>
                        <a:rPr lang="hy-AM" sz="1200" baseline="0" dirty="0" smtClean="0">
                          <a:effectLst/>
                        </a:rPr>
                        <a:t> նվիրված </a:t>
                      </a:r>
                      <a:r>
                        <a:rPr lang="hy-AM" sz="1200" dirty="0" smtClean="0">
                          <a:effectLst/>
                        </a:rPr>
                        <a:t>միջոցառումներ</a:t>
                      </a:r>
                      <a:r>
                        <a:rPr lang="hy-AM" sz="1200" dirty="0">
                          <a:effectLst/>
                        </a:rPr>
                        <a:t> </a:t>
                      </a:r>
                      <a:endParaRPr lang="hy-AM" dirty="0">
                        <a:effectLst/>
                      </a:endParaRPr>
                    </a:p>
                  </a:txBody>
                  <a:tcPr marL="0" marR="0" marT="0" marB="0" anchor="ctr"/>
                </a:tc>
                <a:tc>
                  <a:txBody>
                    <a:bodyPr/>
                    <a:lstStyle/>
                    <a:p>
                      <a:pPr marL="0" marR="0" rtl="0" latinLnBrk="0">
                        <a:spcBef>
                          <a:spcPts val="0"/>
                        </a:spcBef>
                        <a:spcAft>
                          <a:spcPts val="0"/>
                        </a:spcAft>
                      </a:pPr>
                      <a:r>
                        <a:rPr lang="hy-AM" sz="1200" dirty="0" smtClean="0">
                          <a:effectLst/>
                        </a:rPr>
                        <a:t>9</a:t>
                      </a:r>
                      <a:r>
                        <a:rPr lang="en-US" sz="1200" dirty="0" smtClean="0">
                          <a:effectLst/>
                        </a:rPr>
                        <a:t>0</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1000"/>
                        </a:spcAft>
                      </a:pPr>
                      <a:r>
                        <a:rPr lang="hy-AM" sz="1200" dirty="0">
                          <a:effectLst/>
                        </a:rPr>
                        <a:t>Աջակցություն դպրոցին և ԱԽ </a:t>
                      </a:r>
                      <a:endParaRPr lang="hy-AM" dirty="0">
                        <a:effectLst/>
                      </a:endParaRPr>
                    </a:p>
                  </a:txBody>
                  <a:tcPr marL="0" marR="0" marT="0" marB="0" anchor="ctr"/>
                </a:tc>
                <a:extLst>
                  <a:ext uri="{0D108BD9-81ED-4DB2-BD59-A6C34878D82A}">
                    <a16:rowId xmlns:a16="http://schemas.microsoft.com/office/drawing/2014/main" val="1100892619"/>
                  </a:ext>
                </a:extLst>
              </a:tr>
              <a:tr h="381740">
                <a:tc>
                  <a:txBody>
                    <a:bodyPr/>
                    <a:lstStyle/>
                    <a:p>
                      <a:pPr marL="54610" marR="0" indent="-54610" rtl="0" latinLnBrk="0">
                        <a:spcBef>
                          <a:spcPts val="0"/>
                        </a:spcBef>
                        <a:spcAft>
                          <a:spcPts val="0"/>
                        </a:spcAft>
                      </a:pPr>
                      <a:r>
                        <a:rPr lang="hy-AM" sz="1400" dirty="0" smtClean="0">
                          <a:effectLst/>
                          <a:latin typeface="Sylfaen" panose="010A0502050306030303" pitchFamily="18" charset="0"/>
                        </a:rPr>
                        <a:t>Ամանորյան միջոցառում</a:t>
                      </a:r>
                      <a:endParaRPr lang="hy-AM" sz="1400" dirty="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kumimoji="0" lang="hy-AM" sz="1200" b="0" i="0" u="none" strike="noStrike" kern="1200" cap="none" spc="0" normalizeH="0" baseline="0" noProof="0" dirty="0" smtClean="0">
                          <a:ln>
                            <a:noFill/>
                          </a:ln>
                          <a:solidFill>
                            <a:prstClr val="black"/>
                          </a:solidFill>
                          <a:effectLst/>
                          <a:uLnTx/>
                          <a:uFillTx/>
                          <a:ea typeface="+mn-ea"/>
                          <a:cs typeface="+mn-cs"/>
                        </a:rPr>
                        <a:t>9</a:t>
                      </a:r>
                      <a:r>
                        <a:rPr kumimoji="0" lang="en-US" sz="1200" b="0" i="0" u="none" strike="noStrike" kern="1200" cap="none" spc="0" normalizeH="0" baseline="0" noProof="0" dirty="0" smtClean="0">
                          <a:ln>
                            <a:noFill/>
                          </a:ln>
                          <a:solidFill>
                            <a:prstClr val="black"/>
                          </a:solidFill>
                          <a:effectLst/>
                          <a:uLnTx/>
                          <a:uFillTx/>
                          <a:latin typeface="+mn-lt"/>
                          <a:ea typeface="+mn-ea"/>
                          <a:cs typeface="+mn-cs"/>
                        </a:rPr>
                        <a:t>0%</a:t>
                      </a:r>
                      <a:endParaRPr lang="en-US"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lang="hy-AM" sz="1400" dirty="0" smtClean="0">
                          <a:effectLst/>
                        </a:rPr>
                        <a:t>Աջակցություն դպրոցին և ԱԽ </a:t>
                      </a:r>
                    </a:p>
                  </a:txBody>
                  <a:tcPr marL="0" marR="0" marT="0" marB="0" anchor="ctr"/>
                </a:tc>
                <a:extLst>
                  <a:ext uri="{0D108BD9-81ED-4DB2-BD59-A6C34878D82A}">
                    <a16:rowId xmlns:a16="http://schemas.microsoft.com/office/drawing/2014/main" val="137860167"/>
                  </a:ext>
                </a:extLst>
              </a:tr>
              <a:tr h="50165">
                <a:tc>
                  <a:txBody>
                    <a:bodyPr/>
                    <a:lstStyle/>
                    <a:p>
                      <a:pPr marL="54610" marR="0" indent="-54610" rtl="0" latinLnBrk="0">
                        <a:spcBef>
                          <a:spcPts val="0"/>
                        </a:spcBef>
                        <a:spcAft>
                          <a:spcPts val="0"/>
                        </a:spcAft>
                      </a:pPr>
                      <a:r>
                        <a:rPr lang="hy-AM" sz="1200" dirty="0" smtClean="0">
                          <a:effectLst/>
                        </a:rPr>
                        <a:t>Տեառնընդառաջի </a:t>
                      </a:r>
                      <a:r>
                        <a:rPr lang="hy-AM" sz="1200" dirty="0">
                          <a:effectLst/>
                        </a:rPr>
                        <a:t>տոնի կազմակերպում </a:t>
                      </a:r>
                      <a:endParaRPr lang="hy-AM" dirty="0">
                        <a:effectLst/>
                      </a:endParaRPr>
                    </a:p>
                  </a:txBody>
                  <a:tcPr marL="0" marR="0" marT="0" marB="0" anchor="ctr"/>
                </a:tc>
                <a:tc>
                  <a:txBody>
                    <a:bodyPr/>
                    <a:lstStyle/>
                    <a:p>
                      <a:pPr marL="0" marR="0" rtl="0" latinLnBrk="0">
                        <a:spcBef>
                          <a:spcPts val="0"/>
                        </a:spcBef>
                        <a:spcAft>
                          <a:spcPts val="0"/>
                        </a:spcAft>
                      </a:pPr>
                      <a:r>
                        <a:rPr lang="hy-AM" sz="1200" dirty="0" smtClean="0">
                          <a:effectLst/>
                        </a:rPr>
                        <a:t>8</a:t>
                      </a:r>
                      <a:r>
                        <a:rPr lang="en-US" sz="1200" dirty="0" smtClean="0">
                          <a:effectLst/>
                        </a:rPr>
                        <a:t>0</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1000"/>
                        </a:spcAft>
                      </a:pPr>
                      <a:r>
                        <a:rPr lang="hy-AM" sz="1200" dirty="0">
                          <a:effectLst/>
                        </a:rPr>
                        <a:t>Աջակցություն դպրոցին և ԱԽ </a:t>
                      </a:r>
                      <a:endParaRPr lang="hy-AM" dirty="0">
                        <a:effectLst/>
                      </a:endParaRPr>
                    </a:p>
                  </a:txBody>
                  <a:tcPr marL="0" marR="0" marT="0" marB="0" anchor="ctr"/>
                </a:tc>
                <a:extLst>
                  <a:ext uri="{0D108BD9-81ED-4DB2-BD59-A6C34878D82A}">
                    <a16:rowId xmlns:a16="http://schemas.microsoft.com/office/drawing/2014/main" val="2921425619"/>
                  </a:ext>
                </a:extLst>
              </a:tr>
              <a:tr h="100457">
                <a:tc gridSpan="4">
                  <a:txBody>
                    <a:bodyPr/>
                    <a:lstStyle/>
                    <a:p>
                      <a:pPr marL="0" marR="0" rtl="0" latinLnBrk="0">
                        <a:spcBef>
                          <a:spcPts val="0"/>
                        </a:spcBef>
                        <a:spcAft>
                          <a:spcPts val="1000"/>
                        </a:spcAft>
                      </a:pPr>
                      <a:r>
                        <a:rPr lang="hy-AM" sz="1200" b="1" dirty="0">
                          <a:effectLst/>
                        </a:rPr>
                        <a:t>Թվարկել կայքերը, որոնցից օգտվում են ծնողները, օրինակ՝ </a:t>
                      </a:r>
                      <a:r>
                        <a:rPr lang="en-US" sz="1200" b="1" kern="1200" dirty="0">
                          <a:effectLst/>
                          <a:hlinkClick r:id="rId3"/>
                        </a:rPr>
                        <a:t>https://e-diary.emis.am</a:t>
                      </a:r>
                      <a:r>
                        <a:rPr lang="hy-AM" sz="1200" b="1" kern="1200" dirty="0">
                          <a:effectLst/>
                        </a:rPr>
                        <a:t>,</a:t>
                      </a:r>
                      <a:r>
                        <a:rPr lang="hy-AM" sz="1200" b="1" kern="1200" baseline="0" dirty="0">
                          <a:effectLst/>
                        </a:rPr>
                        <a:t> </a:t>
                      </a:r>
                      <a:r>
                        <a:rPr lang="en-US" sz="1200" b="1" kern="1200" baseline="0" dirty="0">
                          <a:effectLst/>
                          <a:hlinkClick r:id="rId4"/>
                        </a:rPr>
                        <a:t>https://e-school.am/lessons</a:t>
                      </a:r>
                      <a:r>
                        <a:rPr lang="hy-AM" sz="1200" b="1" kern="1200" baseline="0" dirty="0">
                          <a:effectLst/>
                        </a:rPr>
                        <a:t>, </a:t>
                      </a:r>
                      <a:r>
                        <a:rPr lang="en-US" sz="1200" b="1" kern="1200" dirty="0">
                          <a:effectLst/>
                          <a:hlinkClick r:id="rId5"/>
                        </a:rPr>
                        <a:t>http://ktak.am</a:t>
                      </a:r>
                      <a:r>
                        <a:rPr lang="en-US" sz="1200" b="1" dirty="0">
                          <a:effectLst/>
                        </a:rPr>
                        <a:t>, </a:t>
                      </a:r>
                      <a:r>
                        <a:rPr lang="en-US" sz="1200" b="1" kern="1200" dirty="0">
                          <a:effectLst/>
                          <a:hlinkClick r:id="rId6"/>
                        </a:rPr>
                        <a:t>http://www.armedu.am</a:t>
                      </a:r>
                      <a:r>
                        <a:rPr lang="en-US" sz="1200" b="1" dirty="0">
                          <a:effectLst/>
                        </a:rPr>
                        <a:t>, </a:t>
                      </a:r>
                      <a:r>
                        <a:rPr lang="en-US" sz="1200" b="1" kern="1200" dirty="0">
                          <a:effectLst/>
                          <a:hlinkClick r:id="rId7"/>
                        </a:rPr>
                        <a:t>http://forum.armedu.am/</a:t>
                      </a:r>
                      <a:r>
                        <a:rPr lang="en-US" sz="1200" b="1" dirty="0">
                          <a:effectLst/>
                        </a:rPr>
                        <a:t>, </a:t>
                      </a:r>
                      <a:r>
                        <a:rPr lang="en-US" sz="1200" b="1" kern="1200" dirty="0">
                          <a:effectLst/>
                          <a:hlinkClick r:id="rId8"/>
                        </a:rPr>
                        <a:t>http://lib.armedu.am</a:t>
                      </a:r>
                      <a:r>
                        <a:rPr lang="en-US" sz="1200" b="1" dirty="0">
                          <a:effectLst/>
                        </a:rPr>
                        <a:t>, </a:t>
                      </a:r>
                      <a:r>
                        <a:rPr lang="hy-AM" sz="1200" b="1" dirty="0">
                          <a:effectLst/>
                        </a:rPr>
                        <a:t>հաստատության կայք և այլն, մեկնաբանել դրանց անհրաժեշտությունը և օգտակարությունը </a:t>
                      </a:r>
                      <a:endParaRPr lang="hy-AM" b="1"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95921020"/>
                  </a:ext>
                </a:extLst>
              </a:tr>
              <a:tr h="75311">
                <a:tc>
                  <a:txBody>
                    <a:bodyPr/>
                    <a:lstStyle/>
                    <a:p>
                      <a:pPr marL="54610" marR="0" indent="-54610" rtl="0" latinLnBrk="0">
                        <a:spcBef>
                          <a:spcPts val="0"/>
                        </a:spcBef>
                        <a:spcAft>
                          <a:spcPts val="0"/>
                        </a:spcAft>
                      </a:pPr>
                      <a:r>
                        <a:rPr lang="hy-AM" sz="1200">
                          <a:effectLst/>
                        </a:rPr>
                        <a:t>Կայքը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Օգտվող ծնողների թիվը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Մեկնաբա նություն </a:t>
                      </a:r>
                      <a:endParaRPr lang="hy-AM" dirty="0">
                        <a:effectLst/>
                      </a:endParaRPr>
                    </a:p>
                  </a:txBody>
                  <a:tcPr marL="0" marR="0" marT="0" marB="0" anchor="ctr"/>
                </a:tc>
                <a:extLst>
                  <a:ext uri="{0D108BD9-81ED-4DB2-BD59-A6C34878D82A}">
                    <a16:rowId xmlns:a16="http://schemas.microsoft.com/office/drawing/2014/main" val="942073248"/>
                  </a:ext>
                </a:extLst>
              </a:tr>
              <a:tr h="175768">
                <a:tc>
                  <a:txBody>
                    <a:bodyPr/>
                    <a:lstStyle/>
                    <a:p>
                      <a:pPr marL="228600" marR="0" indent="-228600" rtl="0" latinLnBrk="0">
                        <a:spcBef>
                          <a:spcPts val="0"/>
                        </a:spcBef>
                        <a:spcAft>
                          <a:spcPts val="0"/>
                        </a:spcAft>
                        <a:buAutoNum type="arabicPeriod"/>
                      </a:pPr>
                      <a:r>
                        <a:rPr lang="en-US" sz="1200" kern="1200">
                          <a:effectLst/>
                          <a:hlinkClick r:id="rId3"/>
                        </a:rPr>
                        <a:t>https://e-diary.emis.am/</a:t>
                      </a:r>
                      <a:endParaRPr lang="hy-AM" sz="1200" kern="1200">
                        <a:effectLst/>
                      </a:endParaRPr>
                    </a:p>
                    <a:p>
                      <a:pPr marL="228600" marR="0" indent="-228600" rtl="0" latinLnBrk="0">
                        <a:spcBef>
                          <a:spcPts val="0"/>
                        </a:spcBef>
                        <a:spcAft>
                          <a:spcPts val="0"/>
                        </a:spcAft>
                        <a:buNone/>
                      </a:pPr>
                      <a:endParaRPr lang="hy-AM" sz="1200" kern="1200">
                        <a:effectLst/>
                      </a:endParaRPr>
                    </a:p>
                    <a:p>
                      <a:pPr marL="342900" marR="0" indent="-342900" rtl="0" latinLnBrk="0">
                        <a:spcBef>
                          <a:spcPts val="0"/>
                        </a:spcBef>
                        <a:spcAft>
                          <a:spcPts val="0"/>
                        </a:spcAft>
                        <a:buNone/>
                      </a:pPr>
                      <a:endParaRPr lang="en-US">
                        <a:effectLst/>
                      </a:endParaRPr>
                    </a:p>
                  </a:txBody>
                  <a:tcPr marL="0" marR="0" marT="0" marB="0" anchor="ctr"/>
                </a:tc>
                <a:tc>
                  <a:txBody>
                    <a:bodyPr/>
                    <a:lstStyle/>
                    <a:p>
                      <a:pPr marL="0" marR="0" rtl="0" latinLnBrk="0">
                        <a:spcBef>
                          <a:spcPts val="0"/>
                        </a:spcBef>
                        <a:spcAft>
                          <a:spcPts val="0"/>
                        </a:spcAft>
                      </a:pPr>
                      <a:r>
                        <a:rPr lang="hy-AM" sz="1200">
                          <a:effectLst/>
                        </a:rPr>
                        <a:t>ամենօրյա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3</a:t>
                      </a:r>
                      <a:r>
                        <a:rPr lang="hy-AM" sz="1200" dirty="0" smtClean="0">
                          <a:effectLst/>
                        </a:rPr>
                        <a:t>00 </a:t>
                      </a:r>
                      <a:r>
                        <a:rPr lang="hy-AM" sz="1200" dirty="0">
                          <a:effectLst/>
                        </a:rPr>
                        <a:t>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dirty="0">
                          <a:effectLst/>
                        </a:rPr>
                        <a:t>Ծանոթանալու երեխաների առաջադիմության ու հաճախումների ցուցանիշներին, տնային հանձնարարություններին,դասավանդող ուսուցիչների հետ առցանց կապվելու և այլն: </a:t>
                      </a:r>
                      <a:endParaRPr lang="hy-AM" dirty="0">
                        <a:effectLst/>
                      </a:endParaRPr>
                    </a:p>
                  </a:txBody>
                  <a:tcPr marL="0" marR="0" marT="0" marB="0" anchor="ctr"/>
                </a:tc>
                <a:extLst>
                  <a:ext uri="{0D108BD9-81ED-4DB2-BD59-A6C34878D82A}">
                    <a16:rowId xmlns:a16="http://schemas.microsoft.com/office/drawing/2014/main" val="1733786037"/>
                  </a:ext>
                </a:extLst>
              </a:tr>
              <a:tr h="100457">
                <a:tc>
                  <a:txBody>
                    <a:bodyPr/>
                    <a:lstStyle/>
                    <a:p>
                      <a:pPr marL="54864" marR="0" indent="-54864" rtl="0" latinLnBrk="0">
                        <a:spcBef>
                          <a:spcPts val="0"/>
                        </a:spcBef>
                        <a:spcAft>
                          <a:spcPts val="0"/>
                        </a:spcAft>
                      </a:pPr>
                      <a:r>
                        <a:rPr lang="en-US" sz="1200">
                          <a:effectLst/>
                        </a:rPr>
                        <a:t>2. </a:t>
                      </a:r>
                      <a:r>
                        <a:rPr lang="en-US" sz="1200">
                          <a:effectLst/>
                          <a:hlinkClick r:id="rId4"/>
                        </a:rPr>
                        <a:t>https://e-school.am/lessons</a:t>
                      </a:r>
                      <a:endParaRPr lang="en-US" sz="1200">
                        <a:effectLst/>
                      </a:endParaRPr>
                    </a:p>
                    <a:p>
                      <a:pPr marL="54610" marR="0" indent="-54610" rtl="0" latinLnBrk="0">
                        <a:spcBef>
                          <a:spcPts val="0"/>
                        </a:spcBef>
                        <a:spcAft>
                          <a:spcPts val="0"/>
                        </a:spcAft>
                      </a:pPr>
                      <a:r>
                        <a:rPr lang="en-US" sz="1200">
                          <a:effectLst/>
                        </a:rPr>
                        <a:t> </a:t>
                      </a:r>
                      <a:r>
                        <a:rPr lang="en-US" sz="1200" u="sng" kern="1200">
                          <a:effectLst/>
                          <a:hlinkClick r:id="rId6"/>
                        </a:rPr>
                        <a:t>http://www.lib.</a:t>
                      </a:r>
                      <a:r>
                        <a:rPr lang="en-US" sz="1200" u="sng" kern="1200" baseline="0">
                          <a:effectLst/>
                          <a:hlinkClick r:id="rId6"/>
                        </a:rPr>
                        <a:t> </a:t>
                      </a:r>
                      <a:r>
                        <a:rPr lang="en-US" sz="1200" u="sng" kern="1200">
                          <a:effectLst/>
                          <a:hlinkClick r:id="rId6"/>
                        </a:rPr>
                        <a:t>armedu.am</a:t>
                      </a:r>
                      <a:r>
                        <a:rPr lang="en-US" sz="1200">
                          <a:effectLst/>
                        </a:rPr>
                        <a:t> </a:t>
                      </a:r>
                      <a:r>
                        <a:rPr lang="hy-AM" sz="1200">
                          <a:effectLst/>
                        </a:rPr>
                        <a:t>,</a:t>
                      </a:r>
                      <a:endParaRPr lang="en-US">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3</a:t>
                      </a:r>
                      <a:r>
                        <a:rPr lang="hy-AM" sz="1200" dirty="0" smtClean="0">
                          <a:effectLst/>
                        </a:rPr>
                        <a:t>00 </a:t>
                      </a:r>
                      <a:r>
                        <a:rPr lang="hy-AM" sz="1200" dirty="0">
                          <a:effectLst/>
                        </a:rPr>
                        <a:t>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a:effectLst/>
                        </a:rPr>
                        <a:t>Ծանոթանալու ԷԿՌ, կրթական աշխարհի նորություններին, հայտարարված մրցույթներին և այլն </a:t>
                      </a:r>
                      <a:endParaRPr lang="hy-AM">
                        <a:effectLst/>
                      </a:endParaRPr>
                    </a:p>
                  </a:txBody>
                  <a:tcPr marL="0" marR="0" marT="0" marB="0" anchor="ctr"/>
                </a:tc>
                <a:extLst>
                  <a:ext uri="{0D108BD9-81ED-4DB2-BD59-A6C34878D82A}">
                    <a16:rowId xmlns:a16="http://schemas.microsoft.com/office/drawing/2014/main" val="3382305257"/>
                  </a:ext>
                </a:extLst>
              </a:tr>
              <a:tr h="100457">
                <a:tc>
                  <a:txBody>
                    <a:bodyPr/>
                    <a:lstStyle/>
                    <a:p>
                      <a:pPr marL="54610" marR="0" indent="-54610" rtl="0" latinLnBrk="0">
                        <a:spcBef>
                          <a:spcPts val="0"/>
                        </a:spcBef>
                        <a:spcAft>
                          <a:spcPts val="0"/>
                        </a:spcAft>
                      </a:pPr>
                      <a:r>
                        <a:rPr lang="en-US" sz="1200">
                          <a:effectLst/>
                        </a:rPr>
                        <a:t>3. </a:t>
                      </a:r>
                      <a:r>
                        <a:rPr lang="en-US" sz="1200" u="sng" kern="1200">
                          <a:effectLst/>
                          <a:hlinkClick r:id="rId9"/>
                        </a:rPr>
                        <a:t>http://www.atc.am</a:t>
                      </a:r>
                      <a:r>
                        <a:rPr lang="en-US" sz="1200">
                          <a:effectLst/>
                        </a:rPr>
                        <a:t> </a:t>
                      </a:r>
                      <a:endParaRPr lang="en-US">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rtl="0" latinLnBrk="0">
                        <a:spcBef>
                          <a:spcPts val="0"/>
                        </a:spcBef>
                        <a:spcAft>
                          <a:spcPts val="0"/>
                        </a:spcAft>
                      </a:pPr>
                      <a:r>
                        <a:rPr lang="hy-AM" sz="1200" dirty="0" smtClean="0">
                          <a:effectLst/>
                        </a:rPr>
                        <a:t>3</a:t>
                      </a:r>
                      <a:r>
                        <a:rPr lang="ru-RU" sz="1200" dirty="0" smtClean="0">
                          <a:effectLst/>
                        </a:rPr>
                        <a:t>0</a:t>
                      </a:r>
                      <a:r>
                        <a:rPr lang="hy-AM" sz="1200" dirty="0">
                          <a:effectLst/>
                        </a:rPr>
                        <a:t>0 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a:effectLst/>
                        </a:rPr>
                        <a:t>Ծանոթանալու դիմորդ բաժնին, քննական թեստերի նմուշներին, գնահատման չափանիշներին և այլն </a:t>
                      </a:r>
                      <a:endParaRPr lang="hy-AM">
                        <a:effectLst/>
                      </a:endParaRPr>
                    </a:p>
                  </a:txBody>
                  <a:tcPr marL="0" marR="0" marT="0" marB="0" anchor="ctr"/>
                </a:tc>
                <a:extLst>
                  <a:ext uri="{0D108BD9-81ED-4DB2-BD59-A6C34878D82A}">
                    <a16:rowId xmlns:a16="http://schemas.microsoft.com/office/drawing/2014/main" val="2219349604"/>
                  </a:ext>
                </a:extLst>
              </a:tr>
              <a:tr h="171069">
                <a:tc>
                  <a:txBody>
                    <a:bodyPr/>
                    <a:lstStyle/>
                    <a:p>
                      <a:pPr marL="54610" marR="0" indent="-54610" rtl="0" latinLnBrk="0">
                        <a:spcBef>
                          <a:spcPts val="0"/>
                        </a:spcBef>
                        <a:spcAft>
                          <a:spcPts val="0"/>
                        </a:spcAft>
                      </a:pPr>
                      <a:r>
                        <a:rPr lang="hy-AM" sz="1200">
                          <a:effectLst/>
                        </a:rPr>
                        <a:t>4. Դպրոցի պաշտոնական </a:t>
                      </a:r>
                      <a:r>
                        <a:rPr lang="en-US" sz="1200">
                          <a:effectLst/>
                        </a:rPr>
                        <a:t> </a:t>
                      </a:r>
                      <a:r>
                        <a:rPr lang="en-US" sz="1200" err="1">
                          <a:effectLst/>
                        </a:rPr>
                        <a:t>կայքէջ</a:t>
                      </a:r>
                      <a:r>
                        <a:rPr lang="en-US" sz="1200" baseline="0">
                          <a:effectLst/>
                        </a:rPr>
                        <a:t> և </a:t>
                      </a:r>
                      <a:r>
                        <a:rPr lang="hy-AM" sz="1200">
                          <a:effectLst/>
                        </a:rPr>
                        <a:t>ֆեյսբուքյան էջ` </a:t>
                      </a:r>
                      <a:r>
                        <a:rPr lang="en-US" sz="1200">
                          <a:effectLst/>
                          <a:hlinkClick r:id="rId10"/>
                        </a:rPr>
                        <a:t>http://school-42.am/</a:t>
                      </a:r>
                      <a:r>
                        <a:rPr lang="en-US" sz="1200">
                          <a:effectLst/>
                        </a:rPr>
                        <a:t>, </a:t>
                      </a:r>
                      <a:r>
                        <a:rPr lang="en-US" sz="1200">
                          <a:effectLst/>
                          <a:hlinkClick r:id="rId11"/>
                        </a:rPr>
                        <a:t>https://www.facebook.com/pages/Yerevan-High-School-N42-after-Taras-Shevchenko/238683539584695?pnref=lhc</a:t>
                      </a:r>
                      <a:r>
                        <a:rPr lang="en-US" sz="1200">
                          <a:effectLst/>
                        </a:rPr>
                        <a:t>, </a:t>
                      </a:r>
                      <a:endParaRPr lang="en-US">
                        <a:effectLst/>
                      </a:endParaRPr>
                    </a:p>
                  </a:txBody>
                  <a:tcPr marL="0" marR="0" marT="0" marB="0" anchor="ctr"/>
                </a:tc>
                <a:tc>
                  <a:txBody>
                    <a:bodyPr/>
                    <a:lstStyle/>
                    <a:p>
                      <a:pPr marL="0" marR="0" rtl="0" latinLnBrk="0">
                        <a:spcBef>
                          <a:spcPts val="0"/>
                        </a:spcBef>
                        <a:spcAft>
                          <a:spcPts val="0"/>
                        </a:spcAft>
                      </a:pPr>
                      <a:r>
                        <a:rPr lang="hy-AM" sz="1200">
                          <a:effectLst/>
                        </a:rPr>
                        <a:t>հաճախակի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3</a:t>
                      </a:r>
                      <a:r>
                        <a:rPr lang="hy-AM" sz="1200" dirty="0" smtClean="0">
                          <a:effectLst/>
                        </a:rPr>
                        <a:t>00 </a:t>
                      </a:r>
                      <a:r>
                        <a:rPr lang="hy-AM" sz="1200" dirty="0">
                          <a:effectLst/>
                        </a:rPr>
                        <a:t>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dirty="0">
                          <a:effectLst/>
                        </a:rPr>
                        <a:t>Հետևելու  դպրոցի անցուդարձին, առօրյային </a:t>
                      </a:r>
                      <a:endParaRPr lang="hy-AM" dirty="0">
                        <a:effectLst/>
                      </a:endParaRPr>
                    </a:p>
                  </a:txBody>
                  <a:tcPr marL="0" marR="0" marT="0" marB="0" anchor="ctr"/>
                </a:tc>
                <a:extLst>
                  <a:ext uri="{0D108BD9-81ED-4DB2-BD59-A6C34878D82A}">
                    <a16:rowId xmlns:a16="http://schemas.microsoft.com/office/drawing/2014/main" val="199309078"/>
                  </a:ext>
                </a:extLst>
              </a:tr>
            </a:tbl>
          </a:graphicData>
        </a:graphic>
      </p:graphicFrame>
    </p:spTree>
    <p:extLst>
      <p:ext uri="{BB962C8B-B14F-4D97-AF65-F5344CB8AC3E}">
        <p14:creationId xmlns:p14="http://schemas.microsoft.com/office/powerpoint/2010/main" val="50485136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3" y="155575"/>
            <a:ext cx="10615690" cy="369332"/>
          </a:xfrm>
          <a:prstGeom prst="rect">
            <a:avLst/>
          </a:prstGeom>
        </p:spPr>
        <p:txBody>
          <a:bodyPr rtlCol="0">
            <a:spAutoFit/>
          </a:bodyPr>
          <a:lstStyle/>
          <a:p>
            <a:r>
              <a:rPr lang="hy-AM" b="1" i="1">
                <a:latin typeface="Sylfaen"/>
              </a:rPr>
              <a:t>Աղյուսակ 33. Տվյալներ հաստատության և համայնքի համագործակցության վերաբերյալ </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3571877555"/>
              </p:ext>
            </p:extLst>
          </p:nvPr>
        </p:nvGraphicFramePr>
        <p:xfrm>
          <a:off x="237618" y="779287"/>
          <a:ext cx="11288634" cy="5576000"/>
        </p:xfrm>
        <a:graphic>
          <a:graphicData uri="http://schemas.openxmlformats.org/drawingml/2006/table">
            <a:tbl>
              <a:tblPr>
                <a:tableStyleId>{5940675A-B579-460E-94D1-54222C63F5DA}</a:tableStyleId>
              </a:tblPr>
              <a:tblGrid>
                <a:gridCol w="5447700">
                  <a:extLst>
                    <a:ext uri="{9D8B030D-6E8A-4147-A177-3AD203B41FA5}">
                      <a16:colId xmlns:a16="http://schemas.microsoft.com/office/drawing/2014/main" val="1434597651"/>
                    </a:ext>
                  </a:extLst>
                </a:gridCol>
                <a:gridCol w="316504">
                  <a:extLst>
                    <a:ext uri="{9D8B030D-6E8A-4147-A177-3AD203B41FA5}">
                      <a16:colId xmlns:a16="http://schemas.microsoft.com/office/drawing/2014/main" val="2425470776"/>
                    </a:ext>
                  </a:extLst>
                </a:gridCol>
                <a:gridCol w="316504">
                  <a:extLst>
                    <a:ext uri="{9D8B030D-6E8A-4147-A177-3AD203B41FA5}">
                      <a16:colId xmlns:a16="http://schemas.microsoft.com/office/drawing/2014/main" val="2785722481"/>
                    </a:ext>
                  </a:extLst>
                </a:gridCol>
                <a:gridCol w="916975">
                  <a:extLst>
                    <a:ext uri="{9D8B030D-6E8A-4147-A177-3AD203B41FA5}">
                      <a16:colId xmlns:a16="http://schemas.microsoft.com/office/drawing/2014/main" val="3766845916"/>
                    </a:ext>
                  </a:extLst>
                </a:gridCol>
                <a:gridCol w="1452008">
                  <a:extLst>
                    <a:ext uri="{9D8B030D-6E8A-4147-A177-3AD203B41FA5}">
                      <a16:colId xmlns:a16="http://schemas.microsoft.com/office/drawing/2014/main" val="2243235434"/>
                    </a:ext>
                  </a:extLst>
                </a:gridCol>
                <a:gridCol w="2838943">
                  <a:extLst>
                    <a:ext uri="{9D8B030D-6E8A-4147-A177-3AD203B41FA5}">
                      <a16:colId xmlns:a16="http://schemas.microsoft.com/office/drawing/2014/main" val="3734555472"/>
                    </a:ext>
                  </a:extLst>
                </a:gridCol>
              </a:tblGrid>
              <a:tr h="234512">
                <a:tc gridSpan="6">
                  <a:txBody>
                    <a:bodyPr/>
                    <a:lstStyle/>
                    <a:p>
                      <a:pPr marL="0" marR="0" algn="ctr" rtl="0" latinLnBrk="0">
                        <a:spcBef>
                          <a:spcPts val="0"/>
                        </a:spcBef>
                        <a:spcAft>
                          <a:spcPts val="0"/>
                        </a:spcAft>
                      </a:pPr>
                      <a:r>
                        <a:rPr lang="hy-AM" sz="1400" b="1">
                          <a:effectLst/>
                        </a:rPr>
                        <a:t>Ցուցանիշ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765769"/>
                  </a:ext>
                </a:extLst>
              </a:tr>
              <a:tr h="469024">
                <a:tc gridSpan="6">
                  <a:txBody>
                    <a:bodyPr/>
                    <a:lstStyle/>
                    <a:p>
                      <a:pPr marL="0" marR="0" rtl="0" latinLnBrk="0">
                        <a:spcBef>
                          <a:spcPts val="0"/>
                        </a:spcBef>
                        <a:spcAft>
                          <a:spcPts val="1000"/>
                        </a:spcAft>
                      </a:pPr>
                      <a:r>
                        <a:rPr lang="hy-AM" sz="1400" b="1">
                          <a:effectLst/>
                        </a:rPr>
                        <a:t>Ուսումնական հաստատության շենքային պայմանների բարելավման, տարածքի բարեկարգման, ուսումնանյութական բազայի համալրման աշխատանքներին համայնքի մասնակացությունը, մասնակցության ձևը և այդ գործում կատարված ներդրումները.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66074176"/>
                  </a:ext>
                </a:extLst>
              </a:tr>
              <a:tr h="938048">
                <a:tc gridSpan="2">
                  <a:txBody>
                    <a:bodyPr/>
                    <a:lstStyle/>
                    <a:p>
                      <a:pPr marL="0" marR="0" rtl="0" latinLnBrk="0">
                        <a:spcBef>
                          <a:spcPts val="0"/>
                        </a:spcBef>
                        <a:spcAft>
                          <a:spcPts val="0"/>
                        </a:spcAft>
                      </a:pPr>
                      <a:r>
                        <a:rPr lang="hy-AM" sz="1400">
                          <a:effectLst/>
                        </a:rPr>
                        <a:t>Նկարագրել վերջին 3 տարում հաստատության շենքային պայմանների բարելավման, տարածքի բարեկարգման, ուսումնանյութական բազայի համալրման և այլ աշխատանքներին համայնքի մասնակցության դեպքերը, մասնակցության ձևերը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hy-AM" sz="1400" dirty="0">
                          <a:effectLst/>
                        </a:rPr>
                        <a:t>Ամսաթիվ </a:t>
                      </a:r>
                      <a:endParaRPr lang="hy-AM" dirty="0">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r>
                        <a:rPr lang="hy-AM" sz="1400" dirty="0">
                          <a:effectLst/>
                        </a:rPr>
                        <a:t>Ներդրման չափը </a:t>
                      </a:r>
                      <a:endParaRPr lang="hy-AM" dirty="0">
                        <a:effectLst/>
                      </a:endParaRPr>
                    </a:p>
                  </a:txBody>
                  <a:tcPr marL="0" marR="0" marT="0" marB="0" anchor="ctr"/>
                </a:tc>
                <a:tc>
                  <a:txBody>
                    <a:bodyPr/>
                    <a:lstStyle/>
                    <a:p>
                      <a:pPr marL="0" marR="0" algn="ctr" rtl="0" latinLnBrk="0">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4089685797"/>
                  </a:ext>
                </a:extLst>
              </a:tr>
              <a:tr h="469024">
                <a:tc gridSpan="2">
                  <a:txBody>
                    <a:bodyPr/>
                    <a:lstStyle/>
                    <a:p>
                      <a:pPr marL="54864" marR="0" indent="-54864" rtl="0" latinLnBrk="0">
                        <a:spcBef>
                          <a:spcPts val="0"/>
                        </a:spcBef>
                        <a:spcAft>
                          <a:spcPts val="0"/>
                        </a:spcAft>
                      </a:pPr>
                      <a:r>
                        <a:rPr lang="hy-AM" sz="1400">
                          <a:effectLst/>
                        </a:rPr>
                        <a:t>1. Շրջակա տարածքի բարեկարգման աշխատանքներ`ծառատունկ և կանաչապատում: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hy-AM" sz="1400">
                          <a:effectLst/>
                        </a:rPr>
                        <a:t>աշուն </a:t>
                      </a:r>
                      <a:endParaRPr lang="hy-AM">
                        <a:effectLst/>
                      </a:endParaRPr>
                    </a:p>
                    <a:p>
                      <a:pPr marL="0" marR="0" algn="ctr" rtl="0" latinLnBrk="0">
                        <a:spcBef>
                          <a:spcPts val="0"/>
                        </a:spcBef>
                        <a:spcAft>
                          <a:spcPts val="0"/>
                        </a:spcAft>
                      </a:pPr>
                      <a:r>
                        <a:rPr lang="hy-AM" sz="1400">
                          <a:effectLst/>
                        </a:rPr>
                        <a:t>գարուն </a:t>
                      </a:r>
                      <a:endParaRPr lang="hy-AM">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endParaRPr lang="en-US" sz="1400" dirty="0">
                        <a:effectLst/>
                        <a:latin typeface="Sylfaen" panose="010A0502050306030303" pitchFamily="18" charset="0"/>
                      </a:endParaRPr>
                    </a:p>
                  </a:txBody>
                  <a:tcPr marL="0" marR="0" marT="0" marB="0" anchor="ctr"/>
                </a:tc>
                <a:tc>
                  <a:txBody>
                    <a:bodyPr/>
                    <a:lstStyle/>
                    <a:p>
                      <a:pPr marL="0" marR="0" algn="ctr" rtl="0" latinLnBrk="0">
                        <a:spcBef>
                          <a:spcPts val="0"/>
                        </a:spcBef>
                        <a:spcAft>
                          <a:spcPts val="0"/>
                        </a:spcAft>
                      </a:pPr>
                      <a:r>
                        <a:rPr lang="hy-AM" sz="1400" dirty="0">
                          <a:effectLst/>
                        </a:rPr>
                        <a:t>Տնկիների տրամադրում </a:t>
                      </a:r>
                      <a:endParaRPr lang="hy-AM" dirty="0">
                        <a:effectLst/>
                      </a:endParaRPr>
                    </a:p>
                  </a:txBody>
                  <a:tcPr marL="0" marR="0" marT="0" marB="0" anchor="ctr"/>
                </a:tc>
                <a:extLst>
                  <a:ext uri="{0D108BD9-81ED-4DB2-BD59-A6C34878D82A}">
                    <a16:rowId xmlns:a16="http://schemas.microsoft.com/office/drawing/2014/main" val="3233071323"/>
                  </a:ext>
                </a:extLst>
              </a:tr>
              <a:tr h="469024">
                <a:tc gridSpan="2">
                  <a:txBody>
                    <a:bodyPr/>
                    <a:lstStyle/>
                    <a:p>
                      <a:pPr marL="54864" marR="0" indent="-54864" rtl="0" latinLnBrk="0">
                        <a:spcBef>
                          <a:spcPts val="0"/>
                        </a:spcBef>
                        <a:spcAft>
                          <a:spcPts val="0"/>
                        </a:spcAft>
                      </a:pPr>
                      <a:r>
                        <a:rPr lang="hy-AM" sz="1400">
                          <a:effectLst/>
                        </a:rPr>
                        <a:t>2. Շրջակա տարածքի մաքրում: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hy-AM" sz="1400">
                          <a:effectLst/>
                        </a:rPr>
                        <a:t>պարբերաբար </a:t>
                      </a:r>
                      <a:endParaRPr lang="hy-AM">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endParaRPr lang="en-US" sz="1400">
                        <a:effectLst/>
                        <a:latin typeface="Sylfaen" panose="010A0502050306030303" pitchFamily="18" charset="0"/>
                      </a:endParaRPr>
                    </a:p>
                  </a:txBody>
                  <a:tcPr marL="0" marR="0" marT="0" marB="0" anchor="ctr"/>
                </a:tc>
                <a:tc>
                  <a:txBody>
                    <a:bodyPr/>
                    <a:lstStyle/>
                    <a:p>
                      <a:pPr marL="0" marR="0" algn="ctr" rtl="0" latinLnBrk="0">
                        <a:spcBef>
                          <a:spcPts val="0"/>
                        </a:spcBef>
                        <a:spcAft>
                          <a:spcPts val="0"/>
                        </a:spcAft>
                      </a:pPr>
                      <a:endParaRPr lang="en-US" sz="1400" dirty="0">
                        <a:effectLst/>
                        <a:latin typeface="Sylfaen" panose="010A0502050306030303" pitchFamily="18" charset="0"/>
                      </a:endParaRPr>
                    </a:p>
                  </a:txBody>
                  <a:tcPr marL="0" marR="0" marT="0" marB="0" anchor="ctr"/>
                </a:tc>
                <a:extLst>
                  <a:ext uri="{0D108BD9-81ED-4DB2-BD59-A6C34878D82A}">
                    <a16:rowId xmlns:a16="http://schemas.microsoft.com/office/drawing/2014/main" val="2284893477"/>
                  </a:ext>
                </a:extLst>
              </a:tr>
              <a:tr h="234512">
                <a:tc gridSpan="6">
                  <a:txBody>
                    <a:bodyPr/>
                    <a:lstStyle/>
                    <a:p>
                      <a:pPr marL="0" marR="0" rtl="0" latinLnBrk="0">
                        <a:spcBef>
                          <a:spcPts val="0"/>
                        </a:spcBef>
                        <a:spcAft>
                          <a:spcPts val="1000"/>
                        </a:spcAft>
                      </a:pPr>
                      <a:r>
                        <a:rPr lang="hy-AM" sz="1400" b="1">
                          <a:effectLst/>
                        </a:rPr>
                        <a:t>Նկարագրել համայնքային հիմնախնդիրների վերաբերյալ սովորողների տեղեկացվածության աստիճանը.</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45932389"/>
                  </a:ext>
                </a:extLst>
              </a:tr>
              <a:tr h="469024">
                <a:tc gridSpan="6">
                  <a:txBody>
                    <a:bodyPr/>
                    <a:lstStyle/>
                    <a:p>
                      <a:pPr marL="0" marR="0" rtl="0" latinLnBrk="0">
                        <a:spcBef>
                          <a:spcPts val="0"/>
                        </a:spcBef>
                        <a:spcAft>
                          <a:spcPts val="1000"/>
                        </a:spcAft>
                      </a:pPr>
                      <a:r>
                        <a:rPr lang="hy-AM" sz="1400">
                          <a:effectLst/>
                        </a:rPr>
                        <a:t>Սովորողները սիրով մասնակցում են համայնքի նախաձեռնած միջոցառումներին, ծառատունկ, շաբաթօրյակ, իրազեկ են խնդիրներին, ջանում են հետևել շրջակա տարածքի մաքրությանը և այլն: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3068884"/>
                  </a:ext>
                </a:extLst>
              </a:tr>
              <a:tr h="234512">
                <a:tc gridSpan="6">
                  <a:txBody>
                    <a:bodyPr/>
                    <a:lstStyle/>
                    <a:p>
                      <a:pPr marL="0" marR="0" rtl="0" latinLnBrk="0">
                        <a:spcBef>
                          <a:spcPts val="0"/>
                        </a:spcBef>
                        <a:spcAft>
                          <a:spcPts val="1000"/>
                        </a:spcAft>
                      </a:pPr>
                      <a:r>
                        <a:rPr lang="hy-AM" sz="1400" b="1">
                          <a:effectLst/>
                        </a:rPr>
                        <a:t>Ուսումնական հաստատության մասնակցությունը համայնքի աշխատանքներին, մասնակցության 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3683911"/>
                  </a:ext>
                </a:extLst>
              </a:tr>
              <a:tr h="469024">
                <a:tc>
                  <a:txBody>
                    <a:bodyPr/>
                    <a:lstStyle/>
                    <a:p>
                      <a:pPr marL="0" marR="0" rtl="0" latinLnBrk="0">
                        <a:spcBef>
                          <a:spcPts val="0"/>
                        </a:spcBef>
                        <a:spcAft>
                          <a:spcPts val="0"/>
                        </a:spcAft>
                      </a:pPr>
                      <a:r>
                        <a:rPr lang="hy-AM" sz="1400">
                          <a:effectLst/>
                        </a:rPr>
                        <a:t>Նկարագրել վերջին 3 տարում հաստատության համայնքի աշխատանքներին մասնակցության դեպքերը և դրանց ձևերը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Մասնակից սովորողների և աշխատողների տոկոսը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3033994190"/>
                  </a:ext>
                </a:extLst>
              </a:tr>
              <a:tr h="469024">
                <a:tc>
                  <a:txBody>
                    <a:bodyPr/>
                    <a:lstStyle/>
                    <a:p>
                      <a:pPr marL="0" marR="0" rtl="0" latinLnBrk="0">
                        <a:spcBef>
                          <a:spcPts val="0"/>
                        </a:spcBef>
                        <a:spcAft>
                          <a:spcPts val="1000"/>
                        </a:spcAft>
                      </a:pPr>
                      <a:r>
                        <a:rPr lang="hy-AM" sz="1400">
                          <a:effectLst/>
                        </a:rPr>
                        <a:t>1.Ծառատունկ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աշուն,</a:t>
                      </a:r>
                      <a:endParaRPr lang="hy-AM">
                        <a:effectLst/>
                      </a:endParaRPr>
                    </a:p>
                    <a:p>
                      <a:pPr marL="0" marR="0" rtl="0" latinLnBrk="0">
                        <a:spcBef>
                          <a:spcPts val="0"/>
                        </a:spcBef>
                        <a:spcAft>
                          <a:spcPts val="0"/>
                        </a:spcAft>
                      </a:pPr>
                      <a:r>
                        <a:rPr lang="hy-AM" sz="1400">
                          <a:effectLst/>
                        </a:rPr>
                        <a:t>գարուն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en-US" sz="1400" dirty="0">
                          <a:effectLst/>
                        </a:rPr>
                        <a:t>70-80% </a:t>
                      </a:r>
                      <a:endParaRPr lang="en-US"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3048477738"/>
                  </a:ext>
                </a:extLst>
              </a:tr>
              <a:tr h="474608">
                <a:tc>
                  <a:txBody>
                    <a:bodyPr/>
                    <a:lstStyle/>
                    <a:p>
                      <a:pPr marL="0" marR="0" rtl="0" latinLnBrk="0">
                        <a:spcBef>
                          <a:spcPts val="0"/>
                        </a:spcBef>
                        <a:spcAft>
                          <a:spcPts val="1000"/>
                        </a:spcAft>
                      </a:pPr>
                      <a:r>
                        <a:rPr lang="hy-AM" sz="1400">
                          <a:effectLst/>
                        </a:rPr>
                        <a:t>2.Շաբաթօրյակ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պարբերաբար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en-US" sz="1400" dirty="0">
                          <a:effectLst/>
                        </a:rPr>
                        <a:t>70-80% </a:t>
                      </a:r>
                      <a:endParaRPr lang="en-US"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4217936363"/>
                  </a:ext>
                </a:extLst>
              </a:tr>
              <a:tr h="474608">
                <a:tc>
                  <a:txBody>
                    <a:bodyPr/>
                    <a:lstStyle/>
                    <a:p>
                      <a:pPr marL="0" marR="0" rtl="0" latinLnBrk="0">
                        <a:spcBef>
                          <a:spcPts val="0"/>
                        </a:spcBef>
                        <a:spcAft>
                          <a:spcPts val="1000"/>
                        </a:spcAft>
                      </a:pPr>
                      <a:r>
                        <a:rPr lang="en-US" sz="1400">
                          <a:effectLst/>
                        </a:rPr>
                        <a:t>3. </a:t>
                      </a:r>
                      <a:r>
                        <a:rPr lang="en-US" sz="1400" err="1">
                          <a:effectLst/>
                        </a:rPr>
                        <a:t>Նախագծային</a:t>
                      </a:r>
                      <a:r>
                        <a:rPr lang="en-US" sz="1400">
                          <a:effectLst/>
                        </a:rPr>
                        <a:t> </a:t>
                      </a:r>
                      <a:r>
                        <a:rPr lang="en-US" sz="1400" err="1">
                          <a:effectLst/>
                        </a:rPr>
                        <a:t>աշխատանքներ</a:t>
                      </a:r>
                      <a:r>
                        <a:rPr lang="en-US" sz="1400">
                          <a:effectLst/>
                        </a:rPr>
                        <a:t> </a:t>
                      </a:r>
                      <a:r>
                        <a:rPr lang="en-US" sz="1400" err="1">
                          <a:effectLst/>
                        </a:rPr>
                        <a:t>համայնքային</a:t>
                      </a:r>
                      <a:r>
                        <a:rPr lang="en-US" sz="1400">
                          <a:effectLst/>
                        </a:rPr>
                        <a:t> </a:t>
                      </a:r>
                      <a:r>
                        <a:rPr lang="en-US" sz="1400" err="1">
                          <a:effectLst/>
                        </a:rPr>
                        <a:t>կարիքների</a:t>
                      </a:r>
                      <a:r>
                        <a:rPr lang="en-US" sz="1400">
                          <a:effectLst/>
                        </a:rPr>
                        <a:t> </a:t>
                      </a:r>
                      <a:r>
                        <a:rPr lang="en-US" sz="1400" err="1">
                          <a:effectLst/>
                        </a:rPr>
                        <a:t>վերաբերյալ</a:t>
                      </a:r>
                      <a:endParaRPr lang="hy-AM" sz="1400">
                        <a:effectLst/>
                      </a:endParaRPr>
                    </a:p>
                  </a:txBody>
                  <a:tcPr marL="0" marR="0" marT="0" marB="0" anchor="ctr"/>
                </a:tc>
                <a:tc gridSpan="2">
                  <a:txBody>
                    <a:bodyPr/>
                    <a:lstStyle/>
                    <a:p>
                      <a:pPr marL="0" marR="0" rtl="0" latinLnBrk="0">
                        <a:spcBef>
                          <a:spcPts val="0"/>
                        </a:spcBef>
                        <a:spcAft>
                          <a:spcPts val="0"/>
                        </a:spcAft>
                      </a:pPr>
                      <a:r>
                        <a:rPr lang="en-US" sz="1400" err="1">
                          <a:effectLst/>
                        </a:rPr>
                        <a:t>ամենամյա</a:t>
                      </a:r>
                      <a:endParaRPr lang="hy-AM" sz="140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dirty="0" smtClean="0">
                          <a:effectLst/>
                        </a:rPr>
                        <a:t>70-80</a:t>
                      </a:r>
                      <a:r>
                        <a:rPr lang="en-US" sz="1200" dirty="0" smtClean="0">
                          <a:effectLst/>
                        </a:rPr>
                        <a:t>%</a:t>
                      </a:r>
                      <a:endParaRPr lang="en-US" sz="1200"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dirty="0">
                        <a:effectLst/>
                        <a:latin typeface="Sylfaen" panose="010A0502050306030303" pitchFamily="18" charset="0"/>
                      </a:endParaRPr>
                    </a:p>
                  </a:txBody>
                  <a:tcPr marL="0" marR="0"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3782337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450691394"/>
              </p:ext>
            </p:extLst>
          </p:nvPr>
        </p:nvGraphicFramePr>
        <p:xfrm>
          <a:off x="351420" y="452040"/>
          <a:ext cx="10629899" cy="6379464"/>
        </p:xfrm>
        <a:graphic>
          <a:graphicData uri="http://schemas.openxmlformats.org/drawingml/2006/table">
            <a:tbl>
              <a:tblPr>
                <a:tableStyleId>{5940675A-B579-460E-94D1-54222C63F5DA}</a:tableStyleId>
              </a:tblPr>
              <a:tblGrid>
                <a:gridCol w="4215797">
                  <a:extLst>
                    <a:ext uri="{9D8B030D-6E8A-4147-A177-3AD203B41FA5}">
                      <a16:colId xmlns:a16="http://schemas.microsoft.com/office/drawing/2014/main" val="4086084659"/>
                    </a:ext>
                  </a:extLst>
                </a:gridCol>
                <a:gridCol w="304527">
                  <a:extLst>
                    <a:ext uri="{9D8B030D-6E8A-4147-A177-3AD203B41FA5}">
                      <a16:colId xmlns:a16="http://schemas.microsoft.com/office/drawing/2014/main" val="3351973242"/>
                    </a:ext>
                  </a:extLst>
                </a:gridCol>
                <a:gridCol w="304527">
                  <a:extLst>
                    <a:ext uri="{9D8B030D-6E8A-4147-A177-3AD203B41FA5}">
                      <a16:colId xmlns:a16="http://schemas.microsoft.com/office/drawing/2014/main" val="400303266"/>
                    </a:ext>
                  </a:extLst>
                </a:gridCol>
                <a:gridCol w="713735">
                  <a:extLst>
                    <a:ext uri="{9D8B030D-6E8A-4147-A177-3AD203B41FA5}">
                      <a16:colId xmlns:a16="http://schemas.microsoft.com/office/drawing/2014/main" val="73652936"/>
                    </a:ext>
                  </a:extLst>
                </a:gridCol>
                <a:gridCol w="485340">
                  <a:extLst>
                    <a:ext uri="{9D8B030D-6E8A-4147-A177-3AD203B41FA5}">
                      <a16:colId xmlns:a16="http://schemas.microsoft.com/office/drawing/2014/main" val="453577647"/>
                    </a:ext>
                  </a:extLst>
                </a:gridCol>
                <a:gridCol w="304527">
                  <a:extLst>
                    <a:ext uri="{9D8B030D-6E8A-4147-A177-3AD203B41FA5}">
                      <a16:colId xmlns:a16="http://schemas.microsoft.com/office/drawing/2014/main" val="1734191611"/>
                    </a:ext>
                  </a:extLst>
                </a:gridCol>
                <a:gridCol w="1624145">
                  <a:extLst>
                    <a:ext uri="{9D8B030D-6E8A-4147-A177-3AD203B41FA5}">
                      <a16:colId xmlns:a16="http://schemas.microsoft.com/office/drawing/2014/main" val="2480943098"/>
                    </a:ext>
                  </a:extLst>
                </a:gridCol>
                <a:gridCol w="304527">
                  <a:extLst>
                    <a:ext uri="{9D8B030D-6E8A-4147-A177-3AD203B41FA5}">
                      <a16:colId xmlns:a16="http://schemas.microsoft.com/office/drawing/2014/main" val="233812576"/>
                    </a:ext>
                  </a:extLst>
                </a:gridCol>
                <a:gridCol w="304527">
                  <a:extLst>
                    <a:ext uri="{9D8B030D-6E8A-4147-A177-3AD203B41FA5}">
                      <a16:colId xmlns:a16="http://schemas.microsoft.com/office/drawing/2014/main" val="103409414"/>
                    </a:ext>
                  </a:extLst>
                </a:gridCol>
                <a:gridCol w="2068247">
                  <a:extLst>
                    <a:ext uri="{9D8B030D-6E8A-4147-A177-3AD203B41FA5}">
                      <a16:colId xmlns:a16="http://schemas.microsoft.com/office/drawing/2014/main" val="2815387650"/>
                    </a:ext>
                  </a:extLst>
                </a:gridCol>
              </a:tblGrid>
              <a:tr h="81661">
                <a:tc gridSpan="10">
                  <a:txBody>
                    <a:bodyPr/>
                    <a:lstStyle/>
                    <a:p>
                      <a:pPr marL="0" marR="0" rtl="0" latinLnBrk="0">
                        <a:lnSpc>
                          <a:spcPct val="114999"/>
                        </a:lnSpc>
                        <a:spcBef>
                          <a:spcPts val="0"/>
                        </a:spcBef>
                        <a:spcAft>
                          <a:spcPts val="1000"/>
                        </a:spcAft>
                      </a:pPr>
                      <a:r>
                        <a:rPr lang="hy-AM" sz="1400">
                          <a:effectLst/>
                        </a:rPr>
                        <a:t>Ուսումնական հաստատության կողմից համայնքի բնակիչների համար կազմակերպված միջոցառումները.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03233488"/>
                  </a:ext>
                </a:extLst>
              </a:tr>
              <a:tr h="244983">
                <a:tc gridSpan="2">
                  <a:txBody>
                    <a:bodyPr/>
                    <a:lstStyle/>
                    <a:p>
                      <a:pPr marL="0" marR="0" rtl="0" latinLnBrk="0">
                        <a:lnSpc>
                          <a:spcPct val="114999"/>
                        </a:lnSpc>
                        <a:spcBef>
                          <a:spcPts val="0"/>
                        </a:spcBef>
                        <a:spcAft>
                          <a:spcPts val="1000"/>
                        </a:spcAft>
                      </a:pPr>
                      <a:r>
                        <a:rPr lang="hy-AM" sz="1400">
                          <a:effectLst/>
                        </a:rPr>
                        <a:t>Նկարագրել վերջին 3 տարում հաստատության կողմից համայնքի բնակիչների համար կազմակերպված միջոցառումները, նշել դրանց թիվը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Ամսաթիվ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400">
                          <a:effectLst/>
                        </a:rPr>
                        <a:t>Մասնակից սովորողների ու աշխատողների տոկոսը և համայնքի բնակիչների թիվը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Մեկնաբանություն </a:t>
                      </a:r>
                    </a:p>
                  </a:txBody>
                  <a:tcPr marL="0" marR="0" marT="0" marB="0" anchor="ctr"/>
                </a:tc>
                <a:tc hMerge="1">
                  <a:txBody>
                    <a:bodyPr/>
                    <a:lstStyle/>
                    <a:p>
                      <a:endParaRPr lang="en-US"/>
                    </a:p>
                  </a:txBody>
                  <a:tcPr/>
                </a:tc>
                <a:extLst>
                  <a:ext uri="{0D108BD9-81ED-4DB2-BD59-A6C34878D82A}">
                    <a16:rowId xmlns:a16="http://schemas.microsoft.com/office/drawing/2014/main" val="1802870075"/>
                  </a:ext>
                </a:extLst>
              </a:tr>
              <a:tr h="204089">
                <a:tc gridSpan="2">
                  <a:txBody>
                    <a:bodyPr/>
                    <a:lstStyle/>
                    <a:p>
                      <a:pPr marL="0" marR="0" rtl="0" latinLnBrk="0">
                        <a:lnSpc>
                          <a:spcPct val="114999"/>
                        </a:lnSpc>
                        <a:spcBef>
                          <a:spcPts val="0"/>
                        </a:spcBef>
                        <a:spcAft>
                          <a:spcPts val="1000"/>
                        </a:spcAft>
                      </a:pPr>
                      <a:r>
                        <a:rPr lang="hy-AM" sz="1400">
                          <a:effectLst/>
                        </a:rPr>
                        <a:t>1.Ամանորյա տոնակատարություն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dirty="0">
                          <a:effectLst/>
                        </a:rPr>
                        <a:t>   </a:t>
                      </a:r>
                      <a:r>
                        <a:rPr lang="hy-AM" sz="1400" dirty="0" smtClean="0">
                          <a:effectLst/>
                        </a:rPr>
                        <a:t>85%</a:t>
                      </a:r>
                      <a:r>
                        <a:rPr lang="hy-AM" sz="1400" dirty="0">
                          <a:effectLst/>
                        </a:rPr>
                        <a:t>  , </a:t>
                      </a:r>
                      <a:r>
                        <a:rPr lang="hy-AM" sz="1400" dirty="0" smtClean="0">
                          <a:effectLst/>
                        </a:rPr>
                        <a:t>120-150 </a:t>
                      </a:r>
                      <a:r>
                        <a:rPr lang="hy-AM" sz="1400" dirty="0">
                          <a:effectLst/>
                        </a:rPr>
                        <a:t>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2812214164"/>
                  </a:ext>
                </a:extLst>
              </a:tr>
              <a:tr h="122428">
                <a:tc gridSpan="2">
                  <a:txBody>
                    <a:bodyPr/>
                    <a:lstStyle/>
                    <a:p>
                      <a:pPr marL="0" marR="0" rtl="0" latinLnBrk="0">
                        <a:lnSpc>
                          <a:spcPct val="114999"/>
                        </a:lnSpc>
                        <a:spcBef>
                          <a:spcPts val="0"/>
                        </a:spcBef>
                        <a:spcAft>
                          <a:spcPts val="1000"/>
                        </a:spcAft>
                      </a:pPr>
                      <a:r>
                        <a:rPr lang="hy-AM" sz="1400">
                          <a:effectLst/>
                        </a:rPr>
                        <a:t>2. Տեառնընդառաջ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dirty="0">
                          <a:effectLst/>
                        </a:rPr>
                        <a:t>   </a:t>
                      </a:r>
                      <a:r>
                        <a:rPr lang="hy-AM" sz="1400" dirty="0" smtClean="0">
                          <a:effectLst/>
                        </a:rPr>
                        <a:t>90%,</a:t>
                      </a:r>
                      <a:r>
                        <a:rPr lang="hy-AM" sz="1400" dirty="0">
                          <a:effectLst/>
                        </a:rPr>
                        <a:t>  </a:t>
                      </a:r>
                      <a:r>
                        <a:rPr lang="hy-AM" sz="1400" dirty="0" smtClean="0">
                          <a:effectLst/>
                        </a:rPr>
                        <a:t>150-200 </a:t>
                      </a:r>
                      <a:r>
                        <a:rPr lang="hy-AM" sz="1400" dirty="0">
                          <a:effectLst/>
                        </a:rPr>
                        <a:t>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391710569"/>
                  </a:ext>
                </a:extLst>
              </a:tr>
              <a:tr h="40767">
                <a:tc gridSpan="2">
                  <a:txBody>
                    <a:bodyPr/>
                    <a:lstStyle/>
                    <a:p>
                      <a:pPr marL="0" marR="0" rtl="0" latinLnBrk="0">
                        <a:lnSpc>
                          <a:spcPct val="114999"/>
                        </a:lnSpc>
                        <a:spcBef>
                          <a:spcPts val="0"/>
                        </a:spcBef>
                        <a:spcAft>
                          <a:spcPts val="1000"/>
                        </a:spcAft>
                      </a:pPr>
                      <a:r>
                        <a:rPr lang="hy-AM" sz="1400">
                          <a:effectLst/>
                        </a:rPr>
                        <a:t>3.Զատկի տոն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a:effectLst/>
                        </a:rPr>
                        <a:t>    </a:t>
                      </a:r>
                      <a:r>
                        <a:rPr lang="hy-AM" sz="1400">
                          <a:effectLst/>
                        </a:rPr>
                        <a:t>76 %,  80-110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2767931361"/>
                  </a:ext>
                </a:extLst>
              </a:tr>
              <a:tr h="122428">
                <a:tc gridSpan="2">
                  <a:txBody>
                    <a:bodyPr/>
                    <a:lstStyle/>
                    <a:p>
                      <a:pPr marL="0" marR="0" rtl="0" latinLnBrk="0">
                        <a:lnSpc>
                          <a:spcPct val="114999"/>
                        </a:lnSpc>
                        <a:spcBef>
                          <a:spcPts val="0"/>
                        </a:spcBef>
                        <a:spcAft>
                          <a:spcPts val="1000"/>
                        </a:spcAft>
                      </a:pPr>
                      <a:r>
                        <a:rPr lang="hy-AM" sz="1400">
                          <a:effectLst/>
                        </a:rPr>
                        <a:t>4. Շնորհավորական բացիկների նվիրում`կանանց միամսյակի միջոցառումների շրջանակներում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dirty="0">
                          <a:effectLst/>
                        </a:rPr>
                        <a:t>    </a:t>
                      </a:r>
                      <a:r>
                        <a:rPr lang="hy-AM" sz="1400" dirty="0" smtClean="0">
                          <a:effectLst/>
                        </a:rPr>
                        <a:t>70 </a:t>
                      </a:r>
                      <a:r>
                        <a:rPr lang="hy-AM" sz="1400" dirty="0">
                          <a:effectLst/>
                        </a:rPr>
                        <a:t>%,  100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ԱԽ նախաձեռնությամբ </a:t>
                      </a:r>
                    </a:p>
                  </a:txBody>
                  <a:tcPr marL="0" marR="0" marT="0" marB="0" anchor="ctr"/>
                </a:tc>
                <a:tc hMerge="1">
                  <a:txBody>
                    <a:bodyPr/>
                    <a:lstStyle/>
                    <a:p>
                      <a:endParaRPr lang="en-US"/>
                    </a:p>
                  </a:txBody>
                  <a:tcPr/>
                </a:tc>
                <a:extLst>
                  <a:ext uri="{0D108BD9-81ED-4DB2-BD59-A6C34878D82A}">
                    <a16:rowId xmlns:a16="http://schemas.microsoft.com/office/drawing/2014/main" val="3271636287"/>
                  </a:ext>
                </a:extLst>
              </a:tr>
              <a:tr h="81661">
                <a:tc gridSpan="10">
                  <a:txBody>
                    <a:bodyPr/>
                    <a:lstStyle/>
                    <a:p>
                      <a:pPr marL="0" marR="0" rtl="0" latinLnBrk="0">
                        <a:lnSpc>
                          <a:spcPct val="114999"/>
                        </a:lnSpc>
                        <a:spcBef>
                          <a:spcPts val="0"/>
                        </a:spcBef>
                        <a:spcAft>
                          <a:spcPts val="1000"/>
                        </a:spcAft>
                      </a:pPr>
                      <a:r>
                        <a:rPr lang="hy-AM" sz="1400">
                          <a:effectLst/>
                        </a:rPr>
                        <a:t>Համայնքի բնակիչները օգտվում են հաստատության մարզադահլիճից, ինտերնետից, գրադարանից և այլ հնարավորություններից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24021985"/>
                  </a:ext>
                </a:extLst>
              </a:tr>
              <a:tr h="367411">
                <a:tc>
                  <a:txBody>
                    <a:bodyPr/>
                    <a:lstStyle/>
                    <a:p>
                      <a:pPr marL="0" marR="0" rtl="0" latinLnBrk="0">
                        <a:lnSpc>
                          <a:spcPct val="114999"/>
                        </a:lnSpc>
                        <a:spcBef>
                          <a:spcPts val="0"/>
                        </a:spcBef>
                        <a:spcAft>
                          <a:spcPts val="1000"/>
                        </a:spcAft>
                      </a:pPr>
                      <a:r>
                        <a:rPr lang="hy-AM" sz="1400">
                          <a:effectLst/>
                        </a:rPr>
                        <a:t>Նկարագրել, թե հաստատության ինչպիսի ծառայություններից են օգտվում համայնքի բնակիչները </a:t>
                      </a:r>
                    </a:p>
                  </a:txBody>
                  <a:tcPr marL="0" marR="0" marT="0" marB="0" anchor="ctr"/>
                </a:tc>
                <a:tc gridSpan="5">
                  <a:txBody>
                    <a:bodyPr/>
                    <a:lstStyle/>
                    <a:p>
                      <a:pPr marL="0" marR="0" rtl="0" latinLnBrk="0">
                        <a:lnSpc>
                          <a:spcPct val="114999"/>
                        </a:lnSpc>
                        <a:spcBef>
                          <a:spcPts val="0"/>
                        </a:spcBef>
                        <a:spcAft>
                          <a:spcPts val="1000"/>
                        </a:spcAft>
                      </a:pPr>
                      <a:r>
                        <a:rPr lang="hy-AM" sz="1400">
                          <a:effectLst/>
                        </a:rPr>
                        <a:t>Հաճախականությունը՝ ամսեկան կամ տարեկան կտրվածքով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hy-AM" sz="1400">
                          <a:effectLst/>
                        </a:rPr>
                        <a:t>Օգտվող բնակիչների թիվը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Մեկնաբանություն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93001456"/>
                  </a:ext>
                </a:extLst>
              </a:tr>
              <a:tr h="81661">
                <a:tc>
                  <a:txBody>
                    <a:bodyPr/>
                    <a:lstStyle/>
                    <a:p>
                      <a:pPr marL="0" marR="0" rtl="0" latinLnBrk="0">
                        <a:lnSpc>
                          <a:spcPct val="114999"/>
                        </a:lnSpc>
                        <a:spcBef>
                          <a:spcPts val="0"/>
                        </a:spcBef>
                        <a:spcAft>
                          <a:spcPts val="1000"/>
                        </a:spcAft>
                      </a:pPr>
                      <a:r>
                        <a:rPr lang="hy-AM" sz="1400">
                          <a:effectLst/>
                        </a:rPr>
                        <a:t>Սպորտ հրապարակ </a:t>
                      </a:r>
                    </a:p>
                  </a:txBody>
                  <a:tcPr marL="0" marR="0" marT="0" marB="0" anchor="ctr"/>
                </a:tc>
                <a:tc gridSpan="5">
                  <a:txBody>
                    <a:bodyPr/>
                    <a:lstStyle/>
                    <a:p>
                      <a:pPr marL="0" marR="0" rtl="0" latinLnBrk="0">
                        <a:lnSpc>
                          <a:spcPct val="114999"/>
                        </a:lnSpc>
                        <a:spcBef>
                          <a:spcPts val="0"/>
                        </a:spcBef>
                        <a:spcAft>
                          <a:spcPts val="1000"/>
                        </a:spcAft>
                      </a:pPr>
                      <a:r>
                        <a:rPr lang="hy-AM" sz="1200" dirty="0">
                          <a:effectLst/>
                        </a:rPr>
                        <a:t> </a:t>
                      </a:r>
                      <a:r>
                        <a:rPr lang="hy-AM" sz="1400" dirty="0">
                          <a:effectLst/>
                        </a:rPr>
                        <a:t>2 անգամ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en-US" sz="1200" dirty="0">
                          <a:effectLst/>
                        </a:rPr>
                        <a:t>          </a:t>
                      </a:r>
                      <a:r>
                        <a:rPr lang="en-US" sz="1400" dirty="0">
                          <a:effectLst/>
                        </a:rPr>
                        <a:t>30-40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Սպորտային մրցումների կազմակերպում համայնքի կողմից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74599855"/>
                  </a:ext>
                </a:extLst>
              </a:tr>
              <a:tr h="40767">
                <a:tc>
                  <a:txBody>
                    <a:bodyPr/>
                    <a:lstStyle/>
                    <a:p>
                      <a:pPr marL="0" marR="0" rtl="0" latinLnBrk="0">
                        <a:lnSpc>
                          <a:spcPct val="114999"/>
                        </a:lnSpc>
                        <a:spcBef>
                          <a:spcPts val="0"/>
                        </a:spcBef>
                        <a:spcAft>
                          <a:spcPts val="1000"/>
                        </a:spcAft>
                      </a:pPr>
                      <a:r>
                        <a:rPr lang="hy-AM" sz="1400">
                          <a:effectLst/>
                        </a:rPr>
                        <a:t>Գրադարան </a:t>
                      </a:r>
                    </a:p>
                  </a:txBody>
                  <a:tcPr marL="0" marR="0" marT="0" marB="0" anchor="ctr"/>
                </a:tc>
                <a:tc gridSpan="5">
                  <a:txBody>
                    <a:bodyPr/>
                    <a:lstStyle/>
                    <a:p>
                      <a:pPr marL="0" marR="0" rtl="0" latinLnBrk="0">
                        <a:lnSpc>
                          <a:spcPct val="114999"/>
                        </a:lnSpc>
                        <a:spcBef>
                          <a:spcPts val="0"/>
                        </a:spcBef>
                        <a:spcAft>
                          <a:spcPts val="1000"/>
                        </a:spcAft>
                      </a:pPr>
                      <a:r>
                        <a:rPr lang="hy-AM" sz="1400" dirty="0">
                          <a:effectLst/>
                        </a:rPr>
                        <a:t>հաճախակի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en-US" sz="1200" dirty="0">
                          <a:effectLst/>
                        </a:rPr>
                        <a:t>           </a:t>
                      </a:r>
                      <a:r>
                        <a:rPr lang="en-US" sz="1400" dirty="0">
                          <a:effectLst/>
                        </a:rPr>
                        <a:t>120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Գեղարվեստական գրականության տրամադրում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56028726"/>
                  </a:ext>
                </a:extLst>
              </a:tr>
              <a:tr h="122428">
                <a:tc gridSpan="10">
                  <a:txBody>
                    <a:bodyPr/>
                    <a:lstStyle/>
                    <a:p>
                      <a:pPr marL="0" marR="0" rtl="0" latinLnBrk="0">
                        <a:lnSpc>
                          <a:spcPct val="114999"/>
                        </a:lnSpc>
                        <a:spcBef>
                          <a:spcPts val="0"/>
                        </a:spcBef>
                        <a:spcAft>
                          <a:spcPts val="1000"/>
                        </a:spcAft>
                      </a:pPr>
                      <a:r>
                        <a:rPr lang="hy-AM" sz="1400">
                          <a:effectLst/>
                        </a:rPr>
                        <a:t>Ուսումնական հաստատության կողմից հասարակական կազմակերպությունների(ՀԿ) հետ համատեղ իրականացված կրթական ծրագրերը, դրանց թիվը և մասնակից սովորողների թիվը՝ ըստ ծրագրերի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86033113"/>
                  </a:ext>
                </a:extLst>
              </a:tr>
              <a:tr h="285750">
                <a:tc gridSpan="3">
                  <a:txBody>
                    <a:bodyPr/>
                    <a:lstStyle/>
                    <a:p>
                      <a:pPr marL="0" marR="0" rtl="0" latinLnBrk="0">
                        <a:lnSpc>
                          <a:spcPct val="114999"/>
                        </a:lnSpc>
                        <a:spcBef>
                          <a:spcPts val="0"/>
                        </a:spcBef>
                        <a:spcAft>
                          <a:spcPts val="1000"/>
                        </a:spcAft>
                      </a:pPr>
                      <a:r>
                        <a:rPr lang="hy-AM" sz="1400">
                          <a:effectLst/>
                        </a:rPr>
                        <a:t>Նկարագրել վերջին 3 տարում հաստատության և ՀԿ-ների համատեղ իրականացված կրթական բոլոր ծրագրերը </a:t>
                      </a: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1000"/>
                        </a:spcAft>
                      </a:pPr>
                      <a:r>
                        <a:rPr lang="hy-AM" sz="1400">
                          <a:effectLst/>
                        </a:rPr>
                        <a:t>Ծրագրի տևողությունը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1000"/>
                        </a:spcAft>
                      </a:pPr>
                      <a:r>
                        <a:rPr lang="hy-AM" sz="1400">
                          <a:effectLst/>
                        </a:rPr>
                        <a:t>ՀԿ –ի անվանումը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hy-AM" sz="1400">
                          <a:effectLst/>
                        </a:rPr>
                        <a:t>Մասնակից սովորողների  թիվը </a:t>
                      </a:r>
                    </a:p>
                  </a:txBody>
                  <a:tcPr marL="0" marR="0" marT="0" marB="0" anchor="ctr"/>
                </a:tc>
                <a:extLst>
                  <a:ext uri="{0D108BD9-81ED-4DB2-BD59-A6C34878D82A}">
                    <a16:rowId xmlns:a16="http://schemas.microsoft.com/office/drawing/2014/main" val="2223745626"/>
                  </a:ext>
                </a:extLst>
              </a:tr>
              <a:tr h="0">
                <a:tc gridSpan="3">
                  <a:txBody>
                    <a:bodyPr/>
                    <a:lstStyle/>
                    <a:p>
                      <a:pPr marL="45720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endParaRPr lang="en-US" sz="1400" dirty="0">
                        <a:effectLst/>
                        <a:latin typeface="Sylfaen" panose="010A0502050306030303" pitchFamily="18" charset="0"/>
                      </a:endParaRPr>
                    </a:p>
                  </a:txBody>
                  <a:tcPr marL="0" marR="0" marT="0" marB="0" anchor="ctr"/>
                </a:tc>
                <a:extLst>
                  <a:ext uri="{0D108BD9-81ED-4DB2-BD59-A6C34878D82A}">
                    <a16:rowId xmlns:a16="http://schemas.microsoft.com/office/drawing/2014/main" val="3706071379"/>
                  </a:ext>
                </a:extLst>
              </a:tr>
            </a:tbl>
          </a:graphicData>
        </a:graphic>
      </p:graphicFrame>
    </p:spTree>
    <p:extLst>
      <p:ext uri="{BB962C8B-B14F-4D97-AF65-F5344CB8AC3E}">
        <p14:creationId xmlns:p14="http://schemas.microsoft.com/office/powerpoint/2010/main" val="69206867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0513" y="0"/>
            <a:ext cx="9387840" cy="461665"/>
          </a:xfrm>
          <a:prstGeom prst="rect">
            <a:avLst/>
          </a:prstGeom>
        </p:spPr>
        <p:txBody>
          <a:bodyPr rtlCol="0">
            <a:spAutoFit/>
          </a:bodyPr>
          <a:lstStyle/>
          <a:p>
            <a:r>
              <a:rPr lang="hy-AM" sz="2400" b="1">
                <a:latin typeface="Sylfaen"/>
              </a:rPr>
              <a:t>Աղյուսակ 34. ՈՒԹՀՎ  վերլուծության</a:t>
            </a:r>
            <a:endParaRPr lang="en-US" sz="2400" b="1">
              <a:latin typeface="Sylfaen"/>
            </a:endParaRPr>
          </a:p>
        </p:txBody>
      </p:sp>
      <p:graphicFrame>
        <p:nvGraphicFramePr>
          <p:cNvPr id="6" name="Table 5"/>
          <p:cNvGraphicFramePr/>
          <p:nvPr>
            <p:extLst>
              <p:ext uri="{D42A27DB-BD31-4B8C-83A1-F6EECF244321}">
                <p14:modId xmlns:p14="http://schemas.microsoft.com/office/powerpoint/2010/main" val="2273787293"/>
              </p:ext>
            </p:extLst>
          </p:nvPr>
        </p:nvGraphicFramePr>
        <p:xfrm>
          <a:off x="348666" y="365851"/>
          <a:ext cx="11203576" cy="6126480"/>
        </p:xfrm>
        <a:graphic>
          <a:graphicData uri="http://schemas.openxmlformats.org/drawingml/2006/table">
            <a:tbl>
              <a:tblPr firstRow="1" bandRow="1">
                <a:tableStyleId>{5940675A-B579-460E-94D1-54222C63F5DA}</a:tableStyleId>
              </a:tblPr>
              <a:tblGrid>
                <a:gridCol w="5601788">
                  <a:extLst>
                    <a:ext uri="{9D8B030D-6E8A-4147-A177-3AD203B41FA5}">
                      <a16:colId xmlns:a16="http://schemas.microsoft.com/office/drawing/2014/main" val="905591871"/>
                    </a:ext>
                  </a:extLst>
                </a:gridCol>
                <a:gridCol w="5601788">
                  <a:extLst>
                    <a:ext uri="{9D8B030D-6E8A-4147-A177-3AD203B41FA5}">
                      <a16:colId xmlns:a16="http://schemas.microsoft.com/office/drawing/2014/main" val="346708643"/>
                    </a:ext>
                  </a:extLst>
                </a:gridCol>
              </a:tblGrid>
              <a:tr h="239535">
                <a:tc>
                  <a:txBody>
                    <a:bodyPr/>
                    <a:lstStyle/>
                    <a:p>
                      <a:pPr algn="ctr"/>
                      <a:r>
                        <a:rPr lang="hy" b="1" i="1">
                          <a:latin typeface="Sylfaen" charset="0"/>
                        </a:rPr>
                        <a:t>Ուժեղ կողմեր</a:t>
                      </a:r>
                      <a:endParaRPr lang="en-US" b="1" i="1">
                        <a:latin typeface="Sylfaen" charset="0"/>
                      </a:endParaRPr>
                    </a:p>
                  </a:txBody>
                  <a:tcPr/>
                </a:tc>
                <a:tc>
                  <a:txBody>
                    <a:bodyPr/>
                    <a:lstStyle/>
                    <a:p>
                      <a:pPr algn="ctr"/>
                      <a:r>
                        <a:rPr lang="en-US" b="1"/>
                        <a:t>Թույլ կողմեր</a:t>
                      </a:r>
                    </a:p>
                  </a:txBody>
                  <a:tcPr/>
                </a:tc>
                <a:extLst>
                  <a:ext uri="{0D108BD9-81ED-4DB2-BD59-A6C34878D82A}">
                    <a16:rowId xmlns:a16="http://schemas.microsoft.com/office/drawing/2014/main" val="1507859456"/>
                  </a:ext>
                </a:extLst>
              </a:tr>
              <a:tr h="5620515">
                <a:tc>
                  <a:txBody>
                    <a:bodyPr/>
                    <a:lstStyle/>
                    <a:p>
                      <a:r>
                        <a:rPr lang="hy-AM" sz="1200" b="1" i="1">
                          <a:latin typeface="Sylfaen" charset="0"/>
                        </a:rPr>
                        <a:t>1. Աշխատակազմի գործունեության ուժեղ կողմեր՝ տարանջատել վարչական, ուսումնաօժանդակ և ուսուցչական կազմը </a:t>
                      </a:r>
                      <a:endParaRPr lang="en-US" sz="1200" b="1" i="1">
                        <a:latin typeface="Sylfaen" charset="0"/>
                      </a:endParaRPr>
                    </a:p>
                    <a:p>
                      <a:r>
                        <a:rPr lang="en-US" sz="1200" i="1">
                          <a:latin typeface="Symbol" charset="0"/>
                          <a:sym typeface="Symbol" charset="0"/>
                        </a:rPr>
                        <a:t>·</a:t>
                      </a:r>
                      <a:r>
                        <a:rPr lang="hy-AM" sz="1200" i="1">
                          <a:latin typeface="Sylfaen" charset="0"/>
                        </a:rPr>
                        <a:t>Ներդպրոցական վերահսկողություն վարչակազմի կողմից</a:t>
                      </a:r>
                      <a:r>
                        <a:rPr lang="en-US" sz="1200">
                          <a:latin typeface="Calibri" charset="0"/>
                        </a:rPr>
                        <a:t> </a:t>
                      </a:r>
                    </a:p>
                    <a:p>
                      <a:r>
                        <a:rPr lang="en-US" sz="1200" i="1">
                          <a:latin typeface="Symbol" charset="0"/>
                          <a:sym typeface="Symbol" charset="0"/>
                        </a:rPr>
                        <a:t>·</a:t>
                      </a:r>
                      <a:r>
                        <a:rPr lang="en-US" sz="1200" i="1" err="1">
                          <a:latin typeface="Sylfaen" charset="0"/>
                        </a:rPr>
                        <a:t>Մանկավարժական</a:t>
                      </a:r>
                      <a:r>
                        <a:rPr lang="en-US" sz="1200" i="1">
                          <a:latin typeface="Sylfaen" charset="0"/>
                        </a:rPr>
                        <a:t> </a:t>
                      </a:r>
                      <a:r>
                        <a:rPr lang="en-US" sz="1200" i="1" err="1">
                          <a:latin typeface="Sylfaen" charset="0"/>
                        </a:rPr>
                        <a:t>համակազմի</a:t>
                      </a:r>
                      <a:r>
                        <a:rPr lang="en-US" sz="1200" i="1" baseline="0">
                          <a:latin typeface="Sylfaen" charset="0"/>
                        </a:rPr>
                        <a:t> </a:t>
                      </a:r>
                      <a:r>
                        <a:rPr lang="en-US" sz="1200" i="1" baseline="0" err="1">
                          <a:latin typeface="Sylfaen" charset="0"/>
                        </a:rPr>
                        <a:t>համալրում</a:t>
                      </a:r>
                      <a:endParaRPr lang="en-US" sz="1200">
                        <a:latin typeface="Calibri" charset="0"/>
                      </a:endParaRPr>
                    </a:p>
                    <a:p>
                      <a:r>
                        <a:rPr lang="en-US" sz="1200" i="1">
                          <a:latin typeface="Symbol" charset="0"/>
                          <a:sym typeface="Symbol" charset="0"/>
                        </a:rPr>
                        <a:t>·</a:t>
                      </a:r>
                      <a:r>
                        <a:rPr lang="hy-AM" sz="1200" i="1">
                          <a:latin typeface="Sylfaen" charset="0"/>
                        </a:rPr>
                        <a:t>Մշտադիտարկումներ</a:t>
                      </a:r>
                      <a:r>
                        <a:rPr lang="en-US" sz="1200">
                          <a:latin typeface="Calibri" charset="0"/>
                        </a:rPr>
                        <a:t> </a:t>
                      </a:r>
                    </a:p>
                    <a:p>
                      <a:r>
                        <a:rPr lang="en-US" sz="1200" i="1">
                          <a:latin typeface="Symbol" charset="0"/>
                          <a:sym typeface="Symbol" charset="0"/>
                        </a:rPr>
                        <a:t>·</a:t>
                      </a:r>
                      <a:r>
                        <a:rPr lang="hy-AM" sz="1200" i="1">
                          <a:latin typeface="Sylfaen" charset="0"/>
                        </a:rPr>
                        <a:t>Քաղաքացիական դաստիարակություն</a:t>
                      </a:r>
                      <a:r>
                        <a:rPr lang="en-US" sz="1200">
                          <a:latin typeface="Calibri" charset="0"/>
                        </a:rPr>
                        <a:t> </a:t>
                      </a:r>
                    </a:p>
                    <a:p>
                      <a:r>
                        <a:rPr lang="en-US" sz="1200" i="1">
                          <a:latin typeface="Symbol" charset="0"/>
                          <a:sym typeface="Symbol" charset="0"/>
                        </a:rPr>
                        <a:t>·</a:t>
                      </a:r>
                      <a:r>
                        <a:rPr lang="hy-AM" sz="1200" i="1">
                          <a:latin typeface="Sylfaen" charset="0"/>
                        </a:rPr>
                        <a:t>Մասնագիտական կողմնորոշում</a:t>
                      </a:r>
                      <a:r>
                        <a:rPr lang="en-US" sz="1200">
                          <a:latin typeface="Calibri" charset="0"/>
                        </a:rPr>
                        <a:t> </a:t>
                      </a:r>
                    </a:p>
                    <a:p>
                      <a:r>
                        <a:rPr lang="en-US" sz="1200" i="1">
                          <a:latin typeface="Symbol" charset="0"/>
                          <a:sym typeface="Symbol" charset="0"/>
                        </a:rPr>
                        <a:t>·</a:t>
                      </a:r>
                      <a:r>
                        <a:rPr lang="hy-AM" sz="1200" i="1">
                          <a:latin typeface="Sylfaen" charset="0"/>
                        </a:rPr>
                        <a:t>Արտադասարանական և համադպրոցական միջոցառումներ</a:t>
                      </a:r>
                      <a:r>
                        <a:rPr lang="en-US" sz="1200">
                          <a:latin typeface="Calibri" charset="0"/>
                        </a:rPr>
                        <a:t> </a:t>
                      </a:r>
                    </a:p>
                    <a:p>
                      <a:r>
                        <a:rPr lang="en-US" sz="1200" i="1">
                          <a:latin typeface="Symbol" charset="0"/>
                          <a:sym typeface="Symbol" charset="0"/>
                        </a:rPr>
                        <a:t>·</a:t>
                      </a:r>
                      <a:r>
                        <a:rPr lang="hy-AM" sz="1200" i="1">
                          <a:latin typeface="Sylfaen" charset="0"/>
                        </a:rPr>
                        <a:t>Համագործակցային և առողջ բարոյահոգեբանական մթնոլորտի ապահովում</a:t>
                      </a:r>
                      <a:r>
                        <a:rPr lang="en-US" sz="1200">
                          <a:latin typeface="Calibri" charset="0"/>
                        </a:rPr>
                        <a:t> </a:t>
                      </a:r>
                    </a:p>
                    <a:p>
                      <a:r>
                        <a:rPr lang="en-US" sz="1200" i="1">
                          <a:latin typeface="Symbol" charset="0"/>
                          <a:sym typeface="Symbol" charset="0"/>
                        </a:rPr>
                        <a:t>· </a:t>
                      </a:r>
                      <a:r>
                        <a:rPr lang="en-US" sz="1200" i="1" baseline="0">
                          <a:latin typeface="Symbol" charset="0"/>
                          <a:sym typeface="Symbol" charset="0"/>
                        </a:rPr>
                        <a:t> </a:t>
                      </a:r>
                      <a:r>
                        <a:rPr lang="en-US" sz="1200" i="1" baseline="0" err="1">
                          <a:latin typeface="Sylfaen" pitchFamily="18" charset="0"/>
                          <a:sym typeface="Symbol" charset="0"/>
                        </a:rPr>
                        <a:t>Կամավոր</a:t>
                      </a:r>
                      <a:r>
                        <a:rPr lang="en-US" sz="1200" i="1" baseline="0">
                          <a:latin typeface="Sylfaen" pitchFamily="18" charset="0"/>
                          <a:sym typeface="Symbol" charset="0"/>
                        </a:rPr>
                        <a:t> </a:t>
                      </a:r>
                      <a:r>
                        <a:rPr lang="en-US" sz="1200" i="1" baseline="0" err="1">
                          <a:latin typeface="Sylfaen" pitchFamily="18" charset="0"/>
                          <a:sym typeface="Symbol" charset="0"/>
                        </a:rPr>
                        <a:t>ատեստավորված</a:t>
                      </a:r>
                      <a:r>
                        <a:rPr lang="en-US" sz="1200" i="1" baseline="0">
                          <a:latin typeface="Sylfaen" pitchFamily="18" charset="0"/>
                          <a:sym typeface="Symbol" charset="0"/>
                        </a:rPr>
                        <a:t> </a:t>
                      </a:r>
                      <a:r>
                        <a:rPr lang="en-US" sz="1200" i="1" baseline="0" err="1">
                          <a:latin typeface="Sylfaen" pitchFamily="18" charset="0"/>
                          <a:sym typeface="Symbol" charset="0"/>
                        </a:rPr>
                        <a:t>ուսուցիչ</a:t>
                      </a:r>
                      <a:endParaRPr lang="en-US" sz="1200" i="1">
                        <a:latin typeface="Symbol"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1">
                          <a:latin typeface="Symbol" charset="0"/>
                          <a:sym typeface="Symbol" charset="0"/>
                        </a:rPr>
                        <a:t>·</a:t>
                      </a:r>
                      <a:r>
                        <a:rPr lang="hy-AM" sz="1200" i="1">
                          <a:latin typeface="Sylfaen" charset="0"/>
                        </a:rPr>
                        <a:t>Հանրապետական պարբերականներում տպագրված գիտական կամ մեթոդական հոդվածներ</a:t>
                      </a:r>
                    </a:p>
                    <a:p>
                      <a:pPr lvl="0">
                        <a:buSzPct val="154000"/>
                        <a:buFont typeface="Arial" pitchFamily="34" charset="0"/>
                        <a:buChar char="•"/>
                      </a:pPr>
                      <a:r>
                        <a:rPr kumimoji="0" lang="en-US" sz="1200" kern="1200"/>
                        <a:t> Ա</a:t>
                      </a:r>
                      <a:r>
                        <a:rPr kumimoji="0" lang="ru-RU" sz="1200" kern="1200"/>
                        <a:t>նհրաժեշտ որակավորում</a:t>
                      </a:r>
                      <a:r>
                        <a:rPr kumimoji="0" lang="en-US" sz="1200" kern="1200"/>
                        <a:t>, </a:t>
                      </a:r>
                      <a:r>
                        <a:rPr kumimoji="0" lang="ru-RU" sz="1200" kern="1200"/>
                        <a:t>աշխատանքային</a:t>
                      </a:r>
                      <a:endParaRPr kumimoji="0" lang="en-US" sz="1200" kern="1200"/>
                    </a:p>
                    <a:p>
                      <a:pPr lvl="0">
                        <a:buSzPct val="154000"/>
                        <a:buFont typeface="Arial" pitchFamily="34" charset="0"/>
                        <a:buNone/>
                      </a:pPr>
                      <a:r>
                        <a:rPr kumimoji="0" lang="hy-AM" sz="1200" kern="1200" baseline="0"/>
                        <a:t>   </a:t>
                      </a:r>
                      <a:r>
                        <a:rPr kumimoji="0" lang="ru-RU" sz="1200" kern="1200"/>
                        <a:t> փորձ </a:t>
                      </a:r>
                      <a:r>
                        <a:rPr kumimoji="0" lang="en-US" sz="1200" kern="1200"/>
                        <a:t> </a:t>
                      </a:r>
                      <a:r>
                        <a:rPr kumimoji="0" lang="ru-RU" sz="1200" kern="1200"/>
                        <a:t>ունեցող</a:t>
                      </a:r>
                      <a:r>
                        <a:rPr kumimoji="0" lang="en-US" sz="1200" kern="1200"/>
                        <a:t>     </a:t>
                      </a:r>
                      <a:r>
                        <a:rPr kumimoji="0" lang="ru-RU" sz="1200" kern="1200"/>
                        <a:t>մանկավարժ</a:t>
                      </a:r>
                      <a:r>
                        <a:rPr kumimoji="0" lang="en-US" sz="1200" kern="1200"/>
                        <a:t>-</a:t>
                      </a:r>
                      <a:r>
                        <a:rPr kumimoji="0" lang="ru-RU" sz="1200" kern="1200"/>
                        <a:t>մասնագետներ</a:t>
                      </a:r>
                      <a:r>
                        <a:rPr kumimoji="0" lang="hy-AM" sz="1200" kern="1200"/>
                        <a:t>ը</a:t>
                      </a:r>
                      <a:endParaRPr kumimoji="0" lang="en-US" sz="1200" kern="1200"/>
                    </a:p>
                    <a:p>
                      <a:pPr lvl="0">
                        <a:buSzPct val="154000"/>
                        <a:buFont typeface="Arial" pitchFamily="34" charset="0"/>
                        <a:buChar char="•"/>
                      </a:pPr>
                      <a:r>
                        <a:rPr kumimoji="0" lang="en-US" sz="1200" kern="1200"/>
                        <a:t>  Բ</a:t>
                      </a:r>
                      <a:r>
                        <a:rPr kumimoji="0" lang="ru-RU" sz="1200" kern="1200"/>
                        <a:t>արձր պատասխանատվություն</a:t>
                      </a:r>
                      <a:r>
                        <a:rPr kumimoji="0" lang="hy-AM" sz="1200" kern="1200"/>
                        <a:t>ը</a:t>
                      </a:r>
                      <a:endParaRPr kumimoji="0" lang="en-US" sz="1200" kern="1200"/>
                    </a:p>
                    <a:p>
                      <a:pPr lvl="0">
                        <a:buSzPct val="154000"/>
                        <a:buFont typeface="Arial" pitchFamily="34" charset="0"/>
                        <a:buChar char="•"/>
                      </a:pPr>
                      <a:r>
                        <a:rPr kumimoji="0" lang="en-US" sz="1200" kern="1200"/>
                        <a:t>  Ա</a:t>
                      </a:r>
                      <a:r>
                        <a:rPr kumimoji="0" lang="ru-RU" sz="1200" kern="1200"/>
                        <a:t>շակերտակենտրոն մոտեցում</a:t>
                      </a:r>
                      <a:r>
                        <a:rPr kumimoji="0" lang="hy-AM" sz="1200" kern="1200"/>
                        <a:t>ները</a:t>
                      </a:r>
                      <a:endParaRPr kumimoji="0" lang="en-US" sz="1200" kern="1200"/>
                    </a:p>
                    <a:p>
                      <a:pPr lvl="0">
                        <a:buSzPct val="154000"/>
                        <a:buFont typeface="Arial" pitchFamily="34" charset="0"/>
                        <a:buChar char="•"/>
                      </a:pPr>
                      <a:r>
                        <a:rPr kumimoji="0" lang="en-US" sz="1200" kern="1200"/>
                        <a:t> </a:t>
                      </a:r>
                      <a:r>
                        <a:rPr kumimoji="0" lang="ru-RU" sz="1200" kern="1200"/>
                        <a:t> </a:t>
                      </a:r>
                      <a:r>
                        <a:rPr kumimoji="0" lang="en-US" sz="1200" kern="1200"/>
                        <a:t>Ս</a:t>
                      </a:r>
                      <a:r>
                        <a:rPr kumimoji="0" lang="ru-RU" sz="1200" kern="1200"/>
                        <a:t>ովորողի հաջողության կարևորում</a:t>
                      </a:r>
                      <a:r>
                        <a:rPr kumimoji="0" lang="hy-AM" sz="1200" kern="1200"/>
                        <a:t>ը  </a:t>
                      </a:r>
                      <a:r>
                        <a:rPr kumimoji="0" lang="ru-RU" sz="1200" kern="1200"/>
                        <a:t>և   գնահատում</a:t>
                      </a:r>
                      <a:r>
                        <a:rPr kumimoji="0" lang="hy-AM" sz="1200" kern="1200"/>
                        <a:t>ը</a:t>
                      </a:r>
                      <a:endParaRPr kumimoji="0" lang="en-US" sz="1200" kern="1200"/>
                    </a:p>
                    <a:p>
                      <a:pPr lvl="0">
                        <a:buSzPct val="154000"/>
                        <a:buFont typeface="Arial" pitchFamily="34" charset="0"/>
                        <a:buChar char="•"/>
                      </a:pPr>
                      <a:r>
                        <a:rPr kumimoji="0" lang="en-US" sz="1200" kern="1200"/>
                        <a:t>  </a:t>
                      </a:r>
                      <a:r>
                        <a:rPr kumimoji="0" lang="en-US" sz="1200" kern="1200" err="1"/>
                        <a:t>Մեթոդական</a:t>
                      </a:r>
                      <a:r>
                        <a:rPr kumimoji="0" lang="en-US" sz="1200" kern="1200"/>
                        <a:t> </a:t>
                      </a:r>
                      <a:r>
                        <a:rPr kumimoji="0" lang="en-US" sz="1200" kern="1200" err="1"/>
                        <a:t>միավորումների</a:t>
                      </a:r>
                      <a:r>
                        <a:rPr kumimoji="0" lang="en-US" sz="1200" kern="1200"/>
                        <a:t> </a:t>
                      </a:r>
                      <a:r>
                        <a:rPr kumimoji="0" lang="en-US" sz="1200" kern="1200" err="1"/>
                        <a:t>համակարգված</a:t>
                      </a:r>
                      <a:r>
                        <a:rPr kumimoji="0" lang="en-US" sz="1200" kern="1200"/>
                        <a:t> </a:t>
                      </a:r>
                    </a:p>
                    <a:p>
                      <a:pPr lvl="0">
                        <a:buSzPct val="154000"/>
                        <a:buFont typeface="Arial" pitchFamily="34" charset="0"/>
                        <a:buNone/>
                      </a:pPr>
                      <a:r>
                        <a:rPr kumimoji="0" lang="en-US" sz="1200" kern="1200"/>
                        <a:t>    </a:t>
                      </a:r>
                      <a:r>
                        <a:rPr kumimoji="0" lang="en-US" sz="1200" kern="1200" err="1"/>
                        <a:t>աշխատանք</a:t>
                      </a:r>
                      <a:r>
                        <a:rPr kumimoji="0" lang="hy-AM" sz="1200" kern="1200"/>
                        <a:t>ը</a:t>
                      </a:r>
                      <a:endParaRPr kumimoji="0" lang="en-US" sz="1200" kern="1200"/>
                    </a:p>
                    <a:p>
                      <a:pPr lvl="0">
                        <a:buSzPct val="154000"/>
                        <a:buFont typeface="Arial" pitchFamily="34" charset="0"/>
                        <a:buChar char="•"/>
                      </a:pPr>
                      <a:r>
                        <a:rPr kumimoji="0" lang="en-US" sz="1200" kern="1200"/>
                        <a:t> Մ</a:t>
                      </a:r>
                      <a:r>
                        <a:rPr kumimoji="0" lang="hy-AM" sz="1200" kern="1200"/>
                        <a:t>եթոդական սեմինարներ`</a:t>
                      </a:r>
                      <a:r>
                        <a:rPr kumimoji="0" lang="en-US" sz="1200" kern="1200"/>
                        <a:t> </a:t>
                      </a:r>
                      <a:r>
                        <a:rPr kumimoji="0" lang="hy-AM" sz="1200" kern="1200"/>
                        <a:t>միտված ուսուցման որակի </a:t>
                      </a:r>
                      <a:endParaRPr kumimoji="0" lang="en-US" sz="1200" kern="1200"/>
                    </a:p>
                    <a:p>
                      <a:pPr lvl="0">
                        <a:buSzPct val="154000"/>
                        <a:buFont typeface="Arial" pitchFamily="34" charset="0"/>
                        <a:buNone/>
                      </a:pPr>
                      <a:r>
                        <a:rPr kumimoji="0" lang="hy-AM" sz="1200" kern="1200" baseline="0"/>
                        <a:t>  </a:t>
                      </a:r>
                      <a:r>
                        <a:rPr kumimoji="0" lang="en-US" sz="1200" kern="1200"/>
                        <a:t>  </a:t>
                      </a:r>
                      <a:r>
                        <a:rPr kumimoji="0" lang="hy-AM" sz="1200" kern="1200"/>
                        <a:t>բարձրացմանը </a:t>
                      </a:r>
                      <a:endParaRPr kumimoji="0" lang="en-US" sz="1200" kern="1200"/>
                    </a:p>
                    <a:p>
                      <a:pPr lvl="0">
                        <a:buSzPct val="154000"/>
                        <a:buFont typeface="Arial" pitchFamily="34" charset="0"/>
                        <a:buChar char="•"/>
                      </a:pPr>
                      <a:r>
                        <a:rPr kumimoji="0" lang="en-US" sz="1200" kern="1200"/>
                        <a:t> </a:t>
                      </a:r>
                      <a:r>
                        <a:rPr kumimoji="0" lang="hy-AM" sz="1200" kern="1200"/>
                        <a:t>Մշտադիտարկումները և առարկայի դասավանդման </a:t>
                      </a:r>
                      <a:endParaRPr kumimoji="0" lang="en-US" sz="1200" kern="1200"/>
                    </a:p>
                    <a:p>
                      <a:pPr lvl="0">
                        <a:buSzPct val="154000"/>
                        <a:buFont typeface="Arial" pitchFamily="34" charset="0"/>
                        <a:buNone/>
                      </a:pPr>
                      <a:r>
                        <a:rPr kumimoji="0" lang="hy-AM" sz="1200" kern="1200" baseline="0"/>
                        <a:t> </a:t>
                      </a:r>
                      <a:r>
                        <a:rPr kumimoji="0" lang="en-US" sz="1200" kern="1200"/>
                        <a:t>  </a:t>
                      </a:r>
                      <a:r>
                        <a:rPr kumimoji="0" lang="hy-AM" sz="1200" kern="1200"/>
                        <a:t>դրվածքի ուսումնասիրությունները</a:t>
                      </a:r>
                      <a:endParaRPr kumimoji="0" lang="en-US" sz="1200" kern="1200"/>
                    </a:p>
                    <a:p>
                      <a:pPr lvl="0">
                        <a:buSzPct val="154000"/>
                        <a:buFont typeface="Arial" pitchFamily="34" charset="0"/>
                        <a:buChar char="•"/>
                      </a:pPr>
                      <a:r>
                        <a:rPr kumimoji="0" lang="en-US" sz="1200" kern="1200"/>
                        <a:t> </a:t>
                      </a:r>
                      <a:r>
                        <a:rPr kumimoji="0" lang="hy-AM" sz="1200" kern="1200"/>
                        <a:t>Քաղաքացիական դաստիարակությունը</a:t>
                      </a:r>
                      <a:r>
                        <a:rPr kumimoji="0" lang="ru-RU" sz="1200" kern="1200"/>
                        <a:t>.</a:t>
                      </a:r>
                      <a:r>
                        <a:rPr kumimoji="0" lang="en-US" sz="1200" kern="1200"/>
                        <a:t> </a:t>
                      </a:r>
                      <a:r>
                        <a:rPr kumimoji="0" lang="en-US" sz="1200" kern="1200" err="1"/>
                        <a:t>արժեհամա</a:t>
                      </a:r>
                      <a:r>
                        <a:rPr kumimoji="0" lang="en-US" sz="1200" kern="1200"/>
                        <a:t>-     </a:t>
                      </a:r>
                    </a:p>
                    <a:p>
                      <a:pPr lvl="0">
                        <a:buSzPct val="154000"/>
                        <a:buFont typeface="Arial" pitchFamily="34" charset="0"/>
                        <a:buNone/>
                      </a:pPr>
                      <a:r>
                        <a:rPr kumimoji="0" lang="hy-AM" sz="1200" kern="1200" baseline="0"/>
                        <a:t>     </a:t>
                      </a:r>
                      <a:r>
                        <a:rPr kumimoji="0" lang="en-US" sz="1200" kern="1200" err="1"/>
                        <a:t>կարգի</a:t>
                      </a:r>
                      <a:r>
                        <a:rPr kumimoji="0" lang="ru-RU" sz="1200" kern="1200"/>
                        <a:t>, </a:t>
                      </a:r>
                      <a:r>
                        <a:rPr kumimoji="0" lang="en-US" sz="1200" kern="1200" err="1"/>
                        <a:t>կարողունակությունների</a:t>
                      </a:r>
                      <a:r>
                        <a:rPr kumimoji="0" lang="en-US" sz="1200" kern="1200"/>
                        <a:t>   </a:t>
                      </a:r>
                      <a:r>
                        <a:rPr kumimoji="0" lang="en-US" sz="1200" kern="1200" err="1"/>
                        <a:t>ձևավորում</a:t>
                      </a:r>
                      <a:r>
                        <a:rPr kumimoji="0" lang="ru-RU" sz="1200" kern="1200"/>
                        <a:t>, </a:t>
                      </a:r>
                      <a:r>
                        <a:rPr kumimoji="0" lang="en-US" sz="1200" kern="1200" err="1"/>
                        <a:t>մասնա</a:t>
                      </a:r>
                      <a:r>
                        <a:rPr kumimoji="0" lang="en-US" sz="1200" kern="1200"/>
                        <a:t>-</a:t>
                      </a:r>
                      <a:endParaRPr kumimoji="0" lang="hy-AM" sz="1200" kern="1200"/>
                    </a:p>
                    <a:p>
                      <a:pPr lvl="0">
                        <a:buSzPct val="154000"/>
                        <a:buFont typeface="Arial" pitchFamily="34" charset="0"/>
                        <a:buNone/>
                      </a:pPr>
                      <a:r>
                        <a:rPr kumimoji="0" lang="en-US" sz="1200" kern="1200"/>
                        <a:t>     </a:t>
                      </a:r>
                      <a:r>
                        <a:rPr kumimoji="0" lang="en-US" sz="1200" kern="1200" err="1"/>
                        <a:t>գիտական</a:t>
                      </a:r>
                      <a:r>
                        <a:rPr kumimoji="0" lang="en-US" sz="1200" kern="1200"/>
                        <a:t> </a:t>
                      </a:r>
                      <a:r>
                        <a:rPr kumimoji="0" lang="en-US" sz="1200" kern="1200" err="1"/>
                        <a:t>կողմնորոշման</a:t>
                      </a:r>
                      <a:r>
                        <a:rPr kumimoji="0" lang="en-US" sz="1200" kern="1200" baseline="0"/>
                        <a:t> </a:t>
                      </a:r>
                      <a:r>
                        <a:rPr kumimoji="0" lang="en-US" sz="1200" kern="1200"/>
                        <a:t>  </a:t>
                      </a:r>
                      <a:r>
                        <a:rPr kumimoji="0" lang="en-US" sz="1200" kern="1200" err="1"/>
                        <a:t>ապահովում</a:t>
                      </a:r>
                      <a:endParaRPr kumimoji="0" lang="en-US" sz="1200" kern="1200"/>
                    </a:p>
                    <a:p>
                      <a:pPr lvl="0">
                        <a:buSzPct val="154000"/>
                        <a:buFont typeface="Arial" pitchFamily="34" charset="0"/>
                        <a:buChar char="•"/>
                      </a:pPr>
                      <a:r>
                        <a:rPr kumimoji="0" lang="en-US" sz="1200" kern="1200"/>
                        <a:t> </a:t>
                      </a:r>
                      <a:r>
                        <a:rPr kumimoji="0" lang="hy-AM" sz="1200" kern="1200"/>
                        <a:t>Արտադասարանական և համադպրոցական </a:t>
                      </a:r>
                      <a:r>
                        <a:rPr kumimoji="0" lang="hy-AM" sz="1200" kern="1200" baseline="0"/>
                        <a:t> </a:t>
                      </a:r>
                      <a:r>
                        <a:rPr kumimoji="0" lang="hy-AM" sz="1200" kern="1200"/>
                        <a:t>միջոցառումները </a:t>
                      </a:r>
                      <a:endParaRPr kumimoji="0" lang="en-US" sz="1200" kern="1200"/>
                    </a:p>
                    <a:p>
                      <a:pPr lvl="0">
                        <a:buSzPct val="154000"/>
                        <a:buFont typeface="Arial" pitchFamily="34" charset="0"/>
                        <a:buChar char="•"/>
                      </a:pPr>
                      <a:r>
                        <a:rPr kumimoji="0" lang="en-US" sz="1200" kern="1200"/>
                        <a:t> </a:t>
                      </a:r>
                      <a:r>
                        <a:rPr kumimoji="0" lang="hy-AM" sz="1200" kern="1200"/>
                        <a:t>Հանրապետական պարբերականներում տպագրված </a:t>
                      </a:r>
                      <a:endParaRPr kumimoji="0" lang="en-US" sz="1200" kern="1200"/>
                    </a:p>
                    <a:p>
                      <a:pPr lvl="0">
                        <a:buSzPct val="154000"/>
                        <a:buFont typeface="Arial" pitchFamily="34" charset="0"/>
                        <a:buNone/>
                      </a:pPr>
                      <a:r>
                        <a:rPr kumimoji="0" lang="hy-AM" sz="1200" kern="1200" baseline="0"/>
                        <a:t>   </a:t>
                      </a:r>
                      <a:r>
                        <a:rPr kumimoji="0" lang="hy-AM" sz="1200" kern="1200"/>
                        <a:t>գիտական կամ մեթոդական հոդվածները </a:t>
                      </a:r>
                      <a:endParaRPr kumimoji="0" lang="en-US" sz="1200" kern="1200"/>
                    </a:p>
                    <a:p>
                      <a:pPr lvl="0">
                        <a:buSzPct val="154000"/>
                        <a:buFont typeface="Arial" pitchFamily="34" charset="0"/>
                        <a:buChar char="•"/>
                      </a:pPr>
                      <a:r>
                        <a:rPr kumimoji="0" lang="en-US" sz="1200" kern="1200"/>
                        <a:t> </a:t>
                      </a:r>
                      <a:r>
                        <a:rPr kumimoji="0" lang="en-US" sz="1200" kern="1200" err="1"/>
                        <a:t>Փորձառու</a:t>
                      </a:r>
                      <a:r>
                        <a:rPr kumimoji="0" lang="en-US" sz="1200" kern="1200"/>
                        <a:t> և </a:t>
                      </a:r>
                      <a:r>
                        <a:rPr kumimoji="0" lang="en-US" sz="1200" kern="1200" err="1"/>
                        <a:t>կոմպետենտ</a:t>
                      </a:r>
                      <a:r>
                        <a:rPr kumimoji="0" lang="en-US" sz="1200" kern="1200"/>
                        <a:t>  </a:t>
                      </a:r>
                      <a:r>
                        <a:rPr kumimoji="0" lang="en-US" sz="1200" kern="1200" err="1"/>
                        <a:t>լաբորանտներ</a:t>
                      </a:r>
                      <a:r>
                        <a:rPr kumimoji="0" lang="hy-AM" sz="1200" kern="1200"/>
                        <a:t>ը</a:t>
                      </a:r>
                      <a:endParaRPr kumimoji="0" lang="en-US" sz="1200" kern="1200"/>
                    </a:p>
                    <a:p>
                      <a:pPr>
                        <a:buSzPct val="154000"/>
                        <a:buFont typeface="Arial" pitchFamily="34" charset="0"/>
                        <a:buChar char="•"/>
                      </a:pPr>
                      <a:r>
                        <a:rPr kumimoji="0" lang="en-US" sz="1200" kern="1200"/>
                        <a:t>  </a:t>
                      </a:r>
                      <a:r>
                        <a:rPr kumimoji="0" lang="hy-AM" sz="1200" kern="1200"/>
                        <a:t>Ս</a:t>
                      </a:r>
                      <a:r>
                        <a:rPr kumimoji="0" lang="en-US" sz="1200" kern="1200" err="1"/>
                        <a:t>պասարկող</a:t>
                      </a:r>
                      <a:r>
                        <a:rPr kumimoji="0" lang="en-US" sz="1200" kern="1200"/>
                        <a:t> </a:t>
                      </a:r>
                      <a:r>
                        <a:rPr kumimoji="0" lang="en-US" sz="1200" kern="1200" err="1"/>
                        <a:t>պատասխանատու</a:t>
                      </a:r>
                      <a:r>
                        <a:rPr kumimoji="0" lang="en-US" sz="1200" kern="1200"/>
                        <a:t> </a:t>
                      </a:r>
                      <a:r>
                        <a:rPr kumimoji="0" lang="en-US" sz="1200" kern="1200" err="1"/>
                        <a:t>անձնակազմ</a:t>
                      </a:r>
                      <a:r>
                        <a:rPr kumimoji="0" lang="hy-AM" sz="1200" kern="1200"/>
                        <a:t>ը</a:t>
                      </a:r>
                      <a:endParaRPr lang="en-US" sz="1200">
                        <a:latin typeface="GHEA Grapalat" pitchFamily="50" charset="0"/>
                      </a:endParaRPr>
                    </a:p>
                  </a:txBody>
                  <a:tcPr/>
                </a:tc>
                <a:tc>
                  <a:txBody>
                    <a:bodyPr/>
                    <a:lstStyle/>
                    <a:p>
                      <a:r>
                        <a:rPr lang="en-US" sz="1200" b="1" i="1">
                          <a:latin typeface="Sylfaen" charset="0"/>
                          <a:sym typeface="Symbol" charset="0"/>
                        </a:rPr>
                        <a:t>1. </a:t>
                      </a:r>
                      <a:r>
                        <a:rPr lang="hy-AM" sz="1200" b="1" i="1">
                          <a:latin typeface="Sylfaen" charset="0"/>
                          <a:sym typeface="Symbol" charset="0"/>
                        </a:rPr>
                        <a:t>Աշխատակազմի գործունեության թույլ կողմեր՝ տարանջատել վարչական, ուսումնաօժանդակ և ուսուցչական կազմը</a:t>
                      </a:r>
                      <a:r>
                        <a:rPr lang="en-US" sz="1200" b="1" i="1">
                          <a:latin typeface="Sylfaen" charset="0"/>
                          <a:sym typeface="Symbol" charset="0"/>
                        </a:rPr>
                        <a:t> </a:t>
                      </a:r>
                    </a:p>
                    <a:p>
                      <a:r>
                        <a:rPr lang="en-US" sz="1200" i="1">
                          <a:latin typeface="Symbol" charset="0"/>
                          <a:sym typeface="Symbol" charset="0"/>
                        </a:rPr>
                        <a:t>·</a:t>
                      </a:r>
                      <a:r>
                        <a:rPr lang="hy-AM" sz="1200" i="1">
                          <a:latin typeface="Sylfaen" charset="0"/>
                          <a:sym typeface="Symbol" charset="0"/>
                        </a:rPr>
                        <a:t>Միջազգային պարբերականներում հոդվածների տպագրության, միջազգային գիտաժողովներին մասնակցության բացակայություն</a:t>
                      </a:r>
                      <a:r>
                        <a:rPr lang="en-US" sz="1200" i="1">
                          <a:latin typeface="Calibri" charset="0"/>
                          <a:sym typeface="Symbol" charset="0"/>
                        </a:rPr>
                        <a:t> </a:t>
                      </a:r>
                    </a:p>
                    <a:p>
                      <a:r>
                        <a:rPr lang="en-US" sz="1200" i="1">
                          <a:latin typeface="Symbol" charset="0"/>
                          <a:sym typeface="Symbol" charset="0"/>
                        </a:rPr>
                        <a:t>·</a:t>
                      </a:r>
                      <a:r>
                        <a:rPr lang="hy-AM" sz="1200" i="1">
                          <a:latin typeface="Sylfaen" charset="0"/>
                          <a:sym typeface="Symbol" charset="0"/>
                        </a:rPr>
                        <a:t>Գիտական կոչումներ ունեցող ուսուցիչների բացակայություն</a:t>
                      </a:r>
                      <a:r>
                        <a:rPr lang="en-US" sz="1200" i="1">
                          <a:latin typeface="Calibri" charset="0"/>
                          <a:sym typeface="Symbol" charset="0"/>
                        </a:rPr>
                        <a:t> </a:t>
                      </a:r>
                    </a:p>
                    <a:p>
                      <a:r>
                        <a:rPr lang="en-US" sz="1200" i="1">
                          <a:latin typeface="Symbol" charset="0"/>
                          <a:sym typeface="Symbol" charset="0"/>
                        </a:rPr>
                        <a:t>·</a:t>
                      </a:r>
                      <a:r>
                        <a:rPr lang="hy-AM" sz="1200" i="1">
                          <a:latin typeface="Sylfaen" charset="0"/>
                          <a:sym typeface="Symbol" charset="0"/>
                        </a:rPr>
                        <a:t>Միջազգային մրցույթներին , սեմինարնների, վեբինարների,</a:t>
                      </a:r>
                      <a:r>
                        <a:rPr lang="hy-AM" sz="1200" i="1" baseline="0">
                          <a:latin typeface="Sylfaen" charset="0"/>
                          <a:sym typeface="Symbol" charset="0"/>
                        </a:rPr>
                        <a:t> վերապատրաստումների </a:t>
                      </a:r>
                      <a:r>
                        <a:rPr lang="hy-AM" sz="1200" i="1">
                          <a:latin typeface="Sylfaen" charset="0"/>
                          <a:sym typeface="Symbol" charset="0"/>
                        </a:rPr>
                        <a:t>մասնակցության ցածր տոկոս</a:t>
                      </a:r>
                      <a:r>
                        <a:rPr lang="en-US" sz="1200" b="1" i="1">
                          <a:latin typeface="Calibri" charset="0"/>
                          <a:sym typeface="Symbol" charset="0"/>
                        </a:rPr>
                        <a:t> </a:t>
                      </a:r>
                    </a:p>
                    <a:p>
                      <a:endParaRPr lang="hy-AM" sz="1200" i="1">
                        <a:latin typeface="Sylfaen" charset="0"/>
                      </a:endParaRPr>
                    </a:p>
                  </a:txBody>
                  <a:tcPr/>
                </a:tc>
                <a:extLst>
                  <a:ext uri="{0D108BD9-81ED-4DB2-BD59-A6C34878D82A}">
                    <a16:rowId xmlns:a16="http://schemas.microsoft.com/office/drawing/2014/main" val="3946516063"/>
                  </a:ext>
                </a:extLst>
              </a:tr>
            </a:tbl>
          </a:graphicData>
        </a:graphic>
      </p:graphicFrame>
    </p:spTree>
    <p:extLst>
      <p:ext uri="{BB962C8B-B14F-4D97-AF65-F5344CB8AC3E}">
        <p14:creationId xmlns:p14="http://schemas.microsoft.com/office/powerpoint/2010/main" val="4115344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extLst>
              <p:ext uri="{D42A27DB-BD31-4B8C-83A1-F6EECF244321}">
                <p14:modId xmlns:p14="http://schemas.microsoft.com/office/powerpoint/2010/main" val="273725361"/>
              </p:ext>
            </p:extLst>
          </p:nvPr>
        </p:nvGraphicFramePr>
        <p:xfrm>
          <a:off x="146981" y="153135"/>
          <a:ext cx="11636564" cy="6275657"/>
        </p:xfrm>
        <a:graphic>
          <a:graphicData uri="http://schemas.openxmlformats.org/drawingml/2006/table">
            <a:tbl>
              <a:tblPr firstRow="1" bandRow="1">
                <a:tableStyleId>{5940675A-B579-460E-94D1-54222C63F5DA}</a:tableStyleId>
              </a:tblPr>
              <a:tblGrid>
                <a:gridCol w="5818282">
                  <a:extLst>
                    <a:ext uri="{9D8B030D-6E8A-4147-A177-3AD203B41FA5}">
                      <a16:colId xmlns:a16="http://schemas.microsoft.com/office/drawing/2014/main" val="75168266"/>
                    </a:ext>
                  </a:extLst>
                </a:gridCol>
                <a:gridCol w="5818282">
                  <a:extLst>
                    <a:ext uri="{9D8B030D-6E8A-4147-A177-3AD203B41FA5}">
                      <a16:colId xmlns:a16="http://schemas.microsoft.com/office/drawing/2014/main" val="758110404"/>
                    </a:ext>
                  </a:extLst>
                </a:gridCol>
              </a:tblGrid>
              <a:tr h="6275657">
                <a:tc>
                  <a:txBody>
                    <a:bodyPr/>
                    <a:lstStyle/>
                    <a:p>
                      <a:r>
                        <a:rPr lang="hy-AM" sz="1400" i="1" dirty="0">
                          <a:latin typeface="Sylfaen" charset="0"/>
                          <a:sym typeface="Symbol" charset="0"/>
                        </a:rPr>
                        <a:t>2.</a:t>
                      </a:r>
                      <a:r>
                        <a:rPr lang="hy-AM" sz="1400" b="1" i="1" dirty="0">
                          <a:latin typeface="Sylfaen" charset="0"/>
                          <a:sym typeface="Symbol" charset="0"/>
                        </a:rPr>
                        <a:t>Սովորողների ուսումնառության և այլ գործունեության ուժեղ կողմեր</a:t>
                      </a:r>
                      <a:r>
                        <a:rPr lang="en-US" sz="1400" i="1" dirty="0">
                          <a:latin typeface="Calibri" charset="0"/>
                          <a:sym typeface="Symbol" charset="0"/>
                        </a:rPr>
                        <a:t> </a:t>
                      </a:r>
                    </a:p>
                    <a:p>
                      <a:r>
                        <a:rPr lang="en-US" sz="1400" i="1" dirty="0">
                          <a:latin typeface="Symbol" charset="0"/>
                          <a:sym typeface="Symbol" charset="0"/>
                        </a:rPr>
                        <a:t>·</a:t>
                      </a:r>
                      <a:r>
                        <a:rPr lang="hy-AM" sz="1400" i="1" dirty="0">
                          <a:latin typeface="Sylfaen" charset="0"/>
                          <a:sym typeface="Symbol" charset="0"/>
                        </a:rPr>
                        <a:t>Միջինից բարձր առաջադիմություն</a:t>
                      </a:r>
                      <a:r>
                        <a:rPr lang="en-US" sz="1400" i="1" dirty="0">
                          <a:latin typeface="Calibri" charset="0"/>
                          <a:sym typeface="Symbol" charset="0"/>
                        </a:rPr>
                        <a:t> </a:t>
                      </a:r>
                    </a:p>
                    <a:p>
                      <a:r>
                        <a:rPr lang="en-US" sz="1400" i="1" dirty="0" smtClean="0">
                          <a:latin typeface="Symbol" charset="0"/>
                          <a:sym typeface="Symbol" charset="0"/>
                        </a:rPr>
                        <a:t>·</a:t>
                      </a:r>
                      <a:r>
                        <a:rPr lang="en-US" sz="1400" i="1" dirty="0" smtClean="0">
                          <a:latin typeface="Sylfaen" charset="0"/>
                          <a:sym typeface="Symbol" charset="0"/>
                        </a:rPr>
                        <a:t>  </a:t>
                      </a:r>
                      <a:r>
                        <a:rPr lang="en-US" sz="1400" i="1" dirty="0" err="1">
                          <a:latin typeface="Sylfaen" charset="0"/>
                          <a:sym typeface="Symbol" charset="0"/>
                        </a:rPr>
                        <a:t>Առարկայական</a:t>
                      </a:r>
                      <a:r>
                        <a:rPr lang="en-US" sz="1400" i="1" baseline="0" dirty="0">
                          <a:latin typeface="Sylfaen" charset="0"/>
                          <a:sym typeface="Symbol" charset="0"/>
                        </a:rPr>
                        <a:t> </a:t>
                      </a:r>
                      <a:r>
                        <a:rPr lang="en-US" sz="1400" i="1" baseline="0" dirty="0" err="1">
                          <a:latin typeface="Sylfaen" charset="0"/>
                          <a:sym typeface="Symbol" charset="0"/>
                        </a:rPr>
                        <a:t>օլիմպիադաներին</a:t>
                      </a:r>
                      <a:r>
                        <a:rPr lang="en-US" sz="1400" i="1" baseline="0" dirty="0">
                          <a:latin typeface="Sylfaen" charset="0"/>
                          <a:sym typeface="Symbol" charset="0"/>
                        </a:rPr>
                        <a:t> </a:t>
                      </a:r>
                      <a:r>
                        <a:rPr lang="en-US" sz="1400" i="1" baseline="0" dirty="0" err="1" smtClean="0">
                          <a:latin typeface="Sylfaen" charset="0"/>
                          <a:sym typeface="Symbol" charset="0"/>
                        </a:rPr>
                        <a:t>մասնակցություն</a:t>
                      </a:r>
                      <a:r>
                        <a:rPr lang="hy-AM" sz="1400" i="1" baseline="0" dirty="0" smtClean="0">
                          <a:latin typeface="Sylfaen" charset="0"/>
                          <a:sym typeface="Symbol" charset="0"/>
                        </a:rPr>
                        <a:t>,</a:t>
                      </a:r>
                      <a:endParaRPr lang="hy-AM" sz="1400" i="1" baseline="0" dirty="0">
                        <a:latin typeface="Sylfaen" charset="0"/>
                        <a:sym typeface="Symbol" charset="0"/>
                      </a:endParaRPr>
                    </a:p>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hy-AM" sz="1400" i="0" baseline="0" dirty="0">
                          <a:latin typeface="Sylfaen" charset="0"/>
                          <a:sym typeface="Symbol" charset="0"/>
                        </a:rPr>
                        <a:t> </a:t>
                      </a:r>
                      <a:r>
                        <a:rPr lang="en-US" sz="1400" i="0" dirty="0" err="1"/>
                        <a:t>Բուհեր</a:t>
                      </a:r>
                      <a:r>
                        <a:rPr lang="ru-RU" sz="1400" i="0" dirty="0"/>
                        <a:t>, </a:t>
                      </a:r>
                      <a:r>
                        <a:rPr lang="en-US" sz="1400" i="0" dirty="0" err="1"/>
                        <a:t>այդ</a:t>
                      </a:r>
                      <a:r>
                        <a:rPr lang="en-US" sz="1400" i="0" dirty="0"/>
                        <a:t> </a:t>
                      </a:r>
                      <a:r>
                        <a:rPr lang="en-US" sz="1400" i="0" dirty="0" err="1"/>
                        <a:t>թվում</a:t>
                      </a:r>
                      <a:r>
                        <a:rPr lang="en-US" sz="1400" i="0" dirty="0"/>
                        <a:t> և </a:t>
                      </a:r>
                      <a:r>
                        <a:rPr lang="en-US" sz="1400" i="0" dirty="0" err="1"/>
                        <a:t>միջազգային</a:t>
                      </a:r>
                      <a:r>
                        <a:rPr lang="ru-RU" sz="1400" i="0" dirty="0"/>
                        <a:t>, </a:t>
                      </a:r>
                      <a:r>
                        <a:rPr lang="en-US" sz="1400" i="0" dirty="0" err="1"/>
                        <a:t>ընդունվելու</a:t>
                      </a:r>
                      <a:r>
                        <a:rPr lang="en-US" sz="1400" i="0" dirty="0"/>
                        <a:t> </a:t>
                      </a:r>
                      <a:r>
                        <a:rPr lang="en-US" sz="1400" i="0" dirty="0" err="1"/>
                        <a:t>բարձր</a:t>
                      </a:r>
                      <a:r>
                        <a:rPr lang="en-US" sz="1400" i="0" dirty="0"/>
                        <a:t> </a:t>
                      </a:r>
                      <a:r>
                        <a:rPr lang="en-US" sz="1400" i="0" dirty="0" err="1"/>
                        <a:t>ցուցանիշ</a:t>
                      </a:r>
                      <a:r>
                        <a:rPr lang="hy-AM" sz="1400" i="0" dirty="0"/>
                        <a:t>ը</a:t>
                      </a:r>
                      <a:endParaRPr lang="en-US" sz="1400" i="0" dirty="0">
                        <a:latin typeface="Calibri"/>
                        <a:ea typeface="Times New Roman"/>
                        <a:cs typeface="Times New Roman"/>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hy-AM" sz="1400" i="1" dirty="0">
                        <a:latin typeface="Sylfaen" charset="0"/>
                        <a:sym typeface="Symbol" charset="0"/>
                      </a:endParaRPr>
                    </a:p>
                    <a:p>
                      <a:r>
                        <a:rPr lang="hy-AM" sz="1400" b="1" i="1" dirty="0">
                          <a:latin typeface="Sylfaen" charset="0"/>
                          <a:sym typeface="Symbol" charset="0"/>
                        </a:rPr>
                        <a:t>3. Ծնողների, համայնքի, կառավարման խորհուրդի, այլ մարմինների գործունեության ուժեղ կողմեր</a:t>
                      </a:r>
                      <a:r>
                        <a:rPr lang="en-US" sz="1400" i="1" dirty="0">
                          <a:latin typeface="Calibri" charset="0"/>
                          <a:sym typeface="Symbol" charset="0"/>
                        </a:rPr>
                        <a:t> </a:t>
                      </a:r>
                    </a:p>
                    <a:p>
                      <a:r>
                        <a:rPr lang="en-US" sz="1400" i="1" dirty="0">
                          <a:latin typeface="Symbol" charset="0"/>
                          <a:sym typeface="Symbol" charset="0"/>
                        </a:rPr>
                        <a:t>·</a:t>
                      </a:r>
                      <a:r>
                        <a:rPr lang="hy-AM" sz="1400" i="1" dirty="0">
                          <a:latin typeface="Sylfaen" charset="0"/>
                          <a:sym typeface="Symbol" charset="0"/>
                        </a:rPr>
                        <a:t>Սերտ համագործակցություն</a:t>
                      </a:r>
                      <a:r>
                        <a:rPr lang="en-US" sz="1400" i="1" dirty="0">
                          <a:latin typeface="Calibri" charset="0"/>
                          <a:sym typeface="Symbol" charset="0"/>
                        </a:rPr>
                        <a:t> </a:t>
                      </a:r>
                    </a:p>
                    <a:p>
                      <a:r>
                        <a:rPr lang="en-US" sz="1400" i="1" dirty="0">
                          <a:latin typeface="Symbol" charset="0"/>
                          <a:sym typeface="Symbol" charset="0"/>
                        </a:rPr>
                        <a:t>·</a:t>
                      </a:r>
                      <a:r>
                        <a:rPr lang="hy-AM" sz="1400" i="1" dirty="0" smtClean="0">
                          <a:latin typeface="Sylfaen" charset="0"/>
                          <a:sym typeface="Symbol" charset="0"/>
                        </a:rPr>
                        <a:t>ԾԽ</a:t>
                      </a:r>
                      <a:r>
                        <a:rPr lang="en-US" sz="1400" i="1" dirty="0" smtClean="0">
                          <a:latin typeface="Sylfaen" charset="0"/>
                          <a:sym typeface="Symbol" charset="0"/>
                        </a:rPr>
                        <a:t>,</a:t>
                      </a:r>
                      <a:r>
                        <a:rPr lang="en-US" sz="1400" i="1" baseline="0" dirty="0" smtClean="0">
                          <a:latin typeface="Sylfaen" charset="0"/>
                          <a:sym typeface="Symbol" charset="0"/>
                        </a:rPr>
                        <a:t> Ա</a:t>
                      </a:r>
                      <a:r>
                        <a:rPr lang="hy-AM" sz="1400" i="1" dirty="0" smtClean="0">
                          <a:latin typeface="Sylfaen" charset="0"/>
                          <a:sym typeface="Symbol" charset="0"/>
                        </a:rPr>
                        <a:t>Խ </a:t>
                      </a:r>
                      <a:r>
                        <a:rPr lang="en-US" sz="1400" i="1" dirty="0" smtClean="0">
                          <a:latin typeface="Sylfaen" charset="0"/>
                          <a:sym typeface="Symbol" charset="0"/>
                        </a:rPr>
                        <a:t>և </a:t>
                      </a:r>
                      <a:r>
                        <a:rPr lang="en-US" sz="1400" i="1" dirty="0" err="1" smtClean="0">
                          <a:latin typeface="Sylfaen" charset="0"/>
                          <a:sym typeface="Symbol" charset="0"/>
                        </a:rPr>
                        <a:t>շրջանավարտների</a:t>
                      </a:r>
                      <a:r>
                        <a:rPr lang="en-US" sz="1400" i="1" dirty="0" smtClean="0">
                          <a:latin typeface="Sylfaen" charset="0"/>
                          <a:sym typeface="Symbol" charset="0"/>
                        </a:rPr>
                        <a:t> </a:t>
                      </a:r>
                      <a:r>
                        <a:rPr lang="en-US" sz="1400" i="1" dirty="0" err="1" smtClean="0">
                          <a:latin typeface="Sylfaen" charset="0"/>
                          <a:sym typeface="Symbol" charset="0"/>
                        </a:rPr>
                        <a:t>խորհրդի</a:t>
                      </a:r>
                      <a:r>
                        <a:rPr lang="en-US" sz="1400" i="1" dirty="0" smtClean="0">
                          <a:latin typeface="Sylfaen" charset="0"/>
                          <a:sym typeface="Symbol" charset="0"/>
                        </a:rPr>
                        <a:t> </a:t>
                      </a:r>
                      <a:r>
                        <a:rPr lang="hy-AM" sz="1400" i="1" dirty="0" smtClean="0">
                          <a:latin typeface="Sylfaen" charset="0"/>
                          <a:sym typeface="Symbol" charset="0"/>
                        </a:rPr>
                        <a:t>ակտիվ </a:t>
                      </a:r>
                      <a:r>
                        <a:rPr lang="hy-AM" sz="1400" i="1" dirty="0">
                          <a:latin typeface="Sylfaen" charset="0"/>
                          <a:sym typeface="Symbol" charset="0"/>
                        </a:rPr>
                        <a:t>ներգրավվածություն արտադասարանական և արտադպրոցական միջոցառումներում</a:t>
                      </a:r>
                      <a:r>
                        <a:rPr lang="en-US" sz="1400" i="1" dirty="0">
                          <a:latin typeface="Calibri" charset="0"/>
                          <a:sym typeface="Symbol" charset="0"/>
                        </a:rPr>
                        <a:t> </a:t>
                      </a:r>
                    </a:p>
                    <a:p>
                      <a:r>
                        <a:rPr lang="en-US" sz="1400" i="1" dirty="0">
                          <a:latin typeface="Symbol" charset="0"/>
                          <a:sym typeface="Symbol" charset="0"/>
                        </a:rPr>
                        <a:t>·</a:t>
                      </a:r>
                      <a:r>
                        <a:rPr lang="hy-AM" sz="1400" i="1" dirty="0">
                          <a:latin typeface="Sylfaen" charset="0"/>
                          <a:sym typeface="Symbol" charset="0"/>
                        </a:rPr>
                        <a:t>Հաստատության գործունեության թափանցիկություն</a:t>
                      </a:r>
                      <a:r>
                        <a:rPr lang="en-US" sz="1400" i="1" dirty="0">
                          <a:latin typeface="Calibri" charset="0"/>
                          <a:sym typeface="Symbol" charset="0"/>
                        </a:rPr>
                        <a:t> </a:t>
                      </a:r>
                    </a:p>
                    <a:p>
                      <a:r>
                        <a:rPr lang="en-US" sz="1400" i="1" dirty="0">
                          <a:latin typeface="Symbol" charset="0"/>
                          <a:sym typeface="Symbol" charset="0"/>
                        </a:rPr>
                        <a:t>·</a:t>
                      </a:r>
                      <a:r>
                        <a:rPr lang="hy-AM" sz="1400" i="1" dirty="0">
                          <a:latin typeface="Sylfaen" charset="0"/>
                          <a:sym typeface="Symbol" charset="0"/>
                        </a:rPr>
                        <a:t>Ամենամյա եռակողմ նիստ, որտեղ ներկայացվում է հաստատության ուսումնադաստիարակչական աշխատանքների հաշվետվություն, ակտիվ ուսուցիչները, ծնողները և աշակերտներն էլ արժանանում են տնօրենի խրախուսաքին /պատվոգիր, շնորհակալագիր/:</a:t>
                      </a:r>
                      <a:endParaRPr lang="en-US" sz="1400" i="1" dirty="0">
                        <a:latin typeface="Sylfaen"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400" i="1" dirty="0">
                          <a:latin typeface="Symbol" charset="0"/>
                          <a:sym typeface="Symbol" charset="0"/>
                        </a:rPr>
                        <a:t>· </a:t>
                      </a:r>
                      <a:r>
                        <a:rPr lang="hy-AM" sz="1400" i="1" dirty="0">
                          <a:latin typeface="Sylfaen" pitchFamily="18" charset="0"/>
                          <a:sym typeface="Symbol" charset="0"/>
                        </a:rPr>
                        <a:t>Կապը</a:t>
                      </a:r>
                      <a:r>
                        <a:rPr lang="hy-AM" sz="1400" i="1" baseline="0" dirty="0">
                          <a:latin typeface="Sylfaen" pitchFamily="18" charset="0"/>
                          <a:sym typeface="Symbol" charset="0"/>
                        </a:rPr>
                        <a:t> շրջանավարտների հետ. ամենամյա հանդիպում և պատվոգրերի հանձնում զինծառայող շրջանավարտներին</a:t>
                      </a:r>
                      <a:endParaRPr lang="en-US" sz="1400" i="1" dirty="0">
                        <a:latin typeface="Calibri" charset="0"/>
                        <a:sym typeface="Symbol" charset="0"/>
                      </a:endParaRPr>
                    </a:p>
                    <a:p>
                      <a:r>
                        <a:rPr lang="en-US" sz="1400" i="1" dirty="0">
                          <a:latin typeface="Calibri" charset="0"/>
                          <a:sym typeface="Symbol" charset="0"/>
                        </a:rPr>
                        <a:t> </a:t>
                      </a:r>
                    </a:p>
                    <a:p>
                      <a:r>
                        <a:rPr lang="hy-AM" sz="1400" i="1" dirty="0">
                          <a:latin typeface="Sylfaen" charset="0"/>
                          <a:sym typeface="Symbol" charset="0"/>
                        </a:rPr>
                        <a:t>4.</a:t>
                      </a:r>
                      <a:r>
                        <a:rPr lang="hy-AM" sz="1400" b="1" i="1" dirty="0">
                          <a:latin typeface="Sylfaen" charset="0"/>
                          <a:sym typeface="Symbol" charset="0"/>
                        </a:rPr>
                        <a:t>Ռեսուրսներով ապահովվածությունը</a:t>
                      </a:r>
                      <a:r>
                        <a:rPr lang="en-US" sz="1400" i="1" dirty="0">
                          <a:latin typeface="Calibri" charset="0"/>
                          <a:sym typeface="Symbol" charset="0"/>
                        </a:rPr>
                        <a:t> </a:t>
                      </a:r>
                      <a:endParaRPr lang="en-US" sz="1400" i="1" dirty="0" smtClean="0">
                        <a:latin typeface="Calibri" charset="0"/>
                        <a:sym typeface="Symbol" charset="0"/>
                      </a:endParaRPr>
                    </a:p>
                    <a:p>
                      <a:endParaRPr lang="en-US" sz="1400" i="1" dirty="0" smtClean="0">
                        <a:latin typeface="Calibri" charset="0"/>
                        <a:sym typeface="Symbol"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i="1" dirty="0" smtClean="0">
                          <a:latin typeface="Symbol" charset="0"/>
                          <a:sym typeface="Symbol" charset="0"/>
                        </a:rPr>
                        <a:t>·</a:t>
                      </a:r>
                      <a:r>
                        <a:rPr lang="hy-AM" sz="1400" i="1" dirty="0">
                          <a:latin typeface="Sylfaen" charset="0"/>
                          <a:sym typeface="Symbol" charset="0"/>
                        </a:rPr>
                        <a:t>Համակարգչային </a:t>
                      </a:r>
                      <a:r>
                        <a:rPr lang="hy-AM" sz="1400" i="1" dirty="0" smtClean="0">
                          <a:latin typeface="Sylfaen" charset="0"/>
                          <a:sym typeface="Symbol" charset="0"/>
                        </a:rPr>
                        <a:t>կաբինետ</a:t>
                      </a:r>
                      <a:r>
                        <a:rPr lang="en-US" sz="1400" i="1" dirty="0" smtClean="0">
                          <a:latin typeface="Sylfaen" charset="0"/>
                          <a:sym typeface="Symbol" charset="0"/>
                        </a:rPr>
                        <a:t>՝</a:t>
                      </a:r>
                      <a:r>
                        <a:rPr lang="en-US" sz="1400" i="1" baseline="0" dirty="0" smtClean="0">
                          <a:latin typeface="Sylfaen" charset="0"/>
                          <a:sym typeface="Symbol" charset="0"/>
                        </a:rPr>
                        <a:t> հ</a:t>
                      </a:r>
                      <a:r>
                        <a:rPr lang="hy-AM" sz="1400" i="1" dirty="0" smtClean="0">
                          <a:latin typeface="Sylfaen" charset="0"/>
                          <a:sym typeface="Symbol" charset="0"/>
                        </a:rPr>
                        <a:t>ամակարգիչներ</a:t>
                      </a:r>
                      <a:r>
                        <a:rPr lang="en-US" sz="1400" i="1" dirty="0" smtClean="0">
                          <a:latin typeface="Calibri" charset="0"/>
                          <a:sym typeface="Symbol" charset="0"/>
                        </a:rPr>
                        <a:t> </a:t>
                      </a:r>
                    </a:p>
                    <a:p>
                      <a:r>
                        <a:rPr lang="en-US" sz="1400" i="1" dirty="0" smtClean="0">
                          <a:latin typeface="Symbol" charset="0"/>
                          <a:sym typeface="Symbol" charset="0"/>
                        </a:rPr>
                        <a:t>·</a:t>
                      </a:r>
                      <a:r>
                        <a:rPr lang="hy-AM" sz="1400" i="1" dirty="0">
                          <a:latin typeface="Sylfaen" charset="0"/>
                          <a:sym typeface="Symbol" charset="0"/>
                        </a:rPr>
                        <a:t>Կենսաբանության վերաբերյալ նոր ուսումնական </a:t>
                      </a:r>
                      <a:r>
                        <a:rPr lang="hy-AM" sz="1400" i="1" dirty="0" smtClean="0">
                          <a:latin typeface="Sylfaen" charset="0"/>
                          <a:sym typeface="Symbol" charset="0"/>
                        </a:rPr>
                        <a:t>նյութեր</a:t>
                      </a:r>
                      <a:r>
                        <a:rPr lang="en-US" sz="1400" i="1" dirty="0" smtClean="0">
                          <a:latin typeface="Sylfaen" charset="0"/>
                          <a:sym typeface="Symbol" charset="0"/>
                        </a:rPr>
                        <a:t>՝մ</a:t>
                      </a:r>
                      <a:r>
                        <a:rPr lang="hy-AM" sz="1400" i="1" dirty="0" smtClean="0">
                          <a:latin typeface="Sylfaen" charset="0"/>
                          <a:sym typeface="Symbol" charset="0"/>
                        </a:rPr>
                        <a:t>անրադիտակներ և պատվաստուկներ</a:t>
                      </a:r>
                      <a:r>
                        <a:rPr lang="en-US" sz="1400" i="1" dirty="0" smtClean="0">
                          <a:latin typeface="Calibri" charset="0"/>
                          <a:sym typeface="Symbol" charset="0"/>
                        </a:rPr>
                        <a:t>  </a:t>
                      </a:r>
                      <a:endParaRPr lang="en-US" sz="1400" i="1" dirty="0">
                        <a:latin typeface="Calibri" charset="0"/>
                        <a:sym typeface="Symbol" charset="0"/>
                      </a:endParaRPr>
                    </a:p>
                    <a:p>
                      <a:r>
                        <a:rPr lang="en-US" sz="1400" i="1" dirty="0">
                          <a:latin typeface="Symbol" charset="0"/>
                          <a:sym typeface="Symbol" charset="0"/>
                        </a:rPr>
                        <a:t>·</a:t>
                      </a:r>
                      <a:r>
                        <a:rPr lang="hy-AM" sz="1400" i="1" dirty="0">
                          <a:latin typeface="Sylfaen" charset="0"/>
                          <a:sym typeface="Symbol" charset="0"/>
                        </a:rPr>
                        <a:t>Ֆիզիկայի ժամանակակից լաբորատորիա</a:t>
                      </a:r>
                      <a:r>
                        <a:rPr lang="en-US" sz="1400" i="1" dirty="0">
                          <a:latin typeface="Calibri" charset="0"/>
                          <a:sym typeface="Symbol" charset="0"/>
                        </a:rPr>
                        <a:t> </a:t>
                      </a:r>
                    </a:p>
                    <a:p>
                      <a:r>
                        <a:rPr lang="en-US" sz="1400" i="1" dirty="0">
                          <a:latin typeface="Symbol" charset="0"/>
                          <a:sym typeface="Symbol" charset="0"/>
                        </a:rPr>
                        <a:t>·</a:t>
                      </a:r>
                      <a:r>
                        <a:rPr lang="hy-AM" sz="1400" i="1" dirty="0">
                          <a:latin typeface="Sylfaen" charset="0"/>
                          <a:sym typeface="Symbol" charset="0"/>
                        </a:rPr>
                        <a:t>Քիմիայի  ժամանակակից լաբորատորիա</a:t>
                      </a:r>
                      <a:r>
                        <a:rPr lang="en-US" sz="1400" i="1" dirty="0">
                          <a:latin typeface="Calibri" charset="0"/>
                          <a:sym typeface="Symbol" charset="0"/>
                        </a:rPr>
                        <a:t> </a:t>
                      </a:r>
                    </a:p>
                    <a:p>
                      <a:r>
                        <a:rPr lang="en-US" sz="1400" i="1" dirty="0">
                          <a:latin typeface="Symbol" charset="0"/>
                          <a:sym typeface="Symbol" charset="0"/>
                        </a:rPr>
                        <a:t>·</a:t>
                      </a:r>
                      <a:r>
                        <a:rPr lang="hy-AM" sz="1400" i="1" dirty="0">
                          <a:latin typeface="Symbol" charset="0"/>
                          <a:sym typeface="Symbol" charset="0"/>
                        </a:rPr>
                        <a:t> </a:t>
                      </a:r>
                      <a:r>
                        <a:rPr lang="hy-AM" sz="1400" i="1" dirty="0">
                          <a:latin typeface="Sylfaen" pitchFamily="18" charset="0"/>
                          <a:sym typeface="Symbol" charset="0"/>
                        </a:rPr>
                        <a:t>Աշխարհագրության</a:t>
                      </a:r>
                      <a:r>
                        <a:rPr lang="hy-AM" sz="1400" i="1" baseline="0" dirty="0">
                          <a:latin typeface="Sylfaen" pitchFamily="18" charset="0"/>
                          <a:sym typeface="Symbol" charset="0"/>
                        </a:rPr>
                        <a:t> կաբինետ՝ հագեցած ուսումնական նյութերով/գլոբուսներ, քարտեզներ.../</a:t>
                      </a:r>
                      <a:endParaRPr lang="en-US" sz="1400" dirty="0"/>
                    </a:p>
                  </a:txBody>
                  <a:tcPr/>
                </a:tc>
                <a:tc>
                  <a:txBody>
                    <a:bodyPr/>
                    <a:lstStyle/>
                    <a:p>
                      <a:r>
                        <a:rPr lang="hy-AM" sz="1400" b="1" i="1" dirty="0">
                          <a:latin typeface="Sylfaen" charset="0"/>
                          <a:sym typeface="Symbol" charset="0"/>
                        </a:rPr>
                        <a:t>2.Սովորողների ուսումնառության և այլ գործունեության թույլ կողմեր</a:t>
                      </a:r>
                      <a:r>
                        <a:rPr lang="en-US" sz="1400" b="1" i="1" dirty="0">
                          <a:latin typeface="Calibri" charset="0"/>
                          <a:sym typeface="Symbol" charset="0"/>
                        </a:rPr>
                        <a:t> </a:t>
                      </a:r>
                    </a:p>
                    <a:p>
                      <a:r>
                        <a:rPr lang="en-US" sz="1400" i="1" dirty="0">
                          <a:latin typeface="Symbol" charset="0"/>
                          <a:sym typeface="Symbol" charset="0"/>
                        </a:rPr>
                        <a:t>·</a:t>
                      </a:r>
                      <a:r>
                        <a:rPr lang="hy-AM" sz="1400" i="1" dirty="0">
                          <a:latin typeface="Sylfaen" charset="0"/>
                          <a:sym typeface="Symbol" charset="0"/>
                        </a:rPr>
                        <a:t>Մարզային, հանրապետական, միջազգային օլիմպիադաներում հաղթանակների ցածր ցուցանիշ</a:t>
                      </a:r>
                      <a:r>
                        <a:rPr lang="en-US" sz="1400" i="1" dirty="0">
                          <a:latin typeface="Calibri" charset="0"/>
                          <a:sym typeface="Symbol" charset="0"/>
                        </a:rPr>
                        <a:t> </a:t>
                      </a:r>
                    </a:p>
                    <a:p>
                      <a:r>
                        <a:rPr lang="en-US" sz="1400" i="1" dirty="0" smtClean="0">
                          <a:latin typeface="Symbol" charset="0"/>
                          <a:sym typeface="Symbol" charset="0"/>
                        </a:rPr>
                        <a:t>·</a:t>
                      </a:r>
                      <a:r>
                        <a:rPr lang="en-US" sz="1400" i="1" dirty="0" smtClean="0">
                          <a:latin typeface="Sylfaen" charset="0"/>
                          <a:sym typeface="Symbol" charset="0"/>
                        </a:rPr>
                        <a:t>Մ</a:t>
                      </a:r>
                      <a:r>
                        <a:rPr lang="hy-AM" sz="1400" i="1" dirty="0" smtClean="0">
                          <a:latin typeface="Sylfaen" charset="0"/>
                          <a:sym typeface="Symbol" charset="0"/>
                        </a:rPr>
                        <a:t>ասնակցությ</a:t>
                      </a:r>
                      <a:r>
                        <a:rPr lang="en-US" sz="1400" i="1" dirty="0" smtClean="0">
                          <a:latin typeface="Sylfaen" charset="0"/>
                          <a:sym typeface="Symbol" charset="0"/>
                        </a:rPr>
                        <a:t>ա</a:t>
                      </a:r>
                      <a:r>
                        <a:rPr lang="hy-AM" sz="1400" i="1" dirty="0" smtClean="0">
                          <a:latin typeface="Sylfaen" charset="0"/>
                          <a:sym typeface="Symbol" charset="0"/>
                        </a:rPr>
                        <a:t>ն</a:t>
                      </a:r>
                      <a:r>
                        <a:rPr lang="en-US" sz="1400" i="1" dirty="0" smtClean="0">
                          <a:latin typeface="Sylfaen" charset="0"/>
                          <a:sym typeface="Symbol" charset="0"/>
                        </a:rPr>
                        <a:t> </a:t>
                      </a:r>
                      <a:r>
                        <a:rPr lang="en-US" sz="1400" i="1" dirty="0" err="1" smtClean="0">
                          <a:latin typeface="Sylfaen" charset="0"/>
                          <a:sym typeface="Symbol" charset="0"/>
                        </a:rPr>
                        <a:t>նվազում</a:t>
                      </a:r>
                      <a:r>
                        <a:rPr lang="hy-AM" sz="1400" i="1" dirty="0" smtClean="0">
                          <a:latin typeface="Sylfaen" charset="0"/>
                          <a:sym typeface="Symbol" charset="0"/>
                        </a:rPr>
                        <a:t> «Կենգուրու» , «Ռուսական արջուկ» միջազգային և  «Մեղու» հանրապետական մրցույթներում</a:t>
                      </a:r>
                      <a:r>
                        <a:rPr lang="en-US" sz="1400" i="1" dirty="0" smtClean="0">
                          <a:latin typeface="Sylfaen" charset="0"/>
                          <a:sym typeface="Symbol" charset="0"/>
                        </a:rPr>
                        <a:t>:</a:t>
                      </a:r>
                      <a:endParaRPr lang="hy-AM" sz="1400" b="1" i="1" dirty="0" smtClean="0">
                        <a:latin typeface="Calibri" charset="0"/>
                        <a:sym typeface="Symbol" charset="0"/>
                      </a:endParaRPr>
                    </a:p>
                    <a:p>
                      <a:endParaRPr lang="hy-AM" sz="1400" b="1" i="1" dirty="0">
                        <a:latin typeface="Sylfaen" charset="0"/>
                        <a:sym typeface="Symbol" charset="0"/>
                      </a:endParaRPr>
                    </a:p>
                    <a:p>
                      <a:r>
                        <a:rPr lang="hy-AM" sz="1400" b="1" i="1" dirty="0" smtClean="0">
                          <a:latin typeface="Sylfaen" charset="0"/>
                          <a:sym typeface="Symbol" charset="0"/>
                        </a:rPr>
                        <a:t>3</a:t>
                      </a:r>
                      <a:r>
                        <a:rPr lang="hy-AM" sz="1400" b="1" i="1" dirty="0">
                          <a:latin typeface="Sylfaen" charset="0"/>
                          <a:sym typeface="Symbol" charset="0"/>
                        </a:rPr>
                        <a:t>. Ծնողների, համայնքի, կառավարման խորհուրդի, այլ մարմինների գործունեության թույլ կողմեր</a:t>
                      </a:r>
                      <a:r>
                        <a:rPr lang="en-US" sz="1400" b="1" i="1" dirty="0">
                          <a:latin typeface="Calibri" charset="0"/>
                          <a:sym typeface="Symbol" charset="0"/>
                        </a:rPr>
                        <a:t> </a:t>
                      </a:r>
                    </a:p>
                    <a:p>
                      <a:endParaRPr lang="en-US" sz="1400" b="1" i="1" dirty="0" smtClean="0">
                        <a:latin typeface="Sylfaen"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en-US" sz="1400" b="1" i="1" dirty="0" smtClean="0">
                        <a:latin typeface="Sylfaen" charset="0"/>
                        <a:sym typeface="Symbol" charset="0"/>
                      </a:endParaRPr>
                    </a:p>
                    <a:p>
                      <a:endParaRPr lang="en-US" sz="1400" b="1" i="1" dirty="0" smtClean="0">
                        <a:latin typeface="Sylfaen" charset="0"/>
                        <a:sym typeface="Symbol" charset="0"/>
                      </a:endParaRPr>
                    </a:p>
                    <a:p>
                      <a:endParaRPr lang="en-US" sz="1400" b="1" i="1" dirty="0" smtClean="0">
                        <a:latin typeface="Sylfaen" charset="0"/>
                        <a:sym typeface="Symbol" charset="0"/>
                      </a:endParaRPr>
                    </a:p>
                    <a:p>
                      <a:r>
                        <a:rPr lang="hy-AM" sz="1400" b="1" i="1" dirty="0" smtClean="0">
                          <a:latin typeface="Sylfaen" charset="0"/>
                          <a:sym typeface="Symbol" charset="0"/>
                        </a:rPr>
                        <a:t>4.Ռեսուրսներով </a:t>
                      </a:r>
                      <a:r>
                        <a:rPr lang="hy-AM" sz="1400" b="1" i="1" dirty="0">
                          <a:latin typeface="Sylfaen" charset="0"/>
                          <a:sym typeface="Symbol" charset="0"/>
                        </a:rPr>
                        <a:t>ապահովվածության խնդիրները</a:t>
                      </a:r>
                      <a:r>
                        <a:rPr lang="en-US" sz="1400" i="1" dirty="0">
                          <a:latin typeface="Calibri" charset="0"/>
                          <a:sym typeface="Symbol" charset="0"/>
                        </a:rPr>
                        <a:t> </a:t>
                      </a:r>
                    </a:p>
                    <a:p>
                      <a:pPr marL="285750" indent="-285750">
                        <a:buFont typeface="Arial" panose="020B0604020202020204" pitchFamily="34" charset="0"/>
                        <a:buChar char="•"/>
                      </a:pPr>
                      <a:r>
                        <a:rPr lang="hy-AM" sz="1400" i="1" dirty="0" smtClean="0">
                          <a:latin typeface="Sylfaen" charset="0"/>
                          <a:sym typeface="Symbol" charset="0"/>
                        </a:rPr>
                        <a:t>Էլեկտրոնային </a:t>
                      </a:r>
                      <a:r>
                        <a:rPr lang="hy-AM" sz="1400" i="1" dirty="0">
                          <a:latin typeface="Sylfaen" charset="0"/>
                          <a:sym typeface="Symbol" charset="0"/>
                        </a:rPr>
                        <a:t>գրատախտակներ</a:t>
                      </a:r>
                      <a:r>
                        <a:rPr lang="en-US" sz="1400" i="1" dirty="0">
                          <a:latin typeface="Calibri" charset="0"/>
                          <a:sym typeface="Symbol" charset="0"/>
                        </a:rPr>
                        <a:t> </a:t>
                      </a:r>
                    </a:p>
                    <a:p>
                      <a:pPr marL="285750" indent="-285750">
                        <a:buFont typeface="Arial" panose="020B0604020202020204" pitchFamily="34" charset="0"/>
                        <a:buChar char="•"/>
                      </a:pPr>
                      <a:r>
                        <a:rPr lang="en-US" sz="1400" i="1" dirty="0" err="1" smtClean="0">
                          <a:latin typeface="Sylfaen" panose="010A0502050306030303" pitchFamily="18" charset="0"/>
                          <a:sym typeface="Symbol" charset="0"/>
                        </a:rPr>
                        <a:t>Առարկայական</a:t>
                      </a:r>
                      <a:r>
                        <a:rPr lang="en-US" sz="1400" i="1" baseline="0" dirty="0" smtClean="0">
                          <a:latin typeface="Sylfaen" panose="010A0502050306030303" pitchFamily="18" charset="0"/>
                          <a:sym typeface="Symbol" charset="0"/>
                        </a:rPr>
                        <a:t> </a:t>
                      </a:r>
                      <a:r>
                        <a:rPr lang="en-US" sz="1400" i="1" baseline="0" dirty="0" err="1" smtClean="0">
                          <a:latin typeface="Sylfaen" panose="010A0502050306030303" pitchFamily="18" charset="0"/>
                          <a:sym typeface="Symbol" charset="0"/>
                        </a:rPr>
                        <a:t>դասասենյակներ</a:t>
                      </a:r>
                      <a:r>
                        <a:rPr lang="en-US" sz="1400" i="1" baseline="0" dirty="0" smtClean="0">
                          <a:latin typeface="Sylfaen" panose="010A0502050306030303" pitchFamily="18" charset="0"/>
                          <a:sym typeface="Symbol" charset="0"/>
                        </a:rPr>
                        <a:t>,</a:t>
                      </a:r>
                    </a:p>
                    <a:p>
                      <a:pPr marL="285750" indent="-285750">
                        <a:buFont typeface="Arial" panose="020B0604020202020204" pitchFamily="34" charset="0"/>
                        <a:buChar char="•"/>
                      </a:pPr>
                      <a:r>
                        <a:rPr lang="en-US" sz="1400" i="1" baseline="0" dirty="0" err="1" smtClean="0">
                          <a:latin typeface="Sylfaen" panose="010A0502050306030303" pitchFamily="18" charset="0"/>
                          <a:sym typeface="Symbol" charset="0"/>
                        </a:rPr>
                        <a:t>Ժամանակակից</a:t>
                      </a:r>
                      <a:r>
                        <a:rPr lang="en-US" sz="1400" i="1" baseline="0" dirty="0" smtClean="0">
                          <a:latin typeface="Sylfaen" panose="010A0502050306030303" pitchFamily="18" charset="0"/>
                          <a:sym typeface="Symbol" charset="0"/>
                        </a:rPr>
                        <a:t> </a:t>
                      </a:r>
                      <a:r>
                        <a:rPr lang="en-US" sz="1400" i="1" baseline="0" dirty="0" err="1" smtClean="0">
                          <a:latin typeface="Sylfaen" panose="010A0502050306030303" pitchFamily="18" charset="0"/>
                          <a:sym typeface="Symbol" charset="0"/>
                        </a:rPr>
                        <a:t>միջոցներով</a:t>
                      </a:r>
                      <a:r>
                        <a:rPr lang="en-US" sz="1400" i="1" baseline="0" dirty="0" smtClean="0">
                          <a:latin typeface="Sylfaen" panose="010A0502050306030303" pitchFamily="18" charset="0"/>
                          <a:sym typeface="Symbol" charset="0"/>
                        </a:rPr>
                        <a:t> </a:t>
                      </a:r>
                      <a:r>
                        <a:rPr lang="en-US" sz="1400" i="1" baseline="0" dirty="0" err="1" smtClean="0">
                          <a:latin typeface="Sylfaen" panose="010A0502050306030303" pitchFamily="18" charset="0"/>
                          <a:sym typeface="Symbol" charset="0"/>
                        </a:rPr>
                        <a:t>հագեցած</a:t>
                      </a:r>
                      <a:r>
                        <a:rPr lang="en-US" sz="1400" i="1" baseline="0" dirty="0" smtClean="0">
                          <a:latin typeface="Sylfaen" panose="010A0502050306030303" pitchFamily="18" charset="0"/>
                          <a:sym typeface="Symbol" charset="0"/>
                        </a:rPr>
                        <a:t> </a:t>
                      </a:r>
                      <a:r>
                        <a:rPr lang="en-US" sz="1400" i="1" baseline="0" dirty="0" err="1" smtClean="0">
                          <a:latin typeface="Sylfaen" panose="010A0502050306030303" pitchFamily="18" charset="0"/>
                          <a:sym typeface="Symbol" charset="0"/>
                        </a:rPr>
                        <a:t>գրադարան</a:t>
                      </a:r>
                      <a:endParaRPr lang="en-US" sz="1400" i="1" baseline="0" dirty="0" smtClean="0">
                        <a:latin typeface="Sylfaen" panose="010A0502050306030303" pitchFamily="18" charset="0"/>
                        <a:sym typeface="Symbol" charset="0"/>
                      </a:endParaRPr>
                    </a:p>
                    <a:p>
                      <a:pPr marL="285750" indent="-285750">
                        <a:buFont typeface="Arial" panose="020B0604020202020204" pitchFamily="34" charset="0"/>
                        <a:buChar char="•"/>
                      </a:pPr>
                      <a:r>
                        <a:rPr lang="en-US" sz="1400" i="1" baseline="0" dirty="0" smtClean="0">
                          <a:latin typeface="Sylfaen" panose="010A0502050306030303" pitchFamily="18" charset="0"/>
                          <a:sym typeface="Symbol" charset="0"/>
                        </a:rPr>
                        <a:t> </a:t>
                      </a:r>
                      <a:r>
                        <a:rPr lang="en-US" sz="1400" i="1" baseline="0" dirty="0" err="1" smtClean="0">
                          <a:latin typeface="Sylfaen" panose="010A0502050306030303" pitchFamily="18" charset="0"/>
                          <a:sym typeface="Symbol" charset="0"/>
                        </a:rPr>
                        <a:t>Աշխորհրդի</a:t>
                      </a:r>
                      <a:r>
                        <a:rPr lang="en-US" sz="1400" i="1" baseline="0" dirty="0" smtClean="0">
                          <a:latin typeface="Sylfaen" panose="010A0502050306030303" pitchFamily="18" charset="0"/>
                          <a:sym typeface="Symbol" charset="0"/>
                        </a:rPr>
                        <a:t> </a:t>
                      </a:r>
                      <a:r>
                        <a:rPr lang="en-US" sz="1400" i="1" baseline="0" dirty="0" err="1" smtClean="0">
                          <a:latin typeface="Sylfaen" panose="010A0502050306030303" pitchFamily="18" charset="0"/>
                          <a:sym typeface="Symbol" charset="0"/>
                        </a:rPr>
                        <a:t>սենյակ</a:t>
                      </a:r>
                      <a:endParaRPr lang="en-US" sz="1400" dirty="0">
                        <a:latin typeface="Calibri" charset="0"/>
                      </a:endParaRPr>
                    </a:p>
                    <a:p>
                      <a:endParaRPr lang="en-US" sz="1400" dirty="0"/>
                    </a:p>
                  </a:txBody>
                  <a:tcPr/>
                </a:tc>
                <a:extLst>
                  <a:ext uri="{0D108BD9-81ED-4DB2-BD59-A6C34878D82A}">
                    <a16:rowId xmlns:a16="http://schemas.microsoft.com/office/drawing/2014/main" val="1106358359"/>
                  </a:ext>
                </a:extLst>
              </a:tr>
            </a:tbl>
          </a:graphicData>
        </a:graphic>
      </p:graphicFrame>
    </p:spTree>
    <p:extLst>
      <p:ext uri="{BB962C8B-B14F-4D97-AF65-F5344CB8AC3E}">
        <p14:creationId xmlns:p14="http://schemas.microsoft.com/office/powerpoint/2010/main" val="30740111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83215034"/>
              </p:ext>
            </p:extLst>
          </p:nvPr>
        </p:nvGraphicFramePr>
        <p:xfrm>
          <a:off x="270933" y="121980"/>
          <a:ext cx="11473942" cy="6606897"/>
        </p:xfrm>
        <a:graphic>
          <a:graphicData uri="http://schemas.openxmlformats.org/drawingml/2006/table">
            <a:tbl>
              <a:tblPr firstRow="1" bandRow="1">
                <a:tableStyleId>{5940675A-B579-460E-94D1-54222C63F5DA}</a:tableStyleId>
              </a:tblPr>
              <a:tblGrid>
                <a:gridCol w="5736971">
                  <a:extLst>
                    <a:ext uri="{9D8B030D-6E8A-4147-A177-3AD203B41FA5}">
                      <a16:colId xmlns:a16="http://schemas.microsoft.com/office/drawing/2014/main" val="3339732419"/>
                    </a:ext>
                  </a:extLst>
                </a:gridCol>
                <a:gridCol w="5736971">
                  <a:extLst>
                    <a:ext uri="{9D8B030D-6E8A-4147-A177-3AD203B41FA5}">
                      <a16:colId xmlns:a16="http://schemas.microsoft.com/office/drawing/2014/main" val="4153413452"/>
                    </a:ext>
                  </a:extLst>
                </a:gridCol>
              </a:tblGrid>
              <a:tr h="4752431">
                <a:tc>
                  <a:txBody>
                    <a:bodyPr/>
                    <a:lstStyle/>
                    <a:p>
                      <a:endParaRPr lang="en-US" sz="1400" b="1" i="1">
                        <a:latin typeface="Sylfaen" charset="0"/>
                        <a:sym typeface="Symbol" charset="0"/>
                      </a:endParaRPr>
                    </a:p>
                    <a:p>
                      <a:r>
                        <a:rPr lang="hy-AM" sz="1400" b="1" i="1">
                          <a:latin typeface="Sylfaen"/>
                          <a:sym typeface="Symbol" charset="0"/>
                        </a:rPr>
                        <a:t>5. Նոր նախաձեռնությունների ուղղությամբ հաջողությունները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Էլեկտրոնային</a:t>
                      </a:r>
                      <a:r>
                        <a:rPr lang="hy-AM" sz="1400" i="1" baseline="0">
                          <a:latin typeface="Sylfaen"/>
                          <a:sym typeface="Symbol" charset="0"/>
                        </a:rPr>
                        <a:t> կրթական ռեսուրսների կիրառում</a:t>
                      </a:r>
                      <a:r>
                        <a:rPr lang="hy-AM" sz="1400" i="1">
                          <a:latin typeface="Sylfaen"/>
                          <a:sym typeface="Symbol" charset="0"/>
                        </a:rPr>
                        <a:t> դասապրոցեսում</a:t>
                      </a:r>
                      <a:endParaRPr lang="hy-AM" sz="1400" i="1">
                        <a:latin typeface="Sylfaen"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400" i="1">
                          <a:latin typeface="Calibri" charset="0"/>
                          <a:sym typeface="Symbol" charset="0"/>
                        </a:rPr>
                        <a:t> </a:t>
                      </a:r>
                      <a:r>
                        <a:rPr lang="en-US" sz="1400" i="1">
                          <a:latin typeface="Symbol" charset="0"/>
                          <a:sym typeface="Symbol" charset="0"/>
                        </a:rPr>
                        <a:t>·</a:t>
                      </a:r>
                      <a:r>
                        <a:rPr lang="hy-AM" sz="1400" i="1">
                          <a:latin typeface="Symbol" charset="0"/>
                          <a:sym typeface="Symbol" charset="0"/>
                        </a:rPr>
                        <a:t> </a:t>
                      </a:r>
                      <a:r>
                        <a:rPr lang="hy-AM" sz="1400" i="1">
                          <a:latin typeface="Sylfaen" pitchFamily="18" charset="0"/>
                          <a:sym typeface="Symbol" charset="0"/>
                        </a:rPr>
                        <a:t>Հեռավար</a:t>
                      </a:r>
                      <a:r>
                        <a:rPr lang="hy-AM" sz="1400" i="1" baseline="0">
                          <a:latin typeface="Sylfaen" pitchFamily="18" charset="0"/>
                          <a:sym typeface="Symbol" charset="0"/>
                        </a:rPr>
                        <a:t>  հարթակներում դասավանդելու հմտություններ</a:t>
                      </a:r>
                      <a:endParaRPr lang="en-US" sz="1400" i="1">
                        <a:latin typeface="Symbol" charset="0"/>
                        <a:sym typeface="Symbol" charset="0"/>
                      </a:endParaRPr>
                    </a:p>
                    <a:p>
                      <a:r>
                        <a:rPr lang="hy-AM" sz="1400" b="1" i="1">
                          <a:latin typeface="Sylfaen"/>
                          <a:sym typeface="Symbol" charset="0"/>
                        </a:rPr>
                        <a:t>6. Հաղորդակցության, համագործակցության ուժեղ կողմերը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sym typeface="Symbol" charset="0"/>
                        </a:rPr>
                        <a:t>Համագործակցություն ինչպես ՀՀ, այնպես էլ արտասահմանյան բուհերի ԵՊՀ, ՀՊՄՀ, ՀՊՏՀ, ԵՊԼՀ, </a:t>
                      </a:r>
                      <a:r>
                        <a:rPr lang="az-Cyrl-AZ" sz="1400" i="1">
                          <a:latin typeface="Sylfaen"/>
                          <a:sym typeface="Symbol" charset="0"/>
                        </a:rPr>
                        <a:t>МЭСИ/ և ա</a:t>
                      </a:r>
                      <a:r>
                        <a:rPr lang="hy-AM" sz="1400" i="1">
                          <a:latin typeface="Sylfaen"/>
                          <a:sym typeface="Symbol" charset="0"/>
                        </a:rPr>
                        <a:t>յլ կառույցների</a:t>
                      </a:r>
                      <a:r>
                        <a:rPr lang="en-US" sz="1400" i="1">
                          <a:latin typeface="Sylfaen"/>
                          <a:sym typeface="Symbol" charset="0"/>
                        </a:rPr>
                        <a:t> /</a:t>
                      </a:r>
                      <a:r>
                        <a:rPr lang="hy-AM" sz="1400" i="1">
                          <a:latin typeface="Sylfaen"/>
                          <a:sym typeface="Symbol" charset="0"/>
                        </a:rPr>
                        <a:t> «Իրավաբանների եւ հոգեբանների միջազգային ասոցիացիա» , ուկրաինական համայնք, Ուկրաինայի դեսպանատուն, «</a:t>
                      </a:r>
                      <a:r>
                        <a:rPr lang="az-Cyrl-AZ" sz="1400" i="1">
                          <a:latin typeface="Sylfaen"/>
                          <a:sym typeface="Symbol" charset="0"/>
                        </a:rPr>
                        <a:t>Россотрудниество» </a:t>
                      </a:r>
                      <a:r>
                        <a:rPr lang="hy-AM" sz="1400" i="1">
                          <a:latin typeface="Sylfaen"/>
                          <a:sym typeface="Symbol" charset="0"/>
                        </a:rPr>
                        <a:t>դաշնային գործակալության </a:t>
                      </a:r>
                      <a:r>
                        <a:rPr lang="hy-AM" sz="1400" i="1" err="1">
                          <a:latin typeface="Sylfaen"/>
                          <a:sym typeface="Symbol" charset="0"/>
                        </a:rPr>
                        <a:t>հայստանյան</a:t>
                      </a:r>
                      <a:r>
                        <a:rPr lang="hy-AM" sz="1400" i="1">
                          <a:latin typeface="Sylfaen"/>
                          <a:sym typeface="Symbol" charset="0"/>
                        </a:rPr>
                        <a:t> գրասենյակ, Ռուսաստանում հայերի միություն/ </a:t>
                      </a:r>
                      <a:r>
                        <a:rPr lang="hy-AM" sz="1400" i="1" err="1">
                          <a:latin typeface="Sylfaen"/>
                          <a:sym typeface="Symbol" charset="0"/>
                        </a:rPr>
                        <a:t>հետ`փորձի</a:t>
                      </a:r>
                      <a:r>
                        <a:rPr lang="hy-AM" sz="1400" i="1">
                          <a:latin typeface="Sylfaen"/>
                          <a:sym typeface="Symbol" charset="0"/>
                        </a:rPr>
                        <a:t> փոխանակման, սովորողների մասնագիտական կողմնորոշմանը նպաստելու, արտադպրոցական միջոցառումների անցկացումը խթանելու նպատակով, </a:t>
                      </a:r>
                      <a:r>
                        <a:rPr lang="hy-AM" sz="1400" i="1" err="1">
                          <a:latin typeface="Sylfaen"/>
                          <a:sym typeface="Symbol" charset="0"/>
                        </a:rPr>
                        <a:t>սովորողին</a:t>
                      </a:r>
                      <a:r>
                        <a:rPr lang="hy-AM" sz="1400" i="1">
                          <a:latin typeface="Sylfaen"/>
                          <a:sym typeface="Symbol" charset="0"/>
                        </a:rPr>
                        <a:t> հաղորդակից դարձնելու այլ ազգերի մշակույթին, խթանելու օտար լեզուների իմացությունը, սերմանելու բարեկամական հարաբերությունների պահպանում և հանդուրժողականություն ազգերի, ժողովուրդների </a:t>
                      </a:r>
                      <a:r>
                        <a:rPr lang="hy-AM" sz="1400" i="1" err="1">
                          <a:latin typeface="Sylfaen"/>
                          <a:sym typeface="Symbol" charset="0"/>
                        </a:rPr>
                        <a:t>միջև</a:t>
                      </a:r>
                      <a:r>
                        <a:rPr lang="hy-AM" sz="1400" i="1">
                          <a:latin typeface="Sylfaen"/>
                          <a:sym typeface="Symbol" charset="0"/>
                        </a:rPr>
                        <a:t>:</a:t>
                      </a:r>
                      <a:endParaRPr lang="en-US" sz="1400" i="1">
                        <a:latin typeface="Sylfaen"/>
                        <a:sym typeface="Symbol" charset="0"/>
                      </a:endParaRPr>
                    </a:p>
                    <a:p>
                      <a:r>
                        <a:rPr lang="en-US" sz="1400" b="1" i="1">
                          <a:latin typeface="Calibri" charset="0"/>
                          <a:sym typeface="Symbol" charset="0"/>
                        </a:rPr>
                        <a:t> </a:t>
                      </a:r>
                    </a:p>
                    <a:p>
                      <a:r>
                        <a:rPr lang="hy-AM" sz="1400" b="1" i="1">
                          <a:latin typeface="Sylfaen"/>
                          <a:sym typeface="Symbol" charset="0"/>
                        </a:rPr>
                        <a:t>7. Բյուջեի, ֆինանսական միջոցների հետ կապված հաջողությունները</a:t>
                      </a:r>
                      <a:r>
                        <a:rPr lang="en-US" sz="1400" i="1">
                          <a:latin typeface="Calibri"/>
                        </a:rPr>
                        <a:t> </a:t>
                      </a:r>
                    </a:p>
                    <a:p>
                      <a:r>
                        <a:rPr lang="en-US" sz="1400" i="1">
                          <a:latin typeface="Symbol"/>
                          <a:sym typeface="Symbol"/>
                        </a:rPr>
                        <a:t>·</a:t>
                      </a:r>
                      <a:r>
                        <a:rPr lang="hy-AM" sz="1400" i="1">
                          <a:latin typeface="Sylfaen"/>
                          <a:sym typeface="Symbol" charset="0"/>
                        </a:rPr>
                        <a:t>Գրագետ </a:t>
                      </a:r>
                      <a:r>
                        <a:rPr lang="hy-AM" sz="1400" i="1" err="1">
                          <a:latin typeface="Sylfaen"/>
                          <a:sym typeface="Symbol" charset="0"/>
                        </a:rPr>
                        <a:t>մենեջմենթ</a:t>
                      </a:r>
                      <a:r>
                        <a:rPr lang="hy-AM" sz="1400" i="1">
                          <a:latin typeface="Sylfaen"/>
                          <a:sym typeface="Symbol" charset="0"/>
                        </a:rPr>
                        <a:t>/Պարտքեր չունենալը/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rPr>
                        <a:t>Աշխատավարձի և կոմունալ ծախսերի ժամանակին վճարում</a:t>
                      </a:r>
                      <a:endParaRPr lang="en-US" sz="1400">
                        <a:latin typeface="Calibri" charset="0"/>
                      </a:endParaRPr>
                    </a:p>
                  </a:txBody>
                  <a:tcPr/>
                </a:tc>
                <a:tc>
                  <a:txBody>
                    <a:bodyPr/>
                    <a:lstStyle/>
                    <a:p>
                      <a:endParaRPr lang="en-US" sz="1400" b="1" i="1" dirty="0">
                        <a:latin typeface="Sylfaen" charset="0"/>
                        <a:sym typeface="Symbol" charset="0"/>
                      </a:endParaRPr>
                    </a:p>
                    <a:p>
                      <a:r>
                        <a:rPr lang="hy-AM" sz="1400" b="1" i="1" dirty="0">
                          <a:latin typeface="Sylfaen"/>
                          <a:sym typeface="Symbol" charset="0"/>
                        </a:rPr>
                        <a:t>5. Նոր նախաձեռնությունների ուղղությամբ թույլ կողմերը</a:t>
                      </a:r>
                      <a:r>
                        <a:rPr lang="en-US" sz="1400" b="1" i="1" dirty="0">
                          <a:latin typeface="Calibri"/>
                        </a:rPr>
                        <a:t> </a:t>
                      </a:r>
                      <a:endParaRPr lang="en-US" sz="1400" b="1" i="1" dirty="0">
                        <a:latin typeface="Calibri"/>
                        <a:sym typeface="Symbol" charset="0"/>
                      </a:endParaRPr>
                    </a:p>
                    <a:p>
                      <a:r>
                        <a:rPr lang="en-US" sz="1400" i="1" dirty="0">
                          <a:latin typeface="Symbol"/>
                          <a:sym typeface="Symbol"/>
                        </a:rPr>
                        <a:t>·</a:t>
                      </a:r>
                      <a:r>
                        <a:rPr lang="hy-AM" sz="1400" i="1" dirty="0">
                          <a:latin typeface="Sylfaen"/>
                          <a:sym typeface="Symbol" charset="0"/>
                        </a:rPr>
                        <a:t>Դրամաշնորհային ծրագրեր</a:t>
                      </a:r>
                    </a:p>
                    <a:p>
                      <a:r>
                        <a:rPr lang="en-US" sz="1400" b="1" i="1" dirty="0">
                          <a:latin typeface="Calibri" charset="0"/>
                          <a:sym typeface="Symbol" charset="0"/>
                        </a:rPr>
                        <a:t> </a:t>
                      </a:r>
                    </a:p>
                    <a:p>
                      <a:r>
                        <a:rPr lang="hy-AM" sz="1400" b="1" i="1" dirty="0">
                          <a:latin typeface="Sylfaen"/>
                          <a:sym typeface="Symbol" charset="0"/>
                        </a:rPr>
                        <a:t>6. Հաղորդակցություն, համագործակցության թույլ կողմերը</a:t>
                      </a:r>
                      <a:r>
                        <a:rPr lang="en-US" sz="1400" b="1" i="1" dirty="0">
                          <a:latin typeface="Calibri"/>
                        </a:rPr>
                        <a:t> </a:t>
                      </a:r>
                      <a:endParaRPr lang="en-US" sz="1400" b="1" i="1" dirty="0">
                        <a:latin typeface="Calibri"/>
                        <a:sym typeface="Symbol" charset="0"/>
                      </a:endParaRPr>
                    </a:p>
                    <a:p>
                      <a:r>
                        <a:rPr lang="en-US" sz="1400" i="1" dirty="0">
                          <a:latin typeface="Symbol"/>
                          <a:sym typeface="Symbol"/>
                        </a:rPr>
                        <a:t>·</a:t>
                      </a:r>
                      <a:r>
                        <a:rPr lang="hy-AM" sz="1400" i="1" dirty="0">
                          <a:latin typeface="Sylfaen"/>
                          <a:sym typeface="Symbol" charset="0"/>
                        </a:rPr>
                        <a:t>Միջազգային բուհերի և կառույցների հետ համագործակցության ընդլայնում</a:t>
                      </a:r>
                      <a:r>
                        <a:rPr lang="hy-AM" sz="1400" i="1" dirty="0">
                          <a:latin typeface="Sylfaen"/>
                        </a:rPr>
                        <a:t> </a:t>
                      </a:r>
                      <a:endParaRPr lang="en-US" sz="1400" i="1" dirty="0">
                        <a:latin typeface="Sylfaen" charset="0"/>
                        <a:sym typeface="Symbol" charset="0"/>
                      </a:endParaRPr>
                    </a:p>
                    <a:p>
                      <a:r>
                        <a:rPr lang="en-US" sz="1400" b="1" i="1" dirty="0">
                          <a:latin typeface="Sylfaen" charset="0"/>
                          <a:sym typeface="Symbol" charset="0"/>
                        </a:rPr>
                        <a:t> </a:t>
                      </a:r>
                    </a:p>
                    <a:p>
                      <a:endParaRPr lang="en-US" sz="1400" b="1" i="1" dirty="0">
                        <a:latin typeface="Symbol" charset="0"/>
                        <a:sym typeface="Symbol" charset="0"/>
                      </a:endParaRPr>
                    </a:p>
                    <a:p>
                      <a:endParaRPr lang="en-US" sz="1400" b="1" i="1" dirty="0">
                        <a:latin typeface="Symbol" charset="0"/>
                        <a:sym typeface="Symbol" charset="0"/>
                      </a:endParaRPr>
                    </a:p>
                    <a:p>
                      <a:endParaRPr lang="en-US" sz="1400" b="1" i="1" dirty="0">
                        <a:latin typeface="Symbol" charset="0"/>
                        <a:sym typeface="Symbol" charset="0"/>
                      </a:endParaRPr>
                    </a:p>
                    <a:p>
                      <a:endParaRPr lang="en-US" sz="1400" b="1" i="1" dirty="0">
                        <a:latin typeface="Symbol" charset="0"/>
                        <a:sym typeface="Symbol" charset="0"/>
                      </a:endParaRPr>
                    </a:p>
                    <a:p>
                      <a:endParaRPr lang="hy-AM" sz="1400" b="1" i="1" dirty="0">
                        <a:latin typeface="Sylfaen" charset="0"/>
                        <a:sym typeface="Symbol" charset="0"/>
                      </a:endParaRPr>
                    </a:p>
                    <a:p>
                      <a:endParaRPr lang="hy-AM" sz="1400" b="1" i="1" dirty="0">
                        <a:latin typeface="Sylfaen" charset="0"/>
                        <a:sym typeface="Symbol" charset="0"/>
                      </a:endParaRPr>
                    </a:p>
                    <a:p>
                      <a:endParaRPr lang="en-US" sz="1400" b="1" i="1" dirty="0">
                        <a:latin typeface="Sylfaen" charset="0"/>
                        <a:sym typeface="Symbol" charset="0"/>
                      </a:endParaRPr>
                    </a:p>
                    <a:p>
                      <a:endParaRPr lang="en-US" sz="1400" b="1" i="1" dirty="0">
                        <a:latin typeface="Sylfaen" charset="0"/>
                        <a:sym typeface="Symbol" charset="0"/>
                      </a:endParaRPr>
                    </a:p>
                    <a:p>
                      <a:endParaRPr lang="en-US" sz="1400" b="1" i="1" dirty="0">
                        <a:latin typeface="Sylfaen" charset="0"/>
                        <a:sym typeface="Symbol" charset="0"/>
                      </a:endParaRPr>
                    </a:p>
                    <a:p>
                      <a:r>
                        <a:rPr lang="en-US" sz="1400" b="1" i="1" dirty="0">
                          <a:latin typeface="Sylfaen" charset="0"/>
                          <a:sym typeface="Symbol" charset="0"/>
                        </a:rPr>
                        <a:t> </a:t>
                      </a:r>
                    </a:p>
                    <a:p>
                      <a:r>
                        <a:rPr lang="hy-AM" sz="1400" b="1" i="1" dirty="0">
                          <a:latin typeface="Sylfaen"/>
                          <a:sym typeface="Symbol" charset="0"/>
                        </a:rPr>
                        <a:t>7. Բյուջեի, ֆինանսական միջոցների հետ կապված դժվարությունները և խնդիրները</a:t>
                      </a:r>
                      <a:r>
                        <a:rPr lang="en-US" sz="1400" i="1" dirty="0">
                          <a:latin typeface="Calibri"/>
                        </a:rPr>
                        <a:t> </a:t>
                      </a:r>
                      <a:endParaRPr lang="en-US" sz="1400" i="1" dirty="0">
                        <a:latin typeface="Calibri"/>
                        <a:sym typeface="Symbol" charset="0"/>
                      </a:endParaRPr>
                    </a:p>
                    <a:p>
                      <a:r>
                        <a:rPr lang="en-US" sz="1400" i="1" dirty="0" smtClean="0">
                          <a:latin typeface="Symbol"/>
                          <a:sym typeface="Symbol"/>
                        </a:rPr>
                        <a:t>·</a:t>
                      </a:r>
                      <a:r>
                        <a:rPr lang="en-US" sz="1400" i="1" dirty="0" err="1" smtClean="0">
                          <a:latin typeface="Sylfaen" panose="010A0502050306030303" pitchFamily="18" charset="0"/>
                          <a:sym typeface="Symbol"/>
                        </a:rPr>
                        <a:t>Նոր</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դասասենյակների</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բացակայության</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պատճառով</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դասարանների</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թիվը</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հնարավոր</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չէ</a:t>
                      </a:r>
                      <a:r>
                        <a:rPr lang="en-US" sz="1400" i="1" baseline="0" dirty="0" smtClean="0">
                          <a:latin typeface="Sylfaen" panose="010A0502050306030303" pitchFamily="18" charset="0"/>
                          <a:sym typeface="Symbol"/>
                        </a:rPr>
                        <a:t> </a:t>
                      </a:r>
                      <a:r>
                        <a:rPr lang="en-US" sz="1400" i="1" baseline="0" dirty="0" err="1" smtClean="0">
                          <a:latin typeface="Sylfaen" panose="010A0502050306030303" pitchFamily="18" charset="0"/>
                          <a:sym typeface="Symbol"/>
                        </a:rPr>
                        <a:t>ավելացնել</a:t>
                      </a:r>
                      <a:r>
                        <a:rPr lang="en-US" sz="1400" i="1" baseline="0" dirty="0" smtClean="0">
                          <a:latin typeface="Sylfaen" panose="010A0502050306030303" pitchFamily="18" charset="0"/>
                          <a:sym typeface="Symbol"/>
                        </a:rPr>
                        <a:t>:</a:t>
                      </a:r>
                      <a:endParaRPr lang="en-US" sz="1400" i="1" dirty="0">
                        <a:latin typeface="Symbol" charset="0"/>
                        <a:sym typeface="Symbol" charset="0"/>
                      </a:endParaRPr>
                    </a:p>
                  </a:txBody>
                  <a:tcPr/>
                </a:tc>
                <a:extLst>
                  <a:ext uri="{0D108BD9-81ED-4DB2-BD59-A6C34878D82A}">
                    <a16:rowId xmlns:a16="http://schemas.microsoft.com/office/drawing/2014/main" val="371310941"/>
                  </a:ext>
                </a:extLst>
              </a:tr>
              <a:tr h="1821537">
                <a:tc>
                  <a:txBody>
                    <a:bodyPr/>
                    <a:lstStyle/>
                    <a:p>
                      <a:r>
                        <a:rPr lang="hy-AM" sz="1400" b="1" i="1">
                          <a:latin typeface="Sylfaen"/>
                        </a:rPr>
                        <a:t>Հնարավորություններ</a:t>
                      </a:r>
                      <a:r>
                        <a:rPr lang="en-US" sz="1400">
                          <a:latin typeface="Calibri"/>
                        </a:rPr>
                        <a:t> </a:t>
                      </a:r>
                      <a:endParaRPr lang="en-US"/>
                    </a:p>
                    <a:p>
                      <a:r>
                        <a:rPr lang="hy-AM" sz="1400" i="1">
                          <a:latin typeface="Sylfaen"/>
                        </a:rPr>
                        <a:t>1 Միջազգային համագործակցության ընդլայնում</a:t>
                      </a:r>
                      <a:r>
                        <a:rPr lang="en-US" sz="1400">
                          <a:latin typeface="Calibri"/>
                        </a:rPr>
                        <a:t> </a:t>
                      </a:r>
                    </a:p>
                    <a:p>
                      <a:r>
                        <a:rPr lang="hy-AM" sz="1400" i="1">
                          <a:latin typeface="Sylfaen"/>
                        </a:rPr>
                        <a:t>2. Նյութատեխնիկական բազայի համալրում</a:t>
                      </a:r>
                      <a:r>
                        <a:rPr lang="en-US" sz="1400">
                          <a:latin typeface="Calibri"/>
                        </a:rPr>
                        <a:t> </a:t>
                      </a:r>
                    </a:p>
                    <a:p>
                      <a:r>
                        <a:rPr lang="hy-AM" sz="1400" i="1">
                          <a:latin typeface="Sylfaen"/>
                        </a:rPr>
                        <a:t>3. </a:t>
                      </a:r>
                      <a:r>
                        <a:rPr lang="hy-AM" sz="1400" i="1" err="1">
                          <a:latin typeface="Sylfaen"/>
                        </a:rPr>
                        <a:t>Ինտերակտիվ</a:t>
                      </a:r>
                      <a:r>
                        <a:rPr lang="hy-AM" sz="1400" i="1">
                          <a:latin typeface="Sylfaen"/>
                        </a:rPr>
                        <a:t> </a:t>
                      </a:r>
                      <a:r>
                        <a:rPr lang="hy-AM" sz="1400" i="1" err="1">
                          <a:latin typeface="Sylfaen"/>
                        </a:rPr>
                        <a:t>դասարաների</a:t>
                      </a:r>
                      <a:r>
                        <a:rPr lang="hy-AM" sz="1400" i="1">
                          <a:latin typeface="Sylfaen"/>
                        </a:rPr>
                        <a:t> ավելացում</a:t>
                      </a:r>
                      <a:r>
                        <a:rPr lang="en-US" sz="1400">
                          <a:latin typeface="Calibri"/>
                        </a:rPr>
                        <a:t> </a:t>
                      </a:r>
                    </a:p>
                    <a:p>
                      <a:r>
                        <a:rPr lang="hy-AM" sz="1400" i="1">
                          <a:latin typeface="Sylfaen"/>
                        </a:rPr>
                        <a:t>4. Սովորողների առաջընթացի և բարձր առաջադիմության ապահովում</a:t>
                      </a:r>
                      <a:r>
                        <a:rPr lang="en-US" sz="1400">
                          <a:latin typeface="Calibri"/>
                        </a:rPr>
                        <a:t> </a:t>
                      </a:r>
                    </a:p>
                    <a:p>
                      <a:r>
                        <a:rPr lang="hy-AM" sz="1400" i="1">
                          <a:latin typeface="Sylfaen"/>
                        </a:rPr>
                        <a:t>5. Տարակարգ ունեցող, կամավոր ատեստավորված, ստեղծագործ ուսուցիչների թվի ավելացում</a:t>
                      </a:r>
                      <a:endParaRPr lang="en-US" sz="1400">
                        <a:latin typeface="Sylfaen"/>
                      </a:endParaRPr>
                    </a:p>
                  </a:txBody>
                  <a:tcPr/>
                </a:tc>
                <a:tc>
                  <a:txBody>
                    <a:bodyPr/>
                    <a:lstStyle/>
                    <a:p>
                      <a:r>
                        <a:rPr lang="hy-AM" sz="1400" b="1" i="1" dirty="0">
                          <a:latin typeface="Sylfaen"/>
                        </a:rPr>
                        <a:t>Վտանգներ</a:t>
                      </a:r>
                      <a:r>
                        <a:rPr lang="en-US" sz="1400" dirty="0">
                          <a:latin typeface="Calibri"/>
                        </a:rPr>
                        <a:t> </a:t>
                      </a:r>
                      <a:endParaRPr lang="en-US" dirty="0"/>
                    </a:p>
                    <a:p>
                      <a:r>
                        <a:rPr lang="hy-AM" sz="1400" i="1" dirty="0">
                          <a:latin typeface="Sylfaen"/>
                        </a:rPr>
                        <a:t>1. </a:t>
                      </a:r>
                      <a:r>
                        <a:rPr lang="hy-AM" sz="1400" i="1" dirty="0" smtClean="0">
                          <a:latin typeface="Sylfaen"/>
                        </a:rPr>
                        <a:t>Երկրո</a:t>
                      </a:r>
                      <a:r>
                        <a:rPr lang="en-US" sz="1400" i="1" dirty="0" smtClean="0">
                          <a:latin typeface="Sylfaen"/>
                        </a:rPr>
                        <a:t>ր</a:t>
                      </a:r>
                      <a:r>
                        <a:rPr lang="hy-AM" sz="1400" i="1" dirty="0" smtClean="0">
                          <a:latin typeface="Sylfaen"/>
                        </a:rPr>
                        <a:t>դ </a:t>
                      </a:r>
                      <a:r>
                        <a:rPr lang="hy-AM" sz="1400" i="1" dirty="0">
                          <a:latin typeface="Sylfaen"/>
                        </a:rPr>
                        <a:t>մասնաշենքի և սպորտդահլիճի հիմնանորոգման խնդրի լուծում</a:t>
                      </a:r>
                      <a:r>
                        <a:rPr lang="en-US" sz="1400" dirty="0">
                          <a:latin typeface="Calibri"/>
                        </a:rPr>
                        <a:t> </a:t>
                      </a:r>
                    </a:p>
                    <a:p>
                      <a:r>
                        <a:rPr lang="hy-AM" sz="1400" i="1" dirty="0">
                          <a:latin typeface="Sylfaen"/>
                        </a:rPr>
                        <a:t>2.Բյուջեի համալրում, տնտեսումներ/սովորողների թվի աճի ապահովում, աջակցությունների հայթայթում/</a:t>
                      </a:r>
                      <a:r>
                        <a:rPr lang="en-US" sz="1400" dirty="0">
                          <a:latin typeface="Calibri"/>
                        </a:rPr>
                        <a:t> </a:t>
                      </a:r>
                    </a:p>
                    <a:p>
                      <a:endParaRPr lang="en-US" sz="1400" dirty="0"/>
                    </a:p>
                  </a:txBody>
                  <a:tcPr/>
                </a:tc>
                <a:extLst>
                  <a:ext uri="{0D108BD9-81ED-4DB2-BD59-A6C34878D82A}">
                    <a16:rowId xmlns:a16="http://schemas.microsoft.com/office/drawing/2014/main" val="851381331"/>
                  </a:ext>
                </a:extLst>
              </a:tr>
            </a:tbl>
          </a:graphicData>
        </a:graphic>
      </p:graphicFrame>
    </p:spTree>
    <p:extLst>
      <p:ext uri="{BB962C8B-B14F-4D97-AF65-F5344CB8AC3E}">
        <p14:creationId xmlns:p14="http://schemas.microsoft.com/office/powerpoint/2010/main" val="31530895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2667001" y="-1421375"/>
            <a:ext cx="6857999" cy="9700750"/>
          </a:xfrm>
          <a:prstGeom prst="rect">
            <a:avLst/>
          </a:prstGeom>
        </p:spPr>
      </p:pic>
    </p:spTree>
    <p:extLst>
      <p:ext uri="{BB962C8B-B14F-4D97-AF65-F5344CB8AC3E}">
        <p14:creationId xmlns:p14="http://schemas.microsoft.com/office/powerpoint/2010/main" val="284975182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922</TotalTime>
  <Words>7831</Words>
  <Application>Microsoft Office PowerPoint</Application>
  <PresentationFormat>Widescreen</PresentationFormat>
  <Paragraphs>1918</Paragraphs>
  <Slides>71</Slides>
  <Notes>66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71</vt:i4>
      </vt:variant>
    </vt:vector>
  </HeadingPairs>
  <TitlesOfParts>
    <vt:vector size="84" baseType="lpstr">
      <vt:lpstr>Arial</vt:lpstr>
      <vt:lpstr>Calibri</vt:lpstr>
      <vt:lpstr>Century Gothic</vt:lpstr>
      <vt:lpstr>Constantia</vt:lpstr>
      <vt:lpstr>GHEA Grapalat</vt:lpstr>
      <vt:lpstr>Sylfaen</vt:lpstr>
      <vt:lpstr>Symbol</vt:lpstr>
      <vt:lpstr>Times New Roman</vt:lpstr>
      <vt:lpstr>Trebuchet MS</vt:lpstr>
      <vt:lpstr>Wingdings</vt:lpstr>
      <vt:lpstr>Wingdings 2</vt:lpstr>
      <vt:lpstr>Wingdings 3</vt:lpstr>
      <vt:lpstr>Wisp</vt:lpstr>
      <vt:lpstr>PowerPoint Presentation</vt:lpstr>
      <vt:lpstr>PowerPoint Presentation</vt:lpstr>
      <vt:lpstr>PowerPoint Presentation</vt:lpstr>
      <vt:lpstr>PowerPoint Presentation</vt:lpstr>
      <vt:lpstr>Դասարանների թվաքանակի փոփոխության պատճառները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42</dc:creator>
  <cp:lastModifiedBy>mariannaannairam1@gmail.com</cp:lastModifiedBy>
  <cp:revision>168</cp:revision>
  <cp:lastPrinted>2025-09-03T09:01:22Z</cp:lastPrinted>
  <dcterms:created xsi:type="dcterms:W3CDTF">2013-07-15T20:26:40Z</dcterms:created>
  <dcterms:modified xsi:type="dcterms:W3CDTF">2025-09-12T19:10:44Z</dcterms:modified>
</cp:coreProperties>
</file>